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257" r:id="rId3"/>
    <p:sldId id="258" r:id="rId4"/>
    <p:sldId id="328" r:id="rId5"/>
    <p:sldId id="334" r:id="rId6"/>
    <p:sldId id="335" r:id="rId7"/>
    <p:sldId id="336" r:id="rId8"/>
    <p:sldId id="337" r:id="rId9"/>
    <p:sldId id="338" r:id="rId10"/>
    <p:sldId id="339" r:id="rId11"/>
    <p:sldId id="340" r:id="rId12"/>
    <p:sldId id="341" r:id="rId13"/>
    <p:sldId id="342" r:id="rId14"/>
    <p:sldId id="343" r:id="rId15"/>
    <p:sldId id="344" r:id="rId16"/>
    <p:sldId id="345" r:id="rId17"/>
    <p:sldId id="346" r:id="rId18"/>
    <p:sldId id="347" r:id="rId19"/>
    <p:sldId id="259" r:id="rId20"/>
    <p:sldId id="260" r:id="rId21"/>
    <p:sldId id="261" r:id="rId22"/>
    <p:sldId id="262" r:id="rId23"/>
    <p:sldId id="331"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348" r:id="rId52"/>
    <p:sldId id="290" r:id="rId53"/>
    <p:sldId id="350" r:id="rId54"/>
    <p:sldId id="349" r:id="rId55"/>
    <p:sldId id="291" r:id="rId56"/>
    <p:sldId id="292" r:id="rId57"/>
    <p:sldId id="293" r:id="rId58"/>
    <p:sldId id="294" r:id="rId59"/>
    <p:sldId id="295" r:id="rId60"/>
    <p:sldId id="296" r:id="rId61"/>
    <p:sldId id="297" r:id="rId62"/>
    <p:sldId id="329" r:id="rId63"/>
    <p:sldId id="330" r:id="rId64"/>
    <p:sldId id="298" r:id="rId65"/>
    <p:sldId id="299" r:id="rId66"/>
    <p:sldId id="300" r:id="rId67"/>
    <p:sldId id="301" r:id="rId68"/>
    <p:sldId id="303" r:id="rId69"/>
    <p:sldId id="304" r:id="rId70"/>
    <p:sldId id="305" r:id="rId71"/>
    <p:sldId id="302" r:id="rId72"/>
    <p:sldId id="306" r:id="rId73"/>
    <p:sldId id="307" r:id="rId74"/>
    <p:sldId id="308" r:id="rId75"/>
    <p:sldId id="309" r:id="rId76"/>
    <p:sldId id="310" r:id="rId77"/>
    <p:sldId id="311" r:id="rId78"/>
    <p:sldId id="312" r:id="rId79"/>
    <p:sldId id="313" r:id="rId80"/>
    <p:sldId id="314" r:id="rId81"/>
    <p:sldId id="315"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snapToGrid="0">
      <p:cViewPr>
        <p:scale>
          <a:sx n="66" d="100"/>
          <a:sy n="66" d="100"/>
        </p:scale>
        <p:origin x="-652"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EFC2C-3A37-4727-8FC1-6FED0DD45050}" type="datetimeFigureOut">
              <a:rPr lang="en-IN" smtClean="0"/>
              <a:t>25-08-2025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FA8EAD-CE9D-40FC-856D-B5AE1B4A75A6}" type="slidenum">
              <a:rPr lang="en-IN" smtClean="0"/>
              <a:t>‹#›</a:t>
            </a:fld>
            <a:endParaRPr lang="en-IN"/>
          </a:p>
        </p:txBody>
      </p:sp>
    </p:spTree>
    <p:extLst>
      <p:ext uri="{BB962C8B-B14F-4D97-AF65-F5344CB8AC3E}">
        <p14:creationId xmlns:p14="http://schemas.microsoft.com/office/powerpoint/2010/main" val="746235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FA8EAD-CE9D-40FC-856D-B5AE1B4A75A6}" type="slidenum">
              <a:rPr lang="en-IN" smtClean="0"/>
              <a:t>40</a:t>
            </a:fld>
            <a:endParaRPr lang="en-IN"/>
          </a:p>
        </p:txBody>
      </p:sp>
    </p:spTree>
    <p:extLst>
      <p:ext uri="{BB962C8B-B14F-4D97-AF65-F5344CB8AC3E}">
        <p14:creationId xmlns:p14="http://schemas.microsoft.com/office/powerpoint/2010/main" val="3675316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FA8EAD-CE9D-40FC-856D-B5AE1B4A75A6}" type="slidenum">
              <a:rPr lang="en-IN" smtClean="0"/>
              <a:t>52</a:t>
            </a:fld>
            <a:endParaRPr lang="en-IN"/>
          </a:p>
        </p:txBody>
      </p:sp>
    </p:spTree>
    <p:extLst>
      <p:ext uri="{BB962C8B-B14F-4D97-AF65-F5344CB8AC3E}">
        <p14:creationId xmlns:p14="http://schemas.microsoft.com/office/powerpoint/2010/main" val="1675089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FA8EAD-CE9D-40FC-856D-B5AE1B4A75A6}" type="slidenum">
              <a:rPr lang="en-IN" smtClean="0"/>
              <a:t>78</a:t>
            </a:fld>
            <a:endParaRPr lang="en-IN"/>
          </a:p>
        </p:txBody>
      </p:sp>
    </p:spTree>
    <p:extLst>
      <p:ext uri="{BB962C8B-B14F-4D97-AF65-F5344CB8AC3E}">
        <p14:creationId xmlns:p14="http://schemas.microsoft.com/office/powerpoint/2010/main" val="2852473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D6CE49-C9FA-4BD6-B294-B27C80BE56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65E9AAA1-81A1-4459-89FE-6A83EB5522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24DDFA47-BE6C-4174-931D-003D66D2B38D}"/>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5" name="Footer Placeholder 4">
            <a:extLst>
              <a:ext uri="{FF2B5EF4-FFF2-40B4-BE49-F238E27FC236}">
                <a16:creationId xmlns:a16="http://schemas.microsoft.com/office/drawing/2014/main" xmlns="" id="{A3DD7B65-F8E4-4D63-ABC3-471B9F711D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7F37149-9843-44F8-9648-1D6D38178795}"/>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1982855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F696A8-D75C-4F08-B9FA-350DF27F49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5FE3E76-A927-4677-8268-3F1A69712E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1D9AD4F-E519-4A83-8DE1-579CD367EB3F}"/>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5" name="Footer Placeholder 4">
            <a:extLst>
              <a:ext uri="{FF2B5EF4-FFF2-40B4-BE49-F238E27FC236}">
                <a16:creationId xmlns:a16="http://schemas.microsoft.com/office/drawing/2014/main" xmlns="" id="{71D79DBA-7C45-4B4C-A458-061B6DA889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17EB18C-2A69-4467-A671-4C67DE857278}"/>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2847714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B3B98B-8FE4-467A-AD85-D1908327EE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4D3DB78-7BB5-41F4-886B-902DACCDB8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B5C0A23-97CC-4E5B-8F5F-122997234F41}"/>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5" name="Footer Placeholder 4">
            <a:extLst>
              <a:ext uri="{FF2B5EF4-FFF2-40B4-BE49-F238E27FC236}">
                <a16:creationId xmlns:a16="http://schemas.microsoft.com/office/drawing/2014/main" xmlns="" id="{837253EF-0407-43F5-B33D-7CD6230294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2BEB750-4092-45D4-8D31-AAFB4E49DEEF}"/>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1471546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8158D2-82A7-4429-AC74-89E8A0F5E6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1D3CC4C-24B6-44D0-BB3A-B2B06886DA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3630636C-ED36-4AD0-A277-742F1B2C55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9CD73F0C-90C4-4CCD-A844-D52679FFA558}"/>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6" name="Footer Placeholder 5">
            <a:extLst>
              <a:ext uri="{FF2B5EF4-FFF2-40B4-BE49-F238E27FC236}">
                <a16:creationId xmlns:a16="http://schemas.microsoft.com/office/drawing/2014/main" xmlns="" id="{9628E802-BBFA-47C3-B7BF-011CD3D359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758623A-04E1-495C-B73A-63D9B4B60C13}"/>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2427227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A9626B-0228-466B-9B8E-480ED7D451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6856FAC-22C3-4D68-B76C-6A216644FA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6E8AFAC-4A6E-496A-BB2F-3ADA33ECC0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DDEB37BF-50BD-4C74-9BDA-6C35C51BF6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87C8A38-02D6-4566-941C-7DC6A57A2F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F45D560-F5D6-49AE-9E6A-9E9CDFB0393F}"/>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8" name="Footer Placeholder 7">
            <a:extLst>
              <a:ext uri="{FF2B5EF4-FFF2-40B4-BE49-F238E27FC236}">
                <a16:creationId xmlns:a16="http://schemas.microsoft.com/office/drawing/2014/main" xmlns="" id="{E8D5552F-6381-4E90-99B3-ED68CFD967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A5DBF97A-7345-422B-BE3F-41D75FEBBC09}"/>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2208653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5AEF3C-0E99-4B5D-99B4-A8E6327FC0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47AC349-C2CD-416A-9108-686E6E8117DF}"/>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4" name="Footer Placeholder 3">
            <a:extLst>
              <a:ext uri="{FF2B5EF4-FFF2-40B4-BE49-F238E27FC236}">
                <a16:creationId xmlns:a16="http://schemas.microsoft.com/office/drawing/2014/main" xmlns="" id="{DFEC8085-7251-4AEB-9613-665F1884F2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B88AD946-C71E-49DA-A655-CFD22CF8BB98}"/>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994103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2D74895-C034-49F0-819D-7900CC74A7FB}"/>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3" name="Footer Placeholder 2">
            <a:extLst>
              <a:ext uri="{FF2B5EF4-FFF2-40B4-BE49-F238E27FC236}">
                <a16:creationId xmlns:a16="http://schemas.microsoft.com/office/drawing/2014/main" xmlns="" id="{ECAC2FFA-DA3C-4204-8F47-FC687F5B92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CCC01AC4-9390-4B99-A6F1-0D617620AF7C}"/>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798510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AB005C-8552-4EE6-A56E-5A70B7F5B2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230AA21-78AD-4FC7-9AA0-A9B5AC4FE0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8C8CC54D-D14B-4D30-9955-16B1AB049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EC6821B-47B8-4B7A-84DF-60BB23FE630C}"/>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6" name="Footer Placeholder 5">
            <a:extLst>
              <a:ext uri="{FF2B5EF4-FFF2-40B4-BE49-F238E27FC236}">
                <a16:creationId xmlns:a16="http://schemas.microsoft.com/office/drawing/2014/main" xmlns="" id="{B944994F-F6FC-4102-BDEC-61097267F1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8FE278A-3185-482C-A945-599ED411E4A5}"/>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374144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05D44A-5711-465F-886C-384A9E5F1F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5E4DADB-11E5-4F85-9B31-C6F81AE130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62E7C285-0380-41CD-9025-6ABD22A60B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2F32F7F-2C4A-43B5-90DC-8CD4BFF3E57F}"/>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6" name="Footer Placeholder 5">
            <a:extLst>
              <a:ext uri="{FF2B5EF4-FFF2-40B4-BE49-F238E27FC236}">
                <a16:creationId xmlns:a16="http://schemas.microsoft.com/office/drawing/2014/main" xmlns="" id="{30444608-233C-4910-A04E-070874A38D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65D73B3-0F33-4CE7-A924-2D774486AE5B}"/>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1616819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251CA5-4938-4DBD-ADB7-8A7E619213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673DD59-40BE-4760-ACB8-658EC413C9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8EE7E58-839C-4C70-858A-5773F186E7D6}"/>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5" name="Footer Placeholder 4">
            <a:extLst>
              <a:ext uri="{FF2B5EF4-FFF2-40B4-BE49-F238E27FC236}">
                <a16:creationId xmlns:a16="http://schemas.microsoft.com/office/drawing/2014/main" xmlns="" id="{82D65A19-8BC9-490D-B7FD-CD3A5A05E1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D9A196C-158C-4FFC-BB53-858629AF65BD}"/>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2728497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8606203-329A-454A-AF30-11D6BBEA3F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827F325-4795-45D1-8EDA-4BFC93033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77C3BC9-87D7-4B2B-8B02-66267F181341}"/>
              </a:ext>
            </a:extLst>
          </p:cNvPr>
          <p:cNvSpPr>
            <a:spLocks noGrp="1"/>
          </p:cNvSpPr>
          <p:nvPr>
            <p:ph type="dt" sz="half" idx="10"/>
          </p:nvPr>
        </p:nvSpPr>
        <p:spPr/>
        <p:txBody>
          <a:bodyPr/>
          <a:lstStyle/>
          <a:p>
            <a:fld id="{34880F93-959A-4638-84F3-12A9145CA73A}" type="datetimeFigureOut">
              <a:rPr lang="en-IN" smtClean="0"/>
              <a:t>25-08-2025</a:t>
            </a:fld>
            <a:endParaRPr lang="en-IN"/>
          </a:p>
        </p:txBody>
      </p:sp>
      <p:sp>
        <p:nvSpPr>
          <p:cNvPr id="5" name="Footer Placeholder 4">
            <a:extLst>
              <a:ext uri="{FF2B5EF4-FFF2-40B4-BE49-F238E27FC236}">
                <a16:creationId xmlns:a16="http://schemas.microsoft.com/office/drawing/2014/main" xmlns="" id="{FB64EA48-B0B4-4146-88FF-8A39EC85EC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3700AFE-007D-4268-92C5-776EFCA24B8B}"/>
              </a:ext>
            </a:extLst>
          </p:cNvPr>
          <p:cNvSpPr>
            <a:spLocks noGrp="1"/>
          </p:cNvSpPr>
          <p:nvPr>
            <p:ph type="sldNum" sz="quarter" idx="12"/>
          </p:nvPr>
        </p:nvSpPr>
        <p:spPr/>
        <p:txBody>
          <a:bodyPr/>
          <a:lstStyle/>
          <a:p>
            <a:fld id="{7D4ADB51-1E2F-4B42-BB7E-C02A4C8E79AA}" type="slidenum">
              <a:rPr lang="en-IN" smtClean="0"/>
              <a:t>‹#›</a:t>
            </a:fld>
            <a:endParaRPr lang="en-IN"/>
          </a:p>
        </p:txBody>
      </p:sp>
    </p:spTree>
    <p:extLst>
      <p:ext uri="{BB962C8B-B14F-4D97-AF65-F5344CB8AC3E}">
        <p14:creationId xmlns:p14="http://schemas.microsoft.com/office/powerpoint/2010/main" val="2452717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8/25/2025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62401125"/>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1962E07-F9AA-4470-A53B-927787040D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19C9B50-4D39-4F23-8D29-D63EAA8948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F59915A-C26E-46A3-941E-8C25B15752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880F93-959A-4638-84F3-12A9145CA73A}" type="datetimeFigureOut">
              <a:rPr lang="en-IN" smtClean="0"/>
              <a:t>25-08-2025</a:t>
            </a:fld>
            <a:endParaRPr lang="en-IN"/>
          </a:p>
        </p:txBody>
      </p:sp>
      <p:sp>
        <p:nvSpPr>
          <p:cNvPr id="5" name="Footer Placeholder 4">
            <a:extLst>
              <a:ext uri="{FF2B5EF4-FFF2-40B4-BE49-F238E27FC236}">
                <a16:creationId xmlns:a16="http://schemas.microsoft.com/office/drawing/2014/main" xmlns="" id="{1A9BD6DE-24CB-4A07-B4B7-B8A4468B33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EB4ACAD9-BFBF-4060-B03A-EC303C8109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4ADB51-1E2F-4B42-BB7E-C02A4C8E79AA}" type="slidenum">
              <a:rPr lang="en-IN" smtClean="0"/>
              <a:t>‹#›</a:t>
            </a:fld>
            <a:endParaRPr lang="en-IN"/>
          </a:p>
        </p:txBody>
      </p:sp>
    </p:spTree>
    <p:extLst>
      <p:ext uri="{BB962C8B-B14F-4D97-AF65-F5344CB8AC3E}">
        <p14:creationId xmlns:p14="http://schemas.microsoft.com/office/powerpoint/2010/main" val="2011533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youasksarah.com/tag/vinegar/" TargetMode="External"/><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pixabay.com/en/water-pipes-pipe-rust-sludge-688431/" TargetMode="External"/><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www.environmentalpollution.in/" TargetMode="External"/><Relationship Id="rId2" Type="http://schemas.openxmlformats.org/officeDocument/2006/relationships/hyperlink" Target="http://textilelearner.blogspot.com/" TargetMode="External"/><Relationship Id="rId1" Type="http://schemas.openxmlformats.org/officeDocument/2006/relationships/slideLayout" Target="../slideLayouts/slideLayout2.xml"/><Relationship Id="rId6" Type="http://schemas.openxmlformats.org/officeDocument/2006/relationships/hyperlink" Target="http://apps.who.int/medicinedocs/" TargetMode="External"/><Relationship Id="rId5" Type="http://schemas.openxmlformats.org/officeDocument/2006/relationships/hyperlink" Target="http://web.deu.edu.tr/atiksu/ana52/" TargetMode="External"/><Relationship Id="rId4" Type="http://schemas.openxmlformats.org/officeDocument/2006/relationships/hyperlink" Target="https://www.chegg.com/homework-hel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www.youtube.com/watch?v=a273pRy8bHk"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9BAAC1-3F8D-41E3-B778-41F26B25FF59}"/>
              </a:ext>
            </a:extLst>
          </p:cNvPr>
          <p:cNvSpPr>
            <a:spLocks noGrp="1"/>
          </p:cNvSpPr>
          <p:nvPr>
            <p:ph type="ctrTitle"/>
          </p:nvPr>
        </p:nvSpPr>
        <p:spPr/>
        <p:txBody>
          <a:bodyPr/>
          <a:lstStyle/>
          <a:p>
            <a:r>
              <a:rPr lang="en-US" dirty="0"/>
              <a:t>Water</a:t>
            </a:r>
            <a:endParaRPr lang="en-IN" dirty="0"/>
          </a:p>
        </p:txBody>
      </p:sp>
      <p:sp>
        <p:nvSpPr>
          <p:cNvPr id="3" name="Subtitle 2">
            <a:extLst>
              <a:ext uri="{FF2B5EF4-FFF2-40B4-BE49-F238E27FC236}">
                <a16:creationId xmlns:a16="http://schemas.microsoft.com/office/drawing/2014/main" xmlns="" id="{3D7112BC-AF9A-4173-AF46-7F32AB96AC9B}"/>
              </a:ext>
            </a:extLst>
          </p:cNvPr>
          <p:cNvSpPr>
            <a:spLocks noGrp="1"/>
          </p:cNvSpPr>
          <p:nvPr>
            <p:ph type="subTitle" idx="1"/>
          </p:nvPr>
        </p:nvSpPr>
        <p:spPr/>
        <p:txBody>
          <a:bodyPr/>
          <a:lstStyle/>
          <a:p>
            <a:r>
              <a:rPr lang="en-US" dirty="0"/>
              <a:t>Dr. Druman Ramesh Utekar</a:t>
            </a:r>
            <a:endParaRPr lang="en-IN" dirty="0"/>
          </a:p>
        </p:txBody>
      </p:sp>
    </p:spTree>
    <p:extLst>
      <p:ext uri="{BB962C8B-B14F-4D97-AF65-F5344CB8AC3E}">
        <p14:creationId xmlns:p14="http://schemas.microsoft.com/office/powerpoint/2010/main" val="41009878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101370-35CD-4AC7-84AB-E0CD4F001846}"/>
              </a:ext>
            </a:extLst>
          </p:cNvPr>
          <p:cNvSpPr>
            <a:spLocks noGrp="1"/>
          </p:cNvSpPr>
          <p:nvPr>
            <p:ph type="title"/>
          </p:nvPr>
        </p:nvSpPr>
        <p:spPr/>
        <p:txBody>
          <a:bodyPr/>
          <a:lstStyle/>
          <a:p>
            <a:pPr algn="ctr"/>
            <a:r>
              <a:rPr lang="en-US" b="1" dirty="0"/>
              <a:t>Sources and Impurities in Water</a:t>
            </a:r>
            <a:endParaRPr lang="en-IN" b="1" dirty="0"/>
          </a:p>
        </p:txBody>
      </p:sp>
      <p:sp>
        <p:nvSpPr>
          <p:cNvPr id="3" name="Content Placeholder 2">
            <a:extLst>
              <a:ext uri="{FF2B5EF4-FFF2-40B4-BE49-F238E27FC236}">
                <a16:creationId xmlns:a16="http://schemas.microsoft.com/office/drawing/2014/main" xmlns="" id="{60901896-EFD6-4319-9C2D-2D7B4FA5BA3E}"/>
              </a:ext>
            </a:extLst>
          </p:cNvPr>
          <p:cNvSpPr>
            <a:spLocks noGrp="1"/>
          </p:cNvSpPr>
          <p:nvPr>
            <p:ph idx="1"/>
          </p:nvPr>
        </p:nvSpPr>
        <p:spPr/>
        <p:txBody>
          <a:bodyPr/>
          <a:lstStyle/>
          <a:p>
            <a:r>
              <a:rPr lang="en-US" b="1" dirty="0"/>
              <a:t>Sources</a:t>
            </a:r>
          </a:p>
          <a:p>
            <a:r>
              <a:rPr lang="en-US" b="1" dirty="0"/>
              <a:t>Impurities</a:t>
            </a:r>
          </a:p>
          <a:p>
            <a:pPr marL="0" indent="0">
              <a:buNone/>
            </a:pPr>
            <a:r>
              <a:rPr lang="en-US" dirty="0" err="1"/>
              <a:t>i</a:t>
            </a:r>
            <a:r>
              <a:rPr lang="en-US" dirty="0"/>
              <a:t>) Physical  Impurities</a:t>
            </a:r>
          </a:p>
          <a:p>
            <a:pPr marL="0" indent="0">
              <a:buNone/>
            </a:pPr>
            <a:r>
              <a:rPr lang="en-US" dirty="0"/>
              <a:t>ii) Chemical Impurities</a:t>
            </a:r>
            <a:br>
              <a:rPr lang="en-US" dirty="0"/>
            </a:br>
            <a:r>
              <a:rPr lang="en-US" dirty="0"/>
              <a:t>iii) Biological Impurities</a:t>
            </a:r>
            <a:endParaRPr lang="en-IN" dirty="0"/>
          </a:p>
        </p:txBody>
      </p:sp>
    </p:spTree>
    <p:extLst>
      <p:ext uri="{BB962C8B-B14F-4D97-AF65-F5344CB8AC3E}">
        <p14:creationId xmlns:p14="http://schemas.microsoft.com/office/powerpoint/2010/main" val="19418768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DD6AB2-12D5-4730-BCE1-975E6D402B9D}"/>
              </a:ext>
            </a:extLst>
          </p:cNvPr>
          <p:cNvSpPr>
            <a:spLocks noGrp="1"/>
          </p:cNvSpPr>
          <p:nvPr>
            <p:ph type="title"/>
          </p:nvPr>
        </p:nvSpPr>
        <p:spPr/>
        <p:txBody>
          <a:bodyPr/>
          <a:lstStyle/>
          <a:p>
            <a:r>
              <a:rPr lang="en-US" b="1" dirty="0"/>
              <a:t>Acidity in water</a:t>
            </a:r>
            <a:endParaRPr lang="en-IN" b="1" dirty="0"/>
          </a:p>
        </p:txBody>
      </p:sp>
      <p:sp>
        <p:nvSpPr>
          <p:cNvPr id="3" name="Content Placeholder 2">
            <a:extLst>
              <a:ext uri="{FF2B5EF4-FFF2-40B4-BE49-F238E27FC236}">
                <a16:creationId xmlns:a16="http://schemas.microsoft.com/office/drawing/2014/main" xmlns="" id="{129A8D23-9BBB-47AA-981D-F2047AA83276}"/>
              </a:ext>
            </a:extLst>
          </p:cNvPr>
          <p:cNvSpPr>
            <a:spLocks noGrp="1"/>
          </p:cNvSpPr>
          <p:nvPr>
            <p:ph idx="1"/>
          </p:nvPr>
        </p:nvSpPr>
        <p:spPr/>
        <p:txBody>
          <a:bodyPr/>
          <a:lstStyle/>
          <a:p>
            <a:pPr marL="0" indent="0">
              <a:buNone/>
            </a:pPr>
            <a:r>
              <a:rPr lang="en-US" dirty="0"/>
              <a:t>H</a:t>
            </a:r>
            <a:r>
              <a:rPr lang="en-IN" baseline="-25000" dirty="0"/>
              <a:t>2</a:t>
            </a:r>
            <a:r>
              <a:rPr lang="en-IN" dirty="0"/>
              <a:t>O + CO</a:t>
            </a:r>
            <a:r>
              <a:rPr lang="en-IN" baseline="-25000" dirty="0"/>
              <a:t>2</a:t>
            </a:r>
            <a:r>
              <a:rPr lang="en-IN" dirty="0"/>
              <a:t> </a:t>
            </a:r>
            <a:r>
              <a:rPr lang="en-IN" dirty="0">
                <a:sym typeface="Wingdings" panose="05000000000000000000" pitchFamily="2" charset="2"/>
              </a:rPr>
              <a:t> H</a:t>
            </a:r>
            <a:r>
              <a:rPr lang="en-IN" baseline="-25000" dirty="0">
                <a:sym typeface="Wingdings" panose="05000000000000000000" pitchFamily="2" charset="2"/>
              </a:rPr>
              <a:t>2</a:t>
            </a:r>
            <a:r>
              <a:rPr lang="en-IN" dirty="0">
                <a:sym typeface="Wingdings" panose="05000000000000000000" pitchFamily="2" charset="2"/>
              </a:rPr>
              <a:t>CO</a:t>
            </a:r>
            <a:r>
              <a:rPr lang="en-IN" baseline="-25000" dirty="0">
                <a:sym typeface="Wingdings" panose="05000000000000000000" pitchFamily="2" charset="2"/>
              </a:rPr>
              <a:t>3</a:t>
            </a:r>
          </a:p>
          <a:p>
            <a:pPr marL="0" indent="0">
              <a:buNone/>
            </a:pPr>
            <a:endParaRPr lang="en-IN" baseline="-25000" dirty="0">
              <a:sym typeface="Wingdings" panose="05000000000000000000" pitchFamily="2" charset="2"/>
            </a:endParaRPr>
          </a:p>
          <a:p>
            <a:pPr marL="0" indent="0">
              <a:buNone/>
            </a:pPr>
            <a:r>
              <a:rPr lang="en-IN" sz="4400" b="1" baseline="-25000" dirty="0">
                <a:sym typeface="Wingdings" panose="05000000000000000000" pitchFamily="2" charset="2"/>
              </a:rPr>
              <a:t>Hardness of Water</a:t>
            </a:r>
          </a:p>
          <a:p>
            <a:pPr marL="0" indent="0">
              <a:buNone/>
            </a:pPr>
            <a:endParaRPr lang="en-IN" baseline="-25000" dirty="0">
              <a:sym typeface="Wingdings" panose="05000000000000000000" pitchFamily="2" charset="2"/>
            </a:endParaRPr>
          </a:p>
          <a:p>
            <a:pPr marL="0" indent="0">
              <a:buNone/>
            </a:pPr>
            <a:r>
              <a:rPr lang="en-IN" baseline="-25000" dirty="0">
                <a:sym typeface="Wingdings" panose="05000000000000000000" pitchFamily="2" charset="2"/>
              </a:rPr>
              <a:t>Hardness of water is that characteristic which prevents the lathering of Soaps.</a:t>
            </a:r>
          </a:p>
          <a:p>
            <a:pPr marL="0" indent="0">
              <a:buNone/>
            </a:pPr>
            <a:r>
              <a:rPr lang="en-IN" baseline="-25000" dirty="0">
                <a:sym typeface="Wingdings" panose="05000000000000000000" pitchFamily="2" charset="2"/>
              </a:rPr>
              <a:t>Or’</a:t>
            </a:r>
          </a:p>
          <a:p>
            <a:pPr marL="0" indent="0">
              <a:buNone/>
            </a:pPr>
            <a:r>
              <a:rPr lang="en-IN" baseline="-25000" dirty="0">
                <a:sym typeface="Wingdings" panose="05000000000000000000" pitchFamily="2" charset="2"/>
              </a:rPr>
              <a:t>It is the soap consuming capacity of  water sample.</a:t>
            </a:r>
            <a:endParaRPr lang="en-US" baseline="-25000" dirty="0"/>
          </a:p>
        </p:txBody>
      </p:sp>
    </p:spTree>
    <p:extLst>
      <p:ext uri="{BB962C8B-B14F-4D97-AF65-F5344CB8AC3E}">
        <p14:creationId xmlns:p14="http://schemas.microsoft.com/office/powerpoint/2010/main" val="2024271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BC7B10-6887-4EB0-8E73-4D2E00D9D3EF}"/>
              </a:ext>
            </a:extLst>
          </p:cNvPr>
          <p:cNvSpPr>
            <a:spLocks noGrp="1"/>
          </p:cNvSpPr>
          <p:nvPr>
            <p:ph type="title"/>
          </p:nvPr>
        </p:nvSpPr>
        <p:spPr/>
        <p:txBody>
          <a:bodyPr/>
          <a:lstStyle/>
          <a:p>
            <a:r>
              <a:rPr lang="en-US" dirty="0"/>
              <a:t>Industrial problems of water</a:t>
            </a:r>
            <a:endParaRPr lang="en-IN" dirty="0"/>
          </a:p>
        </p:txBody>
      </p:sp>
      <p:sp>
        <p:nvSpPr>
          <p:cNvPr id="3" name="Content Placeholder 2">
            <a:extLst>
              <a:ext uri="{FF2B5EF4-FFF2-40B4-BE49-F238E27FC236}">
                <a16:creationId xmlns:a16="http://schemas.microsoft.com/office/drawing/2014/main" xmlns="" id="{19EECC1E-6E91-42E4-B85D-A84F255F439F}"/>
              </a:ext>
            </a:extLst>
          </p:cNvPr>
          <p:cNvSpPr>
            <a:spLocks noGrp="1"/>
          </p:cNvSpPr>
          <p:nvPr>
            <p:ph idx="1"/>
          </p:nvPr>
        </p:nvSpPr>
        <p:spPr/>
        <p:txBody>
          <a:bodyPr/>
          <a:lstStyle/>
          <a:p>
            <a:r>
              <a:rPr lang="en-US" dirty="0"/>
              <a:t>Boiler corrosion</a:t>
            </a:r>
          </a:p>
          <a:p>
            <a:r>
              <a:rPr lang="en-US" dirty="0"/>
              <a:t>Caustic embrittlement</a:t>
            </a:r>
          </a:p>
          <a:p>
            <a:r>
              <a:rPr lang="en-US" dirty="0"/>
              <a:t>Formation of scale and sludge</a:t>
            </a:r>
          </a:p>
          <a:p>
            <a:r>
              <a:rPr lang="en-US" dirty="0"/>
              <a:t>Priming and foaming</a:t>
            </a:r>
            <a:endParaRPr lang="en-IN" dirty="0"/>
          </a:p>
        </p:txBody>
      </p:sp>
    </p:spTree>
    <p:extLst>
      <p:ext uri="{BB962C8B-B14F-4D97-AF65-F5344CB8AC3E}">
        <p14:creationId xmlns:p14="http://schemas.microsoft.com/office/powerpoint/2010/main" val="16702224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35EB1E-BD13-41CE-9B25-8DA978796A46}"/>
              </a:ext>
            </a:extLst>
          </p:cNvPr>
          <p:cNvSpPr>
            <a:spLocks noGrp="1"/>
          </p:cNvSpPr>
          <p:nvPr>
            <p:ph type="title"/>
          </p:nvPr>
        </p:nvSpPr>
        <p:spPr/>
        <p:txBody>
          <a:bodyPr/>
          <a:lstStyle/>
          <a:p>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TEXTILE INDUSTRY</a:t>
            </a:r>
            <a:endParaRPr lang="en-IN"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FDB3A08A-F2A7-474B-8840-A6F3F0B62534}"/>
              </a:ext>
            </a:extLst>
          </p:cNvPr>
          <p:cNvSpPr>
            <a:spLocks noGrp="1"/>
          </p:cNvSpPr>
          <p:nvPr>
            <p:ph type="body" sz="half" idx="2"/>
          </p:nvPr>
        </p:nvSpPr>
        <p:spPr>
          <a:xfrm>
            <a:off x="0" y="3074503"/>
            <a:ext cx="7477377" cy="3684105"/>
          </a:xfrm>
        </p:spPr>
        <p:txBody>
          <a:bodyPr>
            <a:normAutofit/>
          </a:bodyPr>
          <a:lstStyle/>
          <a:p>
            <a:pPr marL="285750" indent="-28575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Hard water causes much of soap used in washing yarn, fabric etc. to go as waste because hard water cannot produce good quality of lather.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Precipitates of </a:t>
            </a:r>
            <a:r>
              <a:rPr lang="en-US" sz="2000" b="1" dirty="0">
                <a:latin typeface="Times New Roman" panose="02020603050405020304" pitchFamily="18" charset="0"/>
                <a:cs typeface="Times New Roman" panose="02020603050405020304" pitchFamily="18" charset="0"/>
              </a:rPr>
              <a:t>calcium</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magnesium</a:t>
            </a:r>
            <a:r>
              <a:rPr lang="en-US" sz="2000" dirty="0">
                <a:latin typeface="Times New Roman" panose="02020603050405020304" pitchFamily="18" charset="0"/>
                <a:cs typeface="Times New Roman" panose="02020603050405020304" pitchFamily="18" charset="0"/>
              </a:rPr>
              <a:t> soaps adhere to fabrics.</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These fabrics when dyed doesn’t produce exact shades of color.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If the water contains </a:t>
            </a:r>
            <a:r>
              <a:rPr lang="en-US" sz="2000" b="1" dirty="0">
                <a:latin typeface="Times New Roman" panose="02020603050405020304" pitchFamily="18" charset="0"/>
                <a:cs typeface="Times New Roman" panose="02020603050405020304" pitchFamily="18" charset="0"/>
              </a:rPr>
              <a:t>Iron, manganese, color or turbidity</a:t>
            </a:r>
            <a:r>
              <a:rPr lang="en-US" sz="2000" dirty="0">
                <a:latin typeface="Times New Roman" panose="02020603050405020304" pitchFamily="18" charset="0"/>
                <a:cs typeface="Times New Roman" panose="02020603050405020304" pitchFamily="18" charset="0"/>
              </a:rPr>
              <a:t>, it leaves stains on fabrics.</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Organic matter imparts foul smell.</a:t>
            </a:r>
          </a:p>
          <a:p>
            <a:pPr marL="285750" indent="-285750">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F8AE883F-676C-4BF0-A99C-76785908A15D}"/>
              </a:ext>
            </a:extLst>
          </p:cNvPr>
          <p:cNvPicPr>
            <a:picLocks noChangeAspect="1"/>
          </p:cNvPicPr>
          <p:nvPr/>
        </p:nvPicPr>
        <p:blipFill>
          <a:blip r:embed="rId2"/>
          <a:stretch>
            <a:fillRect/>
          </a:stretch>
        </p:blipFill>
        <p:spPr>
          <a:xfrm>
            <a:off x="7477378" y="3179830"/>
            <a:ext cx="4714621" cy="3093970"/>
          </a:xfrm>
          <a:prstGeom prst="rect">
            <a:avLst/>
          </a:prstGeom>
        </p:spPr>
      </p:pic>
    </p:spTree>
    <p:extLst>
      <p:ext uri="{BB962C8B-B14F-4D97-AF65-F5344CB8AC3E}">
        <p14:creationId xmlns:p14="http://schemas.microsoft.com/office/powerpoint/2010/main" val="1270483291"/>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884E89-2B02-41BC-AB54-0C0797F18CD8}"/>
              </a:ext>
            </a:extLst>
          </p:cNvPr>
          <p:cNvSpPr>
            <a:spLocks noGrp="1"/>
          </p:cNvSpPr>
          <p:nvPr>
            <p:ph type="title"/>
          </p:nvPr>
        </p:nvSpPr>
        <p:spPr/>
        <p:txBody>
          <a:bodyPr/>
          <a:lstStyle/>
          <a:p>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SUGAR INDUSTRY</a:t>
            </a:r>
            <a:endParaRPr lang="en-IN"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113B5E3D-7318-40A4-A609-68EBAB24471F}"/>
              </a:ext>
            </a:extLst>
          </p:cNvPr>
          <p:cNvSpPr>
            <a:spLocks noGrp="1"/>
          </p:cNvSpPr>
          <p:nvPr>
            <p:ph type="body" sz="half" idx="2"/>
          </p:nvPr>
        </p:nvSpPr>
        <p:spPr>
          <a:xfrm>
            <a:off x="-1" y="3313043"/>
            <a:ext cx="6972301" cy="2706757"/>
          </a:xfrm>
        </p:spPr>
        <p:txBody>
          <a:bodyPr>
            <a:normAutofit/>
          </a:body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Water containing </a:t>
            </a:r>
            <a:r>
              <a:rPr lang="en-US" sz="2000" b="1" dirty="0">
                <a:latin typeface="Times New Roman" panose="02020603050405020304" pitchFamily="18" charset="0"/>
                <a:cs typeface="Times New Roman" panose="02020603050405020304" pitchFamily="18" charset="0"/>
              </a:rPr>
              <a:t>sulphates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nitrates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alkali carbonated</a:t>
            </a:r>
            <a:r>
              <a:rPr lang="en-US" sz="2000" dirty="0">
                <a:latin typeface="Times New Roman" panose="02020603050405020304" pitchFamily="18" charset="0"/>
                <a:cs typeface="Times New Roman" panose="02020603050405020304" pitchFamily="18" charset="0"/>
              </a:rPr>
              <a:t>, etc., if used in sugar refining causes difficulties in the crystallization of sugar.</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Moreover, the sugar so produced may be deliquescent.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color and taste of the sugar also changes.  </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4E49FA41-CBE6-4CA5-9F81-D4C56ACF0B19}"/>
              </a:ext>
            </a:extLst>
          </p:cNvPr>
          <p:cNvPicPr>
            <a:picLocks noChangeAspect="1"/>
          </p:cNvPicPr>
          <p:nvPr/>
        </p:nvPicPr>
        <p:blipFill>
          <a:blip r:embed="rId2"/>
          <a:stretch>
            <a:fillRect/>
          </a:stretch>
        </p:blipFill>
        <p:spPr>
          <a:xfrm>
            <a:off x="7012057" y="3385179"/>
            <a:ext cx="4610100" cy="3196336"/>
          </a:xfrm>
          <a:prstGeom prst="rect">
            <a:avLst/>
          </a:prstGeom>
        </p:spPr>
      </p:pic>
    </p:spTree>
    <p:extLst>
      <p:ext uri="{BB962C8B-B14F-4D97-AF65-F5344CB8AC3E}">
        <p14:creationId xmlns:p14="http://schemas.microsoft.com/office/powerpoint/2010/main" val="3892678762"/>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13556A-900C-40FE-BF19-DCAB9E88D7E7}"/>
              </a:ext>
            </a:extLst>
          </p:cNvPr>
          <p:cNvSpPr>
            <a:spLocks noGrp="1"/>
          </p:cNvSpPr>
          <p:nvPr>
            <p:ph type="title"/>
          </p:nvPr>
        </p:nvSpPr>
        <p:spPr/>
        <p:txBody>
          <a:bodyPr/>
          <a:lstStyle/>
          <a:p>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DYEING INDUSTRY</a:t>
            </a:r>
            <a:endParaRPr lang="en-IN"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D926902B-C67B-466C-8B21-AC7D3744E77C}"/>
              </a:ext>
            </a:extLst>
          </p:cNvPr>
          <p:cNvSpPr>
            <a:spLocks noGrp="1"/>
          </p:cNvSpPr>
          <p:nvPr>
            <p:ph type="body" sz="half" idx="2"/>
          </p:nvPr>
        </p:nvSpPr>
        <p:spPr>
          <a:xfrm>
            <a:off x="1" y="3008243"/>
            <a:ext cx="8370584" cy="3697357"/>
          </a:xfrm>
        </p:spPr>
        <p:txBody>
          <a:bodyPr>
            <a:normAutofit/>
          </a:body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Hard water contains dissolved </a:t>
            </a:r>
            <a:r>
              <a:rPr lang="en-US" sz="2000" b="1" dirty="0">
                <a:latin typeface="Times New Roman" panose="02020603050405020304" pitchFamily="18" charset="0"/>
                <a:cs typeface="Times New Roman" panose="02020603050405020304" pitchFamily="18" charset="0"/>
              </a:rPr>
              <a:t>calcium</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magnesium</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iron</a:t>
            </a:r>
            <a:r>
              <a:rPr lang="en-US" sz="2000" dirty="0">
                <a:latin typeface="Times New Roman" panose="02020603050405020304" pitchFamily="18" charset="0"/>
                <a:cs typeface="Times New Roman" panose="02020603050405020304" pitchFamily="18" charset="0"/>
              </a:rPr>
              <a:t> salts. These salts present in hard water may react with costly dyes, forming undesirable precipitates, which yield impure shades.</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Uniform dyeing is not possible because</a:t>
            </a:r>
          </a:p>
          <a:p>
            <a:r>
              <a:rPr lang="en-US" sz="2000" dirty="0">
                <a:latin typeface="Times New Roman" panose="02020603050405020304" pitchFamily="18" charset="0"/>
                <a:cs typeface="Times New Roman" panose="02020603050405020304" pitchFamily="18" charset="0"/>
              </a:rPr>
              <a:t>   1. Hard water decreases the solubility of </a:t>
            </a:r>
            <a:r>
              <a:rPr lang="en-US" sz="2000" dirty="0" smtClean="0">
                <a:latin typeface="Times New Roman" panose="02020603050405020304" pitchFamily="18" charset="0"/>
                <a:cs typeface="Times New Roman" panose="02020603050405020304" pitchFamily="18" charset="0"/>
              </a:rPr>
              <a:t>dye or color. </a:t>
            </a:r>
            <a:r>
              <a:rPr lang="en-US" sz="2000" dirty="0">
                <a:latin typeface="Times New Roman" panose="02020603050405020304" pitchFamily="18" charset="0"/>
                <a:cs typeface="Times New Roman" panose="02020603050405020304" pitchFamily="18" charset="0"/>
              </a:rPr>
              <a:t>(PH increases)</a:t>
            </a:r>
          </a:p>
          <a:p>
            <a:r>
              <a:rPr lang="en-US" sz="2000" dirty="0">
                <a:latin typeface="Times New Roman" panose="02020603050405020304" pitchFamily="18" charset="0"/>
                <a:cs typeface="Times New Roman" panose="02020603050405020304" pitchFamily="18" charset="0"/>
              </a:rPr>
              <a:t>   2. Basic dyes also precipitate out in hard water. (</a:t>
            </a:r>
            <a:r>
              <a:rPr lang="en-US" sz="2000" dirty="0" err="1">
                <a:latin typeface="Times New Roman" panose="02020603050405020304" pitchFamily="18" charset="0"/>
                <a:cs typeface="Times New Roman" panose="02020603050405020304" pitchFamily="18" charset="0"/>
              </a:rPr>
              <a:t>eg.</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Ca</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ions react with                          bicarbonate. </a:t>
            </a:r>
          </a:p>
          <a:p>
            <a:r>
              <a:rPr lang="en-IN" sz="2000" dirty="0">
                <a:latin typeface="Times New Roman" panose="02020603050405020304" pitchFamily="18" charset="0"/>
                <a:cs typeface="Times New Roman" panose="02020603050405020304" pitchFamily="18" charset="0"/>
              </a:rPr>
              <a:t>    (HCO</a:t>
            </a:r>
            <a:r>
              <a:rPr lang="en-IN" sz="2000" baseline="-25000" dirty="0">
                <a:latin typeface="Times New Roman" panose="02020603050405020304" pitchFamily="18" charset="0"/>
                <a:cs typeface="Times New Roman" panose="02020603050405020304" pitchFamily="18" charset="0"/>
              </a:rPr>
              <a:t>3</a:t>
            </a:r>
            <a:r>
              <a:rPr lang="en-IN" sz="2000" baseline="30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ions to form insoluble calcium carbonate (CaCO</a:t>
            </a:r>
            <a:r>
              <a:rPr lang="en-IN" sz="2000" baseline="-25000"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They also give spots on the fabrics being dyed.</a:t>
            </a:r>
          </a:p>
        </p:txBody>
      </p:sp>
      <p:pic>
        <p:nvPicPr>
          <p:cNvPr id="5" name="Picture 4">
            <a:extLst>
              <a:ext uri="{FF2B5EF4-FFF2-40B4-BE49-F238E27FC236}">
                <a16:creationId xmlns="" xmlns:a16="http://schemas.microsoft.com/office/drawing/2014/main" id="{CCB06BE0-0EBD-4DDB-8A1E-5B094FBBDE59}"/>
              </a:ext>
            </a:extLst>
          </p:cNvPr>
          <p:cNvPicPr>
            <a:picLocks noChangeAspect="1"/>
          </p:cNvPicPr>
          <p:nvPr/>
        </p:nvPicPr>
        <p:blipFill>
          <a:blip r:embed="rId2"/>
          <a:stretch>
            <a:fillRect/>
          </a:stretch>
        </p:blipFill>
        <p:spPr>
          <a:xfrm>
            <a:off x="8370585" y="3291026"/>
            <a:ext cx="3926190" cy="3341757"/>
          </a:xfrm>
          <a:prstGeom prst="rect">
            <a:avLst/>
          </a:prstGeom>
        </p:spPr>
      </p:pic>
    </p:spTree>
    <p:extLst>
      <p:ext uri="{BB962C8B-B14F-4D97-AF65-F5344CB8AC3E}">
        <p14:creationId xmlns:p14="http://schemas.microsoft.com/office/powerpoint/2010/main" val="1515123578"/>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F3349F-379D-4B3A-8100-AA001AC34992}"/>
              </a:ext>
            </a:extLst>
          </p:cNvPr>
          <p:cNvSpPr>
            <a:spLocks noGrp="1"/>
          </p:cNvSpPr>
          <p:nvPr>
            <p:ph type="title"/>
          </p:nvPr>
        </p:nvSpPr>
        <p:spPr/>
        <p:txBody>
          <a:bodyPr/>
          <a:lstStyle/>
          <a:p>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PAPER INDUSTRY</a:t>
            </a:r>
            <a:endParaRPr lang="en-IN"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3BAAF018-7BAB-44D1-99C2-6A5C2D03EB47}"/>
              </a:ext>
            </a:extLst>
          </p:cNvPr>
          <p:cNvSpPr>
            <a:spLocks noGrp="1"/>
          </p:cNvSpPr>
          <p:nvPr>
            <p:ph type="body" sz="half" idx="2"/>
          </p:nvPr>
        </p:nvSpPr>
        <p:spPr>
          <a:xfrm>
            <a:off x="0" y="3167270"/>
            <a:ext cx="9163120" cy="3591339"/>
          </a:xfrm>
        </p:spPr>
        <p:txBody>
          <a:bodyPr>
            <a:noAutofit/>
          </a:bodyPr>
          <a:lstStyle/>
          <a:p>
            <a:pPr marL="285750" indent="-285750">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Calcium</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magnesium</a:t>
            </a:r>
            <a:r>
              <a:rPr lang="en-US" sz="2000" dirty="0">
                <a:latin typeface="Times New Roman" panose="02020603050405020304" pitchFamily="18" charset="0"/>
                <a:cs typeface="Times New Roman" panose="02020603050405020304" pitchFamily="18" charset="0"/>
              </a:rPr>
              <a:t> salts present in hard water tend to react with chemicals and other materials employed to provide a smooth and glossy (i.e. shining) finish to paper.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also produces in the cracks in paper.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Alkalinity (consumes alum and increases the cost of production)</a:t>
            </a:r>
          </a:p>
          <a:p>
            <a:r>
              <a:rPr lang="en-US" b="1" dirty="0">
                <a:latin typeface="Times New Roman" panose="02020603050405020304" pitchFamily="18" charset="0"/>
                <a:cs typeface="Times New Roman" panose="02020603050405020304" pitchFamily="18" charset="0"/>
              </a:rPr>
              <a:t> REACTION:</a:t>
            </a:r>
            <a:r>
              <a:rPr lang="en-US" sz="2000" b="1" i="1"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Al</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(SO</a:t>
            </a:r>
            <a:r>
              <a:rPr lang="en-US" sz="2000" b="1" baseline="-25000" dirty="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a:t>
            </a:r>
            <a:r>
              <a:rPr lang="en-US" sz="2000" b="1" baseline="-25000" dirty="0">
                <a:latin typeface="Times New Roman" panose="02020603050405020304" pitchFamily="18" charset="0"/>
                <a:cs typeface="Times New Roman" panose="02020603050405020304" pitchFamily="18" charset="0"/>
              </a:rPr>
              <a:t>3.</a:t>
            </a:r>
            <a:r>
              <a:rPr lang="en-US" sz="2000" b="1" dirty="0">
                <a:latin typeface="Times New Roman" panose="02020603050405020304" pitchFamily="18" charset="0"/>
                <a:cs typeface="Times New Roman" panose="02020603050405020304" pitchFamily="18" charset="0"/>
              </a:rPr>
              <a:t>14H</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O + 6HCO</a:t>
            </a:r>
            <a:r>
              <a:rPr lang="en-US" sz="2000" b="1" baseline="-25000" dirty="0">
                <a:latin typeface="Times New Roman" panose="02020603050405020304" pitchFamily="18" charset="0"/>
                <a:cs typeface="Times New Roman" panose="02020603050405020304" pitchFamily="18" charset="0"/>
              </a:rPr>
              <a:t>3</a:t>
            </a:r>
            <a:r>
              <a:rPr lang="en-US" sz="2000" b="1" baseline="30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sym typeface="Wingdings" panose="05000000000000000000" pitchFamily="2" charset="2"/>
              </a:rPr>
              <a:t></a:t>
            </a:r>
            <a:r>
              <a:rPr lang="en-US" sz="2000" b="1" dirty="0">
                <a:latin typeface="Times New Roman" panose="02020603050405020304" pitchFamily="18" charset="0"/>
                <a:cs typeface="Times New Roman" panose="02020603050405020304" pitchFamily="18" charset="0"/>
              </a:rPr>
              <a:t>2Al(OH)</a:t>
            </a:r>
            <a:r>
              <a:rPr lang="en-US" sz="2000" b="1" baseline="-25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+ 6CO</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+ 14H</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O + 3SO</a:t>
            </a:r>
            <a:r>
              <a:rPr lang="en-US" sz="2000" b="1" baseline="-25000" dirty="0">
                <a:latin typeface="Times New Roman" panose="02020603050405020304" pitchFamily="18" charset="0"/>
                <a:cs typeface="Times New Roman" panose="02020603050405020304" pitchFamily="18" charset="0"/>
              </a:rPr>
              <a:t>4</a:t>
            </a:r>
            <a:r>
              <a:rPr lang="en-US" sz="2000" b="1" baseline="30000" dirty="0">
                <a:latin typeface="Times New Roman" panose="02020603050405020304" pitchFamily="18" charset="0"/>
                <a:cs typeface="Times New Roman" panose="02020603050405020304" pitchFamily="18" charset="0"/>
              </a:rPr>
              <a:t>2-</a:t>
            </a:r>
            <a:endParaRPr lang="en-US" sz="2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Moreover, </a:t>
            </a:r>
            <a:r>
              <a:rPr lang="en-US" sz="2000" b="1" dirty="0">
                <a:latin typeface="Times New Roman" panose="02020603050405020304" pitchFamily="18" charset="0"/>
                <a:cs typeface="Times New Roman" panose="02020603050405020304" pitchFamily="18" charset="0"/>
              </a:rPr>
              <a:t>iron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manganese</a:t>
            </a:r>
            <a:r>
              <a:rPr lang="en-US" sz="2000" dirty="0">
                <a:latin typeface="Times New Roman" panose="02020603050405020304" pitchFamily="18" charset="0"/>
                <a:cs typeface="Times New Roman" panose="02020603050405020304" pitchFamily="18" charset="0"/>
              </a:rPr>
              <a:t> salts may even affect the brightness and color of paper being produced.</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Calcium</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magnesium</a:t>
            </a:r>
            <a:r>
              <a:rPr lang="en-US" sz="2000" dirty="0">
                <a:latin typeface="Times New Roman" panose="02020603050405020304" pitchFamily="18" charset="0"/>
                <a:cs typeface="Times New Roman" panose="02020603050405020304" pitchFamily="18" charset="0"/>
              </a:rPr>
              <a:t> salts increase the ash content of paper.</a:t>
            </a:r>
          </a:p>
          <a:p>
            <a:pPr marL="285750" indent="-28575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DB2A1CE0-E247-4295-B94A-FBF29E8A6549}"/>
              </a:ext>
            </a:extLst>
          </p:cNvPr>
          <p:cNvPicPr>
            <a:picLocks noChangeAspect="1"/>
          </p:cNvPicPr>
          <p:nvPr/>
        </p:nvPicPr>
        <p:blipFill>
          <a:blip r:embed="rId2"/>
          <a:stretch>
            <a:fillRect/>
          </a:stretch>
        </p:blipFill>
        <p:spPr>
          <a:xfrm>
            <a:off x="9067800" y="3089299"/>
            <a:ext cx="2895600" cy="3768701"/>
          </a:xfrm>
          <a:prstGeom prst="rect">
            <a:avLst/>
          </a:prstGeom>
        </p:spPr>
      </p:pic>
    </p:spTree>
    <p:extLst>
      <p:ext uri="{BB962C8B-B14F-4D97-AF65-F5344CB8AC3E}">
        <p14:creationId xmlns:p14="http://schemas.microsoft.com/office/powerpoint/2010/main" val="649696912"/>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75B7BE-017C-4B59-8407-2655F66451DC}"/>
              </a:ext>
            </a:extLst>
          </p:cNvPr>
          <p:cNvSpPr>
            <a:spLocks noGrp="1"/>
          </p:cNvSpPr>
          <p:nvPr>
            <p:ph type="title"/>
          </p:nvPr>
        </p:nvSpPr>
        <p:spPr/>
        <p:txBody>
          <a:bodyPr/>
          <a:lstStyle/>
          <a:p>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LAUNDRY INDUSTRY</a:t>
            </a:r>
            <a:endParaRPr lang="en-IN"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B15F5CAA-A2BE-4ABF-9F0F-BEF55EB8B269}"/>
              </a:ext>
            </a:extLst>
          </p:cNvPr>
          <p:cNvSpPr>
            <a:spLocks noGrp="1"/>
          </p:cNvSpPr>
          <p:nvPr>
            <p:ph type="body" sz="half" idx="2"/>
          </p:nvPr>
        </p:nvSpPr>
        <p:spPr>
          <a:xfrm>
            <a:off x="0" y="3543299"/>
            <a:ext cx="9980613" cy="2791239"/>
          </a:xfrm>
        </p:spPr>
        <p:txBody>
          <a:bodyPr>
            <a:normAutofit/>
          </a:body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Laundries require soft water, free from color, </a:t>
            </a:r>
            <a:r>
              <a:rPr lang="en-US" sz="2000" b="1" dirty="0">
                <a:latin typeface="Times New Roman" panose="02020603050405020304" pitchFamily="18" charset="0"/>
                <a:cs typeface="Times New Roman" panose="02020603050405020304" pitchFamily="18" charset="0"/>
              </a:rPr>
              <a:t>manganese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iron</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Due to hard water, consumption of soaps increases.</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Iron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manganese</a:t>
            </a:r>
            <a:r>
              <a:rPr lang="en-US" sz="2000" dirty="0">
                <a:latin typeface="Times New Roman" panose="02020603050405020304" pitchFamily="18" charset="0"/>
                <a:cs typeface="Times New Roman" panose="02020603050405020304" pitchFamily="18" charset="0"/>
              </a:rPr>
              <a:t> salts impart a grey or yellow shade to the fabric.</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Weakening of </a:t>
            </a:r>
            <a:r>
              <a:rPr lang="en-US" sz="2000" dirty="0" err="1">
                <a:latin typeface="Times New Roman" panose="02020603050405020304" pitchFamily="18" charset="0"/>
                <a:cs typeface="Times New Roman" panose="02020603050405020304" pitchFamily="18" charset="0"/>
              </a:rPr>
              <a:t>fibres</a:t>
            </a:r>
            <a:r>
              <a:rPr lang="en-US" sz="2000" dirty="0">
                <a:latin typeface="Times New Roman" panose="02020603050405020304" pitchFamily="18" charset="0"/>
                <a:cs typeface="Times New Roman" panose="02020603050405020304" pitchFamily="18" charset="0"/>
              </a:rPr>
              <a:t> causing tears and thus shortening the life of the fabric.</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Fabrics lose their soft and supple feel to become stiff and harsh.</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Extra detergent, extra rinse and wash cycles to clean the laundry.</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C4E61011-5365-41B5-804C-DCA36A3CC5EA}"/>
              </a:ext>
            </a:extLst>
          </p:cNvPr>
          <p:cNvPicPr>
            <a:picLocks noChangeAspect="1"/>
          </p:cNvPicPr>
          <p:nvPr/>
        </p:nvPicPr>
        <p:blipFill>
          <a:blip r:embed="rId2">
            <a:extLst>
              <a:ext uri="{837473B0-CC2E-450A-ABE3-18F120FF3D39}">
                <a1611:picAttrSrcUrl xmlns="" xmlns:a1611="http://schemas.microsoft.com/office/drawing/2016/11/main" r:id="rId3"/>
              </a:ext>
            </a:extLst>
          </a:blip>
          <a:stretch>
            <a:fillRect/>
          </a:stretch>
        </p:blipFill>
        <p:spPr>
          <a:xfrm>
            <a:off x="8056035" y="3314700"/>
            <a:ext cx="4047066" cy="3035300"/>
          </a:xfrm>
          <a:prstGeom prst="rect">
            <a:avLst/>
          </a:prstGeom>
        </p:spPr>
      </p:pic>
    </p:spTree>
    <p:extLst>
      <p:ext uri="{BB962C8B-B14F-4D97-AF65-F5344CB8AC3E}">
        <p14:creationId xmlns:p14="http://schemas.microsoft.com/office/powerpoint/2010/main" val="3951695326"/>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444847-DC2F-4C62-99DB-F9D2D70E9C78}"/>
              </a:ext>
            </a:extLst>
          </p:cNvPr>
          <p:cNvSpPr>
            <a:spLocks noGrp="1"/>
          </p:cNvSpPr>
          <p:nvPr>
            <p:ph type="title"/>
          </p:nvPr>
        </p:nvSpPr>
        <p:spPr/>
        <p:txBody>
          <a:bodyPr/>
          <a:lstStyle/>
          <a:p>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PHARMACEUTICAL INDUSTRY</a:t>
            </a:r>
            <a:endParaRPr lang="en-IN"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E10C5752-8075-4D13-833B-801392A44945}"/>
              </a:ext>
            </a:extLst>
          </p:cNvPr>
          <p:cNvSpPr>
            <a:spLocks noGrp="1"/>
          </p:cNvSpPr>
          <p:nvPr>
            <p:ph type="body" sz="half" idx="2"/>
          </p:nvPr>
        </p:nvSpPr>
        <p:spPr>
          <a:xfrm>
            <a:off x="190500" y="3035300"/>
            <a:ext cx="11391900" cy="3822700"/>
          </a:xfrm>
        </p:spPr>
        <p:txBody>
          <a:bodyPr>
            <a:noAutofit/>
          </a:bodyPr>
          <a:lstStyle/>
          <a:p>
            <a:pPr marL="285750" indent="-28575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Pharmaceutical industries require ultra pure water which should be colorless, </a:t>
            </a:r>
            <a:r>
              <a:rPr lang="en-US" sz="2000" dirty="0" err="1">
                <a:latin typeface="Times New Roman" panose="02020603050405020304" pitchFamily="18" charset="0"/>
                <a:cs typeface="Times New Roman" panose="02020603050405020304" pitchFamily="18" charset="0"/>
              </a:rPr>
              <a:t>odourless</a:t>
            </a:r>
            <a:r>
              <a:rPr lang="en-US" sz="2000" dirty="0">
                <a:latin typeface="Times New Roman" panose="02020603050405020304" pitchFamily="18" charset="0"/>
                <a:cs typeface="Times New Roman" panose="02020603050405020304" pitchFamily="18" charset="0"/>
              </a:rPr>
              <a:t>, tasteless and free from pathogenic organisms.</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Hard water, if used for preparing pharmaceutical products like drugs, injection, ointments, etc. may produce undesirable products in them.</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According to the pharmaceutical guidelines stated by</a:t>
            </a:r>
          </a:p>
          <a:p>
            <a:pPr algn="ctr"/>
            <a:r>
              <a:rPr lang="en-US" sz="2000" dirty="0">
                <a:latin typeface="Times New Roman" panose="02020603050405020304" pitchFamily="18" charset="0"/>
                <a:cs typeface="Times New Roman" panose="02020603050405020304" pitchFamily="18" charset="0"/>
              </a:rPr>
              <a:t> </a:t>
            </a:r>
            <a:r>
              <a:rPr lang="en-US" sz="2000" b="1" u="sng" dirty="0">
                <a:latin typeface="Times New Roman" panose="02020603050405020304" pitchFamily="18" charset="0"/>
                <a:cs typeface="Times New Roman" panose="02020603050405020304" pitchFamily="18" charset="0"/>
              </a:rPr>
              <a:t>WORLD HEALTH ORGANISTION</a:t>
            </a:r>
          </a:p>
          <a:p>
            <a:r>
              <a:rPr lang="en-IN" sz="2000" dirty="0">
                <a:latin typeface="Times New Roman" panose="02020603050405020304" pitchFamily="18" charset="0"/>
                <a:cs typeface="Times New Roman" panose="02020603050405020304" pitchFamily="18" charset="0"/>
              </a:rPr>
              <a:t>If the pharmaceutical</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manufacturer's water supply is “</a:t>
            </a:r>
            <a:r>
              <a:rPr lang="en-IN" sz="2000" b="1" dirty="0">
                <a:latin typeface="Times New Roman" panose="02020603050405020304" pitchFamily="18" charset="0"/>
                <a:cs typeface="Times New Roman" panose="02020603050405020304" pitchFamily="18" charset="0"/>
              </a:rPr>
              <a:t>hard</a:t>
            </a:r>
            <a:r>
              <a:rPr lang="en-IN" sz="2000" dirty="0">
                <a:latin typeface="Times New Roman" panose="02020603050405020304" pitchFamily="18" charset="0"/>
                <a:cs typeface="Times New Roman" panose="02020603050405020304" pitchFamily="18" charset="0"/>
              </a:rPr>
              <a:t>” it needs to be “</a:t>
            </a:r>
            <a:r>
              <a:rPr lang="en-IN" sz="2000" b="1" dirty="0">
                <a:latin typeface="Times New Roman" panose="02020603050405020304" pitchFamily="18" charset="0"/>
                <a:cs typeface="Times New Roman" panose="02020603050405020304" pitchFamily="18" charset="0"/>
              </a:rPr>
              <a:t>softened</a:t>
            </a:r>
            <a:r>
              <a:rPr lang="en-IN" sz="2000" dirty="0">
                <a:latin typeface="Times New Roman" panose="02020603050405020304" pitchFamily="18" charset="0"/>
                <a:cs typeface="Times New Roman" panose="02020603050405020304" pitchFamily="18" charset="0"/>
              </a:rPr>
              <a:t>” which increases the cost of production.</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5128199"/>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E79811F-6A66-4BE4-A6A7-058A3140627E}"/>
              </a:ext>
            </a:extLst>
          </p:cNvPr>
          <p:cNvPicPr>
            <a:picLocks noChangeAspect="1"/>
          </p:cNvPicPr>
          <p:nvPr/>
        </p:nvPicPr>
        <p:blipFill>
          <a:blip r:embed="rId2"/>
          <a:stretch>
            <a:fillRect/>
          </a:stretch>
        </p:blipFill>
        <p:spPr>
          <a:xfrm>
            <a:off x="533400" y="766669"/>
            <a:ext cx="10660295" cy="5557932"/>
          </a:xfrm>
          <a:prstGeom prst="rect">
            <a:avLst/>
          </a:prstGeom>
        </p:spPr>
      </p:pic>
    </p:spTree>
    <p:extLst>
      <p:ext uri="{BB962C8B-B14F-4D97-AF65-F5344CB8AC3E}">
        <p14:creationId xmlns:p14="http://schemas.microsoft.com/office/powerpoint/2010/main" val="1496103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2E058E-8EC9-4141-A201-2710F29E1E4E}"/>
              </a:ext>
            </a:extLst>
          </p:cNvPr>
          <p:cNvSpPr>
            <a:spLocks noGrp="1"/>
          </p:cNvSpPr>
          <p:nvPr>
            <p:ph type="title"/>
          </p:nvPr>
        </p:nvSpPr>
        <p:spPr/>
        <p:txBody>
          <a:bodyPr/>
          <a:lstStyle/>
          <a:p>
            <a:pPr>
              <a:buClr>
                <a:schemeClr val="accent1"/>
              </a:buClr>
              <a:buSzPct val="80000"/>
            </a:pPr>
            <a:r>
              <a:rPr 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BEVERAGE INDUSTRY</a:t>
            </a:r>
            <a:endParaRPr lang="en-I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9CF244C7-BCBE-4EF4-ACE5-61957969BF38}"/>
              </a:ext>
            </a:extLst>
          </p:cNvPr>
          <p:cNvSpPr>
            <a:spLocks noGrp="1"/>
          </p:cNvSpPr>
          <p:nvPr>
            <p:ph idx="1"/>
          </p:nvPr>
        </p:nvSpPr>
        <p:spPr>
          <a:xfrm>
            <a:off x="0" y="2603500"/>
            <a:ext cx="9980613" cy="3835400"/>
          </a:xfrm>
        </p:spPr>
        <p:txBody>
          <a:bodyPr>
            <a:normAutofit/>
          </a:bodyPr>
          <a:lstStyle/>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Water used in beverage industries is very sensitive.</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Water should be free from any contaminants and micro-organisms.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Water required should not be alkaline, as it destroys or modifies the taste as it tends to neutralize the fruit acids.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hard water is used in this industry, it can change soft drink color, test and odor.</a:t>
            </a:r>
            <a:r>
              <a:rPr lang="en-IN" sz="2000" dirty="0">
                <a:latin typeface="Times New Roman" panose="02020603050405020304" pitchFamily="18" charset="0"/>
                <a:cs typeface="Times New Roman" panose="02020603050405020304" pitchFamily="18" charset="0"/>
              </a:rPr>
              <a:t> Moreover a deposit can be developed here.</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So water must be treated before use for decreasing the effects of hard water in beverages industries. Otherwise it would lessen the product quality.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6468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BE6E08-E196-4EE2-9624-84E1AB9CA9C8}"/>
              </a:ext>
            </a:extLst>
          </p:cNvPr>
          <p:cNvSpPr>
            <a:spLocks noGrp="1"/>
          </p:cNvSpPr>
          <p:nvPr>
            <p:ph type="title"/>
          </p:nvPr>
        </p:nvSpPr>
        <p:spPr/>
        <p:txBody>
          <a:bodyPr/>
          <a:lstStyle/>
          <a:p>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RUST FORMATION</a:t>
            </a:r>
            <a:endParaRPr lang="en-IN"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55592275-85D6-4DA5-AAED-00FD4432A556}"/>
              </a:ext>
            </a:extLst>
          </p:cNvPr>
          <p:cNvSpPr>
            <a:spLocks noGrp="1"/>
          </p:cNvSpPr>
          <p:nvPr>
            <p:ph type="body" sz="half" idx="2"/>
          </p:nvPr>
        </p:nvSpPr>
        <p:spPr>
          <a:xfrm>
            <a:off x="2" y="3543300"/>
            <a:ext cx="7686260" cy="3314700"/>
          </a:xfrm>
        </p:spPr>
        <p:txBody>
          <a:bodyPr>
            <a:normAutofit/>
          </a:body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carbonate hardness salts cause deposition in tubes and pipes:</a:t>
            </a:r>
          </a:p>
          <a:p>
            <a:r>
              <a:rPr lang="en-US" sz="2000" b="1" dirty="0">
                <a:latin typeface="Times New Roman" panose="02020603050405020304" pitchFamily="18" charset="0"/>
                <a:cs typeface="Times New Roman" panose="02020603050405020304" pitchFamily="18" charset="0"/>
              </a:rPr>
              <a:t>    REACTION: Ca(HCO</a:t>
            </a:r>
            <a:r>
              <a:rPr lang="en-US" sz="2000" b="1" baseline="-25000" dirty="0">
                <a:latin typeface="Times New Roman" panose="02020603050405020304" pitchFamily="18" charset="0"/>
                <a:cs typeface="Times New Roman" panose="02020603050405020304" pitchFamily="18" charset="0"/>
              </a:rPr>
              <a:t>3</a:t>
            </a:r>
            <a:r>
              <a:rPr lang="en-US" sz="2000" b="1" dirty="0">
                <a:latin typeface="Times New Roman" panose="02020603050405020304" pitchFamily="18" charset="0"/>
                <a:cs typeface="Times New Roman" panose="02020603050405020304" pitchFamily="18" charset="0"/>
              </a:rPr>
              <a:t>)</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sym typeface="Wingdings" panose="05000000000000000000" pitchFamily="2" charset="2"/>
              </a:rPr>
              <a:t></a:t>
            </a:r>
            <a:r>
              <a:rPr lang="en-US" sz="2000" b="1" dirty="0">
                <a:latin typeface="Times New Roman" panose="02020603050405020304" pitchFamily="18" charset="0"/>
                <a:cs typeface="Times New Roman" panose="02020603050405020304" pitchFamily="18" charset="0"/>
              </a:rPr>
              <a:t> CaCO</a:t>
            </a:r>
            <a:r>
              <a:rPr lang="en-US" sz="2000" b="1" baseline="-25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 H</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O + CO</a:t>
            </a:r>
            <a:r>
              <a:rPr lang="en-US" sz="2000" b="1" baseline="-25000" dirty="0">
                <a:latin typeface="Times New Roman" panose="02020603050405020304" pitchFamily="18" charset="0"/>
                <a:cs typeface="Times New Roman" panose="02020603050405020304" pitchFamily="18" charset="0"/>
              </a:rPr>
              <a:t>2</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calcium carbonate (</a:t>
            </a:r>
            <a:r>
              <a:rPr lang="en-US" sz="2000" b="1" dirty="0">
                <a:latin typeface="Times New Roman" panose="02020603050405020304" pitchFamily="18" charset="0"/>
                <a:cs typeface="Times New Roman" panose="02020603050405020304" pitchFamily="18" charset="0"/>
              </a:rPr>
              <a:t>CaCO</a:t>
            </a:r>
            <a:r>
              <a:rPr lang="en-US" sz="2000" b="1"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thus formed is responsible for deposition in pipes. </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Similarly the </a:t>
            </a:r>
            <a:r>
              <a:rPr lang="en-US" sz="2000" b="1" dirty="0">
                <a:latin typeface="Times New Roman" panose="02020603050405020304" pitchFamily="18" charset="0"/>
                <a:cs typeface="Times New Roman" panose="02020603050405020304" pitchFamily="18" charset="0"/>
              </a:rPr>
              <a:t>CO</a:t>
            </a:r>
            <a:r>
              <a:rPr lang="en-US" sz="2000" b="1"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which is released reacts with water to form carbonic acid which is corrosive and causes severe corrosion in pipes.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This decreases the strength of the material making it unsafe to bear high temperature and pressure.</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1507A9A1-DB47-4A3D-AF43-2117A96C6FA4}"/>
              </a:ext>
            </a:extLst>
          </p:cNvPr>
          <p:cNvPicPr>
            <a:picLocks noChangeAspect="1"/>
          </p:cNvPicPr>
          <p:nvPr/>
        </p:nvPicPr>
        <p:blipFill>
          <a:blip r:embed="rId2">
            <a:extLst>
              <a:ext uri="{837473B0-CC2E-450A-ABE3-18F120FF3D39}">
                <a1611:picAttrSrcUrl xmlns="" xmlns:a1611="http://schemas.microsoft.com/office/drawing/2016/11/main" r:id="rId3"/>
              </a:ext>
            </a:extLst>
          </a:blip>
          <a:stretch>
            <a:fillRect/>
          </a:stretch>
        </p:blipFill>
        <p:spPr>
          <a:xfrm>
            <a:off x="7686262" y="3543300"/>
            <a:ext cx="4137612" cy="2745478"/>
          </a:xfrm>
          <a:prstGeom prst="rect">
            <a:avLst/>
          </a:prstGeom>
        </p:spPr>
      </p:pic>
    </p:spTree>
    <p:extLst>
      <p:ext uri="{BB962C8B-B14F-4D97-AF65-F5344CB8AC3E}">
        <p14:creationId xmlns:p14="http://schemas.microsoft.com/office/powerpoint/2010/main" val="1933130718"/>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D83BBA-3D99-4869-A82B-0CDFB587505E}"/>
              </a:ext>
            </a:extLst>
          </p:cNvPr>
          <p:cNvSpPr txBox="1">
            <a:spLocks/>
          </p:cNvSpPr>
          <p:nvPr/>
        </p:nvSpPr>
        <p:spPr>
          <a:xfrm>
            <a:off x="894798" y="468514"/>
            <a:ext cx="8831816" cy="1372986"/>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accent6">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SLUDGE AND SCALE FORMATION</a:t>
            </a:r>
            <a:endParaRPr lang="en-IN" b="1" dirty="0">
              <a:solidFill>
                <a:schemeClr val="accent6">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69BD2329-AD83-46BD-83E2-4D4A44BEBB6E}"/>
              </a:ext>
            </a:extLst>
          </p:cNvPr>
          <p:cNvSpPr txBox="1">
            <a:spLocks/>
          </p:cNvSpPr>
          <p:nvPr/>
        </p:nvSpPr>
        <p:spPr>
          <a:xfrm>
            <a:off x="0" y="1841500"/>
            <a:ext cx="12192000" cy="5168900"/>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 boilers, conc. of salts increases due to continuous evaporation of water.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When the conc. reaches saturation point it is thrown out of the water in form of ppt, which gets settled on the inner walls of the boiler.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the ppt takes place in form of loose and soft ppt it is called as </a:t>
            </a:r>
            <a:r>
              <a:rPr lang="en-US" sz="2000" b="1" dirty="0">
                <a:latin typeface="Times New Roman" panose="02020603050405020304" pitchFamily="18" charset="0"/>
                <a:cs typeface="Times New Roman" panose="02020603050405020304" pitchFamily="18" charset="0"/>
              </a:rPr>
              <a:t>sludge</a:t>
            </a:r>
            <a:r>
              <a:rPr lang="en-US" sz="2000" dirty="0">
                <a:latin typeface="Times New Roman" panose="02020603050405020304" pitchFamily="18" charset="0"/>
                <a:cs typeface="Times New Roman" panose="02020603050405020304" pitchFamily="18" charset="0"/>
              </a:rPr>
              <a:t>. It is formed at comparatively colder regions of boiler or at bends. </a:t>
            </a:r>
            <a:r>
              <a:rPr lang="en-US" sz="2000" dirty="0" err="1">
                <a:latin typeface="Times New Roman" panose="02020603050405020304" pitchFamily="18" charset="0"/>
                <a:cs typeface="Times New Roman" panose="02020603050405020304" pitchFamily="18" charset="0"/>
              </a:rPr>
              <a:t>Eg.</a:t>
            </a:r>
            <a:r>
              <a:rPr lang="en-US" sz="20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Mg(OH)</a:t>
            </a:r>
            <a:r>
              <a:rPr lang="en-US" b="1" baseline="-25000" dirty="0">
                <a:latin typeface="Times New Roman" panose="02020603050405020304" pitchFamily="18" charset="0"/>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the ppt sticks firmly to the inner walls of the boiler it called as </a:t>
            </a:r>
            <a:r>
              <a:rPr lang="en-US" sz="2000" b="1" dirty="0">
                <a:latin typeface="Times New Roman" panose="02020603050405020304" pitchFamily="18" charset="0"/>
                <a:cs typeface="Times New Roman" panose="02020603050405020304" pitchFamily="18" charset="0"/>
              </a:rPr>
              <a:t>scales</a:t>
            </a:r>
            <a:r>
              <a:rPr lang="en-US" sz="2000" dirty="0">
                <a:latin typeface="Times New Roman" panose="02020603050405020304" pitchFamily="18" charset="0"/>
                <a:cs typeface="Times New Roman" panose="02020603050405020304" pitchFamily="18" charset="0"/>
              </a:rPr>
              <a:t>. Sometimes it is even difficult to remove with hammer or chisel. </a:t>
            </a:r>
            <a:r>
              <a:rPr lang="en-US" sz="2000" dirty="0" err="1">
                <a:latin typeface="Times New Roman" panose="02020603050405020304" pitchFamily="18" charset="0"/>
                <a:cs typeface="Times New Roman" panose="02020603050405020304" pitchFamily="18" charset="0"/>
              </a:rPr>
              <a:t>Eg.</a:t>
            </a:r>
            <a:r>
              <a:rPr lang="en-US" sz="20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MgSiO</a:t>
            </a:r>
            <a:r>
              <a:rPr lang="en-US" b="1" baseline="-25000" dirty="0">
                <a:latin typeface="Times New Roman" panose="02020603050405020304" pitchFamily="18" charset="0"/>
                <a:cs typeface="Times New Roman" panose="02020603050405020304" pitchFamily="18" charset="0"/>
              </a:rPr>
              <a:t>3</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DISADVANTAGES OF SLUDGE AND SCALE FORMATION </a:t>
            </a:r>
          </a:p>
          <a:p>
            <a:pPr>
              <a:buFont typeface="Wingdings 3" charset="2"/>
              <a:buAutoNum type="arabicPeriod"/>
            </a:pPr>
            <a:r>
              <a:rPr lang="en-IN" sz="2000" dirty="0">
                <a:latin typeface="Times New Roman" panose="02020603050405020304" pitchFamily="18" charset="0"/>
                <a:cs typeface="Times New Roman" panose="02020603050405020304" pitchFamily="18" charset="0"/>
              </a:rPr>
              <a:t>Wastage of fuel</a:t>
            </a:r>
          </a:p>
          <a:p>
            <a:pPr>
              <a:buFont typeface="Wingdings 3" charset="2"/>
              <a:buAutoNum type="arabicPeriod"/>
            </a:pPr>
            <a:r>
              <a:rPr lang="en-IN" sz="2000" dirty="0">
                <a:latin typeface="Times New Roman" panose="02020603050405020304" pitchFamily="18" charset="0"/>
                <a:cs typeface="Times New Roman" panose="02020603050405020304" pitchFamily="18" charset="0"/>
              </a:rPr>
              <a:t>Lowering of boiler safety</a:t>
            </a:r>
          </a:p>
          <a:p>
            <a:pPr>
              <a:buFont typeface="Wingdings 3" charset="2"/>
              <a:buAutoNum type="arabicPeriod"/>
            </a:pPr>
            <a:r>
              <a:rPr lang="en-IN" sz="2000" dirty="0">
                <a:latin typeface="Times New Roman" panose="02020603050405020304" pitchFamily="18" charset="0"/>
                <a:cs typeface="Times New Roman" panose="02020603050405020304" pitchFamily="18" charset="0"/>
              </a:rPr>
              <a:t>Decrease in efficiency</a:t>
            </a:r>
          </a:p>
          <a:p>
            <a:pPr>
              <a:buFont typeface="Wingdings 3" charset="2"/>
              <a:buAutoNum type="arabicPeriod"/>
            </a:pPr>
            <a:r>
              <a:rPr lang="en-IN" sz="2000" dirty="0">
                <a:latin typeface="Times New Roman" panose="02020603050405020304" pitchFamily="18" charset="0"/>
                <a:cs typeface="Times New Roman" panose="02020603050405020304" pitchFamily="18" charset="0"/>
              </a:rPr>
              <a:t>Danger of explosion</a:t>
            </a:r>
          </a:p>
        </p:txBody>
      </p:sp>
    </p:spTree>
    <p:extLst>
      <p:ext uri="{BB962C8B-B14F-4D97-AF65-F5344CB8AC3E}">
        <p14:creationId xmlns:p14="http://schemas.microsoft.com/office/powerpoint/2010/main" val="33691283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439CF5-8A80-4C82-A73E-ECD094DB67DD}"/>
              </a:ext>
            </a:extLst>
          </p:cNvPr>
          <p:cNvSpPr>
            <a:spLocks noGrp="1"/>
          </p:cNvSpPr>
          <p:nvPr>
            <p:ph type="title"/>
          </p:nvPr>
        </p:nvSpPr>
        <p:spPr/>
        <p:txBody>
          <a:bodyPr>
            <a:normAutofit fontScale="90000"/>
          </a:bodyPr>
          <a:lstStyle/>
          <a:p>
            <a:r>
              <a:rPr 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SLUDGE AND SCALE FORMATION</a:t>
            </a:r>
            <a:r>
              <a:rPr lang="en-I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I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dirty="0"/>
          </a:p>
        </p:txBody>
      </p:sp>
      <p:sp>
        <p:nvSpPr>
          <p:cNvPr id="3" name="Text Placeholder 2">
            <a:extLst>
              <a:ext uri="{FF2B5EF4-FFF2-40B4-BE49-F238E27FC236}">
                <a16:creationId xmlns="" xmlns:a16="http://schemas.microsoft.com/office/drawing/2014/main" id="{0512C17A-99AD-4ECD-8843-0799DCF5CCAC}"/>
              </a:ext>
            </a:extLst>
          </p:cNvPr>
          <p:cNvSpPr>
            <a:spLocks noGrp="1"/>
          </p:cNvSpPr>
          <p:nvPr>
            <p:ph type="body" idx="1"/>
          </p:nvPr>
        </p:nvSpPr>
        <p:spPr>
          <a:xfrm>
            <a:off x="443754" y="2603500"/>
            <a:ext cx="4825157" cy="576262"/>
          </a:xfrm>
        </p:spPr>
        <p:txBody>
          <a:bodyPr/>
          <a:lstStyle/>
          <a:p>
            <a:pPr algn="ctr"/>
            <a:r>
              <a:rPr lang="en-US" b="1" dirty="0">
                <a:effectLst>
                  <a:outerShdw blurRad="38100" dist="38100" dir="2700000" algn="tl">
                    <a:srgbClr val="000000">
                      <a:alpha val="43137"/>
                    </a:srgbClr>
                  </a:outerShdw>
                </a:effectLst>
              </a:rPr>
              <a:t>SLUDGE</a:t>
            </a:r>
            <a:endParaRPr lang="en-IN" b="1" dirty="0">
              <a:effectLst>
                <a:outerShdw blurRad="38100" dist="38100" dir="2700000" algn="tl">
                  <a:srgbClr val="000000">
                    <a:alpha val="43137"/>
                  </a:srgbClr>
                </a:outerShdw>
              </a:effectLst>
            </a:endParaRPr>
          </a:p>
        </p:txBody>
      </p:sp>
      <p:pic>
        <p:nvPicPr>
          <p:cNvPr id="8" name="Content Placeholder 7">
            <a:extLst>
              <a:ext uri="{FF2B5EF4-FFF2-40B4-BE49-F238E27FC236}">
                <a16:creationId xmlns="" xmlns:a16="http://schemas.microsoft.com/office/drawing/2014/main" id="{DA1D7F38-DCF1-4B8D-BE46-AE72D56E32A9}"/>
              </a:ext>
            </a:extLst>
          </p:cNvPr>
          <p:cNvPicPr>
            <a:picLocks noGrp="1" noChangeAspect="1"/>
          </p:cNvPicPr>
          <p:nvPr>
            <p:ph sz="half" idx="2"/>
          </p:nvPr>
        </p:nvPicPr>
        <p:blipFill>
          <a:blip r:embed="rId2"/>
          <a:stretch>
            <a:fillRect/>
          </a:stretch>
        </p:blipFill>
        <p:spPr>
          <a:xfrm>
            <a:off x="644027" y="3179763"/>
            <a:ext cx="4825159" cy="3603791"/>
          </a:xfrm>
        </p:spPr>
      </p:pic>
      <p:sp>
        <p:nvSpPr>
          <p:cNvPr id="5" name="Text Placeholder 4">
            <a:extLst>
              <a:ext uri="{FF2B5EF4-FFF2-40B4-BE49-F238E27FC236}">
                <a16:creationId xmlns="" xmlns:a16="http://schemas.microsoft.com/office/drawing/2014/main" id="{C6B269E1-CDF3-4D30-A284-7E2AE9E5A696}"/>
              </a:ext>
            </a:extLst>
          </p:cNvPr>
          <p:cNvSpPr>
            <a:spLocks noGrp="1"/>
          </p:cNvSpPr>
          <p:nvPr>
            <p:ph type="body" sz="quarter" idx="3"/>
          </p:nvPr>
        </p:nvSpPr>
        <p:spPr/>
        <p:txBody>
          <a:bodyPr/>
          <a:lstStyle/>
          <a:p>
            <a:pPr algn="ctr"/>
            <a:r>
              <a:rPr lang="en-US" b="1" dirty="0">
                <a:effectLst>
                  <a:outerShdw blurRad="38100" dist="38100" dir="2700000" algn="tl">
                    <a:srgbClr val="000000">
                      <a:alpha val="43137"/>
                    </a:srgbClr>
                  </a:outerShdw>
                </a:effectLst>
              </a:rPr>
              <a:t>SCALE</a:t>
            </a:r>
            <a:endParaRPr lang="en-IN" b="1" dirty="0">
              <a:effectLst>
                <a:outerShdw blurRad="38100" dist="38100" dir="2700000" algn="tl">
                  <a:srgbClr val="000000">
                    <a:alpha val="43137"/>
                  </a:srgbClr>
                </a:outerShdw>
              </a:effectLst>
            </a:endParaRPr>
          </a:p>
        </p:txBody>
      </p:sp>
      <p:pic>
        <p:nvPicPr>
          <p:cNvPr id="10" name="Content Placeholder 9">
            <a:extLst>
              <a:ext uri="{FF2B5EF4-FFF2-40B4-BE49-F238E27FC236}">
                <a16:creationId xmlns="" xmlns:a16="http://schemas.microsoft.com/office/drawing/2014/main" id="{54FC98F7-80B0-42E2-98DD-FC717D2A6BF8}"/>
              </a:ext>
            </a:extLst>
          </p:cNvPr>
          <p:cNvPicPr>
            <a:picLocks noGrp="1" noChangeAspect="1"/>
          </p:cNvPicPr>
          <p:nvPr>
            <p:ph sz="quarter" idx="4"/>
          </p:nvPr>
        </p:nvPicPr>
        <p:blipFill>
          <a:blip r:embed="rId3"/>
          <a:stretch>
            <a:fillRect/>
          </a:stretch>
        </p:blipFill>
        <p:spPr>
          <a:xfrm>
            <a:off x="5972639" y="3179762"/>
            <a:ext cx="5630981" cy="3487738"/>
          </a:xfrm>
        </p:spPr>
      </p:pic>
    </p:spTree>
    <p:extLst>
      <p:ext uri="{BB962C8B-B14F-4D97-AF65-F5344CB8AC3E}">
        <p14:creationId xmlns:p14="http://schemas.microsoft.com/office/powerpoint/2010/main" val="3929763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EB0E97-5B73-45E3-A72D-F4302CDEF925}"/>
              </a:ext>
            </a:extLst>
          </p:cNvPr>
          <p:cNvSpPr txBox="1">
            <a:spLocks/>
          </p:cNvSpPr>
          <p:nvPr/>
        </p:nvSpPr>
        <p:spPr>
          <a:xfrm>
            <a:off x="1154954" y="973668"/>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CAUSTIC EMBRITTLEMENT</a:t>
            </a:r>
            <a:endParaRPr lang="en-IN"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1AAF640-D5DB-4074-B840-3015D0B3B36E}"/>
              </a:ext>
            </a:extLst>
          </p:cNvPr>
          <p:cNvSpPr txBox="1">
            <a:spLocks/>
          </p:cNvSpPr>
          <p:nvPr/>
        </p:nvSpPr>
        <p:spPr>
          <a:xfrm>
            <a:off x="1" y="1680632"/>
            <a:ext cx="8822266" cy="517736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150000"/>
              </a:lnSpc>
              <a:spcBef>
                <a:spcPct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 a boiler, some qty. of Na</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CO</a:t>
            </a:r>
            <a:r>
              <a:rPr lang="en-US" baseline="-25000"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added to soften the water. But since high pressure and high temperature in the boiler converts Na</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CO</a:t>
            </a:r>
            <a:r>
              <a:rPr lang="en-US" baseline="-25000"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to NaOH.</a:t>
            </a:r>
          </a:p>
          <a:p>
            <a:pPr marL="0" indent="0">
              <a:lnSpc>
                <a:spcPct val="150000"/>
              </a:lnSpc>
              <a:spcBef>
                <a:spcPct val="0"/>
              </a:spcBef>
              <a:buFont typeface="Wingdings 3" charset="2"/>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REACTION: Na2CO3 + H2O </a:t>
            </a:r>
            <a:r>
              <a:rPr 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b="1" dirty="0">
                <a:latin typeface="Times New Roman" panose="02020603050405020304" pitchFamily="18" charset="0"/>
                <a:cs typeface="Times New Roman" panose="02020603050405020304" pitchFamily="18" charset="0"/>
              </a:rPr>
              <a:t> 2NaOH + CO2</a:t>
            </a:r>
          </a:p>
          <a:p>
            <a:pPr>
              <a:lnSpc>
                <a:spcPct val="150000"/>
              </a:lnSpc>
              <a:spcBef>
                <a:spcPct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Because of NaOH, boiler water becomes alkaline. This very dilute alkaline water flows through minute hair cracks.</a:t>
            </a:r>
          </a:p>
          <a:p>
            <a:pPr>
              <a:lnSpc>
                <a:spcPct val="150000"/>
              </a:lnSpc>
              <a:spcBef>
                <a:spcPct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When water evaporates, this dilute alkali becomes concentrated.</a:t>
            </a:r>
          </a:p>
          <a:p>
            <a:pPr>
              <a:lnSpc>
                <a:spcPct val="150000"/>
              </a:lnSpc>
              <a:spcBef>
                <a:spcPct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concentrated alkali reacts with </a:t>
            </a:r>
            <a:r>
              <a:rPr lang="en-US" b="1" dirty="0">
                <a:latin typeface="Times New Roman" panose="02020603050405020304" pitchFamily="18" charset="0"/>
                <a:cs typeface="Times New Roman" panose="02020603050405020304" pitchFamily="18" charset="0"/>
              </a:rPr>
              <a:t>iron</a:t>
            </a:r>
            <a:r>
              <a:rPr lang="en-US" dirty="0">
                <a:latin typeface="Times New Roman" panose="02020603050405020304" pitchFamily="18" charset="0"/>
                <a:cs typeface="Times New Roman" panose="02020603050405020304" pitchFamily="18" charset="0"/>
              </a:rPr>
              <a:t> to form </a:t>
            </a:r>
            <a:r>
              <a:rPr lang="en-US" b="1" dirty="0">
                <a:latin typeface="Times New Roman" panose="02020603050405020304" pitchFamily="18" charset="0"/>
                <a:cs typeface="Times New Roman" panose="02020603050405020304" pitchFamily="18" charset="0"/>
              </a:rPr>
              <a:t>sodium </a:t>
            </a:r>
            <a:r>
              <a:rPr lang="en-US" b="1" dirty="0" err="1">
                <a:latin typeface="Times New Roman" panose="02020603050405020304" pitchFamily="18" charset="0"/>
                <a:cs typeface="Times New Roman" panose="02020603050405020304" pitchFamily="18" charset="0"/>
              </a:rPr>
              <a:t>ferroate</a:t>
            </a:r>
            <a:r>
              <a:rPr lang="en-US" b="1" dirty="0">
                <a:latin typeface="Times New Roman" panose="02020603050405020304" pitchFamily="18" charset="0"/>
                <a:cs typeface="Times New Roman" panose="02020603050405020304" pitchFamily="18" charset="0"/>
              </a:rPr>
              <a:t>.</a:t>
            </a:r>
          </a:p>
          <a:p>
            <a:pPr marL="0" indent="0">
              <a:lnSpc>
                <a:spcPct val="150000"/>
              </a:lnSpc>
              <a:spcBef>
                <a:spcPct val="0"/>
              </a:spcBef>
              <a:buFont typeface="Wingdings 3" charset="2"/>
              <a:buNone/>
            </a:pPr>
            <a:r>
              <a:rPr lang="en-US" b="1" dirty="0">
                <a:latin typeface="Times New Roman" panose="02020603050405020304" pitchFamily="18" charset="0"/>
                <a:cs typeface="Times New Roman" panose="02020603050405020304" pitchFamily="18" charset="0"/>
              </a:rPr>
              <a:t>       REACTION: </a:t>
            </a:r>
            <a:r>
              <a:rPr lang="en-US" b="1" dirty="0"/>
              <a:t>2NaOH + Fe </a:t>
            </a:r>
            <a:r>
              <a:rPr lang="en-US" b="1" dirty="0">
                <a:sym typeface="Wingdings" panose="05000000000000000000" pitchFamily="2" charset="2"/>
              </a:rPr>
              <a:t></a:t>
            </a:r>
            <a:r>
              <a:rPr lang="en-US" b="1" dirty="0"/>
              <a:t> Na</a:t>
            </a:r>
            <a:r>
              <a:rPr lang="en-US" b="1" baseline="-25000" dirty="0"/>
              <a:t>2</a:t>
            </a:r>
            <a:r>
              <a:rPr lang="en-US" b="1" dirty="0"/>
              <a:t>FeO</a:t>
            </a:r>
            <a:r>
              <a:rPr lang="en-US" b="1" baseline="-25000" dirty="0"/>
              <a:t>2 </a:t>
            </a:r>
            <a:r>
              <a:rPr lang="en-US" b="1" dirty="0"/>
              <a:t>+ H</a:t>
            </a:r>
            <a:r>
              <a:rPr lang="en-US" b="1" baseline="-25000" dirty="0"/>
              <a:t>2</a:t>
            </a:r>
            <a:endParaRPr lang="en-IN" b="1" dirty="0">
              <a:latin typeface="Times New Roman" panose="02020603050405020304" pitchFamily="18" charset="0"/>
              <a:cs typeface="Times New Roman" panose="02020603050405020304" pitchFamily="18" charset="0"/>
            </a:endParaRPr>
          </a:p>
          <a:p>
            <a:pPr>
              <a:lnSpc>
                <a:spcPct val="150000"/>
              </a:lnSpc>
              <a:spcBef>
                <a:spcPct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sodium </a:t>
            </a:r>
            <a:r>
              <a:rPr lang="en-US" dirty="0" err="1">
                <a:latin typeface="Times New Roman" panose="02020603050405020304" pitchFamily="18" charset="0"/>
                <a:cs typeface="Times New Roman" panose="02020603050405020304" pitchFamily="18" charset="0"/>
              </a:rPr>
              <a:t>ferroate</a:t>
            </a:r>
            <a:r>
              <a:rPr lang="en-US" dirty="0">
                <a:latin typeface="Times New Roman" panose="02020603050405020304" pitchFamily="18" charset="0"/>
                <a:cs typeface="Times New Roman" panose="02020603050405020304" pitchFamily="18" charset="0"/>
              </a:rPr>
              <a:t> gets deposited in </a:t>
            </a:r>
            <a:r>
              <a:rPr lang="en-US" dirty="0" err="1">
                <a:latin typeface="Times New Roman" panose="02020603050405020304" pitchFamily="18" charset="0"/>
                <a:cs typeface="Times New Roman" panose="02020603050405020304" pitchFamily="18" charset="0"/>
              </a:rPr>
              <a:t>crevies</a:t>
            </a:r>
            <a:r>
              <a:rPr lang="en-US" dirty="0">
                <a:latin typeface="Times New Roman" panose="02020603050405020304" pitchFamily="18" charset="0"/>
                <a:cs typeface="Times New Roman" panose="02020603050405020304" pitchFamily="18" charset="0"/>
              </a:rPr>
              <a:t> and cracks.</a:t>
            </a:r>
          </a:p>
          <a:p>
            <a:pPr>
              <a:lnSpc>
                <a:spcPct val="150000"/>
              </a:lnSpc>
              <a:spcBef>
                <a:spcPct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reaction is reversible i.e. where at high temperature sodium </a:t>
            </a:r>
            <a:r>
              <a:rPr lang="en-US" dirty="0" err="1">
                <a:latin typeface="Times New Roman" panose="02020603050405020304" pitchFamily="18" charset="0"/>
                <a:cs typeface="Times New Roman" panose="02020603050405020304" pitchFamily="18" charset="0"/>
              </a:rPr>
              <a:t>ferroate</a:t>
            </a:r>
            <a:r>
              <a:rPr lang="en-US" dirty="0">
                <a:latin typeface="Times New Roman" panose="02020603050405020304" pitchFamily="18" charset="0"/>
                <a:cs typeface="Times New Roman" panose="02020603050405020304" pitchFamily="18" charset="0"/>
              </a:rPr>
              <a:t> decomposes to form NaOH and Fe</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O</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 So reaction continues making use of iron metal of boiler.</a:t>
            </a:r>
          </a:p>
          <a:p>
            <a:pPr>
              <a:lnSpc>
                <a:spcPct val="150000"/>
              </a:lnSpc>
              <a:spcBef>
                <a:spcPct val="0"/>
              </a:spcBef>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REACTION: </a:t>
            </a:r>
            <a:r>
              <a:rPr lang="en-US" b="1" dirty="0"/>
              <a:t>Na</a:t>
            </a:r>
            <a:r>
              <a:rPr lang="en-US" b="1" baseline="-25000" dirty="0"/>
              <a:t>2</a:t>
            </a:r>
            <a:r>
              <a:rPr lang="en-US" b="1" dirty="0"/>
              <a:t>FeO</a:t>
            </a:r>
            <a:r>
              <a:rPr lang="en-US" b="1" baseline="-25000" dirty="0"/>
              <a:t>2 </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t>
            </a:r>
            <a:r>
              <a:rPr lang="en-US" b="1" baseline="-25000"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O + O</a:t>
            </a:r>
            <a:r>
              <a:rPr lang="en-US" b="1" baseline="-25000"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sym typeface="Wingdings" panose="05000000000000000000" pitchFamily="2" charset="2"/>
              </a:rPr>
              <a:t> 12NaOH + 2</a:t>
            </a:r>
            <a:r>
              <a:rPr lang="en-US" b="1" dirty="0">
                <a:latin typeface="Times New Roman" panose="02020603050405020304" pitchFamily="18" charset="0"/>
                <a:cs typeface="Times New Roman" panose="02020603050405020304" pitchFamily="18" charset="0"/>
              </a:rPr>
              <a:t> Fe</a:t>
            </a:r>
            <a:r>
              <a:rPr lang="en-US" b="1" baseline="-25000" dirty="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O</a:t>
            </a:r>
            <a:r>
              <a:rPr lang="en-US" b="1" baseline="-25000" dirty="0">
                <a:latin typeface="Times New Roman" panose="02020603050405020304" pitchFamily="18" charset="0"/>
                <a:cs typeface="Times New Roman" panose="02020603050405020304" pitchFamily="18" charset="0"/>
              </a:rPr>
              <a:t>4 </a:t>
            </a:r>
            <a:endParaRPr lang="en-US" b="1" dirty="0">
              <a:latin typeface="Times New Roman" panose="02020603050405020304" pitchFamily="18" charset="0"/>
              <a:cs typeface="Times New Roman" panose="02020603050405020304" pitchFamily="18" charset="0"/>
            </a:endParaRPr>
          </a:p>
          <a:p>
            <a:pPr>
              <a:lnSpc>
                <a:spcPct val="150000"/>
              </a:lnSpc>
              <a:spcBef>
                <a:spcPct val="0"/>
              </a:spcBef>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a:lnSpc>
                <a:spcPct val="150000"/>
              </a:lnSpc>
              <a:spcBef>
                <a:spcPct val="0"/>
              </a:spcBef>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0" indent="0">
              <a:lnSpc>
                <a:spcPct val="150000"/>
              </a:lnSpc>
              <a:spcBef>
                <a:spcPct val="0"/>
              </a:spcBef>
              <a:buFont typeface="Wingdings 3" charset="2"/>
              <a:buNone/>
            </a:pPr>
            <a:endParaRPr lang="en-IN"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31C09DEC-ED7E-461C-B800-11A6910C70E3}"/>
              </a:ext>
            </a:extLst>
          </p:cNvPr>
          <p:cNvPicPr>
            <a:picLocks noChangeAspect="1"/>
          </p:cNvPicPr>
          <p:nvPr/>
        </p:nvPicPr>
        <p:blipFill>
          <a:blip r:embed="rId2"/>
          <a:stretch>
            <a:fillRect/>
          </a:stretch>
        </p:blipFill>
        <p:spPr>
          <a:xfrm>
            <a:off x="8822267" y="2286000"/>
            <a:ext cx="3369733" cy="3467100"/>
          </a:xfrm>
          <a:prstGeom prst="rect">
            <a:avLst/>
          </a:prstGeom>
        </p:spPr>
      </p:pic>
    </p:spTree>
    <p:extLst>
      <p:ext uri="{BB962C8B-B14F-4D97-AF65-F5344CB8AC3E}">
        <p14:creationId xmlns:p14="http://schemas.microsoft.com/office/powerpoint/2010/main" val="716875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FCCE161-49E4-4765-8082-8B5BE6AEAE3E}"/>
              </a:ext>
            </a:extLst>
          </p:cNvPr>
          <p:cNvSpPr txBox="1"/>
          <p:nvPr/>
        </p:nvSpPr>
        <p:spPr>
          <a:xfrm>
            <a:off x="559293" y="337351"/>
            <a:ext cx="5663954" cy="754053"/>
          </a:xfrm>
          <a:prstGeom prst="rect">
            <a:avLst/>
          </a:prstGeom>
          <a:noFill/>
        </p:spPr>
        <p:txBody>
          <a:bodyPr wrap="square" rtlCol="0">
            <a:spAutoFit/>
          </a:bodyPr>
          <a:lstStyle/>
          <a:p>
            <a:endParaRPr lang="en-IN" sz="25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 xmlns:a16="http://schemas.microsoft.com/office/drawing/2014/main" id="{B0B91C36-0387-4CED-A9DA-7D17BFE35A50}"/>
              </a:ext>
            </a:extLst>
          </p:cNvPr>
          <p:cNvSpPr>
            <a:spLocks noGrp="1"/>
          </p:cNvSpPr>
          <p:nvPr>
            <p:ph type="title"/>
          </p:nvPr>
        </p:nvSpPr>
        <p:spPr/>
        <p:txBody>
          <a:bodyPr/>
          <a:lstStyle/>
          <a:p>
            <a:r>
              <a:rPr lang="en-IN" dirty="0">
                <a:solidFill>
                  <a:schemeClr val="bg1"/>
                </a:solidFill>
                <a:latin typeface="Times New Roman" panose="02020603050405020304" pitchFamily="18" charset="0"/>
                <a:cs typeface="Times New Roman" panose="02020603050405020304" pitchFamily="18" charset="0"/>
              </a:rPr>
              <a:t>REFERENCES</a:t>
            </a:r>
            <a:r>
              <a:rPr lang="en-IN" dirty="0">
                <a:solidFill>
                  <a:schemeClr val="accent1"/>
                </a:solidFill>
                <a:latin typeface="Times New Roman" panose="02020603050405020304" pitchFamily="18" charset="0"/>
                <a:cs typeface="Times New Roman" panose="02020603050405020304" pitchFamily="18" charset="0"/>
              </a:rPr>
              <a:t/>
            </a:r>
            <a:br>
              <a:rPr lang="en-IN" dirty="0">
                <a:solidFill>
                  <a:schemeClr val="accent1"/>
                </a:solidFill>
                <a:latin typeface="Times New Roman" panose="02020603050405020304" pitchFamily="18" charset="0"/>
                <a:cs typeface="Times New Roman" panose="02020603050405020304" pitchFamily="18" charset="0"/>
              </a:rPr>
            </a:br>
            <a:endParaRPr lang="en-IN" dirty="0"/>
          </a:p>
        </p:txBody>
      </p:sp>
      <p:sp>
        <p:nvSpPr>
          <p:cNvPr id="5" name="Content Placeholder 4">
            <a:extLst>
              <a:ext uri="{FF2B5EF4-FFF2-40B4-BE49-F238E27FC236}">
                <a16:creationId xmlns="" xmlns:a16="http://schemas.microsoft.com/office/drawing/2014/main" id="{A7282418-A2E6-43A5-B6DB-93FA58AD7B55}"/>
              </a:ext>
            </a:extLst>
          </p:cNvPr>
          <p:cNvSpPr>
            <a:spLocks noGrp="1"/>
          </p:cNvSpPr>
          <p:nvPr>
            <p:ph idx="1"/>
          </p:nvPr>
        </p:nvSpPr>
        <p:spPr/>
        <p:txBody>
          <a:bodyPr/>
          <a:lstStyle/>
          <a:p>
            <a:pPr>
              <a:buAutoNum type="arabicPeriod"/>
            </a:pPr>
            <a:r>
              <a:rPr lang="en-IN" dirty="0">
                <a:latin typeface="Times New Roman" panose="02020603050405020304" pitchFamily="18" charset="0"/>
                <a:cs typeface="Times New Roman" panose="02020603050405020304" pitchFamily="18" charset="0"/>
              </a:rPr>
              <a:t>Engineering Chemistry Textbook by Chopra and Parmar</a:t>
            </a:r>
          </a:p>
          <a:p>
            <a:pPr>
              <a:buAutoNum type="arabicPeriod"/>
            </a:pPr>
            <a:r>
              <a:rPr lang="en-IN" dirty="0">
                <a:latin typeface="Times New Roman" panose="02020603050405020304" pitchFamily="18" charset="0"/>
                <a:cs typeface="Times New Roman" panose="02020603050405020304" pitchFamily="18" charset="0"/>
              </a:rPr>
              <a:t>Engineering Chemistry by Pearson</a:t>
            </a:r>
          </a:p>
          <a:p>
            <a:pPr>
              <a:buAutoNum type="arabicPeriod"/>
            </a:pPr>
            <a:r>
              <a:rPr lang="en-IN" dirty="0">
                <a:latin typeface="Times New Roman" panose="02020603050405020304" pitchFamily="18" charset="0"/>
                <a:cs typeface="Times New Roman" panose="02020603050405020304" pitchFamily="18" charset="0"/>
                <a:hlinkClick r:id="rId2"/>
              </a:rPr>
              <a:t>http://textilelearner.blogspot.com/</a:t>
            </a:r>
            <a:endParaRPr lang="en-IN" dirty="0">
              <a:latin typeface="Times New Roman" panose="02020603050405020304" pitchFamily="18" charset="0"/>
              <a:cs typeface="Times New Roman" panose="02020603050405020304" pitchFamily="18" charset="0"/>
            </a:endParaRPr>
          </a:p>
          <a:p>
            <a:pPr>
              <a:buAutoNum type="arabicPeriod"/>
            </a:pPr>
            <a:r>
              <a:rPr lang="en-IN" dirty="0">
                <a:latin typeface="Times New Roman" panose="02020603050405020304" pitchFamily="18" charset="0"/>
                <a:cs typeface="Times New Roman" panose="02020603050405020304" pitchFamily="18" charset="0"/>
                <a:hlinkClick r:id="rId3"/>
              </a:rPr>
              <a:t>http://www.environmentalpollution.in/</a:t>
            </a:r>
            <a:endParaRPr lang="en-IN" dirty="0">
              <a:latin typeface="Times New Roman" panose="02020603050405020304" pitchFamily="18" charset="0"/>
              <a:cs typeface="Times New Roman" panose="02020603050405020304" pitchFamily="18" charset="0"/>
            </a:endParaRPr>
          </a:p>
          <a:p>
            <a:pPr>
              <a:buAutoNum type="arabicPeriod"/>
            </a:pPr>
            <a:r>
              <a:rPr lang="en-IN" dirty="0">
                <a:latin typeface="Times New Roman" panose="02020603050405020304" pitchFamily="18" charset="0"/>
                <a:cs typeface="Times New Roman" panose="02020603050405020304" pitchFamily="18" charset="0"/>
                <a:hlinkClick r:id="rId4"/>
              </a:rPr>
              <a:t>https://www.chegg.com/homework-help/</a:t>
            </a:r>
            <a:endParaRPr lang="en-IN" dirty="0">
              <a:latin typeface="Times New Roman" panose="02020603050405020304" pitchFamily="18" charset="0"/>
              <a:cs typeface="Times New Roman" panose="02020603050405020304" pitchFamily="18" charset="0"/>
            </a:endParaRPr>
          </a:p>
          <a:p>
            <a:pPr>
              <a:buAutoNum type="arabicPeriod"/>
            </a:pPr>
            <a:r>
              <a:rPr lang="en-IN" dirty="0">
                <a:latin typeface="Times New Roman" panose="02020603050405020304" pitchFamily="18" charset="0"/>
                <a:cs typeface="Times New Roman" panose="02020603050405020304" pitchFamily="18" charset="0"/>
                <a:hlinkClick r:id="rId5"/>
              </a:rPr>
              <a:t>http://web.deu.edu.tr/atiksu/ana52/</a:t>
            </a:r>
            <a:endParaRPr lang="en-IN" dirty="0">
              <a:latin typeface="Times New Roman" panose="02020603050405020304" pitchFamily="18" charset="0"/>
              <a:cs typeface="Times New Roman" panose="02020603050405020304" pitchFamily="18" charset="0"/>
            </a:endParaRPr>
          </a:p>
          <a:p>
            <a:pPr>
              <a:buAutoNum type="arabicPeriod"/>
            </a:pPr>
            <a:r>
              <a:rPr lang="en-IN" dirty="0">
                <a:latin typeface="Times New Roman" panose="02020603050405020304" pitchFamily="18" charset="0"/>
                <a:cs typeface="Times New Roman" panose="02020603050405020304" pitchFamily="18" charset="0"/>
                <a:hlinkClick r:id="rId6"/>
              </a:rPr>
              <a:t>http://apps.who.int/medicinedocs/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75212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0357AE-80C5-400F-A7BF-593A50E8BF79}"/>
              </a:ext>
            </a:extLst>
          </p:cNvPr>
          <p:cNvSpPr>
            <a:spLocks noGrp="1"/>
          </p:cNvSpPr>
          <p:nvPr>
            <p:ph type="ctrTitle"/>
          </p:nvPr>
        </p:nvSpPr>
        <p:spPr>
          <a:xfrm>
            <a:off x="702194" y="1824525"/>
            <a:ext cx="8825658" cy="2677648"/>
          </a:xfrm>
        </p:spPr>
        <p:txBody>
          <a:bodyPr/>
          <a:lstStyle/>
          <a:p>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8439478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FEB07B-6E5F-4FC4-B763-8E5872B5C3DE}"/>
              </a:ext>
            </a:extLst>
          </p:cNvPr>
          <p:cNvSpPr>
            <a:spLocks noGrp="1"/>
          </p:cNvSpPr>
          <p:nvPr>
            <p:ph type="title"/>
          </p:nvPr>
        </p:nvSpPr>
        <p:spPr/>
        <p:txBody>
          <a:bodyPr/>
          <a:lstStyle/>
          <a:p>
            <a:r>
              <a:rPr lang="en-US" dirty="0"/>
              <a:t>Soap and Soap Consuming capacity</a:t>
            </a:r>
            <a:endParaRPr lang="en-IN" dirty="0"/>
          </a:p>
        </p:txBody>
      </p:sp>
      <p:sp>
        <p:nvSpPr>
          <p:cNvPr id="3" name="Content Placeholder 2">
            <a:extLst>
              <a:ext uri="{FF2B5EF4-FFF2-40B4-BE49-F238E27FC236}">
                <a16:creationId xmlns:a16="http://schemas.microsoft.com/office/drawing/2014/main" xmlns="" id="{A04C3FFB-764E-401B-908D-E26A7DD4EF77}"/>
              </a:ext>
            </a:extLst>
          </p:cNvPr>
          <p:cNvSpPr>
            <a:spLocks noGrp="1"/>
          </p:cNvSpPr>
          <p:nvPr>
            <p:ph idx="1"/>
          </p:nvPr>
        </p:nvSpPr>
        <p:spPr/>
        <p:txBody>
          <a:bodyPr/>
          <a:lstStyle/>
          <a:p>
            <a:pPr marL="0" indent="0">
              <a:buNone/>
            </a:pPr>
            <a:r>
              <a:rPr lang="en-US" dirty="0"/>
              <a:t>Soap is sodium or potassium salt of higher fatty acids like oleic, palmitic or steric acid.</a:t>
            </a:r>
          </a:p>
          <a:p>
            <a:pPr marL="0" indent="0">
              <a:buNone/>
            </a:pPr>
            <a:endParaRPr lang="en-US" dirty="0"/>
          </a:p>
          <a:p>
            <a:pPr marL="0" indent="0">
              <a:buNone/>
            </a:pPr>
            <a:r>
              <a:rPr lang="en-US" dirty="0"/>
              <a:t>Soap Consuming capacity of water</a:t>
            </a:r>
          </a:p>
          <a:p>
            <a:pPr marL="0" indent="0">
              <a:buNone/>
            </a:pPr>
            <a:endParaRPr lang="en-US" dirty="0"/>
          </a:p>
          <a:p>
            <a:pPr marL="0" indent="0">
              <a:buNone/>
            </a:pPr>
            <a:r>
              <a:rPr lang="en-US" dirty="0"/>
              <a:t>C</a:t>
            </a:r>
            <a:r>
              <a:rPr lang="en-US" baseline="-25000" dirty="0"/>
              <a:t>17</a:t>
            </a:r>
            <a:r>
              <a:rPr lang="en-US" dirty="0"/>
              <a:t>H</a:t>
            </a:r>
            <a:r>
              <a:rPr lang="en-US" baseline="-25000" dirty="0"/>
              <a:t>35</a:t>
            </a:r>
            <a:r>
              <a:rPr lang="en-US" dirty="0"/>
              <a:t>COONa        + CaCl</a:t>
            </a:r>
            <a:r>
              <a:rPr lang="en-US" baseline="-25000" dirty="0"/>
              <a:t>2</a:t>
            </a:r>
            <a:r>
              <a:rPr lang="en-US" dirty="0"/>
              <a:t>      </a:t>
            </a:r>
            <a:r>
              <a:rPr lang="en-US" dirty="0">
                <a:sym typeface="Wingdings" panose="05000000000000000000" pitchFamily="2" charset="2"/>
              </a:rPr>
              <a:t>     (C</a:t>
            </a:r>
            <a:r>
              <a:rPr lang="en-US" baseline="-25000" dirty="0">
                <a:sym typeface="Wingdings" panose="05000000000000000000" pitchFamily="2" charset="2"/>
              </a:rPr>
              <a:t>17</a:t>
            </a:r>
            <a:r>
              <a:rPr lang="en-US" dirty="0">
                <a:sym typeface="Wingdings" panose="05000000000000000000" pitchFamily="2" charset="2"/>
              </a:rPr>
              <a:t>H</a:t>
            </a:r>
            <a:r>
              <a:rPr lang="en-US" baseline="-25000" dirty="0">
                <a:sym typeface="Wingdings" panose="05000000000000000000" pitchFamily="2" charset="2"/>
              </a:rPr>
              <a:t>35</a:t>
            </a:r>
            <a:r>
              <a:rPr lang="en-US" dirty="0">
                <a:sym typeface="Wingdings" panose="05000000000000000000" pitchFamily="2" charset="2"/>
              </a:rPr>
              <a:t>COO)</a:t>
            </a:r>
            <a:r>
              <a:rPr lang="en-US" baseline="-25000" dirty="0">
                <a:sym typeface="Wingdings" panose="05000000000000000000" pitchFamily="2" charset="2"/>
              </a:rPr>
              <a:t>2</a:t>
            </a:r>
            <a:r>
              <a:rPr lang="en-US" dirty="0">
                <a:sym typeface="Wingdings" panose="05000000000000000000" pitchFamily="2" charset="2"/>
              </a:rPr>
              <a:t>Ca + 2NaCl</a:t>
            </a:r>
          </a:p>
          <a:p>
            <a:pPr marL="0" indent="0">
              <a:buNone/>
            </a:pPr>
            <a:r>
              <a:rPr lang="en-US" dirty="0">
                <a:sym typeface="Wingdings" panose="05000000000000000000" pitchFamily="2" charset="2"/>
              </a:rPr>
              <a:t>Sodium stearate    Hardness          Calcium stearate</a:t>
            </a:r>
          </a:p>
          <a:p>
            <a:pPr marL="0" indent="0">
              <a:buNone/>
            </a:pPr>
            <a:r>
              <a:rPr lang="en-US" dirty="0">
                <a:sym typeface="Wingdings" panose="05000000000000000000" pitchFamily="2" charset="2"/>
              </a:rPr>
              <a:t>(Soap)                                                   (white Scum)</a:t>
            </a:r>
            <a:endParaRPr lang="en-IN" dirty="0"/>
          </a:p>
        </p:txBody>
      </p:sp>
    </p:spTree>
    <p:extLst>
      <p:ext uri="{BB962C8B-B14F-4D97-AF65-F5344CB8AC3E}">
        <p14:creationId xmlns:p14="http://schemas.microsoft.com/office/powerpoint/2010/main" val="29931749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D355F3-3F62-4362-9E3C-0CFCF26A67EB}"/>
              </a:ext>
            </a:extLst>
          </p:cNvPr>
          <p:cNvSpPr>
            <a:spLocks noGrp="1"/>
          </p:cNvSpPr>
          <p:nvPr>
            <p:ph type="title"/>
          </p:nvPr>
        </p:nvSpPr>
        <p:spPr/>
        <p:txBody>
          <a:bodyPr/>
          <a:lstStyle/>
          <a:p>
            <a:r>
              <a:rPr lang="en-US" dirty="0"/>
              <a:t>Hard Water &amp; Soft water</a:t>
            </a:r>
            <a:endParaRPr lang="en-IN" dirty="0"/>
          </a:p>
        </p:txBody>
      </p:sp>
      <p:sp>
        <p:nvSpPr>
          <p:cNvPr id="3" name="Content Placeholder 2">
            <a:extLst>
              <a:ext uri="{FF2B5EF4-FFF2-40B4-BE49-F238E27FC236}">
                <a16:creationId xmlns:a16="http://schemas.microsoft.com/office/drawing/2014/main" xmlns="" id="{CA1FF6BC-9AA3-409C-8E43-A8E3A9A7AE3C}"/>
              </a:ext>
            </a:extLst>
          </p:cNvPr>
          <p:cNvSpPr>
            <a:spLocks noGrp="1"/>
          </p:cNvSpPr>
          <p:nvPr>
            <p:ph idx="1"/>
          </p:nvPr>
        </p:nvSpPr>
        <p:spPr/>
        <p:txBody>
          <a:bodyPr/>
          <a:lstStyle/>
          <a:p>
            <a:r>
              <a:rPr lang="en-US" dirty="0"/>
              <a:t>The water which does not produce lather with soap solution readily is called as hard water.</a:t>
            </a:r>
          </a:p>
          <a:p>
            <a:endParaRPr lang="en-US" dirty="0"/>
          </a:p>
          <a:p>
            <a:r>
              <a:rPr lang="en-US" dirty="0"/>
              <a:t>Water which lathers easily on shaking with soap solution is called soft water.</a:t>
            </a:r>
            <a:endParaRPr lang="en-IN" dirty="0"/>
          </a:p>
        </p:txBody>
      </p:sp>
    </p:spTree>
    <p:extLst>
      <p:ext uri="{BB962C8B-B14F-4D97-AF65-F5344CB8AC3E}">
        <p14:creationId xmlns:p14="http://schemas.microsoft.com/office/powerpoint/2010/main" val="23388760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176F1C-FA17-4D60-9091-E01CBBFA1F9A}"/>
              </a:ext>
            </a:extLst>
          </p:cNvPr>
          <p:cNvSpPr>
            <a:spLocks noGrp="1"/>
          </p:cNvSpPr>
          <p:nvPr>
            <p:ph type="title"/>
          </p:nvPr>
        </p:nvSpPr>
        <p:spPr/>
        <p:txBody>
          <a:bodyPr/>
          <a:lstStyle/>
          <a:p>
            <a:r>
              <a:rPr lang="en-US" b="1" dirty="0"/>
              <a:t>Types of hardness</a:t>
            </a:r>
            <a:endParaRPr lang="en-IN" b="1" dirty="0"/>
          </a:p>
        </p:txBody>
      </p:sp>
      <p:sp>
        <p:nvSpPr>
          <p:cNvPr id="3" name="Content Placeholder 2">
            <a:extLst>
              <a:ext uri="{FF2B5EF4-FFF2-40B4-BE49-F238E27FC236}">
                <a16:creationId xmlns:a16="http://schemas.microsoft.com/office/drawing/2014/main" xmlns="" id="{E3CA7838-B704-4E5C-A406-BDED2EBFB037}"/>
              </a:ext>
            </a:extLst>
          </p:cNvPr>
          <p:cNvSpPr>
            <a:spLocks noGrp="1"/>
          </p:cNvSpPr>
          <p:nvPr>
            <p:ph idx="1"/>
          </p:nvPr>
        </p:nvSpPr>
        <p:spPr/>
        <p:txBody>
          <a:bodyPr>
            <a:normAutofit fontScale="85000" lnSpcReduction="20000"/>
          </a:bodyPr>
          <a:lstStyle/>
          <a:p>
            <a:r>
              <a:rPr lang="en-US" b="1" dirty="0"/>
              <a:t>Temporary or Carbonate or Alkaline Hardness</a:t>
            </a:r>
          </a:p>
          <a:p>
            <a:pPr marL="0" indent="0">
              <a:buNone/>
            </a:pPr>
            <a:r>
              <a:rPr lang="en-US" dirty="0"/>
              <a:t>The hardness caused by the presence of dissolved bicarbonates and carbonates of calcium, magnesium and other heavy metals like iron is called as temporary hardness. </a:t>
            </a:r>
            <a:r>
              <a:rPr lang="en-US" dirty="0" err="1"/>
              <a:t>Eg.</a:t>
            </a:r>
            <a:r>
              <a:rPr lang="en-US" dirty="0"/>
              <a:t> CaCO3, </a:t>
            </a:r>
            <a:r>
              <a:rPr lang="en-US" dirty="0" smtClean="0"/>
              <a:t>Ca(HCO3)2, MgCO3, Mg(HCO3)2, FeCO3</a:t>
            </a:r>
          </a:p>
          <a:p>
            <a:pPr marL="0" indent="0">
              <a:buNone/>
            </a:pPr>
            <a:endParaRPr lang="en-US" dirty="0"/>
          </a:p>
          <a:p>
            <a:pPr marL="0" indent="0">
              <a:buNone/>
            </a:pPr>
            <a:endParaRPr lang="en-US" dirty="0"/>
          </a:p>
          <a:p>
            <a:pPr marL="0" indent="0">
              <a:buNone/>
            </a:pPr>
            <a:r>
              <a:rPr lang="en-US" dirty="0"/>
              <a:t>NaHCO3-non-hardness causing substance, SiO2, NaCl, KCO3, KHCO3</a:t>
            </a:r>
          </a:p>
          <a:p>
            <a:pPr marL="0" indent="0">
              <a:buNone/>
            </a:pPr>
            <a:endParaRPr lang="en-US" dirty="0"/>
          </a:p>
          <a:p>
            <a:r>
              <a:rPr lang="en-US" b="1" dirty="0"/>
              <a:t>Permanent or non-carbonate or non-alkaline hardness</a:t>
            </a:r>
          </a:p>
          <a:p>
            <a:pPr marL="0" indent="0">
              <a:buNone/>
            </a:pPr>
            <a:r>
              <a:rPr lang="en-US" dirty="0"/>
              <a:t>The hardness caused by the presence of chlorides and sulphates of calcium, magnesium, iron and other heavy metals. </a:t>
            </a:r>
            <a:r>
              <a:rPr lang="en-US" dirty="0" err="1"/>
              <a:t>eg.</a:t>
            </a:r>
            <a:r>
              <a:rPr lang="en-US" dirty="0"/>
              <a:t> CaCl2, MgCl2, FeCl3, CaBr2, CaSO4etc</a:t>
            </a:r>
          </a:p>
          <a:p>
            <a:pPr marL="0" indent="0">
              <a:buNone/>
            </a:pPr>
            <a:r>
              <a:rPr lang="en-US" dirty="0"/>
              <a:t>KBr-non-hardness causing substance.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8461297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C5034E6-9D32-441D-9CAA-034745187E8B}"/>
              </a:ext>
            </a:extLst>
          </p:cNvPr>
          <p:cNvSpPr>
            <a:spLocks noGrp="1"/>
          </p:cNvSpPr>
          <p:nvPr>
            <p:ph idx="1"/>
          </p:nvPr>
        </p:nvSpPr>
        <p:spPr>
          <a:xfrm>
            <a:off x="838200" y="618978"/>
            <a:ext cx="10515600" cy="5557985"/>
          </a:xfrm>
        </p:spPr>
        <p:txBody>
          <a:bodyPr/>
          <a:lstStyle/>
          <a:p>
            <a:r>
              <a:rPr lang="en-US" dirty="0"/>
              <a:t>Temporary Hardness can be destroyed by boiling.</a:t>
            </a:r>
          </a:p>
          <a:p>
            <a:r>
              <a:rPr lang="en-US" dirty="0"/>
              <a:t>                      boil</a:t>
            </a:r>
          </a:p>
          <a:p>
            <a:pPr marL="0" indent="0">
              <a:buNone/>
            </a:pPr>
            <a:r>
              <a:rPr lang="en-US" dirty="0"/>
              <a:t>Ca(HCO</a:t>
            </a:r>
            <a:r>
              <a:rPr lang="en-US" baseline="-25000" dirty="0"/>
              <a:t>3</a:t>
            </a:r>
            <a:r>
              <a:rPr lang="en-US" dirty="0"/>
              <a:t>)</a:t>
            </a:r>
            <a:r>
              <a:rPr lang="en-US" baseline="-25000" dirty="0"/>
              <a:t>2</a:t>
            </a:r>
            <a:r>
              <a:rPr lang="en-US" dirty="0"/>
              <a:t>       </a:t>
            </a:r>
            <a:r>
              <a:rPr lang="en-US" dirty="0">
                <a:sym typeface="Wingdings" panose="05000000000000000000" pitchFamily="2" charset="2"/>
              </a:rPr>
              <a:t>       CaCO</a:t>
            </a:r>
            <a:r>
              <a:rPr lang="en-US" baseline="-25000" dirty="0">
                <a:sym typeface="Wingdings" panose="05000000000000000000" pitchFamily="2" charset="2"/>
              </a:rPr>
              <a:t>3</a:t>
            </a:r>
            <a:r>
              <a:rPr lang="en-US" dirty="0">
                <a:sym typeface="Wingdings" panose="05000000000000000000" pitchFamily="2" charset="2"/>
              </a:rPr>
              <a:t>  + H</a:t>
            </a:r>
            <a:r>
              <a:rPr lang="en-US" baseline="-25000" dirty="0">
                <a:sym typeface="Wingdings" panose="05000000000000000000" pitchFamily="2" charset="2"/>
              </a:rPr>
              <a:t>2</a:t>
            </a:r>
            <a:r>
              <a:rPr lang="en-US" dirty="0">
                <a:sym typeface="Wingdings" panose="05000000000000000000" pitchFamily="2" charset="2"/>
              </a:rPr>
              <a:t>O + CO</a:t>
            </a:r>
            <a:r>
              <a:rPr lang="en-US" baseline="-25000" dirty="0">
                <a:sym typeface="Wingdings" panose="05000000000000000000" pitchFamily="2" charset="2"/>
              </a:rPr>
              <a:t>2</a:t>
            </a:r>
          </a:p>
          <a:p>
            <a:pPr marL="0" indent="0">
              <a:buNone/>
            </a:pPr>
            <a:r>
              <a:rPr lang="en-US" dirty="0">
                <a:sym typeface="Wingdings" panose="05000000000000000000" pitchFamily="2" charset="2"/>
              </a:rPr>
              <a:t>                                     Insoluble</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Mg(HCO</a:t>
            </a:r>
            <a:r>
              <a:rPr lang="en-US" baseline="-25000" dirty="0">
                <a:sym typeface="Wingdings" panose="05000000000000000000" pitchFamily="2" charset="2"/>
              </a:rPr>
              <a:t>3</a:t>
            </a:r>
            <a:r>
              <a:rPr lang="en-US" dirty="0">
                <a:sym typeface="Wingdings" panose="05000000000000000000" pitchFamily="2" charset="2"/>
              </a:rPr>
              <a:t>)</a:t>
            </a:r>
            <a:r>
              <a:rPr lang="en-US" baseline="-25000" dirty="0">
                <a:sym typeface="Wingdings" panose="05000000000000000000" pitchFamily="2" charset="2"/>
              </a:rPr>
              <a:t>2</a:t>
            </a:r>
            <a:r>
              <a:rPr lang="en-US" dirty="0">
                <a:sym typeface="Wingdings" panose="05000000000000000000" pitchFamily="2" charset="2"/>
              </a:rPr>
              <a:t>            Mg(OH)</a:t>
            </a:r>
            <a:r>
              <a:rPr lang="en-US" baseline="-25000" dirty="0">
                <a:sym typeface="Wingdings" panose="05000000000000000000" pitchFamily="2" charset="2"/>
              </a:rPr>
              <a:t>2</a:t>
            </a:r>
            <a:r>
              <a:rPr lang="en-US" dirty="0">
                <a:sym typeface="Wingdings" panose="05000000000000000000" pitchFamily="2" charset="2"/>
              </a:rPr>
              <a:t> + CO</a:t>
            </a:r>
            <a:r>
              <a:rPr lang="en-US" baseline="-25000" dirty="0">
                <a:sym typeface="Wingdings" panose="05000000000000000000" pitchFamily="2" charset="2"/>
              </a:rPr>
              <a:t>2</a:t>
            </a:r>
          </a:p>
          <a:p>
            <a:pPr marL="0" indent="0">
              <a:buNone/>
            </a:pPr>
            <a:r>
              <a:rPr lang="en-US" dirty="0">
                <a:sym typeface="Wingdings" panose="05000000000000000000" pitchFamily="2" charset="2"/>
              </a:rPr>
              <a:t>                                     Insoluble</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Permanent </a:t>
            </a:r>
            <a:r>
              <a:rPr lang="en-US" dirty="0" smtClean="0">
                <a:sym typeface="Wingdings" panose="05000000000000000000" pitchFamily="2" charset="2"/>
              </a:rPr>
              <a:t>Hardness </a:t>
            </a:r>
            <a:r>
              <a:rPr lang="en-US" dirty="0">
                <a:sym typeface="Wingdings" panose="05000000000000000000" pitchFamily="2" charset="2"/>
              </a:rPr>
              <a:t>cannot be destroyed by boiling. </a:t>
            </a:r>
            <a:endParaRPr lang="en-US" dirty="0" smtClean="0">
              <a:sym typeface="Wingdings" panose="05000000000000000000" pitchFamily="2" charset="2"/>
            </a:endParaRPr>
          </a:p>
          <a:p>
            <a:pPr marL="0" indent="0">
              <a:buNone/>
            </a:pPr>
            <a:endParaRPr lang="en-IN" dirty="0"/>
          </a:p>
        </p:txBody>
      </p:sp>
    </p:spTree>
    <p:extLst>
      <p:ext uri="{BB962C8B-B14F-4D97-AF65-F5344CB8AC3E}">
        <p14:creationId xmlns:p14="http://schemas.microsoft.com/office/powerpoint/2010/main" val="7561856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1249"/>
            <a:ext cx="10515600" cy="5575714"/>
          </a:xfrm>
        </p:spPr>
        <p:txBody>
          <a:bodyPr/>
          <a:lstStyle/>
          <a:p>
            <a:pPr marL="514350" indent="-514350">
              <a:buAutoNum type="arabicPeriod"/>
            </a:pPr>
            <a:r>
              <a:rPr lang="en-IN" dirty="0" smtClean="0"/>
              <a:t>KHCO3</a:t>
            </a:r>
          </a:p>
          <a:p>
            <a:pPr marL="514350" indent="-514350">
              <a:buAutoNum type="arabicPeriod"/>
            </a:pPr>
            <a:r>
              <a:rPr lang="en-IN" dirty="0" smtClean="0"/>
              <a:t>Mg(NO3)2= 10ppm     CaCO3 eq. =3.5ppm</a:t>
            </a:r>
          </a:p>
          <a:p>
            <a:pPr marL="514350" indent="-514350">
              <a:buAutoNum type="arabicPeriod"/>
            </a:pPr>
            <a:r>
              <a:rPr lang="en-IN" dirty="0" smtClean="0"/>
              <a:t>FeSO4= 12ppm             CaCO3= 2.4ppm</a:t>
            </a:r>
          </a:p>
          <a:p>
            <a:pPr marL="514350" indent="-514350">
              <a:buAutoNum type="arabicPeriod"/>
            </a:pPr>
            <a:r>
              <a:rPr lang="en-IN" dirty="0" smtClean="0"/>
              <a:t>NaAlO2</a:t>
            </a:r>
          </a:p>
          <a:p>
            <a:pPr marL="514350" indent="-514350">
              <a:buAutoNum type="arabicPeriod"/>
            </a:pPr>
            <a:r>
              <a:rPr lang="en-IN" dirty="0" smtClean="0"/>
              <a:t>CaCl2= 7ppm		CaCO3 = 1.1ppm</a:t>
            </a:r>
          </a:p>
          <a:p>
            <a:pPr marL="514350" indent="-514350">
              <a:buAutoNum type="arabicPeriod"/>
            </a:pPr>
            <a:r>
              <a:rPr lang="en-IN" dirty="0" smtClean="0"/>
              <a:t>Ca(NO3)2 =60ppm	CaCO3 eq. = 50ppm</a:t>
            </a:r>
          </a:p>
          <a:p>
            <a:pPr marL="0" indent="0">
              <a:buNone/>
            </a:pPr>
            <a:r>
              <a:rPr lang="en-IN" dirty="0" smtClean="0"/>
              <a:t>Hardness of water (CaCO3 </a:t>
            </a:r>
            <a:r>
              <a:rPr lang="en-IN" dirty="0" err="1" smtClean="0"/>
              <a:t>eq</a:t>
            </a:r>
            <a:r>
              <a:rPr lang="en-IN" dirty="0" smtClean="0"/>
              <a:t>) = 3.5+2.4+1.1+50 =57ppm</a:t>
            </a:r>
          </a:p>
          <a:p>
            <a:pPr marL="514350" indent="-514350">
              <a:buAutoNum type="arabicPeriod"/>
            </a:pPr>
            <a:endParaRPr lang="en-IN" dirty="0"/>
          </a:p>
          <a:p>
            <a:pPr marL="514350" indent="-514350">
              <a:buAutoNum type="arabicPeriod"/>
            </a:pPr>
            <a:endParaRPr lang="en-IN" dirty="0" smtClean="0"/>
          </a:p>
          <a:p>
            <a:pPr marL="0" indent="0">
              <a:buNone/>
            </a:pPr>
            <a:r>
              <a:rPr lang="en-IN" dirty="0" smtClean="0"/>
              <a:t>CaCO3 is chosen as basis to express hardness of water.</a:t>
            </a:r>
          </a:p>
          <a:p>
            <a:pPr marL="0" indent="0">
              <a:buNone/>
            </a:pPr>
            <a:endParaRPr lang="en-IN" dirty="0"/>
          </a:p>
        </p:txBody>
      </p:sp>
    </p:spTree>
    <p:extLst>
      <p:ext uri="{BB962C8B-B14F-4D97-AF65-F5344CB8AC3E}">
        <p14:creationId xmlns:p14="http://schemas.microsoft.com/office/powerpoint/2010/main" val="26327485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71D888-9A64-445F-B831-3E61BFEA04A8}"/>
              </a:ext>
            </a:extLst>
          </p:cNvPr>
          <p:cNvSpPr>
            <a:spLocks noGrp="1"/>
          </p:cNvSpPr>
          <p:nvPr>
            <p:ph type="title"/>
          </p:nvPr>
        </p:nvSpPr>
        <p:spPr/>
        <p:txBody>
          <a:bodyPr/>
          <a:lstStyle/>
          <a:p>
            <a:r>
              <a:rPr lang="en-US" dirty="0"/>
              <a:t>Measurement of Hardness</a:t>
            </a:r>
            <a:endParaRPr lang="en-IN" dirty="0"/>
          </a:p>
        </p:txBody>
      </p:sp>
      <p:sp>
        <p:nvSpPr>
          <p:cNvPr id="3" name="Content Placeholder 2">
            <a:extLst>
              <a:ext uri="{FF2B5EF4-FFF2-40B4-BE49-F238E27FC236}">
                <a16:creationId xmlns:a16="http://schemas.microsoft.com/office/drawing/2014/main" xmlns="" id="{E67D1290-B747-44EE-B490-78AC751B8C82}"/>
              </a:ext>
            </a:extLst>
          </p:cNvPr>
          <p:cNvSpPr>
            <a:spLocks noGrp="1"/>
          </p:cNvSpPr>
          <p:nvPr>
            <p:ph idx="1"/>
          </p:nvPr>
        </p:nvSpPr>
        <p:spPr/>
        <p:txBody>
          <a:bodyPr/>
          <a:lstStyle/>
          <a:p>
            <a:r>
              <a:rPr lang="en-US" dirty="0"/>
              <a:t>The extent of hardness is measured in terms of ions contributing to the hardness.</a:t>
            </a:r>
          </a:p>
          <a:p>
            <a:r>
              <a:rPr lang="en-US" dirty="0"/>
              <a:t>It is expressed in terms of amount of CaCO</a:t>
            </a:r>
            <a:r>
              <a:rPr lang="en-US" baseline="-25000" dirty="0"/>
              <a:t>3</a:t>
            </a:r>
          </a:p>
          <a:p>
            <a:endParaRPr lang="en-US" baseline="-25000" dirty="0"/>
          </a:p>
          <a:p>
            <a:r>
              <a:rPr lang="en-US" baseline="-25000" dirty="0"/>
              <a:t>Why to express hardness in terms of CaCO3?</a:t>
            </a:r>
          </a:p>
          <a:p>
            <a:r>
              <a:rPr lang="en-US" baseline="-25000" dirty="0"/>
              <a:t>Ans: 1. the mol </a:t>
            </a:r>
            <a:r>
              <a:rPr lang="en-US" baseline="-25000" dirty="0" err="1"/>
              <a:t>wt</a:t>
            </a:r>
            <a:r>
              <a:rPr lang="en-US" baseline="-25000" dirty="0"/>
              <a:t> of CaCO3 is 100 and its equivalent </a:t>
            </a:r>
            <a:r>
              <a:rPr lang="en-US" baseline="-25000" dirty="0" err="1"/>
              <a:t>wt</a:t>
            </a:r>
            <a:r>
              <a:rPr lang="en-US" baseline="-25000" dirty="0"/>
              <a:t> is 50, which allows the multiplication and division in easy way when required.</a:t>
            </a:r>
            <a:br>
              <a:rPr lang="en-US" baseline="-25000" dirty="0"/>
            </a:br>
            <a:r>
              <a:rPr lang="en-US" baseline="-25000" dirty="0"/>
              <a:t>2. CaCO3 is the most insoluble salt which can be precipitated in water treatment. </a:t>
            </a:r>
            <a:endParaRPr lang="en-IN" baseline="-25000" dirty="0"/>
          </a:p>
        </p:txBody>
      </p:sp>
    </p:spTree>
    <p:extLst>
      <p:ext uri="{BB962C8B-B14F-4D97-AF65-F5344CB8AC3E}">
        <p14:creationId xmlns:p14="http://schemas.microsoft.com/office/powerpoint/2010/main" val="32736555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73BD3F-1875-4D5E-BAA6-CC251ACC8D28}"/>
              </a:ext>
            </a:extLst>
          </p:cNvPr>
          <p:cNvSpPr>
            <a:spLocks noGrp="1"/>
          </p:cNvSpPr>
          <p:nvPr>
            <p:ph type="title"/>
          </p:nvPr>
        </p:nvSpPr>
        <p:spPr/>
        <p:txBody>
          <a:bodyPr/>
          <a:lstStyle/>
          <a:p>
            <a:r>
              <a:rPr lang="en-US" dirty="0"/>
              <a:t>The Equivalent of CaCO3</a:t>
            </a:r>
            <a:endParaRPr lang="en-IN" dirty="0"/>
          </a:p>
        </p:txBody>
      </p:sp>
      <p:sp>
        <p:nvSpPr>
          <p:cNvPr id="3" name="Content Placeholder 2">
            <a:extLst>
              <a:ext uri="{FF2B5EF4-FFF2-40B4-BE49-F238E27FC236}">
                <a16:creationId xmlns:a16="http://schemas.microsoft.com/office/drawing/2014/main" xmlns="" id="{FDF14386-8F9D-4100-9F0D-4CE1423986CA}"/>
              </a:ext>
            </a:extLst>
          </p:cNvPr>
          <p:cNvSpPr>
            <a:spLocks noGrp="1"/>
          </p:cNvSpPr>
          <p:nvPr>
            <p:ph idx="1"/>
          </p:nvPr>
        </p:nvSpPr>
        <p:spPr/>
        <p:txBody>
          <a:bodyPr/>
          <a:lstStyle/>
          <a:p>
            <a:pPr marL="0" indent="0">
              <a:buNone/>
            </a:pPr>
            <a:r>
              <a:rPr lang="en-IN" dirty="0"/>
              <a:t>= Mass of hardness producing substance  x  multiplication factor(M.F.)</a:t>
            </a:r>
          </a:p>
          <a:p>
            <a:pPr marL="0" indent="0">
              <a:buNone/>
            </a:pPr>
            <a:endParaRPr lang="en-IN" dirty="0"/>
          </a:p>
          <a:p>
            <a:pPr marL="0" indent="0">
              <a:buNone/>
            </a:pPr>
            <a:r>
              <a:rPr lang="en-IN" dirty="0"/>
              <a:t>Where Multiplication factor</a:t>
            </a:r>
          </a:p>
          <a:p>
            <a:pPr marL="0" indent="0">
              <a:buNone/>
            </a:pPr>
            <a:r>
              <a:rPr lang="en-IN" dirty="0"/>
              <a:t>=     </a:t>
            </a:r>
            <a:r>
              <a:rPr lang="en-IN" u="sng" dirty="0"/>
              <a:t>Chemical eq. of CaCO3  </a:t>
            </a:r>
          </a:p>
          <a:p>
            <a:pPr marL="0" indent="0">
              <a:buNone/>
            </a:pPr>
            <a:r>
              <a:rPr lang="en-IN" dirty="0"/>
              <a:t>      Chemical Eq. of hardness producing </a:t>
            </a:r>
            <a:r>
              <a:rPr lang="en-IN" dirty="0" smtClean="0"/>
              <a:t>substance</a:t>
            </a:r>
          </a:p>
          <a:p>
            <a:pPr marL="0" indent="0">
              <a:buNone/>
            </a:pPr>
            <a:endParaRPr lang="en-IN" dirty="0"/>
          </a:p>
          <a:p>
            <a:pPr marL="0" indent="0">
              <a:buNone/>
            </a:pPr>
            <a:r>
              <a:rPr lang="en-IN" dirty="0" smtClean="0"/>
              <a:t>= 50/ 74 {for Mg(NO3)2}</a:t>
            </a:r>
            <a:endParaRPr lang="en-IN" dirty="0"/>
          </a:p>
        </p:txBody>
      </p:sp>
    </p:spTree>
    <p:extLst>
      <p:ext uri="{BB962C8B-B14F-4D97-AF65-F5344CB8AC3E}">
        <p14:creationId xmlns:p14="http://schemas.microsoft.com/office/powerpoint/2010/main" val="14720824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55F913-DD50-4398-8D51-211380B1CAAA}"/>
              </a:ext>
            </a:extLst>
          </p:cNvPr>
          <p:cNvSpPr>
            <a:spLocks noGrp="1"/>
          </p:cNvSpPr>
          <p:nvPr>
            <p:ph type="title"/>
          </p:nvPr>
        </p:nvSpPr>
        <p:spPr>
          <a:xfrm>
            <a:off x="838200" y="365125"/>
            <a:ext cx="10515600" cy="732155"/>
          </a:xfrm>
        </p:spPr>
        <p:txBody>
          <a:bodyPr/>
          <a:lstStyle/>
          <a:p>
            <a:r>
              <a:rPr lang="en-US" dirty="0"/>
              <a:t>Multiplication factors</a:t>
            </a:r>
            <a:endParaRPr lang="en-IN" dirty="0"/>
          </a:p>
        </p:txBody>
      </p:sp>
      <p:graphicFrame>
        <p:nvGraphicFramePr>
          <p:cNvPr id="4" name="Table 4">
            <a:extLst>
              <a:ext uri="{FF2B5EF4-FFF2-40B4-BE49-F238E27FC236}">
                <a16:creationId xmlns:a16="http://schemas.microsoft.com/office/drawing/2014/main" xmlns="" id="{F06B9CFE-3E95-4408-8CC3-85F3F43528B8}"/>
              </a:ext>
            </a:extLst>
          </p:cNvPr>
          <p:cNvGraphicFramePr>
            <a:graphicFrameLocks noGrp="1"/>
          </p:cNvGraphicFramePr>
          <p:nvPr>
            <p:ph idx="1"/>
            <p:extLst>
              <p:ext uri="{D42A27DB-BD31-4B8C-83A1-F6EECF244321}">
                <p14:modId xmlns:p14="http://schemas.microsoft.com/office/powerpoint/2010/main" val="4174216108"/>
              </p:ext>
            </p:extLst>
          </p:nvPr>
        </p:nvGraphicFramePr>
        <p:xfrm>
          <a:off x="838200" y="1097280"/>
          <a:ext cx="9482011" cy="5557520"/>
        </p:xfrm>
        <a:graphic>
          <a:graphicData uri="http://schemas.openxmlformats.org/drawingml/2006/table">
            <a:tbl>
              <a:tblPr firstRow="1" bandRow="1">
                <a:tableStyleId>{5940675A-B579-460E-94D1-54222C63F5DA}</a:tableStyleId>
              </a:tblPr>
              <a:tblGrid>
                <a:gridCol w="1595311">
                  <a:extLst>
                    <a:ext uri="{9D8B030D-6E8A-4147-A177-3AD203B41FA5}">
                      <a16:colId xmlns:a16="http://schemas.microsoft.com/office/drawing/2014/main" xmlns="" val="33608106"/>
                    </a:ext>
                  </a:extLst>
                </a:gridCol>
                <a:gridCol w="2628900">
                  <a:extLst>
                    <a:ext uri="{9D8B030D-6E8A-4147-A177-3AD203B41FA5}">
                      <a16:colId xmlns:a16="http://schemas.microsoft.com/office/drawing/2014/main" xmlns="" val="2116698884"/>
                    </a:ext>
                  </a:extLst>
                </a:gridCol>
                <a:gridCol w="2628900">
                  <a:extLst>
                    <a:ext uri="{9D8B030D-6E8A-4147-A177-3AD203B41FA5}">
                      <a16:colId xmlns:a16="http://schemas.microsoft.com/office/drawing/2014/main" xmlns="" val="2993023986"/>
                    </a:ext>
                  </a:extLst>
                </a:gridCol>
                <a:gridCol w="2628900">
                  <a:extLst>
                    <a:ext uri="{9D8B030D-6E8A-4147-A177-3AD203B41FA5}">
                      <a16:colId xmlns:a16="http://schemas.microsoft.com/office/drawing/2014/main" xmlns="" val="1769535107"/>
                    </a:ext>
                  </a:extLst>
                </a:gridCol>
              </a:tblGrid>
              <a:tr h="370840">
                <a:tc>
                  <a:txBody>
                    <a:bodyPr/>
                    <a:lstStyle/>
                    <a:p>
                      <a:r>
                        <a:rPr lang="en-US" b="1" dirty="0"/>
                        <a:t>Dissolved salt</a:t>
                      </a:r>
                      <a:endParaRPr lang="en-IN" b="1" dirty="0"/>
                    </a:p>
                  </a:txBody>
                  <a:tcPr/>
                </a:tc>
                <a:tc>
                  <a:txBody>
                    <a:bodyPr/>
                    <a:lstStyle/>
                    <a:p>
                      <a:r>
                        <a:rPr lang="en-US" b="1" dirty="0"/>
                        <a:t>Molar Mass</a:t>
                      </a:r>
                      <a:endParaRPr lang="en-IN" b="1" dirty="0"/>
                    </a:p>
                  </a:txBody>
                  <a:tcPr/>
                </a:tc>
                <a:tc>
                  <a:txBody>
                    <a:bodyPr/>
                    <a:lstStyle/>
                    <a:p>
                      <a:r>
                        <a:rPr lang="en-US" b="1" dirty="0"/>
                        <a:t>Chem. Eq.</a:t>
                      </a:r>
                      <a:endParaRPr lang="en-IN" b="1" dirty="0"/>
                    </a:p>
                  </a:txBody>
                  <a:tcPr/>
                </a:tc>
                <a:tc>
                  <a:txBody>
                    <a:bodyPr/>
                    <a:lstStyle/>
                    <a:p>
                      <a:r>
                        <a:rPr lang="en-US" b="1" dirty="0"/>
                        <a:t>M.F</a:t>
                      </a:r>
                      <a:endParaRPr lang="en-IN" b="1" dirty="0"/>
                    </a:p>
                  </a:txBody>
                  <a:tcPr/>
                </a:tc>
                <a:extLst>
                  <a:ext uri="{0D108BD9-81ED-4DB2-BD59-A6C34878D82A}">
                    <a16:rowId xmlns:a16="http://schemas.microsoft.com/office/drawing/2014/main" xmlns="" val="1109013893"/>
                  </a:ext>
                </a:extLst>
              </a:tr>
              <a:tr h="370840">
                <a:tc>
                  <a:txBody>
                    <a:bodyPr/>
                    <a:lstStyle/>
                    <a:p>
                      <a:pPr marL="342900" indent="-342900">
                        <a:buAutoNum type="arabicPeriod"/>
                      </a:pPr>
                      <a:r>
                        <a:rPr lang="en-US" dirty="0" smtClean="0"/>
                        <a:t>Ca(HCO3)2</a:t>
                      </a:r>
                    </a:p>
                  </a:txBody>
                  <a:tcPr/>
                </a:tc>
                <a:tc>
                  <a:txBody>
                    <a:bodyPr/>
                    <a:lstStyle/>
                    <a:p>
                      <a:r>
                        <a:rPr lang="en-US" dirty="0"/>
                        <a:t>162</a:t>
                      </a:r>
                      <a:endParaRPr lang="en-IN" dirty="0"/>
                    </a:p>
                  </a:txBody>
                  <a:tcPr/>
                </a:tc>
                <a:tc>
                  <a:txBody>
                    <a:bodyPr/>
                    <a:lstStyle/>
                    <a:p>
                      <a:r>
                        <a:rPr lang="en-US" dirty="0"/>
                        <a:t>81</a:t>
                      </a:r>
                      <a:endParaRPr lang="en-IN" dirty="0"/>
                    </a:p>
                  </a:txBody>
                  <a:tcPr/>
                </a:tc>
                <a:tc>
                  <a:txBody>
                    <a:bodyPr/>
                    <a:lstStyle/>
                    <a:p>
                      <a:r>
                        <a:rPr lang="en-US" dirty="0"/>
                        <a:t>50/81 or 100/162</a:t>
                      </a:r>
                      <a:endParaRPr lang="en-IN" dirty="0"/>
                    </a:p>
                  </a:txBody>
                  <a:tcPr/>
                </a:tc>
                <a:extLst>
                  <a:ext uri="{0D108BD9-81ED-4DB2-BD59-A6C34878D82A}">
                    <a16:rowId xmlns:a16="http://schemas.microsoft.com/office/drawing/2014/main" xmlns="" val="1583457128"/>
                  </a:ext>
                </a:extLst>
              </a:tr>
              <a:tr h="370840">
                <a:tc>
                  <a:txBody>
                    <a:bodyPr/>
                    <a:lstStyle/>
                    <a:p>
                      <a:r>
                        <a:rPr lang="en-US" dirty="0"/>
                        <a:t>2. Mg(HCO3)2</a:t>
                      </a:r>
                      <a:endParaRPr lang="en-IN" dirty="0"/>
                    </a:p>
                  </a:txBody>
                  <a:tcPr/>
                </a:tc>
                <a:tc>
                  <a:txBody>
                    <a:bodyPr/>
                    <a:lstStyle/>
                    <a:p>
                      <a:r>
                        <a:rPr lang="en-US" dirty="0"/>
                        <a:t>146</a:t>
                      </a:r>
                      <a:endParaRPr lang="en-IN" dirty="0"/>
                    </a:p>
                  </a:txBody>
                  <a:tcPr/>
                </a:tc>
                <a:tc>
                  <a:txBody>
                    <a:bodyPr/>
                    <a:lstStyle/>
                    <a:p>
                      <a:r>
                        <a:rPr lang="en-US" dirty="0"/>
                        <a:t>73</a:t>
                      </a:r>
                      <a:endParaRPr lang="en-IN" dirty="0"/>
                    </a:p>
                  </a:txBody>
                  <a:tcPr/>
                </a:tc>
                <a:tc>
                  <a:txBody>
                    <a:bodyPr/>
                    <a:lstStyle/>
                    <a:p>
                      <a:r>
                        <a:rPr lang="en-US" dirty="0"/>
                        <a:t>50/73 or 100/146</a:t>
                      </a:r>
                      <a:endParaRPr lang="en-IN" dirty="0"/>
                    </a:p>
                  </a:txBody>
                  <a:tcPr/>
                </a:tc>
                <a:extLst>
                  <a:ext uri="{0D108BD9-81ED-4DB2-BD59-A6C34878D82A}">
                    <a16:rowId xmlns:a16="http://schemas.microsoft.com/office/drawing/2014/main" xmlns="" val="802918200"/>
                  </a:ext>
                </a:extLst>
              </a:tr>
              <a:tr h="370840">
                <a:tc>
                  <a:txBody>
                    <a:bodyPr/>
                    <a:lstStyle/>
                    <a:p>
                      <a:r>
                        <a:rPr lang="en-US" dirty="0"/>
                        <a:t>3. CaSO4</a:t>
                      </a:r>
                      <a:endParaRPr lang="en-IN" dirty="0"/>
                    </a:p>
                  </a:txBody>
                  <a:tcPr/>
                </a:tc>
                <a:tc>
                  <a:txBody>
                    <a:bodyPr/>
                    <a:lstStyle/>
                    <a:p>
                      <a:r>
                        <a:rPr lang="en-US" dirty="0"/>
                        <a:t>136</a:t>
                      </a:r>
                      <a:endParaRPr lang="en-IN" dirty="0"/>
                    </a:p>
                  </a:txBody>
                  <a:tcPr/>
                </a:tc>
                <a:tc>
                  <a:txBody>
                    <a:bodyPr/>
                    <a:lstStyle/>
                    <a:p>
                      <a:r>
                        <a:rPr lang="en-US" dirty="0"/>
                        <a:t>68</a:t>
                      </a:r>
                      <a:endParaRPr lang="en-IN" dirty="0"/>
                    </a:p>
                  </a:txBody>
                  <a:tcPr/>
                </a:tc>
                <a:tc>
                  <a:txBody>
                    <a:bodyPr/>
                    <a:lstStyle/>
                    <a:p>
                      <a:r>
                        <a:rPr lang="en-US" dirty="0"/>
                        <a:t>50/68 or 100/136</a:t>
                      </a:r>
                      <a:endParaRPr lang="en-IN" dirty="0"/>
                    </a:p>
                  </a:txBody>
                  <a:tcPr/>
                </a:tc>
                <a:extLst>
                  <a:ext uri="{0D108BD9-81ED-4DB2-BD59-A6C34878D82A}">
                    <a16:rowId xmlns:a16="http://schemas.microsoft.com/office/drawing/2014/main" xmlns="" val="3219546637"/>
                  </a:ext>
                </a:extLst>
              </a:tr>
              <a:tr h="370840">
                <a:tc>
                  <a:txBody>
                    <a:bodyPr/>
                    <a:lstStyle/>
                    <a:p>
                      <a:r>
                        <a:rPr lang="en-US" dirty="0"/>
                        <a:t>4. FeCl2</a:t>
                      </a:r>
                      <a:endParaRPr lang="en-IN" dirty="0"/>
                    </a:p>
                  </a:txBody>
                  <a:tcPr/>
                </a:tc>
                <a:tc>
                  <a:txBody>
                    <a:bodyPr/>
                    <a:lstStyle/>
                    <a:p>
                      <a:r>
                        <a:rPr lang="en-US" dirty="0"/>
                        <a:t>127</a:t>
                      </a:r>
                      <a:endParaRPr lang="en-IN" dirty="0"/>
                    </a:p>
                  </a:txBody>
                  <a:tcPr/>
                </a:tc>
                <a:tc>
                  <a:txBody>
                    <a:bodyPr/>
                    <a:lstStyle/>
                    <a:p>
                      <a:r>
                        <a:rPr lang="en-US" dirty="0"/>
                        <a:t>63.5</a:t>
                      </a:r>
                      <a:endParaRPr lang="en-IN" dirty="0"/>
                    </a:p>
                  </a:txBody>
                  <a:tcPr/>
                </a:tc>
                <a:tc>
                  <a:txBody>
                    <a:bodyPr/>
                    <a:lstStyle/>
                    <a:p>
                      <a:r>
                        <a:rPr lang="en-US" dirty="0"/>
                        <a:t>50/63.5 or 100/127</a:t>
                      </a:r>
                      <a:endParaRPr lang="en-IN" dirty="0"/>
                    </a:p>
                  </a:txBody>
                  <a:tcPr/>
                </a:tc>
                <a:extLst>
                  <a:ext uri="{0D108BD9-81ED-4DB2-BD59-A6C34878D82A}">
                    <a16:rowId xmlns:a16="http://schemas.microsoft.com/office/drawing/2014/main" xmlns="" val="3147972600"/>
                  </a:ext>
                </a:extLst>
              </a:tr>
              <a:tr h="370840">
                <a:tc>
                  <a:txBody>
                    <a:bodyPr/>
                    <a:lstStyle/>
                    <a:p>
                      <a:r>
                        <a:rPr lang="en-US" dirty="0"/>
                        <a:t>5. CaCl2</a:t>
                      </a:r>
                      <a:endParaRPr lang="en-IN" dirty="0"/>
                    </a:p>
                  </a:txBody>
                  <a:tcPr/>
                </a:tc>
                <a:tc>
                  <a:txBody>
                    <a:bodyPr/>
                    <a:lstStyle/>
                    <a:p>
                      <a:r>
                        <a:rPr lang="en-US" dirty="0"/>
                        <a:t>111</a:t>
                      </a:r>
                      <a:endParaRPr lang="en-IN" dirty="0"/>
                    </a:p>
                  </a:txBody>
                  <a:tcPr/>
                </a:tc>
                <a:tc>
                  <a:txBody>
                    <a:bodyPr/>
                    <a:lstStyle/>
                    <a:p>
                      <a:r>
                        <a:rPr lang="en-US" dirty="0"/>
                        <a:t>55.5</a:t>
                      </a:r>
                      <a:endParaRPr lang="en-IN" dirty="0"/>
                    </a:p>
                  </a:txBody>
                  <a:tcPr/>
                </a:tc>
                <a:tc>
                  <a:txBody>
                    <a:bodyPr/>
                    <a:lstStyle/>
                    <a:p>
                      <a:r>
                        <a:rPr lang="en-US" dirty="0"/>
                        <a:t>50/55.5 or 100/111</a:t>
                      </a:r>
                      <a:endParaRPr lang="en-IN" dirty="0"/>
                    </a:p>
                  </a:txBody>
                  <a:tcPr/>
                </a:tc>
                <a:extLst>
                  <a:ext uri="{0D108BD9-81ED-4DB2-BD59-A6C34878D82A}">
                    <a16:rowId xmlns:a16="http://schemas.microsoft.com/office/drawing/2014/main" xmlns="" val="3235585485"/>
                  </a:ext>
                </a:extLst>
              </a:tr>
              <a:tr h="370840">
                <a:tc>
                  <a:txBody>
                    <a:bodyPr/>
                    <a:lstStyle/>
                    <a:p>
                      <a:r>
                        <a:rPr lang="en-US" dirty="0"/>
                        <a:t>6. MgSO4</a:t>
                      </a:r>
                      <a:endParaRPr lang="en-IN" dirty="0"/>
                    </a:p>
                  </a:txBody>
                  <a:tcPr/>
                </a:tc>
                <a:tc>
                  <a:txBody>
                    <a:bodyPr/>
                    <a:lstStyle/>
                    <a:p>
                      <a:r>
                        <a:rPr lang="en-US" dirty="0"/>
                        <a:t>120</a:t>
                      </a:r>
                      <a:endParaRPr lang="en-IN" dirty="0"/>
                    </a:p>
                  </a:txBody>
                  <a:tcPr/>
                </a:tc>
                <a:tc>
                  <a:txBody>
                    <a:bodyPr/>
                    <a:lstStyle/>
                    <a:p>
                      <a:r>
                        <a:rPr lang="en-US" dirty="0"/>
                        <a:t>60</a:t>
                      </a:r>
                      <a:endParaRPr lang="en-IN" dirty="0"/>
                    </a:p>
                  </a:txBody>
                  <a:tcPr/>
                </a:tc>
                <a:tc>
                  <a:txBody>
                    <a:bodyPr/>
                    <a:lstStyle/>
                    <a:p>
                      <a:r>
                        <a:rPr lang="en-US" dirty="0"/>
                        <a:t>50/60 or 100/120</a:t>
                      </a:r>
                      <a:endParaRPr lang="en-IN" dirty="0"/>
                    </a:p>
                  </a:txBody>
                  <a:tcPr/>
                </a:tc>
                <a:extLst>
                  <a:ext uri="{0D108BD9-81ED-4DB2-BD59-A6C34878D82A}">
                    <a16:rowId xmlns:a16="http://schemas.microsoft.com/office/drawing/2014/main" xmlns="" val="494812746"/>
                  </a:ext>
                </a:extLst>
              </a:tr>
              <a:tr h="370840">
                <a:tc>
                  <a:txBody>
                    <a:bodyPr/>
                    <a:lstStyle/>
                    <a:p>
                      <a:r>
                        <a:rPr lang="en-US" dirty="0"/>
                        <a:t>7. MgCl2</a:t>
                      </a:r>
                      <a:endParaRPr lang="en-IN" dirty="0"/>
                    </a:p>
                  </a:txBody>
                  <a:tcPr/>
                </a:tc>
                <a:tc>
                  <a:txBody>
                    <a:bodyPr/>
                    <a:lstStyle/>
                    <a:p>
                      <a:r>
                        <a:rPr lang="en-US" dirty="0"/>
                        <a:t>95</a:t>
                      </a:r>
                      <a:endParaRPr lang="en-IN" dirty="0"/>
                    </a:p>
                  </a:txBody>
                  <a:tcPr/>
                </a:tc>
                <a:tc>
                  <a:txBody>
                    <a:bodyPr/>
                    <a:lstStyle/>
                    <a:p>
                      <a:r>
                        <a:rPr lang="en-US" dirty="0"/>
                        <a:t>47.5</a:t>
                      </a:r>
                      <a:endParaRPr lang="en-IN" dirty="0"/>
                    </a:p>
                  </a:txBody>
                  <a:tcPr/>
                </a:tc>
                <a:tc>
                  <a:txBody>
                    <a:bodyPr/>
                    <a:lstStyle/>
                    <a:p>
                      <a:r>
                        <a:rPr lang="en-US" dirty="0"/>
                        <a:t>50/47.5 or 100/95</a:t>
                      </a:r>
                      <a:endParaRPr lang="en-IN" dirty="0"/>
                    </a:p>
                  </a:txBody>
                  <a:tcPr/>
                </a:tc>
                <a:extLst>
                  <a:ext uri="{0D108BD9-81ED-4DB2-BD59-A6C34878D82A}">
                    <a16:rowId xmlns:a16="http://schemas.microsoft.com/office/drawing/2014/main" xmlns="" val="1521097402"/>
                  </a:ext>
                </a:extLst>
              </a:tr>
              <a:tr h="370840">
                <a:tc>
                  <a:txBody>
                    <a:bodyPr/>
                    <a:lstStyle/>
                    <a:p>
                      <a:r>
                        <a:rPr lang="en-US" dirty="0"/>
                        <a:t>8. CaCO3</a:t>
                      </a:r>
                      <a:endParaRPr lang="en-IN" dirty="0"/>
                    </a:p>
                  </a:txBody>
                  <a:tcPr/>
                </a:tc>
                <a:tc>
                  <a:txBody>
                    <a:bodyPr/>
                    <a:lstStyle/>
                    <a:p>
                      <a:r>
                        <a:rPr lang="en-US" dirty="0"/>
                        <a:t>100</a:t>
                      </a:r>
                      <a:endParaRPr lang="en-IN" dirty="0"/>
                    </a:p>
                  </a:txBody>
                  <a:tcPr/>
                </a:tc>
                <a:tc>
                  <a:txBody>
                    <a:bodyPr/>
                    <a:lstStyle/>
                    <a:p>
                      <a:r>
                        <a:rPr lang="en-US" dirty="0"/>
                        <a:t>50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xmlns="" val="2737791588"/>
                  </a:ext>
                </a:extLst>
              </a:tr>
              <a:tr h="224741">
                <a:tc>
                  <a:txBody>
                    <a:bodyPr/>
                    <a:lstStyle/>
                    <a:p>
                      <a:r>
                        <a:rPr lang="en-US" dirty="0"/>
                        <a:t>9. MgCO3</a:t>
                      </a:r>
                      <a:endParaRPr lang="en-IN" dirty="0"/>
                    </a:p>
                  </a:txBody>
                  <a:tcPr/>
                </a:tc>
                <a:tc>
                  <a:txBody>
                    <a:bodyPr/>
                    <a:lstStyle/>
                    <a:p>
                      <a:r>
                        <a:rPr lang="en-US" dirty="0"/>
                        <a:t>84</a:t>
                      </a:r>
                      <a:endParaRPr lang="en-IN" dirty="0"/>
                    </a:p>
                  </a:txBody>
                  <a:tcPr/>
                </a:tc>
                <a:tc>
                  <a:txBody>
                    <a:bodyPr/>
                    <a:lstStyle/>
                    <a:p>
                      <a:r>
                        <a:rPr lang="en-US" dirty="0"/>
                        <a:t>42</a:t>
                      </a:r>
                      <a:endParaRPr lang="en-IN" dirty="0"/>
                    </a:p>
                  </a:txBody>
                  <a:tcPr/>
                </a:tc>
                <a:tc>
                  <a:txBody>
                    <a:bodyPr/>
                    <a:lstStyle/>
                    <a:p>
                      <a:r>
                        <a:rPr lang="en-US" dirty="0"/>
                        <a:t>50/42 or 100/84</a:t>
                      </a:r>
                      <a:endParaRPr lang="en-IN" dirty="0"/>
                    </a:p>
                  </a:txBody>
                  <a:tcPr/>
                </a:tc>
                <a:extLst>
                  <a:ext uri="{0D108BD9-81ED-4DB2-BD59-A6C34878D82A}">
                    <a16:rowId xmlns:a16="http://schemas.microsoft.com/office/drawing/2014/main" xmlns="" val="2792463896"/>
                  </a:ext>
                </a:extLst>
              </a:tr>
              <a:tr h="370840">
                <a:tc>
                  <a:txBody>
                    <a:bodyPr/>
                    <a:lstStyle/>
                    <a:p>
                      <a:r>
                        <a:rPr lang="en-US" dirty="0"/>
                        <a:t>10. CO2</a:t>
                      </a:r>
                      <a:endParaRPr lang="en-IN" dirty="0"/>
                    </a:p>
                  </a:txBody>
                  <a:tcPr/>
                </a:tc>
                <a:tc>
                  <a:txBody>
                    <a:bodyPr/>
                    <a:lstStyle/>
                    <a:p>
                      <a:r>
                        <a:rPr lang="en-US" dirty="0"/>
                        <a:t>44</a:t>
                      </a:r>
                      <a:endParaRPr lang="en-IN" dirty="0"/>
                    </a:p>
                  </a:txBody>
                  <a:tcPr/>
                </a:tc>
                <a:tc>
                  <a:txBody>
                    <a:bodyPr/>
                    <a:lstStyle/>
                    <a:p>
                      <a:r>
                        <a:rPr lang="en-US" dirty="0"/>
                        <a:t>22</a:t>
                      </a:r>
                      <a:endParaRPr lang="en-IN" dirty="0"/>
                    </a:p>
                  </a:txBody>
                  <a:tcPr/>
                </a:tc>
                <a:tc>
                  <a:txBody>
                    <a:bodyPr/>
                    <a:lstStyle/>
                    <a:p>
                      <a:r>
                        <a:rPr lang="en-US" dirty="0"/>
                        <a:t>50/22 or 100/44</a:t>
                      </a:r>
                      <a:endParaRPr lang="en-IN" dirty="0"/>
                    </a:p>
                  </a:txBody>
                  <a:tcPr/>
                </a:tc>
                <a:extLst>
                  <a:ext uri="{0D108BD9-81ED-4DB2-BD59-A6C34878D82A}">
                    <a16:rowId xmlns:a16="http://schemas.microsoft.com/office/drawing/2014/main" xmlns="" val="2855282883"/>
                  </a:ext>
                </a:extLst>
              </a:tr>
              <a:tr h="370840">
                <a:tc>
                  <a:txBody>
                    <a:bodyPr/>
                    <a:lstStyle/>
                    <a:p>
                      <a:r>
                        <a:rPr lang="en-US" dirty="0"/>
                        <a:t>11. Ca(NO3)2</a:t>
                      </a:r>
                      <a:endParaRPr lang="en-IN" dirty="0"/>
                    </a:p>
                  </a:txBody>
                  <a:tcPr/>
                </a:tc>
                <a:tc>
                  <a:txBody>
                    <a:bodyPr/>
                    <a:lstStyle/>
                    <a:p>
                      <a:r>
                        <a:rPr lang="en-US" dirty="0"/>
                        <a:t>164</a:t>
                      </a:r>
                      <a:endParaRPr lang="en-IN" dirty="0"/>
                    </a:p>
                  </a:txBody>
                  <a:tcPr/>
                </a:tc>
                <a:tc>
                  <a:txBody>
                    <a:bodyPr/>
                    <a:lstStyle/>
                    <a:p>
                      <a:r>
                        <a:rPr lang="en-US" dirty="0"/>
                        <a:t>82</a:t>
                      </a:r>
                      <a:endParaRPr lang="en-IN" dirty="0"/>
                    </a:p>
                  </a:txBody>
                  <a:tcPr/>
                </a:tc>
                <a:tc>
                  <a:txBody>
                    <a:bodyPr/>
                    <a:lstStyle/>
                    <a:p>
                      <a:r>
                        <a:rPr lang="en-US" dirty="0"/>
                        <a:t>50/82 or 100/164</a:t>
                      </a:r>
                      <a:endParaRPr lang="en-IN" dirty="0"/>
                    </a:p>
                  </a:txBody>
                  <a:tcPr/>
                </a:tc>
                <a:extLst>
                  <a:ext uri="{0D108BD9-81ED-4DB2-BD59-A6C34878D82A}">
                    <a16:rowId xmlns:a16="http://schemas.microsoft.com/office/drawing/2014/main" xmlns="" val="1377349773"/>
                  </a:ext>
                </a:extLst>
              </a:tr>
              <a:tr h="370840">
                <a:tc>
                  <a:txBody>
                    <a:bodyPr/>
                    <a:lstStyle/>
                    <a:p>
                      <a:r>
                        <a:rPr lang="en-US" dirty="0"/>
                        <a:t>12. Mg(NO3)2</a:t>
                      </a:r>
                      <a:endParaRPr lang="en-IN" dirty="0"/>
                    </a:p>
                  </a:txBody>
                  <a:tcPr/>
                </a:tc>
                <a:tc>
                  <a:txBody>
                    <a:bodyPr/>
                    <a:lstStyle/>
                    <a:p>
                      <a:r>
                        <a:rPr lang="en-US" dirty="0"/>
                        <a:t>148</a:t>
                      </a:r>
                      <a:endParaRPr lang="en-IN" dirty="0"/>
                    </a:p>
                  </a:txBody>
                  <a:tcPr/>
                </a:tc>
                <a:tc>
                  <a:txBody>
                    <a:bodyPr/>
                    <a:lstStyle/>
                    <a:p>
                      <a:r>
                        <a:rPr lang="en-US" dirty="0"/>
                        <a:t>74</a:t>
                      </a:r>
                      <a:endParaRPr lang="en-IN" dirty="0"/>
                    </a:p>
                  </a:txBody>
                  <a:tcPr/>
                </a:tc>
                <a:tc>
                  <a:txBody>
                    <a:bodyPr/>
                    <a:lstStyle/>
                    <a:p>
                      <a:r>
                        <a:rPr lang="en-US" dirty="0"/>
                        <a:t>50/74 or 100/148</a:t>
                      </a:r>
                      <a:endParaRPr lang="en-IN" dirty="0"/>
                    </a:p>
                  </a:txBody>
                  <a:tcPr/>
                </a:tc>
                <a:extLst>
                  <a:ext uri="{0D108BD9-81ED-4DB2-BD59-A6C34878D82A}">
                    <a16:rowId xmlns:a16="http://schemas.microsoft.com/office/drawing/2014/main" xmlns="" val="87862747"/>
                  </a:ext>
                </a:extLst>
              </a:tr>
              <a:tr h="370840">
                <a:tc>
                  <a:txBody>
                    <a:bodyPr/>
                    <a:lstStyle/>
                    <a:p>
                      <a:r>
                        <a:rPr lang="en-US" dirty="0"/>
                        <a:t>13. HCO</a:t>
                      </a:r>
                      <a:r>
                        <a:rPr lang="en-US" baseline="-25000" dirty="0"/>
                        <a:t>3</a:t>
                      </a:r>
                      <a:r>
                        <a:rPr lang="en-US" baseline="30000" dirty="0"/>
                        <a:t>-</a:t>
                      </a:r>
                      <a:endParaRPr lang="en-IN" baseline="30000" dirty="0"/>
                    </a:p>
                  </a:txBody>
                  <a:tcPr/>
                </a:tc>
                <a:tc>
                  <a:txBody>
                    <a:bodyPr/>
                    <a:lstStyle/>
                    <a:p>
                      <a:r>
                        <a:rPr lang="en-US" dirty="0"/>
                        <a:t>61</a:t>
                      </a:r>
                      <a:endParaRPr lang="en-IN" dirty="0"/>
                    </a:p>
                  </a:txBody>
                  <a:tcPr/>
                </a:tc>
                <a:tc>
                  <a:txBody>
                    <a:bodyPr/>
                    <a:lstStyle/>
                    <a:p>
                      <a:r>
                        <a:rPr lang="en-US" dirty="0"/>
                        <a:t>61</a:t>
                      </a:r>
                      <a:endParaRPr lang="en-IN" dirty="0"/>
                    </a:p>
                  </a:txBody>
                  <a:tcPr/>
                </a:tc>
                <a:tc>
                  <a:txBody>
                    <a:bodyPr/>
                    <a:lstStyle/>
                    <a:p>
                      <a:r>
                        <a:rPr lang="en-US" dirty="0"/>
                        <a:t>50/61 or 100/122</a:t>
                      </a:r>
                      <a:endParaRPr lang="en-IN" dirty="0"/>
                    </a:p>
                  </a:txBody>
                  <a:tcPr/>
                </a:tc>
                <a:extLst>
                  <a:ext uri="{0D108BD9-81ED-4DB2-BD59-A6C34878D82A}">
                    <a16:rowId xmlns:a16="http://schemas.microsoft.com/office/drawing/2014/main" xmlns="" val="1627647814"/>
                  </a:ext>
                </a:extLst>
              </a:tr>
              <a:tr h="370840">
                <a:tc>
                  <a:txBody>
                    <a:bodyPr/>
                    <a:lstStyle/>
                    <a:p>
                      <a:r>
                        <a:rPr lang="en-US" baseline="0" dirty="0"/>
                        <a:t>14. OH-</a:t>
                      </a:r>
                      <a:endParaRPr lang="en-IN" baseline="0" dirty="0"/>
                    </a:p>
                  </a:txBody>
                  <a:tcPr/>
                </a:tc>
                <a:tc>
                  <a:txBody>
                    <a:bodyPr/>
                    <a:lstStyle/>
                    <a:p>
                      <a:r>
                        <a:rPr lang="en-US" dirty="0"/>
                        <a:t>17</a:t>
                      </a:r>
                      <a:endParaRPr lang="en-IN" dirty="0"/>
                    </a:p>
                  </a:txBody>
                  <a:tcPr/>
                </a:tc>
                <a:tc>
                  <a:txBody>
                    <a:bodyPr/>
                    <a:lstStyle/>
                    <a:p>
                      <a:r>
                        <a:rPr lang="en-US" dirty="0"/>
                        <a:t>17</a:t>
                      </a:r>
                      <a:endParaRPr lang="en-IN" dirty="0"/>
                    </a:p>
                  </a:txBody>
                  <a:tcPr/>
                </a:tc>
                <a:tc>
                  <a:txBody>
                    <a:bodyPr/>
                    <a:lstStyle/>
                    <a:p>
                      <a:r>
                        <a:rPr lang="en-US" dirty="0"/>
                        <a:t>50/17 or 100/34</a:t>
                      </a:r>
                      <a:endParaRPr lang="en-IN" dirty="0"/>
                    </a:p>
                  </a:txBody>
                  <a:tcPr/>
                </a:tc>
                <a:extLst>
                  <a:ext uri="{0D108BD9-81ED-4DB2-BD59-A6C34878D82A}">
                    <a16:rowId xmlns:a16="http://schemas.microsoft.com/office/drawing/2014/main" xmlns="" val="1044269678"/>
                  </a:ext>
                </a:extLst>
              </a:tr>
            </a:tbl>
          </a:graphicData>
        </a:graphic>
      </p:graphicFrame>
    </p:spTree>
    <p:extLst>
      <p:ext uri="{BB962C8B-B14F-4D97-AF65-F5344CB8AC3E}">
        <p14:creationId xmlns:p14="http://schemas.microsoft.com/office/powerpoint/2010/main" val="30850412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87FF6B6B-7F0A-483C-8E24-D0BFC38B0C30}"/>
              </a:ext>
            </a:extLst>
          </p:cNvPr>
          <p:cNvGraphicFramePr>
            <a:graphicFrameLocks noGrp="1"/>
          </p:cNvGraphicFramePr>
          <p:nvPr>
            <p:ph idx="1"/>
            <p:extLst>
              <p:ext uri="{D42A27DB-BD31-4B8C-83A1-F6EECF244321}">
                <p14:modId xmlns:p14="http://schemas.microsoft.com/office/powerpoint/2010/main" val="1873812500"/>
              </p:ext>
            </p:extLst>
          </p:nvPr>
        </p:nvGraphicFramePr>
        <p:xfrm>
          <a:off x="838200" y="1097280"/>
          <a:ext cx="9482011" cy="5557520"/>
        </p:xfrm>
        <a:graphic>
          <a:graphicData uri="http://schemas.openxmlformats.org/drawingml/2006/table">
            <a:tbl>
              <a:tblPr firstRow="1" bandRow="1">
                <a:tableStyleId>{5940675A-B579-460E-94D1-54222C63F5DA}</a:tableStyleId>
              </a:tblPr>
              <a:tblGrid>
                <a:gridCol w="1848729">
                  <a:extLst>
                    <a:ext uri="{9D8B030D-6E8A-4147-A177-3AD203B41FA5}">
                      <a16:colId xmlns:a16="http://schemas.microsoft.com/office/drawing/2014/main" xmlns="" val="33608106"/>
                    </a:ext>
                  </a:extLst>
                </a:gridCol>
                <a:gridCol w="2375482">
                  <a:extLst>
                    <a:ext uri="{9D8B030D-6E8A-4147-A177-3AD203B41FA5}">
                      <a16:colId xmlns:a16="http://schemas.microsoft.com/office/drawing/2014/main" xmlns="" val="2116698884"/>
                    </a:ext>
                  </a:extLst>
                </a:gridCol>
                <a:gridCol w="2628900">
                  <a:extLst>
                    <a:ext uri="{9D8B030D-6E8A-4147-A177-3AD203B41FA5}">
                      <a16:colId xmlns:a16="http://schemas.microsoft.com/office/drawing/2014/main" xmlns="" val="2993023986"/>
                    </a:ext>
                  </a:extLst>
                </a:gridCol>
                <a:gridCol w="2628900">
                  <a:extLst>
                    <a:ext uri="{9D8B030D-6E8A-4147-A177-3AD203B41FA5}">
                      <a16:colId xmlns:a16="http://schemas.microsoft.com/office/drawing/2014/main" xmlns="" val="1769535107"/>
                    </a:ext>
                  </a:extLst>
                </a:gridCol>
              </a:tblGrid>
              <a:tr h="370840">
                <a:tc>
                  <a:txBody>
                    <a:bodyPr/>
                    <a:lstStyle/>
                    <a:p>
                      <a:r>
                        <a:rPr lang="en-US" b="1" dirty="0"/>
                        <a:t>Dissolved salt</a:t>
                      </a:r>
                      <a:endParaRPr lang="en-IN" b="1" dirty="0"/>
                    </a:p>
                  </a:txBody>
                  <a:tcPr/>
                </a:tc>
                <a:tc>
                  <a:txBody>
                    <a:bodyPr/>
                    <a:lstStyle/>
                    <a:p>
                      <a:r>
                        <a:rPr lang="en-US" b="1" dirty="0"/>
                        <a:t>Molar Mass</a:t>
                      </a:r>
                      <a:endParaRPr lang="en-IN" b="1" dirty="0"/>
                    </a:p>
                  </a:txBody>
                  <a:tcPr/>
                </a:tc>
                <a:tc>
                  <a:txBody>
                    <a:bodyPr/>
                    <a:lstStyle/>
                    <a:p>
                      <a:r>
                        <a:rPr lang="en-US" b="1" dirty="0"/>
                        <a:t>Chem. Eq.</a:t>
                      </a:r>
                      <a:endParaRPr lang="en-IN" b="1" dirty="0"/>
                    </a:p>
                  </a:txBody>
                  <a:tcPr/>
                </a:tc>
                <a:tc>
                  <a:txBody>
                    <a:bodyPr/>
                    <a:lstStyle/>
                    <a:p>
                      <a:r>
                        <a:rPr lang="en-US" b="1" dirty="0"/>
                        <a:t>M.F</a:t>
                      </a:r>
                      <a:endParaRPr lang="en-IN" b="1" dirty="0"/>
                    </a:p>
                  </a:txBody>
                  <a:tcPr/>
                </a:tc>
                <a:extLst>
                  <a:ext uri="{0D108BD9-81ED-4DB2-BD59-A6C34878D82A}">
                    <a16:rowId xmlns:a16="http://schemas.microsoft.com/office/drawing/2014/main" xmlns="" val="1109013893"/>
                  </a:ext>
                </a:extLst>
              </a:tr>
              <a:tr h="370840">
                <a:tc>
                  <a:txBody>
                    <a:bodyPr/>
                    <a:lstStyle/>
                    <a:p>
                      <a:pPr marL="0" indent="0">
                        <a:buNone/>
                      </a:pPr>
                      <a:r>
                        <a:rPr lang="en-US" dirty="0"/>
                        <a:t>15. CO</a:t>
                      </a:r>
                      <a:r>
                        <a:rPr lang="en-US" baseline="-25000" dirty="0"/>
                        <a:t>3</a:t>
                      </a:r>
                      <a:r>
                        <a:rPr lang="en-US" baseline="30000" dirty="0"/>
                        <a:t>2-</a:t>
                      </a:r>
                      <a:endParaRPr lang="en-IN" baseline="30000" dirty="0"/>
                    </a:p>
                  </a:txBody>
                  <a:tcPr/>
                </a:tc>
                <a:tc>
                  <a:txBody>
                    <a:bodyPr/>
                    <a:lstStyle/>
                    <a:p>
                      <a:r>
                        <a:rPr lang="en-US" dirty="0"/>
                        <a:t>60</a:t>
                      </a:r>
                      <a:endParaRPr lang="en-IN" dirty="0"/>
                    </a:p>
                  </a:txBody>
                  <a:tcPr/>
                </a:tc>
                <a:tc>
                  <a:txBody>
                    <a:bodyPr/>
                    <a:lstStyle/>
                    <a:p>
                      <a:r>
                        <a:rPr lang="en-US" dirty="0"/>
                        <a:t>30</a:t>
                      </a:r>
                      <a:endParaRPr lang="en-IN" dirty="0"/>
                    </a:p>
                  </a:txBody>
                  <a:tcPr/>
                </a:tc>
                <a:tc>
                  <a:txBody>
                    <a:bodyPr/>
                    <a:lstStyle/>
                    <a:p>
                      <a:r>
                        <a:rPr lang="en-US" dirty="0"/>
                        <a:t>50/30  or 100/60</a:t>
                      </a:r>
                      <a:endParaRPr lang="en-IN" dirty="0"/>
                    </a:p>
                  </a:txBody>
                  <a:tcPr/>
                </a:tc>
                <a:extLst>
                  <a:ext uri="{0D108BD9-81ED-4DB2-BD59-A6C34878D82A}">
                    <a16:rowId xmlns:a16="http://schemas.microsoft.com/office/drawing/2014/main" xmlns="" val="1583457128"/>
                  </a:ext>
                </a:extLst>
              </a:tr>
              <a:tr h="370840">
                <a:tc>
                  <a:txBody>
                    <a:bodyPr/>
                    <a:lstStyle/>
                    <a:p>
                      <a:r>
                        <a:rPr lang="en-US" dirty="0"/>
                        <a:t>16. NaAlO2</a:t>
                      </a:r>
                      <a:endParaRPr lang="en-IN" dirty="0"/>
                    </a:p>
                  </a:txBody>
                  <a:tcPr/>
                </a:tc>
                <a:tc>
                  <a:txBody>
                    <a:bodyPr/>
                    <a:lstStyle/>
                    <a:p>
                      <a:r>
                        <a:rPr lang="en-US" dirty="0"/>
                        <a:t>82</a:t>
                      </a:r>
                      <a:endParaRPr lang="en-IN" dirty="0"/>
                    </a:p>
                  </a:txBody>
                  <a:tcPr/>
                </a:tc>
                <a:tc>
                  <a:txBody>
                    <a:bodyPr/>
                    <a:lstStyle/>
                    <a:p>
                      <a:r>
                        <a:rPr lang="en-US" dirty="0"/>
                        <a:t>82</a:t>
                      </a:r>
                      <a:endParaRPr lang="en-IN" dirty="0"/>
                    </a:p>
                  </a:txBody>
                  <a:tcPr/>
                </a:tc>
                <a:tc>
                  <a:txBody>
                    <a:bodyPr/>
                    <a:lstStyle/>
                    <a:p>
                      <a:r>
                        <a:rPr lang="en-US" dirty="0"/>
                        <a:t>50/82  or 100/164</a:t>
                      </a:r>
                      <a:endParaRPr lang="en-IN" dirty="0"/>
                    </a:p>
                  </a:txBody>
                  <a:tcPr/>
                </a:tc>
                <a:extLst>
                  <a:ext uri="{0D108BD9-81ED-4DB2-BD59-A6C34878D82A}">
                    <a16:rowId xmlns:a16="http://schemas.microsoft.com/office/drawing/2014/main" xmlns="" val="802918200"/>
                  </a:ext>
                </a:extLst>
              </a:tr>
              <a:tr h="370840">
                <a:tc>
                  <a:txBody>
                    <a:bodyPr/>
                    <a:lstStyle/>
                    <a:p>
                      <a:r>
                        <a:rPr lang="en-US" dirty="0"/>
                        <a:t>17. Al2(SO4)3</a:t>
                      </a:r>
                      <a:endParaRPr lang="en-IN" dirty="0"/>
                    </a:p>
                  </a:txBody>
                  <a:tcPr/>
                </a:tc>
                <a:tc>
                  <a:txBody>
                    <a:bodyPr/>
                    <a:lstStyle/>
                    <a:p>
                      <a:r>
                        <a:rPr lang="en-US" dirty="0"/>
                        <a:t>342</a:t>
                      </a:r>
                      <a:endParaRPr lang="en-IN" dirty="0"/>
                    </a:p>
                  </a:txBody>
                  <a:tcPr/>
                </a:tc>
                <a:tc>
                  <a:txBody>
                    <a:bodyPr/>
                    <a:lstStyle/>
                    <a:p>
                      <a:r>
                        <a:rPr lang="en-US" dirty="0"/>
                        <a:t>57</a:t>
                      </a:r>
                      <a:endParaRPr lang="en-IN" dirty="0"/>
                    </a:p>
                  </a:txBody>
                  <a:tcPr/>
                </a:tc>
                <a:tc>
                  <a:txBody>
                    <a:bodyPr/>
                    <a:lstStyle/>
                    <a:p>
                      <a:r>
                        <a:rPr lang="en-US" dirty="0"/>
                        <a:t>50/57  or 100/114</a:t>
                      </a:r>
                      <a:endParaRPr lang="en-IN" dirty="0"/>
                    </a:p>
                  </a:txBody>
                  <a:tcPr/>
                </a:tc>
                <a:extLst>
                  <a:ext uri="{0D108BD9-81ED-4DB2-BD59-A6C34878D82A}">
                    <a16:rowId xmlns:a16="http://schemas.microsoft.com/office/drawing/2014/main" xmlns="" val="3219546637"/>
                  </a:ext>
                </a:extLst>
              </a:tr>
              <a:tr h="370840">
                <a:tc>
                  <a:txBody>
                    <a:bodyPr/>
                    <a:lstStyle/>
                    <a:p>
                      <a:r>
                        <a:rPr lang="en-US" dirty="0"/>
                        <a:t>18. FeSO4.7H2O</a:t>
                      </a:r>
                      <a:endParaRPr lang="en-IN" dirty="0"/>
                    </a:p>
                  </a:txBody>
                  <a:tcPr/>
                </a:tc>
                <a:tc>
                  <a:txBody>
                    <a:bodyPr/>
                    <a:lstStyle/>
                    <a:p>
                      <a:r>
                        <a:rPr lang="en-US" dirty="0"/>
                        <a:t>278</a:t>
                      </a:r>
                      <a:endParaRPr lang="en-IN" dirty="0"/>
                    </a:p>
                  </a:txBody>
                  <a:tcPr/>
                </a:tc>
                <a:tc>
                  <a:txBody>
                    <a:bodyPr/>
                    <a:lstStyle/>
                    <a:p>
                      <a:r>
                        <a:rPr lang="en-US" dirty="0"/>
                        <a:t>139</a:t>
                      </a:r>
                      <a:endParaRPr lang="en-IN" dirty="0"/>
                    </a:p>
                  </a:txBody>
                  <a:tcPr/>
                </a:tc>
                <a:tc>
                  <a:txBody>
                    <a:bodyPr/>
                    <a:lstStyle/>
                    <a:p>
                      <a:r>
                        <a:rPr lang="en-US" dirty="0"/>
                        <a:t>50/139  or 100/278</a:t>
                      </a:r>
                      <a:endParaRPr lang="en-IN" dirty="0"/>
                    </a:p>
                  </a:txBody>
                  <a:tcPr/>
                </a:tc>
                <a:extLst>
                  <a:ext uri="{0D108BD9-81ED-4DB2-BD59-A6C34878D82A}">
                    <a16:rowId xmlns:a16="http://schemas.microsoft.com/office/drawing/2014/main" xmlns="" val="3147972600"/>
                  </a:ext>
                </a:extLst>
              </a:tr>
              <a:tr h="370840">
                <a:tc>
                  <a:txBody>
                    <a:bodyPr/>
                    <a:lstStyle/>
                    <a:p>
                      <a:r>
                        <a:rPr lang="en-US" dirty="0"/>
                        <a:t>19. H+</a:t>
                      </a:r>
                      <a:endParaRPr lang="en-IN" dirty="0"/>
                    </a:p>
                  </a:txBody>
                  <a:tcPr/>
                </a:tc>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50/1   or 100/2</a:t>
                      </a:r>
                      <a:endParaRPr lang="en-IN" dirty="0"/>
                    </a:p>
                  </a:txBody>
                  <a:tcPr/>
                </a:tc>
                <a:extLst>
                  <a:ext uri="{0D108BD9-81ED-4DB2-BD59-A6C34878D82A}">
                    <a16:rowId xmlns:a16="http://schemas.microsoft.com/office/drawing/2014/main" xmlns="" val="3235585485"/>
                  </a:ext>
                </a:extLst>
              </a:tr>
              <a:tr h="370840">
                <a:tc>
                  <a:txBody>
                    <a:bodyPr/>
                    <a:lstStyle/>
                    <a:p>
                      <a:r>
                        <a:rPr lang="en-US" dirty="0"/>
                        <a:t>20. HCl</a:t>
                      </a:r>
                      <a:endParaRPr lang="en-IN" dirty="0"/>
                    </a:p>
                  </a:txBody>
                  <a:tcPr/>
                </a:tc>
                <a:tc>
                  <a:txBody>
                    <a:bodyPr/>
                    <a:lstStyle/>
                    <a:p>
                      <a:r>
                        <a:rPr lang="en-US" dirty="0"/>
                        <a:t>36.5</a:t>
                      </a:r>
                      <a:endParaRPr lang="en-IN" dirty="0"/>
                    </a:p>
                  </a:txBody>
                  <a:tcPr/>
                </a:tc>
                <a:tc>
                  <a:txBody>
                    <a:bodyPr/>
                    <a:lstStyle/>
                    <a:p>
                      <a:r>
                        <a:rPr lang="en-US" dirty="0"/>
                        <a:t>36.5</a:t>
                      </a:r>
                      <a:endParaRPr lang="en-IN" dirty="0"/>
                    </a:p>
                  </a:txBody>
                  <a:tcPr/>
                </a:tc>
                <a:tc>
                  <a:txBody>
                    <a:bodyPr/>
                    <a:lstStyle/>
                    <a:p>
                      <a:r>
                        <a:rPr lang="en-US" dirty="0"/>
                        <a:t>50/36.5  or 100/73</a:t>
                      </a:r>
                      <a:endParaRPr lang="en-IN" dirty="0"/>
                    </a:p>
                  </a:txBody>
                  <a:tcPr/>
                </a:tc>
                <a:extLst>
                  <a:ext uri="{0D108BD9-81ED-4DB2-BD59-A6C34878D82A}">
                    <a16:rowId xmlns:a16="http://schemas.microsoft.com/office/drawing/2014/main" xmlns="" val="494812746"/>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1521097402"/>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2737791588"/>
                  </a:ext>
                </a:extLst>
              </a:tr>
              <a:tr h="224741">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2792463896"/>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2855282883"/>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1377349773"/>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87862747"/>
                  </a:ext>
                </a:extLst>
              </a:tr>
              <a:tr h="370840">
                <a:tc>
                  <a:txBody>
                    <a:bodyPr/>
                    <a:lstStyle/>
                    <a:p>
                      <a:endParaRPr lang="en-IN" baseline="30000"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1627647814"/>
                  </a:ext>
                </a:extLst>
              </a:tr>
              <a:tr h="370840">
                <a:tc>
                  <a:txBody>
                    <a:bodyPr/>
                    <a:lstStyle/>
                    <a:p>
                      <a:endParaRPr lang="en-IN" baseline="0"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xmlns="" val="1044269678"/>
                  </a:ext>
                </a:extLst>
              </a:tr>
            </a:tbl>
          </a:graphicData>
        </a:graphic>
      </p:graphicFrame>
    </p:spTree>
    <p:extLst>
      <p:ext uri="{BB962C8B-B14F-4D97-AF65-F5344CB8AC3E}">
        <p14:creationId xmlns:p14="http://schemas.microsoft.com/office/powerpoint/2010/main" val="37491803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9102CF-08BF-4EA3-B265-D70D78B087DD}"/>
              </a:ext>
            </a:extLst>
          </p:cNvPr>
          <p:cNvSpPr>
            <a:spLocks noGrp="1"/>
          </p:cNvSpPr>
          <p:nvPr>
            <p:ph type="title"/>
          </p:nvPr>
        </p:nvSpPr>
        <p:spPr>
          <a:xfrm>
            <a:off x="838200" y="365126"/>
            <a:ext cx="10515600" cy="760290"/>
          </a:xfrm>
        </p:spPr>
        <p:txBody>
          <a:bodyPr/>
          <a:lstStyle/>
          <a:p>
            <a:r>
              <a:rPr lang="en-US" dirty="0"/>
              <a:t>Units of hardness</a:t>
            </a:r>
            <a:endParaRPr lang="en-IN" dirty="0"/>
          </a:p>
        </p:txBody>
      </p:sp>
      <p:sp>
        <p:nvSpPr>
          <p:cNvPr id="3" name="Content Placeholder 2">
            <a:extLst>
              <a:ext uri="{FF2B5EF4-FFF2-40B4-BE49-F238E27FC236}">
                <a16:creationId xmlns:a16="http://schemas.microsoft.com/office/drawing/2014/main" xmlns="" id="{C9614FA7-E486-44D9-93F8-9136A169268A}"/>
              </a:ext>
            </a:extLst>
          </p:cNvPr>
          <p:cNvSpPr>
            <a:spLocks noGrp="1"/>
          </p:cNvSpPr>
          <p:nvPr>
            <p:ph idx="1"/>
          </p:nvPr>
        </p:nvSpPr>
        <p:spPr>
          <a:xfrm>
            <a:off x="838200" y="1253331"/>
            <a:ext cx="10515600" cy="4351338"/>
          </a:xfrm>
        </p:spPr>
        <p:txBody>
          <a:bodyPr>
            <a:normAutofit fontScale="92500" lnSpcReduction="20000"/>
          </a:bodyPr>
          <a:lstStyle/>
          <a:p>
            <a:pPr marL="514350" indent="-514350">
              <a:buAutoNum type="arabicPeriod"/>
            </a:pPr>
            <a:r>
              <a:rPr lang="en-US" dirty="0"/>
              <a:t>Parts per millions(ppm): It is the parts of CaCO</a:t>
            </a:r>
            <a:r>
              <a:rPr lang="en-US" baseline="-25000" dirty="0"/>
              <a:t>3</a:t>
            </a:r>
            <a:r>
              <a:rPr lang="en-US" dirty="0"/>
              <a:t> equivalent of hardness per10</a:t>
            </a:r>
            <a:r>
              <a:rPr lang="en-US" baseline="30000" dirty="0"/>
              <a:t>6</a:t>
            </a:r>
            <a:r>
              <a:rPr lang="en-US" dirty="0"/>
              <a:t> parts of water. </a:t>
            </a:r>
          </a:p>
          <a:p>
            <a:pPr marL="514350" indent="-514350">
              <a:buAutoNum type="arabicPeriod"/>
            </a:pPr>
            <a:r>
              <a:rPr lang="en-US" dirty="0"/>
              <a:t>Milligram per </a:t>
            </a:r>
            <a:r>
              <a:rPr lang="en-US" dirty="0" err="1"/>
              <a:t>Litre</a:t>
            </a:r>
            <a:r>
              <a:rPr lang="en-US" dirty="0"/>
              <a:t>(mg/L): it is the number of milligram of </a:t>
            </a:r>
            <a:r>
              <a:rPr lang="en-US" dirty="0" smtClean="0"/>
              <a:t>CaCO3 equivalent </a:t>
            </a:r>
            <a:r>
              <a:rPr lang="en-US" dirty="0"/>
              <a:t>of hardness present per </a:t>
            </a:r>
            <a:r>
              <a:rPr lang="en-US" dirty="0" err="1"/>
              <a:t>litre</a:t>
            </a:r>
            <a:r>
              <a:rPr lang="en-US" dirty="0"/>
              <a:t> of water</a:t>
            </a:r>
            <a:r>
              <a:rPr lang="en-US" dirty="0" smtClean="0"/>
              <a:t>.</a:t>
            </a:r>
          </a:p>
          <a:p>
            <a:pPr marL="0" indent="0">
              <a:buNone/>
            </a:pPr>
            <a:r>
              <a:rPr lang="en-US" dirty="0" smtClean="0"/>
              <a:t>Mg/L = 1gx10^-3/1000mL= 1g/1000x1000 = 1:10^6</a:t>
            </a:r>
            <a:endParaRPr lang="en-US" dirty="0"/>
          </a:p>
          <a:p>
            <a:pPr marL="514350" indent="-514350">
              <a:buAutoNum type="arabicPeriod" startAt="3"/>
            </a:pPr>
            <a:r>
              <a:rPr lang="en-US" dirty="0" smtClean="0"/>
              <a:t>Clarke’s </a:t>
            </a:r>
            <a:r>
              <a:rPr lang="en-US" dirty="0"/>
              <a:t>Degree (°Cl): It is the number of grains (1/70000 </a:t>
            </a:r>
            <a:r>
              <a:rPr lang="en-US" dirty="0" err="1"/>
              <a:t>lbs</a:t>
            </a:r>
            <a:r>
              <a:rPr lang="en-US" dirty="0"/>
              <a:t>) of CaCO3 equivalent of hardness per gallon (10 </a:t>
            </a:r>
            <a:r>
              <a:rPr lang="en-US" dirty="0" err="1"/>
              <a:t>lbs</a:t>
            </a:r>
            <a:r>
              <a:rPr lang="en-US" dirty="0"/>
              <a:t>) of water. OR It is parts of CaCO3 equivalent per 70000 parts of </a:t>
            </a:r>
            <a:r>
              <a:rPr lang="en-US" dirty="0" smtClean="0"/>
              <a:t>water.</a:t>
            </a:r>
          </a:p>
          <a:p>
            <a:pPr marL="514350" indent="-514350">
              <a:buAutoNum type="arabicPeriod" startAt="3"/>
            </a:pPr>
            <a:r>
              <a:rPr lang="en-US" dirty="0" smtClean="0"/>
              <a:t>Degree </a:t>
            </a:r>
            <a:r>
              <a:rPr lang="en-US" dirty="0"/>
              <a:t>French (°Fr): It is the parts of CaCO3 equivalent per 10</a:t>
            </a:r>
            <a:r>
              <a:rPr lang="en-US" baseline="30000" dirty="0"/>
              <a:t>5</a:t>
            </a:r>
            <a:r>
              <a:rPr lang="en-US" dirty="0"/>
              <a:t> parts of water. </a:t>
            </a:r>
            <a:endParaRPr lang="en-US" dirty="0" smtClean="0"/>
          </a:p>
          <a:p>
            <a:pPr marL="514350" indent="-514350">
              <a:buAutoNum type="arabicPeriod" startAt="3"/>
            </a:pPr>
            <a:r>
              <a:rPr lang="en-US" dirty="0" err="1" smtClean="0"/>
              <a:t>Milliequivalent</a:t>
            </a:r>
            <a:r>
              <a:rPr lang="en-US" dirty="0" smtClean="0"/>
              <a:t> </a:t>
            </a:r>
            <a:r>
              <a:rPr lang="en-US" dirty="0"/>
              <a:t>per </a:t>
            </a:r>
            <a:r>
              <a:rPr lang="en-US" dirty="0" err="1"/>
              <a:t>Litre</a:t>
            </a:r>
            <a:r>
              <a:rPr lang="en-US" dirty="0"/>
              <a:t>(</a:t>
            </a:r>
            <a:r>
              <a:rPr lang="en-US" dirty="0" err="1"/>
              <a:t>meq</a:t>
            </a:r>
            <a:r>
              <a:rPr lang="en-US" dirty="0"/>
              <a:t>/L): It is the number of milliequivalent of hardness present per </a:t>
            </a:r>
            <a:r>
              <a:rPr lang="en-US" dirty="0" err="1"/>
              <a:t>litre</a:t>
            </a:r>
            <a:r>
              <a:rPr lang="en-US" dirty="0"/>
              <a:t> of water.</a:t>
            </a:r>
            <a:endParaRPr lang="en-IN" dirty="0"/>
          </a:p>
        </p:txBody>
      </p:sp>
    </p:spTree>
    <p:extLst>
      <p:ext uri="{BB962C8B-B14F-4D97-AF65-F5344CB8AC3E}">
        <p14:creationId xmlns:p14="http://schemas.microsoft.com/office/powerpoint/2010/main" val="38287783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4F6833-AF83-4BFA-9872-83C42AF9FAF3}"/>
              </a:ext>
            </a:extLst>
          </p:cNvPr>
          <p:cNvSpPr>
            <a:spLocks noGrp="1"/>
          </p:cNvSpPr>
          <p:nvPr>
            <p:ph type="title"/>
          </p:nvPr>
        </p:nvSpPr>
        <p:spPr/>
        <p:txBody>
          <a:bodyPr/>
          <a:lstStyle/>
          <a:p>
            <a:r>
              <a:rPr lang="en-US" dirty="0"/>
              <a:t>Relationship between various units of hardness</a:t>
            </a:r>
            <a:endParaRPr lang="en-IN" dirty="0"/>
          </a:p>
        </p:txBody>
      </p:sp>
      <p:sp>
        <p:nvSpPr>
          <p:cNvPr id="3" name="Content Placeholder 2">
            <a:extLst>
              <a:ext uri="{FF2B5EF4-FFF2-40B4-BE49-F238E27FC236}">
                <a16:creationId xmlns:a16="http://schemas.microsoft.com/office/drawing/2014/main" xmlns="" id="{0F3703B8-CA04-49EB-A75F-C2CBBC88A61F}"/>
              </a:ext>
            </a:extLst>
          </p:cNvPr>
          <p:cNvSpPr>
            <a:spLocks noGrp="1"/>
          </p:cNvSpPr>
          <p:nvPr>
            <p:ph idx="1"/>
          </p:nvPr>
        </p:nvSpPr>
        <p:spPr>
          <a:xfrm>
            <a:off x="738612" y="1599289"/>
            <a:ext cx="10515600" cy="4351338"/>
          </a:xfrm>
        </p:spPr>
        <p:txBody>
          <a:bodyPr/>
          <a:lstStyle/>
          <a:p>
            <a:pPr marL="0" indent="0">
              <a:buNone/>
            </a:pPr>
            <a:endParaRPr lang="en-US" dirty="0"/>
          </a:p>
          <a:p>
            <a:pPr marL="0" indent="0">
              <a:buNone/>
            </a:pPr>
            <a:endParaRPr lang="en-IN" dirty="0"/>
          </a:p>
          <a:p>
            <a:pPr marL="0" indent="0">
              <a:buNone/>
            </a:pPr>
            <a:r>
              <a:rPr lang="en-IN" dirty="0"/>
              <a:t>1ppm  =  1mg/L  = 0.1°Fr  =  0.07°Cl   =  0.02 </a:t>
            </a:r>
            <a:r>
              <a:rPr lang="en-IN" dirty="0" err="1"/>
              <a:t>meq</a:t>
            </a:r>
            <a:r>
              <a:rPr lang="en-IN" dirty="0"/>
              <a:t>/L</a:t>
            </a:r>
          </a:p>
        </p:txBody>
      </p:sp>
    </p:spTree>
    <p:extLst>
      <p:ext uri="{BB962C8B-B14F-4D97-AF65-F5344CB8AC3E}">
        <p14:creationId xmlns:p14="http://schemas.microsoft.com/office/powerpoint/2010/main" val="16323919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E495EFD-1E4B-4F54-9CFC-EB1AC2044178}"/>
              </a:ext>
            </a:extLst>
          </p:cNvPr>
          <p:cNvSpPr>
            <a:spLocks noGrp="1"/>
          </p:cNvSpPr>
          <p:nvPr>
            <p:ph idx="1"/>
          </p:nvPr>
        </p:nvSpPr>
        <p:spPr>
          <a:xfrm>
            <a:off x="838200" y="323557"/>
            <a:ext cx="10515600" cy="5853407"/>
          </a:xfrm>
        </p:spPr>
        <p:txBody>
          <a:bodyPr>
            <a:normAutofit fontScale="92500" lnSpcReduction="10000"/>
          </a:bodyPr>
          <a:lstStyle/>
          <a:p>
            <a:pPr marL="0" indent="0">
              <a:buNone/>
            </a:pPr>
            <a:r>
              <a:rPr lang="en-US" sz="2000" b="1" dirty="0"/>
              <a:t>Numerical 1: </a:t>
            </a:r>
            <a:r>
              <a:rPr lang="en-US" sz="2000" dirty="0"/>
              <a:t>Convert the total hardness of water samples in ppm and </a:t>
            </a:r>
            <a:r>
              <a:rPr lang="en-US" sz="2000" dirty="0" err="1"/>
              <a:t>meq</a:t>
            </a:r>
            <a:r>
              <a:rPr lang="en-US" sz="2000" dirty="0"/>
              <a:t>/L from the following.</a:t>
            </a:r>
          </a:p>
          <a:p>
            <a:pPr marL="571500" indent="-571500">
              <a:buAutoNum type="romanLcParenR"/>
            </a:pPr>
            <a:r>
              <a:rPr lang="en-US" sz="2000" dirty="0"/>
              <a:t>20.23°Cl</a:t>
            </a:r>
          </a:p>
          <a:p>
            <a:pPr marL="571500" indent="-571500">
              <a:buAutoNum type="romanLcParenR"/>
            </a:pPr>
            <a:r>
              <a:rPr lang="en-US" sz="2000" dirty="0"/>
              <a:t>31.3°Fr</a:t>
            </a:r>
          </a:p>
          <a:p>
            <a:pPr marL="0" indent="0">
              <a:buNone/>
            </a:pPr>
            <a:endParaRPr lang="en-IN" sz="2000" dirty="0"/>
          </a:p>
          <a:p>
            <a:pPr marL="0" indent="0">
              <a:buNone/>
            </a:pPr>
            <a:r>
              <a:rPr lang="en-IN" sz="2000" b="1" dirty="0"/>
              <a:t>Numerical 2:</a:t>
            </a:r>
            <a:r>
              <a:rPr lang="en-IN" sz="2000" dirty="0"/>
              <a:t> A sample of water has hardness 208ppm of </a:t>
            </a:r>
            <a:r>
              <a:rPr lang="en-IN" sz="2000" dirty="0" smtClean="0"/>
              <a:t>CaCO3 </a:t>
            </a:r>
            <a:r>
              <a:rPr lang="en-IN" sz="2000" dirty="0"/>
              <a:t>equivalents. Find the hardness in terms of </a:t>
            </a:r>
          </a:p>
          <a:p>
            <a:pPr marL="571500" indent="-571500">
              <a:buAutoNum type="romanLcParenR"/>
            </a:pPr>
            <a:r>
              <a:rPr lang="en-IN" sz="2000" dirty="0"/>
              <a:t>mg/L  ii) °Fr   iii) °Cl    iv) </a:t>
            </a:r>
            <a:r>
              <a:rPr lang="en-IN" sz="2000" dirty="0" err="1"/>
              <a:t>meq</a:t>
            </a:r>
            <a:r>
              <a:rPr lang="en-IN" sz="2000" dirty="0"/>
              <a:t>/L</a:t>
            </a:r>
          </a:p>
          <a:p>
            <a:pPr marL="0" indent="0">
              <a:buNone/>
            </a:pPr>
            <a:endParaRPr lang="en-IN" sz="2000" dirty="0"/>
          </a:p>
          <a:p>
            <a:pPr marL="0" indent="0">
              <a:buNone/>
            </a:pPr>
            <a:r>
              <a:rPr lang="en-IN" sz="2000" b="1" dirty="0"/>
              <a:t>Numerical 3:</a:t>
            </a:r>
            <a:r>
              <a:rPr lang="en-IN" sz="2000" dirty="0"/>
              <a:t> How many grams of FeSO4 dissolved per litre gives 210.5ppm of hardness? (Fe = 56, S =32, O =16, Ca =40, C = 12)</a:t>
            </a:r>
          </a:p>
          <a:p>
            <a:pPr marL="0" indent="0" algn="ctr">
              <a:buNone/>
            </a:pPr>
            <a:r>
              <a:rPr lang="en-IN" sz="2000" dirty="0" err="1"/>
              <a:t>Soln</a:t>
            </a:r>
            <a:r>
              <a:rPr lang="en-IN" sz="2000" dirty="0"/>
              <a:t>: Mol. </a:t>
            </a:r>
            <a:r>
              <a:rPr lang="en-IN" sz="2000" dirty="0" err="1"/>
              <a:t>Wt</a:t>
            </a:r>
            <a:r>
              <a:rPr lang="en-IN" sz="2000" dirty="0"/>
              <a:t> of CaCO3 = 100g and mol. </a:t>
            </a:r>
            <a:r>
              <a:rPr lang="en-IN" sz="2000" dirty="0" err="1"/>
              <a:t>Wt</a:t>
            </a:r>
            <a:r>
              <a:rPr lang="en-IN" sz="2000" dirty="0"/>
              <a:t> of FeSO4 = </a:t>
            </a:r>
            <a:r>
              <a:rPr lang="en-IN" sz="2000" dirty="0" smtClean="0"/>
              <a:t>152g</a:t>
            </a:r>
          </a:p>
          <a:p>
            <a:pPr marL="0" indent="0" algn="ctr">
              <a:buNone/>
            </a:pPr>
            <a:r>
              <a:rPr lang="en-IN" sz="2000" dirty="0" smtClean="0"/>
              <a:t>100g </a:t>
            </a:r>
            <a:r>
              <a:rPr lang="en-IN" sz="2000" dirty="0"/>
              <a:t>of CaCO3 = </a:t>
            </a:r>
            <a:r>
              <a:rPr lang="en-IN" sz="2000" dirty="0" smtClean="0"/>
              <a:t>152g </a:t>
            </a:r>
            <a:r>
              <a:rPr lang="en-IN" sz="2000" dirty="0"/>
              <a:t>of </a:t>
            </a:r>
            <a:r>
              <a:rPr lang="en-IN" sz="2000" dirty="0" smtClean="0"/>
              <a:t>FeSO4</a:t>
            </a:r>
            <a:endParaRPr lang="en-IN" sz="2000" dirty="0"/>
          </a:p>
          <a:p>
            <a:pPr marL="0" indent="0" algn="ctr">
              <a:buNone/>
            </a:pPr>
            <a:r>
              <a:rPr lang="en-IN" sz="2000" dirty="0"/>
              <a:t>100ppm of CaCO3 = 152ppm of FeSO4</a:t>
            </a:r>
          </a:p>
          <a:p>
            <a:pPr marL="0" indent="0" algn="ctr">
              <a:buNone/>
            </a:pPr>
            <a:r>
              <a:rPr lang="en-IN" sz="2000" dirty="0"/>
              <a:t>Hence, 210.5ppm of hardness = 152 x 210.5/100 ppm of FeSO4</a:t>
            </a:r>
          </a:p>
          <a:p>
            <a:pPr marL="0" indent="0" algn="ctr">
              <a:buNone/>
            </a:pPr>
            <a:r>
              <a:rPr lang="en-IN" sz="2000" dirty="0"/>
              <a:t>= 319.96 mg/L</a:t>
            </a:r>
          </a:p>
          <a:p>
            <a:pPr marL="0" indent="0" algn="ctr">
              <a:buNone/>
            </a:pPr>
            <a:r>
              <a:rPr lang="en-IN" sz="2000" dirty="0"/>
              <a:t>=0.320g/L of FeSO4</a:t>
            </a:r>
          </a:p>
        </p:txBody>
      </p:sp>
    </p:spTree>
    <p:extLst>
      <p:ext uri="{BB962C8B-B14F-4D97-AF65-F5344CB8AC3E}">
        <p14:creationId xmlns:p14="http://schemas.microsoft.com/office/powerpoint/2010/main" val="17424478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81478F8-912D-4620-8E1F-3B42F85DA0DB}"/>
              </a:ext>
            </a:extLst>
          </p:cNvPr>
          <p:cNvSpPr>
            <a:spLocks noGrp="1"/>
          </p:cNvSpPr>
          <p:nvPr>
            <p:ph idx="1"/>
          </p:nvPr>
        </p:nvSpPr>
        <p:spPr>
          <a:xfrm>
            <a:off x="978877" y="112543"/>
            <a:ext cx="10515600" cy="5839338"/>
          </a:xfrm>
        </p:spPr>
        <p:txBody>
          <a:bodyPr>
            <a:normAutofit fontScale="92500" lnSpcReduction="10000"/>
          </a:bodyPr>
          <a:lstStyle/>
          <a:p>
            <a:pPr marL="0" indent="0">
              <a:buNone/>
            </a:pPr>
            <a:r>
              <a:rPr lang="en-US" b="1" dirty="0"/>
              <a:t>Numerical 4:</a:t>
            </a:r>
            <a:r>
              <a:rPr lang="en-US" dirty="0"/>
              <a:t> Calculate Temporary hardness and permanent hardness of water sample from the following data: Mg(HCO3)2 = 16.8mg/L, MgCl2 = 19mg/L, MgSO4 = 24mg/L, Mg(NO3)2 = 29.6mg/L, CaCO3 = 4mg/L, MgCO3 = 10mg/L.</a:t>
            </a:r>
          </a:p>
          <a:p>
            <a:pPr marL="0" indent="0">
              <a:buNone/>
            </a:pPr>
            <a:r>
              <a:rPr lang="en-US" dirty="0"/>
              <a:t>Solution: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Temporary Hardness = hardness due to Mg(HCO3)2 +CaCO3 + MgCO3</a:t>
            </a:r>
          </a:p>
          <a:p>
            <a:pPr marL="0" indent="0">
              <a:buNone/>
            </a:pPr>
            <a:r>
              <a:rPr lang="en-US" dirty="0"/>
              <a:t>			    = 11.5 + 4 + 11.9 = 27.4 ppm or 27.4 mg/L</a:t>
            </a:r>
          </a:p>
          <a:p>
            <a:pPr marL="0" indent="0">
              <a:buNone/>
            </a:pPr>
            <a:r>
              <a:rPr lang="en-US" dirty="0"/>
              <a:t>Permanent Hardness = hardness due to MgCl2 + MgSO4 + Mg(NO3)2</a:t>
            </a:r>
          </a:p>
          <a:p>
            <a:pPr marL="0" indent="0">
              <a:buNone/>
            </a:pPr>
            <a:r>
              <a:rPr lang="en-US" dirty="0"/>
              <a:t>                                       = 20 + 20+ 20 = 60mg/L = 60ppm</a:t>
            </a:r>
            <a:endParaRPr lang="en-IN" dirty="0"/>
          </a:p>
        </p:txBody>
      </p:sp>
      <p:graphicFrame>
        <p:nvGraphicFramePr>
          <p:cNvPr id="4" name="Table 4">
            <a:extLst>
              <a:ext uri="{FF2B5EF4-FFF2-40B4-BE49-F238E27FC236}">
                <a16:creationId xmlns:a16="http://schemas.microsoft.com/office/drawing/2014/main" xmlns="" id="{1397925B-419B-42FE-A034-15656486AE58}"/>
              </a:ext>
            </a:extLst>
          </p:cNvPr>
          <p:cNvGraphicFramePr>
            <a:graphicFrameLocks noGrp="1"/>
          </p:cNvGraphicFramePr>
          <p:nvPr>
            <p:extLst>
              <p:ext uri="{D42A27DB-BD31-4B8C-83A1-F6EECF244321}">
                <p14:modId xmlns:p14="http://schemas.microsoft.com/office/powerpoint/2010/main" val="1194223868"/>
              </p:ext>
            </p:extLst>
          </p:nvPr>
        </p:nvGraphicFramePr>
        <p:xfrm>
          <a:off x="2496234" y="1500202"/>
          <a:ext cx="8128000" cy="25958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xmlns="" val="3344125767"/>
                    </a:ext>
                  </a:extLst>
                </a:gridCol>
                <a:gridCol w="2709333">
                  <a:extLst>
                    <a:ext uri="{9D8B030D-6E8A-4147-A177-3AD203B41FA5}">
                      <a16:colId xmlns:a16="http://schemas.microsoft.com/office/drawing/2014/main" xmlns="" val="1385361666"/>
                    </a:ext>
                  </a:extLst>
                </a:gridCol>
                <a:gridCol w="1354667">
                  <a:extLst>
                    <a:ext uri="{9D8B030D-6E8A-4147-A177-3AD203B41FA5}">
                      <a16:colId xmlns:a16="http://schemas.microsoft.com/office/drawing/2014/main" xmlns="" val="483759486"/>
                    </a:ext>
                  </a:extLst>
                </a:gridCol>
                <a:gridCol w="1354667">
                  <a:extLst>
                    <a:ext uri="{9D8B030D-6E8A-4147-A177-3AD203B41FA5}">
                      <a16:colId xmlns:a16="http://schemas.microsoft.com/office/drawing/2014/main" xmlns="" val="2971151418"/>
                    </a:ext>
                  </a:extLst>
                </a:gridCol>
              </a:tblGrid>
              <a:tr h="370840">
                <a:tc>
                  <a:txBody>
                    <a:bodyPr/>
                    <a:lstStyle/>
                    <a:p>
                      <a:r>
                        <a:rPr lang="en-US" dirty="0"/>
                        <a:t>Constituent (mg/L)</a:t>
                      </a:r>
                      <a:endParaRPr lang="en-IN" dirty="0"/>
                    </a:p>
                  </a:txBody>
                  <a:tcPr/>
                </a:tc>
                <a:tc>
                  <a:txBody>
                    <a:bodyPr/>
                    <a:lstStyle/>
                    <a:p>
                      <a:r>
                        <a:rPr lang="en-US" dirty="0"/>
                        <a:t>Multiplication Factor</a:t>
                      </a:r>
                      <a:endParaRPr lang="en-IN" dirty="0"/>
                    </a:p>
                  </a:txBody>
                  <a:tcPr/>
                </a:tc>
                <a:tc>
                  <a:txBody>
                    <a:bodyPr/>
                    <a:lstStyle/>
                    <a:p>
                      <a:r>
                        <a:rPr lang="en-US" dirty="0"/>
                        <a:t>CaCO3 Eq.</a:t>
                      </a:r>
                      <a:endParaRPr lang="en-IN" dirty="0"/>
                    </a:p>
                  </a:txBody>
                  <a:tcPr/>
                </a:tc>
                <a:tc>
                  <a:txBody>
                    <a:bodyPr/>
                    <a:lstStyle/>
                    <a:p>
                      <a:r>
                        <a:rPr lang="en-US" dirty="0"/>
                        <a:t>Hardness</a:t>
                      </a:r>
                      <a:endParaRPr lang="en-IN" dirty="0"/>
                    </a:p>
                  </a:txBody>
                  <a:tcPr/>
                </a:tc>
                <a:extLst>
                  <a:ext uri="{0D108BD9-81ED-4DB2-BD59-A6C34878D82A}">
                    <a16:rowId xmlns:a16="http://schemas.microsoft.com/office/drawing/2014/main" xmlns="" val="955873262"/>
                  </a:ext>
                </a:extLst>
              </a:tr>
              <a:tr h="370840">
                <a:tc>
                  <a:txBody>
                    <a:bodyPr/>
                    <a:lstStyle/>
                    <a:p>
                      <a:r>
                        <a:rPr lang="en-US" dirty="0"/>
                        <a:t>1. Mg(HCO3)2 = 16.8</a:t>
                      </a:r>
                      <a:endParaRPr lang="en-IN" dirty="0"/>
                    </a:p>
                  </a:txBody>
                  <a:tcPr/>
                </a:tc>
                <a:tc>
                  <a:txBody>
                    <a:bodyPr/>
                    <a:lstStyle/>
                    <a:p>
                      <a:r>
                        <a:rPr lang="en-US" dirty="0"/>
                        <a:t>50/73</a:t>
                      </a:r>
                      <a:endParaRPr lang="en-IN" dirty="0"/>
                    </a:p>
                  </a:txBody>
                  <a:tcPr/>
                </a:tc>
                <a:tc>
                  <a:txBody>
                    <a:bodyPr/>
                    <a:lstStyle/>
                    <a:p>
                      <a:r>
                        <a:rPr lang="en-US" dirty="0"/>
                        <a:t>11.5</a:t>
                      </a:r>
                      <a:endParaRPr lang="en-IN" dirty="0"/>
                    </a:p>
                  </a:txBody>
                  <a:tcPr/>
                </a:tc>
                <a:tc>
                  <a:txBody>
                    <a:bodyPr/>
                    <a:lstStyle/>
                    <a:p>
                      <a:r>
                        <a:rPr lang="en-US" dirty="0"/>
                        <a:t>T</a:t>
                      </a:r>
                      <a:endParaRPr lang="en-IN" dirty="0"/>
                    </a:p>
                  </a:txBody>
                  <a:tcPr/>
                </a:tc>
                <a:extLst>
                  <a:ext uri="{0D108BD9-81ED-4DB2-BD59-A6C34878D82A}">
                    <a16:rowId xmlns:a16="http://schemas.microsoft.com/office/drawing/2014/main" xmlns="" val="2709877146"/>
                  </a:ext>
                </a:extLst>
              </a:tr>
              <a:tr h="370840">
                <a:tc>
                  <a:txBody>
                    <a:bodyPr/>
                    <a:lstStyle/>
                    <a:p>
                      <a:r>
                        <a:rPr lang="en-US" dirty="0"/>
                        <a:t>2. MgCl2 = 19</a:t>
                      </a:r>
                      <a:endParaRPr lang="en-IN" dirty="0"/>
                    </a:p>
                  </a:txBody>
                  <a:tcPr/>
                </a:tc>
                <a:tc>
                  <a:txBody>
                    <a:bodyPr/>
                    <a:lstStyle/>
                    <a:p>
                      <a:r>
                        <a:rPr lang="en-US" dirty="0"/>
                        <a:t>50/47.5</a:t>
                      </a:r>
                      <a:endParaRPr lang="en-IN" dirty="0"/>
                    </a:p>
                  </a:txBody>
                  <a:tcPr/>
                </a:tc>
                <a:tc>
                  <a:txBody>
                    <a:bodyPr/>
                    <a:lstStyle/>
                    <a:p>
                      <a:r>
                        <a:rPr lang="en-US" dirty="0"/>
                        <a:t>20</a:t>
                      </a:r>
                      <a:endParaRPr lang="en-IN" dirty="0"/>
                    </a:p>
                  </a:txBody>
                  <a:tcPr/>
                </a:tc>
                <a:tc>
                  <a:txBody>
                    <a:bodyPr/>
                    <a:lstStyle/>
                    <a:p>
                      <a:r>
                        <a:rPr lang="en-US" dirty="0"/>
                        <a:t>P</a:t>
                      </a:r>
                      <a:endParaRPr lang="en-IN" dirty="0"/>
                    </a:p>
                  </a:txBody>
                  <a:tcPr/>
                </a:tc>
                <a:extLst>
                  <a:ext uri="{0D108BD9-81ED-4DB2-BD59-A6C34878D82A}">
                    <a16:rowId xmlns:a16="http://schemas.microsoft.com/office/drawing/2014/main" xmlns="" val="1212475459"/>
                  </a:ext>
                </a:extLst>
              </a:tr>
              <a:tr h="370840">
                <a:tc>
                  <a:txBody>
                    <a:bodyPr/>
                    <a:lstStyle/>
                    <a:p>
                      <a:r>
                        <a:rPr lang="en-US" dirty="0"/>
                        <a:t>3. MgSO4 = 24</a:t>
                      </a:r>
                      <a:endParaRPr lang="en-IN" dirty="0"/>
                    </a:p>
                  </a:txBody>
                  <a:tcPr/>
                </a:tc>
                <a:tc>
                  <a:txBody>
                    <a:bodyPr/>
                    <a:lstStyle/>
                    <a:p>
                      <a:r>
                        <a:rPr lang="en-US" dirty="0"/>
                        <a:t>50/60</a:t>
                      </a:r>
                      <a:endParaRPr lang="en-IN" dirty="0"/>
                    </a:p>
                  </a:txBody>
                  <a:tcPr/>
                </a:tc>
                <a:tc>
                  <a:txBody>
                    <a:bodyPr/>
                    <a:lstStyle/>
                    <a:p>
                      <a:r>
                        <a:rPr lang="en-US" dirty="0"/>
                        <a:t>20</a:t>
                      </a:r>
                      <a:endParaRPr lang="en-IN" dirty="0"/>
                    </a:p>
                  </a:txBody>
                  <a:tcPr/>
                </a:tc>
                <a:tc>
                  <a:txBody>
                    <a:bodyPr/>
                    <a:lstStyle/>
                    <a:p>
                      <a:r>
                        <a:rPr lang="en-US" dirty="0"/>
                        <a:t>P</a:t>
                      </a:r>
                      <a:endParaRPr lang="en-IN" dirty="0"/>
                    </a:p>
                  </a:txBody>
                  <a:tcPr/>
                </a:tc>
                <a:extLst>
                  <a:ext uri="{0D108BD9-81ED-4DB2-BD59-A6C34878D82A}">
                    <a16:rowId xmlns:a16="http://schemas.microsoft.com/office/drawing/2014/main" xmlns="" val="1108046914"/>
                  </a:ext>
                </a:extLst>
              </a:tr>
              <a:tr h="370840">
                <a:tc>
                  <a:txBody>
                    <a:bodyPr/>
                    <a:lstStyle/>
                    <a:p>
                      <a:r>
                        <a:rPr lang="en-US" dirty="0"/>
                        <a:t>4. Mg(NO3)2= 29.6</a:t>
                      </a:r>
                      <a:endParaRPr lang="en-IN" dirty="0"/>
                    </a:p>
                  </a:txBody>
                  <a:tcPr/>
                </a:tc>
                <a:tc>
                  <a:txBody>
                    <a:bodyPr/>
                    <a:lstStyle/>
                    <a:p>
                      <a:r>
                        <a:rPr lang="en-US" dirty="0"/>
                        <a:t>50/74</a:t>
                      </a:r>
                      <a:endParaRPr lang="en-IN" dirty="0"/>
                    </a:p>
                  </a:txBody>
                  <a:tcPr/>
                </a:tc>
                <a:tc>
                  <a:txBody>
                    <a:bodyPr/>
                    <a:lstStyle/>
                    <a:p>
                      <a:r>
                        <a:rPr lang="en-US" dirty="0"/>
                        <a:t>20</a:t>
                      </a:r>
                      <a:endParaRPr lang="en-IN" dirty="0"/>
                    </a:p>
                  </a:txBody>
                  <a:tcPr/>
                </a:tc>
                <a:tc>
                  <a:txBody>
                    <a:bodyPr/>
                    <a:lstStyle/>
                    <a:p>
                      <a:r>
                        <a:rPr lang="en-US" dirty="0"/>
                        <a:t>P</a:t>
                      </a:r>
                      <a:endParaRPr lang="en-IN" dirty="0"/>
                    </a:p>
                  </a:txBody>
                  <a:tcPr/>
                </a:tc>
                <a:extLst>
                  <a:ext uri="{0D108BD9-81ED-4DB2-BD59-A6C34878D82A}">
                    <a16:rowId xmlns:a16="http://schemas.microsoft.com/office/drawing/2014/main" xmlns="" val="2585492679"/>
                  </a:ext>
                </a:extLst>
              </a:tr>
              <a:tr h="370840">
                <a:tc>
                  <a:txBody>
                    <a:bodyPr/>
                    <a:lstStyle/>
                    <a:p>
                      <a:r>
                        <a:rPr lang="en-US" dirty="0"/>
                        <a:t>5. CaCO3 = 4</a:t>
                      </a:r>
                      <a:endParaRPr lang="en-IN" dirty="0"/>
                    </a:p>
                  </a:txBody>
                  <a:tcPr/>
                </a:tc>
                <a:tc>
                  <a:txBody>
                    <a:bodyPr/>
                    <a:lstStyle/>
                    <a:p>
                      <a:r>
                        <a:rPr lang="en-US" dirty="0"/>
                        <a:t>1</a:t>
                      </a:r>
                      <a:endParaRPr lang="en-IN" dirty="0"/>
                    </a:p>
                  </a:txBody>
                  <a:tcPr/>
                </a:tc>
                <a:tc>
                  <a:txBody>
                    <a:bodyPr/>
                    <a:lstStyle/>
                    <a:p>
                      <a:r>
                        <a:rPr lang="en-US" dirty="0"/>
                        <a:t>4</a:t>
                      </a:r>
                      <a:endParaRPr lang="en-IN" dirty="0"/>
                    </a:p>
                  </a:txBody>
                  <a:tcPr/>
                </a:tc>
                <a:tc>
                  <a:txBody>
                    <a:bodyPr/>
                    <a:lstStyle/>
                    <a:p>
                      <a:r>
                        <a:rPr lang="en-US" dirty="0"/>
                        <a:t>T</a:t>
                      </a:r>
                      <a:endParaRPr lang="en-IN" dirty="0"/>
                    </a:p>
                  </a:txBody>
                  <a:tcPr/>
                </a:tc>
                <a:extLst>
                  <a:ext uri="{0D108BD9-81ED-4DB2-BD59-A6C34878D82A}">
                    <a16:rowId xmlns:a16="http://schemas.microsoft.com/office/drawing/2014/main" xmlns="" val="1444311825"/>
                  </a:ext>
                </a:extLst>
              </a:tr>
              <a:tr h="370840">
                <a:tc>
                  <a:txBody>
                    <a:bodyPr/>
                    <a:lstStyle/>
                    <a:p>
                      <a:r>
                        <a:rPr lang="en-US" dirty="0"/>
                        <a:t>6. MgCO3 = 10</a:t>
                      </a:r>
                      <a:endParaRPr lang="en-IN" dirty="0"/>
                    </a:p>
                  </a:txBody>
                  <a:tcPr/>
                </a:tc>
                <a:tc>
                  <a:txBody>
                    <a:bodyPr/>
                    <a:lstStyle/>
                    <a:p>
                      <a:r>
                        <a:rPr lang="en-US" dirty="0"/>
                        <a:t>50/42</a:t>
                      </a:r>
                      <a:endParaRPr lang="en-IN" dirty="0"/>
                    </a:p>
                  </a:txBody>
                  <a:tcPr/>
                </a:tc>
                <a:tc>
                  <a:txBody>
                    <a:bodyPr/>
                    <a:lstStyle/>
                    <a:p>
                      <a:r>
                        <a:rPr lang="en-US" dirty="0"/>
                        <a:t>11.9</a:t>
                      </a:r>
                      <a:endParaRPr lang="en-IN" dirty="0"/>
                    </a:p>
                  </a:txBody>
                  <a:tcPr/>
                </a:tc>
                <a:tc>
                  <a:txBody>
                    <a:bodyPr/>
                    <a:lstStyle/>
                    <a:p>
                      <a:r>
                        <a:rPr lang="en-US" dirty="0"/>
                        <a:t>T</a:t>
                      </a:r>
                      <a:endParaRPr lang="en-IN" dirty="0"/>
                    </a:p>
                  </a:txBody>
                  <a:tcPr/>
                </a:tc>
                <a:extLst>
                  <a:ext uri="{0D108BD9-81ED-4DB2-BD59-A6C34878D82A}">
                    <a16:rowId xmlns:a16="http://schemas.microsoft.com/office/drawing/2014/main" xmlns="" val="664464755"/>
                  </a:ext>
                </a:extLst>
              </a:tr>
            </a:tbl>
          </a:graphicData>
        </a:graphic>
      </p:graphicFrame>
    </p:spTree>
    <p:extLst>
      <p:ext uri="{BB962C8B-B14F-4D97-AF65-F5344CB8AC3E}">
        <p14:creationId xmlns:p14="http://schemas.microsoft.com/office/powerpoint/2010/main" val="3428406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3DB2651-735C-4087-ABE6-9AED2198842B}"/>
              </a:ext>
            </a:extLst>
          </p:cNvPr>
          <p:cNvSpPr>
            <a:spLocks noGrp="1"/>
          </p:cNvSpPr>
          <p:nvPr>
            <p:ph idx="1"/>
          </p:nvPr>
        </p:nvSpPr>
        <p:spPr>
          <a:xfrm>
            <a:off x="750518" y="507979"/>
            <a:ext cx="10515600" cy="5656458"/>
          </a:xfrm>
        </p:spPr>
        <p:txBody>
          <a:bodyPr>
            <a:normAutofit/>
          </a:bodyPr>
          <a:lstStyle/>
          <a:p>
            <a:pPr marL="0" indent="0">
              <a:buNone/>
            </a:pPr>
            <a:r>
              <a:rPr lang="en-US" b="1" dirty="0"/>
              <a:t>Numerical 5: </a:t>
            </a:r>
            <a:r>
              <a:rPr lang="en-US" dirty="0"/>
              <a:t>A water sample analysis has been found to contain following impurities in ppm: Mg(HCO3)2 =14.6, Mg(NO3)2 = 29.6, Ca(HCO3)2= 8.1, MgCl2 = 19, MgSO4 = 24. calculate the temporary &amp; permanent hardness of water</a:t>
            </a:r>
            <a:r>
              <a:rPr lang="en-US" dirty="0" smtClean="0"/>
              <a:t>.</a:t>
            </a:r>
            <a:endParaRPr lang="en-US" dirty="0"/>
          </a:p>
          <a:p>
            <a:pPr marL="0" indent="0">
              <a:buNone/>
            </a:pPr>
            <a:endParaRPr lang="en-US" dirty="0"/>
          </a:p>
          <a:p>
            <a:pPr marL="0" indent="0">
              <a:buNone/>
            </a:pPr>
            <a:r>
              <a:rPr lang="en-US" b="1" dirty="0"/>
              <a:t>Numerical 6: </a:t>
            </a:r>
            <a:r>
              <a:rPr lang="en-US" dirty="0"/>
              <a:t>How many grams of CaCl2 dissolved per </a:t>
            </a:r>
            <a:r>
              <a:rPr lang="en-US" dirty="0" err="1"/>
              <a:t>litre</a:t>
            </a:r>
            <a:r>
              <a:rPr lang="en-US" dirty="0"/>
              <a:t> gives 150ppm hardness?</a:t>
            </a:r>
          </a:p>
          <a:p>
            <a:pPr marL="0" indent="0">
              <a:buNone/>
            </a:pPr>
            <a:endParaRPr lang="en-US" dirty="0"/>
          </a:p>
          <a:p>
            <a:pPr marL="0" indent="0">
              <a:buNone/>
            </a:pPr>
            <a:r>
              <a:rPr lang="en-US" b="1" dirty="0"/>
              <a:t>Numerical 7: </a:t>
            </a:r>
            <a:r>
              <a:rPr lang="en-US" dirty="0"/>
              <a:t>Classify the following impurities into temporary permanent and non-hardness causing impurities. </a:t>
            </a:r>
          </a:p>
          <a:p>
            <a:pPr marL="0" indent="0">
              <a:buNone/>
            </a:pPr>
            <a:r>
              <a:rPr lang="en-US" dirty="0"/>
              <a:t>Ca(HCO3)2, MgSO4, CaCl2, CO2, HCl, Mg(HCO3)2</a:t>
            </a:r>
            <a:endParaRPr lang="en-IN" dirty="0"/>
          </a:p>
        </p:txBody>
      </p:sp>
    </p:spTree>
    <p:extLst>
      <p:ext uri="{BB962C8B-B14F-4D97-AF65-F5344CB8AC3E}">
        <p14:creationId xmlns:p14="http://schemas.microsoft.com/office/powerpoint/2010/main" val="25498541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7320D9-1444-41F5-A220-60C7C947A9D5}"/>
              </a:ext>
            </a:extLst>
          </p:cNvPr>
          <p:cNvSpPr>
            <a:spLocks noGrp="1"/>
          </p:cNvSpPr>
          <p:nvPr>
            <p:ph type="title"/>
          </p:nvPr>
        </p:nvSpPr>
        <p:spPr/>
        <p:txBody>
          <a:bodyPr/>
          <a:lstStyle/>
          <a:p>
            <a:r>
              <a:rPr lang="en-US" b="1" dirty="0"/>
              <a:t>Determination of hardness of water by EDTA method</a:t>
            </a:r>
            <a:endParaRPr lang="en-IN" b="1" dirty="0"/>
          </a:p>
        </p:txBody>
      </p:sp>
      <p:sp>
        <p:nvSpPr>
          <p:cNvPr id="3" name="Content Placeholder 2">
            <a:extLst>
              <a:ext uri="{FF2B5EF4-FFF2-40B4-BE49-F238E27FC236}">
                <a16:creationId xmlns:a16="http://schemas.microsoft.com/office/drawing/2014/main" xmlns="" id="{25B55835-0231-43EF-9FCA-7DA1AA9BC94D}"/>
              </a:ext>
            </a:extLst>
          </p:cNvPr>
          <p:cNvSpPr>
            <a:spLocks noGrp="1"/>
          </p:cNvSpPr>
          <p:nvPr>
            <p:ph idx="1"/>
          </p:nvPr>
        </p:nvSpPr>
        <p:spPr>
          <a:xfrm>
            <a:off x="838200" y="1693253"/>
            <a:ext cx="10515600" cy="4351338"/>
          </a:xfrm>
        </p:spPr>
        <p:txBody>
          <a:bodyPr/>
          <a:lstStyle/>
          <a:p>
            <a:r>
              <a:rPr lang="en-US" dirty="0"/>
              <a:t>Hardness of water can be readily determined by titration with the chelating agent EDTA.</a:t>
            </a:r>
          </a:p>
          <a:p>
            <a:r>
              <a:rPr lang="en-US" dirty="0"/>
              <a:t>EDTA is ethylene diamine tetra acetic acid. It is a weak acid that can lose four H+ ions on complete neutralization. Its formula is </a:t>
            </a:r>
            <a:endParaRPr lang="en-IN" dirty="0"/>
          </a:p>
        </p:txBody>
      </p:sp>
      <p:pic>
        <p:nvPicPr>
          <p:cNvPr id="1028" name="Picture 4" descr="Image result for edta structure">
            <a:extLst>
              <a:ext uri="{FF2B5EF4-FFF2-40B4-BE49-F238E27FC236}">
                <a16:creationId xmlns:a16="http://schemas.microsoft.com/office/drawing/2014/main" xmlns="" id="{831E1A74-C6D9-4126-B186-2CF61F0EC7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0634" y="3868922"/>
            <a:ext cx="6250732" cy="2175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2858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EA9A689-CD43-4829-9020-C2F9F1A01789}"/>
              </a:ext>
            </a:extLst>
          </p:cNvPr>
          <p:cNvSpPr>
            <a:spLocks noGrp="1"/>
          </p:cNvSpPr>
          <p:nvPr>
            <p:ph idx="1"/>
          </p:nvPr>
        </p:nvSpPr>
        <p:spPr>
          <a:xfrm>
            <a:off x="721061" y="631311"/>
            <a:ext cx="10632739" cy="5545651"/>
          </a:xfrm>
        </p:spPr>
        <p:txBody>
          <a:bodyPr/>
          <a:lstStyle/>
          <a:p>
            <a:r>
              <a:rPr lang="en-US" dirty="0"/>
              <a:t>M-EDTA Complex structure: Stable at </a:t>
            </a:r>
            <a:r>
              <a:rPr lang="en-US" dirty="0" smtClean="0"/>
              <a:t>pH=10 Octahedral complex</a:t>
            </a:r>
            <a:endParaRPr lang="en-US" dirty="0"/>
          </a:p>
          <a:p>
            <a:endParaRPr lang="en-US" dirty="0"/>
          </a:p>
          <a:p>
            <a:endParaRPr lang="en-IN" dirty="0"/>
          </a:p>
        </p:txBody>
      </p:sp>
      <p:pic>
        <p:nvPicPr>
          <p:cNvPr id="2050" name="Picture 2" descr="Image result for edta metal complex structure">
            <a:extLst>
              <a:ext uri="{FF2B5EF4-FFF2-40B4-BE49-F238E27FC236}">
                <a16:creationId xmlns:a16="http://schemas.microsoft.com/office/drawing/2014/main" xmlns="" id="{C3AAF1B8-F192-4DDF-A35D-813A9178D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9919" y="1199026"/>
            <a:ext cx="3535022" cy="5312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226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D67AD1F-85B8-4872-B2B4-77D86A039951}"/>
              </a:ext>
            </a:extLst>
          </p:cNvPr>
          <p:cNvSpPr>
            <a:spLocks noGrp="1"/>
          </p:cNvSpPr>
          <p:nvPr>
            <p:ph idx="1"/>
          </p:nvPr>
        </p:nvSpPr>
        <p:spPr>
          <a:xfrm>
            <a:off x="838198" y="196947"/>
            <a:ext cx="10894257" cy="6288259"/>
          </a:xfrm>
        </p:spPr>
        <p:txBody>
          <a:bodyPr>
            <a:normAutofit fontScale="77500" lnSpcReduction="20000"/>
          </a:bodyPr>
          <a:lstStyle/>
          <a:p>
            <a:pPr marL="0" indent="0">
              <a:buNone/>
            </a:pPr>
            <a:r>
              <a:rPr lang="en-US" b="1" dirty="0"/>
              <a:t>Theory or Principle:</a:t>
            </a:r>
          </a:p>
          <a:p>
            <a:r>
              <a:rPr lang="en-US" sz="2200" dirty="0"/>
              <a:t>The process involves the titration of metal ion solution with standardized EDTA soln. Indicator used is Eriochrome Black-T (EBT).</a:t>
            </a:r>
          </a:p>
          <a:p>
            <a:r>
              <a:rPr lang="en-US" sz="2200" dirty="0"/>
              <a:t>EBT is alcoholic solution of blue eye. It forms an unstable wine-red complex with Ca2+ &amp; Mg2+ at pH =10. A buffer solution of NH4OH &amp; NH4Cl is used to maintain the pH = 10.</a:t>
            </a:r>
          </a:p>
          <a:p>
            <a:r>
              <a:rPr lang="en-US" sz="2200" b="1" dirty="0"/>
              <a:t>Initial reaction:</a:t>
            </a:r>
            <a:r>
              <a:rPr lang="en-US" sz="2200" dirty="0"/>
              <a:t> When EBT indicator is added to hard water buffered to pH =10, a wine red unstable complex is formed.                                         pH = 10</a:t>
            </a:r>
          </a:p>
          <a:p>
            <a:pPr marL="0" indent="0" algn="ctr">
              <a:buNone/>
            </a:pPr>
            <a:r>
              <a:rPr lang="en-US" sz="2200" dirty="0"/>
              <a:t>M</a:t>
            </a:r>
            <a:r>
              <a:rPr lang="en-US" sz="2200" baseline="30000" dirty="0"/>
              <a:t>2+</a:t>
            </a:r>
            <a:r>
              <a:rPr lang="en-US" sz="2200" dirty="0"/>
              <a:t>     +     </a:t>
            </a:r>
            <a:r>
              <a:rPr lang="en-US" sz="2200" dirty="0">
                <a:solidFill>
                  <a:schemeClr val="accent1"/>
                </a:solidFill>
              </a:rPr>
              <a:t>EBT</a:t>
            </a:r>
            <a:r>
              <a:rPr lang="en-US" sz="2200" dirty="0"/>
              <a:t>          </a:t>
            </a:r>
            <a:r>
              <a:rPr lang="en-US" sz="2200" dirty="0">
                <a:sym typeface="Wingdings" panose="05000000000000000000" pitchFamily="2" charset="2"/>
              </a:rPr>
              <a:t>       </a:t>
            </a:r>
            <a:r>
              <a:rPr lang="en-US" sz="2200" dirty="0">
                <a:solidFill>
                  <a:srgbClr val="660033"/>
                </a:solidFill>
                <a:sym typeface="Wingdings" panose="05000000000000000000" pitchFamily="2" charset="2"/>
              </a:rPr>
              <a:t>[M-EBT] complex (Unstable</a:t>
            </a:r>
            <a:r>
              <a:rPr lang="en-US" sz="2200" dirty="0" smtClean="0">
                <a:solidFill>
                  <a:srgbClr val="660033"/>
                </a:solidFill>
                <a:sym typeface="Wingdings" panose="05000000000000000000" pitchFamily="2" charset="2"/>
              </a:rPr>
              <a:t>)</a:t>
            </a:r>
          </a:p>
          <a:p>
            <a:pPr marL="0" indent="0" algn="ctr">
              <a:buNone/>
            </a:pPr>
            <a:r>
              <a:rPr lang="en-US" sz="2200" dirty="0" smtClean="0">
                <a:solidFill>
                  <a:srgbClr val="660033"/>
                </a:solidFill>
                <a:sym typeface="Wingdings" panose="05000000000000000000" pitchFamily="2" charset="2"/>
              </a:rPr>
              <a:t>                                (Wine red)</a:t>
            </a:r>
            <a:endParaRPr lang="en-US" sz="2200" dirty="0">
              <a:sym typeface="Wingdings" panose="05000000000000000000" pitchFamily="2" charset="2"/>
            </a:endParaRPr>
          </a:p>
          <a:p>
            <a:pPr marL="0" indent="0">
              <a:buNone/>
            </a:pPr>
            <a:r>
              <a:rPr lang="en-US" sz="2200" b="1" dirty="0">
                <a:sym typeface="Wingdings" panose="05000000000000000000" pitchFamily="2" charset="2"/>
              </a:rPr>
              <a:t>Titration Reaction:</a:t>
            </a:r>
            <a:r>
              <a:rPr lang="en-US" sz="2200" dirty="0">
                <a:sym typeface="Wingdings" panose="05000000000000000000" pitchFamily="2" charset="2"/>
              </a:rPr>
              <a:t> During the course of titration with EDTA </a:t>
            </a:r>
            <a:r>
              <a:rPr lang="en-US" sz="2200" dirty="0" err="1">
                <a:sym typeface="Wingdings" panose="05000000000000000000" pitchFamily="2" charset="2"/>
              </a:rPr>
              <a:t>soln</a:t>
            </a:r>
            <a:r>
              <a:rPr lang="en-US" sz="2200" dirty="0">
                <a:sym typeface="Wingdings" panose="05000000000000000000" pitchFamily="2" charset="2"/>
              </a:rPr>
              <a:t>, EDTA combines with M2+ ions to form stable complex M-EDTA &amp; releases free EBT indicator, which immediately combines with remaining M2+ ions present in solution. Thus  wine red </a:t>
            </a:r>
            <a:r>
              <a:rPr lang="en-US" sz="2200" dirty="0" err="1">
                <a:sym typeface="Wingdings" panose="05000000000000000000" pitchFamily="2" charset="2"/>
              </a:rPr>
              <a:t>colour</a:t>
            </a:r>
            <a:r>
              <a:rPr lang="en-US" sz="2200" dirty="0">
                <a:sym typeface="Wingdings" panose="05000000000000000000" pitchFamily="2" charset="2"/>
              </a:rPr>
              <a:t> retained.</a:t>
            </a:r>
          </a:p>
          <a:p>
            <a:pPr marL="0" indent="0" algn="ctr">
              <a:buNone/>
            </a:pPr>
            <a:r>
              <a:rPr lang="en-US" sz="2200" dirty="0">
                <a:solidFill>
                  <a:srgbClr val="660033"/>
                </a:solidFill>
                <a:sym typeface="Wingdings" panose="05000000000000000000" pitchFamily="2" charset="2"/>
              </a:rPr>
              <a:t>[M-EBT] complex  </a:t>
            </a:r>
            <a:r>
              <a:rPr lang="en-US" sz="2200" dirty="0">
                <a:sym typeface="Wingdings" panose="05000000000000000000" pitchFamily="2" charset="2"/>
              </a:rPr>
              <a:t> +   EDTA  [M-EDTA] complex +</a:t>
            </a:r>
            <a:r>
              <a:rPr lang="en-US" sz="2200" dirty="0">
                <a:solidFill>
                  <a:srgbClr val="660033"/>
                </a:solidFill>
                <a:sym typeface="Wingdings" panose="05000000000000000000" pitchFamily="2" charset="2"/>
              </a:rPr>
              <a:t> </a:t>
            </a:r>
            <a:r>
              <a:rPr lang="en-US" sz="2200" dirty="0">
                <a:solidFill>
                  <a:schemeClr val="accent1"/>
                </a:solidFill>
                <a:sym typeface="Wingdings" panose="05000000000000000000" pitchFamily="2" charset="2"/>
              </a:rPr>
              <a:t>EBT </a:t>
            </a:r>
          </a:p>
          <a:p>
            <a:pPr marL="0" indent="0" algn="ctr">
              <a:buNone/>
            </a:pPr>
            <a:r>
              <a:rPr lang="en-US" sz="2200" dirty="0"/>
              <a:t>pH = 10</a:t>
            </a:r>
          </a:p>
          <a:p>
            <a:pPr marL="0" indent="0" algn="ctr">
              <a:buNone/>
            </a:pPr>
            <a:r>
              <a:rPr lang="en-US" sz="2200" dirty="0"/>
              <a:t>M</a:t>
            </a:r>
            <a:r>
              <a:rPr lang="en-US" sz="2200" baseline="30000" dirty="0"/>
              <a:t>2+</a:t>
            </a:r>
            <a:r>
              <a:rPr lang="en-US" sz="2200" dirty="0"/>
              <a:t>     +     </a:t>
            </a:r>
            <a:r>
              <a:rPr lang="en-US" sz="2200" dirty="0">
                <a:solidFill>
                  <a:schemeClr val="accent1"/>
                </a:solidFill>
              </a:rPr>
              <a:t>EBT</a:t>
            </a:r>
            <a:r>
              <a:rPr lang="en-US" sz="2200" dirty="0"/>
              <a:t>          </a:t>
            </a:r>
            <a:r>
              <a:rPr lang="en-US" sz="2200" dirty="0">
                <a:sym typeface="Wingdings" panose="05000000000000000000" pitchFamily="2" charset="2"/>
              </a:rPr>
              <a:t>       </a:t>
            </a:r>
            <a:r>
              <a:rPr lang="en-US" sz="2200" dirty="0">
                <a:solidFill>
                  <a:srgbClr val="660033"/>
                </a:solidFill>
                <a:sym typeface="Wingdings" panose="05000000000000000000" pitchFamily="2" charset="2"/>
              </a:rPr>
              <a:t>[M-EBT] complex</a:t>
            </a:r>
          </a:p>
          <a:p>
            <a:pPr marL="0" indent="0">
              <a:buNone/>
            </a:pPr>
            <a:r>
              <a:rPr lang="en-US" sz="2200" b="1" dirty="0">
                <a:sym typeface="Wingdings" panose="05000000000000000000" pitchFamily="2" charset="2"/>
              </a:rPr>
              <a:t>End point Reaction:</a:t>
            </a:r>
            <a:r>
              <a:rPr lang="en-US" sz="2200" dirty="0">
                <a:sym typeface="Wingdings" panose="05000000000000000000" pitchFamily="2" charset="2"/>
              </a:rPr>
              <a:t> At end point all of the cations formed M-EDTA complex, where last drop of EDTA added displaces the EBT indicator from M_EBT complex and wine red </a:t>
            </a:r>
            <a:r>
              <a:rPr lang="en-US" sz="2200" dirty="0" err="1">
                <a:sym typeface="Wingdings" panose="05000000000000000000" pitchFamily="2" charset="2"/>
              </a:rPr>
              <a:t>colour</a:t>
            </a:r>
            <a:r>
              <a:rPr lang="en-US" sz="2200" dirty="0">
                <a:sym typeface="Wingdings" panose="05000000000000000000" pitchFamily="2" charset="2"/>
              </a:rPr>
              <a:t> changes to blue due to presence of only free EBT. Thus the </a:t>
            </a:r>
            <a:r>
              <a:rPr lang="en-US" sz="2200" dirty="0" err="1">
                <a:sym typeface="Wingdings" panose="05000000000000000000" pitchFamily="2" charset="2"/>
              </a:rPr>
              <a:t>colour</a:t>
            </a:r>
            <a:r>
              <a:rPr lang="en-US" sz="2200" dirty="0">
                <a:sym typeface="Wingdings" panose="05000000000000000000" pitchFamily="2" charset="2"/>
              </a:rPr>
              <a:t> change is wine red to blue at the end point of titration. </a:t>
            </a:r>
          </a:p>
          <a:p>
            <a:pPr marL="0" indent="0" algn="ctr">
              <a:buNone/>
            </a:pPr>
            <a:r>
              <a:rPr lang="en-US" sz="2200" dirty="0"/>
              <a:t>pH = 10</a:t>
            </a:r>
          </a:p>
          <a:p>
            <a:pPr marL="0" indent="0" algn="ctr">
              <a:buNone/>
            </a:pPr>
            <a:r>
              <a:rPr lang="en-US" sz="2200" dirty="0">
                <a:solidFill>
                  <a:srgbClr val="660033"/>
                </a:solidFill>
                <a:sym typeface="Wingdings" panose="05000000000000000000" pitchFamily="2" charset="2"/>
              </a:rPr>
              <a:t>[M-EBT] complex  </a:t>
            </a:r>
            <a:r>
              <a:rPr lang="en-US" sz="2200" dirty="0">
                <a:sym typeface="Wingdings" panose="05000000000000000000" pitchFamily="2" charset="2"/>
              </a:rPr>
              <a:t> +   EDTA  [M-EDTA] complex +</a:t>
            </a:r>
            <a:r>
              <a:rPr lang="en-US" sz="2200" dirty="0">
                <a:solidFill>
                  <a:srgbClr val="660033"/>
                </a:solidFill>
                <a:sym typeface="Wingdings" panose="05000000000000000000" pitchFamily="2" charset="2"/>
              </a:rPr>
              <a:t> </a:t>
            </a:r>
            <a:r>
              <a:rPr lang="en-US" sz="2200" dirty="0">
                <a:solidFill>
                  <a:schemeClr val="accent1"/>
                </a:solidFill>
                <a:sym typeface="Wingdings" panose="05000000000000000000" pitchFamily="2" charset="2"/>
              </a:rPr>
              <a:t>EBT</a:t>
            </a:r>
          </a:p>
          <a:p>
            <a:pPr marL="0" indent="0" algn="ctr">
              <a:buNone/>
            </a:pPr>
            <a:r>
              <a:rPr lang="en-US" sz="2200" dirty="0" err="1">
                <a:solidFill>
                  <a:schemeClr val="accent1"/>
                </a:solidFill>
                <a:sym typeface="Wingdings" panose="05000000000000000000" pitchFamily="2" charset="2"/>
              </a:rPr>
              <a:t>Colour</a:t>
            </a:r>
            <a:r>
              <a:rPr lang="en-US" sz="2200" dirty="0">
                <a:solidFill>
                  <a:schemeClr val="accent1"/>
                </a:solidFill>
                <a:sym typeface="Wingdings" panose="05000000000000000000" pitchFamily="2" charset="2"/>
              </a:rPr>
              <a:t> change : </a:t>
            </a:r>
            <a:r>
              <a:rPr lang="en-US" sz="2200" dirty="0">
                <a:solidFill>
                  <a:srgbClr val="660033"/>
                </a:solidFill>
                <a:sym typeface="Wingdings" panose="05000000000000000000" pitchFamily="2" charset="2"/>
              </a:rPr>
              <a:t>Wine red </a:t>
            </a:r>
            <a:r>
              <a:rPr lang="en-US" sz="2200" dirty="0">
                <a:solidFill>
                  <a:schemeClr val="accent1"/>
                </a:solidFill>
                <a:sym typeface="Wingdings" panose="05000000000000000000" pitchFamily="2" charset="2"/>
              </a:rPr>
              <a:t>to </a:t>
            </a:r>
            <a:r>
              <a:rPr lang="en-US" sz="2200" dirty="0" smtClean="0">
                <a:solidFill>
                  <a:schemeClr val="accent1"/>
                </a:solidFill>
                <a:sym typeface="Wingdings" panose="05000000000000000000" pitchFamily="2" charset="2"/>
              </a:rPr>
              <a:t>Blue</a:t>
            </a:r>
          </a:p>
          <a:p>
            <a:pPr marL="0" indent="0" algn="ctr">
              <a:buNone/>
            </a:pPr>
            <a:r>
              <a:rPr lang="en-US" sz="2200" dirty="0" smtClean="0">
                <a:solidFill>
                  <a:schemeClr val="accent1"/>
                </a:solidFill>
                <a:sym typeface="Wingdings" panose="05000000000000000000" pitchFamily="2" charset="2"/>
              </a:rPr>
              <a:t>Practical </a:t>
            </a:r>
            <a:r>
              <a:rPr lang="en-US" sz="2200" dirty="0" err="1" smtClean="0">
                <a:solidFill>
                  <a:schemeClr val="accent1"/>
                </a:solidFill>
                <a:sym typeface="Wingdings" panose="05000000000000000000" pitchFamily="2" charset="2"/>
              </a:rPr>
              <a:t>Colour</a:t>
            </a:r>
            <a:r>
              <a:rPr lang="en-US" sz="2200" dirty="0" smtClean="0">
                <a:solidFill>
                  <a:schemeClr val="accent1"/>
                </a:solidFill>
                <a:sym typeface="Wingdings" panose="05000000000000000000" pitchFamily="2" charset="2"/>
              </a:rPr>
              <a:t> change: </a:t>
            </a:r>
            <a:r>
              <a:rPr lang="en-US" sz="2200" dirty="0">
                <a:solidFill>
                  <a:srgbClr val="660033"/>
                </a:solidFill>
                <a:sym typeface="Wingdings" panose="05000000000000000000" pitchFamily="2" charset="2"/>
              </a:rPr>
              <a:t>Wine red </a:t>
            </a:r>
            <a:r>
              <a:rPr lang="en-US" sz="2200" dirty="0" smtClean="0">
                <a:solidFill>
                  <a:schemeClr val="accent1"/>
                </a:solidFill>
                <a:sym typeface="Wingdings" panose="05000000000000000000" pitchFamily="2" charset="2"/>
              </a:rPr>
              <a:t>to purple to blue </a:t>
            </a:r>
            <a:endParaRPr lang="en-IN" dirty="0"/>
          </a:p>
        </p:txBody>
      </p:sp>
    </p:spTree>
    <p:extLst>
      <p:ext uri="{BB962C8B-B14F-4D97-AF65-F5344CB8AC3E}">
        <p14:creationId xmlns:p14="http://schemas.microsoft.com/office/powerpoint/2010/main" val="32592407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ACD2C94-0308-4C67-BCFE-84EA71AC8E7A}"/>
              </a:ext>
            </a:extLst>
          </p:cNvPr>
          <p:cNvSpPr>
            <a:spLocks noGrp="1"/>
          </p:cNvSpPr>
          <p:nvPr>
            <p:ph idx="1"/>
          </p:nvPr>
        </p:nvSpPr>
        <p:spPr>
          <a:xfrm>
            <a:off x="826008" y="383579"/>
            <a:ext cx="10515600" cy="5769000"/>
          </a:xfrm>
        </p:spPr>
        <p:txBody>
          <a:bodyPr>
            <a:normAutofit fontScale="85000" lnSpcReduction="10000"/>
          </a:bodyPr>
          <a:lstStyle/>
          <a:p>
            <a:pPr marL="0" indent="0">
              <a:buNone/>
            </a:pPr>
            <a:r>
              <a:rPr lang="en-US" b="1" dirty="0"/>
              <a:t>Experimental Procedure:</a:t>
            </a:r>
          </a:p>
          <a:p>
            <a:pPr marL="514350" indent="-514350">
              <a:buAutoNum type="alphaUcParenR"/>
            </a:pPr>
            <a:r>
              <a:rPr lang="en-US" b="1" dirty="0"/>
              <a:t>Preparations of solutions</a:t>
            </a:r>
          </a:p>
          <a:p>
            <a:pPr marL="571500" indent="-571500">
              <a:buAutoNum type="romanLcParenR"/>
            </a:pPr>
            <a:r>
              <a:rPr lang="en-US" b="1" dirty="0"/>
              <a:t>Preparation of Standard Hard water (SHW):</a:t>
            </a:r>
          </a:p>
          <a:p>
            <a:pPr marL="0" indent="0">
              <a:buNone/>
            </a:pPr>
            <a:r>
              <a:rPr lang="en-US" dirty="0"/>
              <a:t>Dissolve 1g of CaCO3 in minimum amount of dil. HCl till all solid dissolves and evaporated to dryness. Dissolve this residue in 1L distilled water. Each mL of this solution contains 1mg of CaCO3 equivalent hardness.</a:t>
            </a:r>
          </a:p>
          <a:p>
            <a:pPr marL="0" indent="0">
              <a:buNone/>
            </a:pPr>
            <a:r>
              <a:rPr lang="en-US" dirty="0"/>
              <a:t>1g of CaCO3 in 1L of water= 1000mg of CaCO3 in 1L = 1000ppm </a:t>
            </a:r>
            <a:r>
              <a:rPr lang="en-US" dirty="0" err="1"/>
              <a:t>soln</a:t>
            </a:r>
            <a:endParaRPr lang="en-US" dirty="0"/>
          </a:p>
          <a:p>
            <a:pPr marL="0" indent="0">
              <a:buNone/>
            </a:pPr>
            <a:r>
              <a:rPr lang="en-US" dirty="0"/>
              <a:t>1mL of SHW (CaCO3) </a:t>
            </a:r>
            <a:r>
              <a:rPr lang="en-US" dirty="0" err="1"/>
              <a:t>soln</a:t>
            </a:r>
            <a:r>
              <a:rPr lang="en-US" dirty="0"/>
              <a:t> = 1mg of  CaCO3</a:t>
            </a:r>
          </a:p>
          <a:p>
            <a:pPr marL="0" indent="0">
              <a:buNone/>
            </a:pPr>
            <a:r>
              <a:rPr lang="en-US" dirty="0"/>
              <a:t>100mL of SHW = _100__mg of CaCO3</a:t>
            </a:r>
          </a:p>
          <a:p>
            <a:pPr marL="0" indent="0">
              <a:buNone/>
            </a:pPr>
            <a:r>
              <a:rPr lang="en-US" dirty="0"/>
              <a:t>1ppm = 1mg/L</a:t>
            </a:r>
          </a:p>
          <a:p>
            <a:pPr marL="0" indent="0">
              <a:buNone/>
            </a:pPr>
            <a:r>
              <a:rPr lang="en-US" b="1" dirty="0"/>
              <a:t>ii) Preparation of EDTA solution</a:t>
            </a:r>
            <a:r>
              <a:rPr lang="en-US" dirty="0"/>
              <a:t>: Dissolve 3.72g of pure EDTA + 0.1 mg MgCl2 in 1L of distilled water.</a:t>
            </a:r>
          </a:p>
          <a:p>
            <a:pPr marL="0" indent="0">
              <a:buNone/>
            </a:pPr>
            <a:r>
              <a:rPr lang="en-US" b="1" dirty="0"/>
              <a:t>iii) Preparation of indicator:</a:t>
            </a:r>
            <a:r>
              <a:rPr lang="en-US" dirty="0"/>
              <a:t> dissolve 0.5g of EBT indicator in 100ml of alcohol.</a:t>
            </a:r>
          </a:p>
          <a:p>
            <a:pPr marL="0" indent="0">
              <a:buNone/>
            </a:pPr>
            <a:r>
              <a:rPr lang="en-US" b="1" dirty="0"/>
              <a:t>iv) Preparation of Buffer </a:t>
            </a:r>
            <a:r>
              <a:rPr lang="en-US" b="1" dirty="0" err="1"/>
              <a:t>soln</a:t>
            </a:r>
            <a:r>
              <a:rPr lang="en-US" dirty="0"/>
              <a:t>: Add 67.5g of NH4Cl to 570mL of ammonia </a:t>
            </a:r>
            <a:r>
              <a:rPr lang="en-US" dirty="0" err="1"/>
              <a:t>soln</a:t>
            </a:r>
            <a:r>
              <a:rPr lang="en-US" dirty="0"/>
              <a:t> and  then dilute with distilled water to 1L.</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5171918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1B43FA-A539-4839-AA18-217493BA0DA0}"/>
              </a:ext>
            </a:extLst>
          </p:cNvPr>
          <p:cNvSpPr>
            <a:spLocks noGrp="1"/>
          </p:cNvSpPr>
          <p:nvPr>
            <p:ph idx="1"/>
          </p:nvPr>
        </p:nvSpPr>
        <p:spPr>
          <a:xfrm>
            <a:off x="838200" y="478302"/>
            <a:ext cx="10515600" cy="5698661"/>
          </a:xfrm>
        </p:spPr>
        <p:txBody>
          <a:bodyPr>
            <a:normAutofit fontScale="85000" lnSpcReduction="20000"/>
          </a:bodyPr>
          <a:lstStyle/>
          <a:p>
            <a:pPr marL="0" indent="0">
              <a:buNone/>
            </a:pPr>
            <a:r>
              <a:rPr lang="en-US" dirty="0"/>
              <a:t>B) </a:t>
            </a:r>
            <a:r>
              <a:rPr lang="en-US" b="1" dirty="0"/>
              <a:t>Procedure: it has three steps:</a:t>
            </a:r>
          </a:p>
          <a:p>
            <a:pPr marL="0" indent="0">
              <a:buNone/>
            </a:pPr>
            <a:r>
              <a:rPr lang="en-US" b="1" dirty="0"/>
              <a:t>Step 1: Standardization of Hard water:</a:t>
            </a:r>
            <a:r>
              <a:rPr lang="en-US" dirty="0"/>
              <a:t> Pipette out 50mL of SHW in a conical flask. Add 10mL of buffer </a:t>
            </a:r>
            <a:r>
              <a:rPr lang="en-US" dirty="0" err="1"/>
              <a:t>soln</a:t>
            </a:r>
            <a:r>
              <a:rPr lang="en-US" dirty="0"/>
              <a:t> and 4 to 5 drops of EBT indicator. Titrate with EDTA </a:t>
            </a:r>
            <a:r>
              <a:rPr lang="en-US" dirty="0" err="1"/>
              <a:t>soln</a:t>
            </a:r>
            <a:r>
              <a:rPr lang="en-US" dirty="0"/>
              <a:t> till wine red </a:t>
            </a:r>
            <a:r>
              <a:rPr lang="en-US" dirty="0" err="1"/>
              <a:t>colour</a:t>
            </a:r>
            <a:r>
              <a:rPr lang="en-US" dirty="0"/>
              <a:t> changes to blue. Let the volume used be V1 </a:t>
            </a:r>
            <a:r>
              <a:rPr lang="en-US" dirty="0" err="1"/>
              <a:t>mL.</a:t>
            </a:r>
            <a:endParaRPr lang="en-US" dirty="0"/>
          </a:p>
          <a:p>
            <a:pPr marL="0" indent="0">
              <a:buNone/>
            </a:pPr>
            <a:r>
              <a:rPr lang="en-US" dirty="0"/>
              <a:t>50mL of SHW = V1 mL of EDTA</a:t>
            </a:r>
          </a:p>
          <a:p>
            <a:pPr marL="0" indent="0">
              <a:buNone/>
            </a:pPr>
            <a:r>
              <a:rPr lang="en-US" dirty="0">
                <a:solidFill>
                  <a:srgbClr val="FF0000"/>
                </a:solidFill>
              </a:rPr>
              <a:t>1ml of EDTA = ___mg of CaCO3</a:t>
            </a:r>
          </a:p>
          <a:p>
            <a:pPr marL="0" indent="0">
              <a:buNone/>
            </a:pPr>
            <a:r>
              <a:rPr lang="en-US" b="1" dirty="0"/>
              <a:t>Step 2: Titration of unknown hard (bore well) water</a:t>
            </a:r>
            <a:r>
              <a:rPr lang="en-US" dirty="0"/>
              <a:t>: Titrate 50mL of sample water just same as given instep 1. Let the volume used be V2 </a:t>
            </a:r>
            <a:r>
              <a:rPr lang="en-US" dirty="0" err="1"/>
              <a:t>mL.</a:t>
            </a:r>
            <a:endParaRPr lang="en-US" dirty="0"/>
          </a:p>
          <a:p>
            <a:pPr marL="0" indent="0">
              <a:buNone/>
            </a:pPr>
            <a:r>
              <a:rPr lang="en-US" dirty="0"/>
              <a:t>50mL of sample HW = V2 mL of EDTA</a:t>
            </a:r>
          </a:p>
          <a:p>
            <a:pPr marL="0" indent="0">
              <a:buNone/>
            </a:pPr>
            <a:r>
              <a:rPr lang="en-US" dirty="0">
                <a:solidFill>
                  <a:srgbClr val="FF0000"/>
                </a:solidFill>
              </a:rPr>
              <a:t>Total Hardness</a:t>
            </a:r>
          </a:p>
          <a:p>
            <a:pPr marL="0" indent="0">
              <a:buNone/>
            </a:pPr>
            <a:r>
              <a:rPr lang="en-IN" b="1" dirty="0"/>
              <a:t>Step 3: Titration of permanent hardness</a:t>
            </a:r>
            <a:r>
              <a:rPr lang="en-IN" dirty="0"/>
              <a:t>: Take 50mL of water sample in a beaker and boil it till volume reduces to half. (where all bicarbonates are decomposed to insoluble CaCO3 and Mg(OH)2.) Filter the solution and titrate the filtrate as given in step 1. Let the volume used be V3 </a:t>
            </a:r>
            <a:r>
              <a:rPr lang="en-IN" dirty="0" err="1"/>
              <a:t>mL.</a:t>
            </a:r>
            <a:r>
              <a:rPr lang="en-IN" dirty="0"/>
              <a:t> </a:t>
            </a:r>
          </a:p>
          <a:p>
            <a:pPr marL="0" indent="0">
              <a:buNone/>
            </a:pPr>
            <a:r>
              <a:rPr lang="en-IN" dirty="0"/>
              <a:t>50ml of boiled sample HW = V3 mL of EDTA</a:t>
            </a:r>
          </a:p>
          <a:p>
            <a:pPr marL="0" indent="0">
              <a:buNone/>
            </a:pPr>
            <a:r>
              <a:rPr lang="en-IN" dirty="0">
                <a:solidFill>
                  <a:srgbClr val="FF0000"/>
                </a:solidFill>
              </a:rPr>
              <a:t>Permanent Hardness</a:t>
            </a:r>
            <a:endParaRPr lang="en-US" dirty="0">
              <a:solidFill>
                <a:srgbClr val="FF0000"/>
              </a:solidFill>
            </a:endParaRPr>
          </a:p>
        </p:txBody>
      </p:sp>
    </p:spTree>
    <p:extLst>
      <p:ext uri="{BB962C8B-B14F-4D97-AF65-F5344CB8AC3E}">
        <p14:creationId xmlns:p14="http://schemas.microsoft.com/office/powerpoint/2010/main" val="35428278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F3DB2C9-DDD4-4D36-81E3-837AAACB5065}"/>
              </a:ext>
            </a:extLst>
          </p:cNvPr>
          <p:cNvSpPr>
            <a:spLocks noGrp="1"/>
          </p:cNvSpPr>
          <p:nvPr>
            <p:ph idx="1"/>
          </p:nvPr>
        </p:nvSpPr>
        <p:spPr>
          <a:xfrm>
            <a:off x="838200" y="407963"/>
            <a:ext cx="10515600" cy="5769000"/>
          </a:xfrm>
        </p:spPr>
        <p:txBody>
          <a:bodyPr>
            <a:normAutofit fontScale="77500" lnSpcReduction="20000"/>
          </a:bodyPr>
          <a:lstStyle/>
          <a:p>
            <a:pPr marL="0" indent="0">
              <a:buNone/>
            </a:pPr>
            <a:r>
              <a:rPr lang="en-US" b="1" dirty="0"/>
              <a:t>Calculations</a:t>
            </a:r>
            <a:r>
              <a:rPr lang="en-US" dirty="0"/>
              <a:t>:</a:t>
            </a:r>
          </a:p>
          <a:p>
            <a:pPr marL="0" indent="0">
              <a:buNone/>
            </a:pPr>
            <a:r>
              <a:rPr lang="en-US" dirty="0"/>
              <a:t>50ml of SHW = V1 mL of EDTA </a:t>
            </a:r>
            <a:r>
              <a:rPr lang="en-US" dirty="0" err="1"/>
              <a:t>soln</a:t>
            </a:r>
            <a:endParaRPr lang="en-US" dirty="0"/>
          </a:p>
          <a:p>
            <a:pPr marL="0" indent="0">
              <a:buNone/>
            </a:pPr>
            <a:r>
              <a:rPr lang="en-US" dirty="0">
                <a:solidFill>
                  <a:srgbClr val="FF0000"/>
                </a:solidFill>
              </a:rPr>
              <a:t>Since 1 mL SHW contains 1mg of CaCO3</a:t>
            </a:r>
            <a:r>
              <a:rPr lang="en-US" dirty="0"/>
              <a:t>,</a:t>
            </a:r>
          </a:p>
          <a:p>
            <a:pPr marL="0" indent="0">
              <a:buNone/>
            </a:pPr>
            <a:r>
              <a:rPr lang="en-US" dirty="0"/>
              <a:t>50mg of CaCO3 = V1 mL of ETDA soln.</a:t>
            </a:r>
          </a:p>
          <a:p>
            <a:pPr marL="0" indent="0">
              <a:buNone/>
            </a:pPr>
            <a:r>
              <a:rPr lang="en-US" dirty="0"/>
              <a:t>Hence, </a:t>
            </a:r>
            <a:r>
              <a:rPr lang="en-US" b="1" dirty="0"/>
              <a:t>1mL of EDTA = 50/V1 mg of CaCO3 eq.</a:t>
            </a:r>
          </a:p>
          <a:p>
            <a:pPr marL="514350" indent="-514350">
              <a:buAutoNum type="alphaUcParenR"/>
            </a:pPr>
            <a:r>
              <a:rPr lang="en-US" b="1" dirty="0"/>
              <a:t>Total Hardness</a:t>
            </a:r>
          </a:p>
          <a:p>
            <a:pPr marL="0" indent="0">
              <a:buNone/>
            </a:pPr>
            <a:r>
              <a:rPr lang="en-US" dirty="0"/>
              <a:t>50mL of sample hard water = V2 mL of EDTA </a:t>
            </a:r>
            <a:r>
              <a:rPr lang="en-US" dirty="0" err="1"/>
              <a:t>soln</a:t>
            </a:r>
            <a:endParaRPr lang="en-US" dirty="0"/>
          </a:p>
          <a:p>
            <a:pPr marL="0" indent="0">
              <a:buNone/>
            </a:pPr>
            <a:r>
              <a:rPr lang="en-US" dirty="0"/>
              <a:t>                                                   = V2 x 50/V1 mg of CaCO3 eq.</a:t>
            </a:r>
          </a:p>
          <a:p>
            <a:pPr marL="0" indent="0">
              <a:buNone/>
            </a:pPr>
            <a:r>
              <a:rPr lang="en-US" dirty="0"/>
              <a:t>Hence 1000mL of sample hard water = 1000 V2x 50/V1 x 1/50    mg of CaCO3 eq.</a:t>
            </a:r>
          </a:p>
          <a:p>
            <a:pPr marL="0" indent="0">
              <a:buNone/>
            </a:pPr>
            <a:r>
              <a:rPr lang="en-US" dirty="0"/>
              <a:t>            there fore, </a:t>
            </a:r>
            <a:r>
              <a:rPr lang="en-US" b="1" dirty="0"/>
              <a:t>Total Hardness = V2/V1 x 1000 ppm </a:t>
            </a:r>
          </a:p>
          <a:p>
            <a:pPr marL="0" indent="0">
              <a:buNone/>
            </a:pPr>
            <a:r>
              <a:rPr lang="en-US" b="1" dirty="0"/>
              <a:t>B) Permanent Hardness:</a:t>
            </a:r>
          </a:p>
          <a:p>
            <a:pPr marL="0" indent="0">
              <a:buNone/>
            </a:pPr>
            <a:r>
              <a:rPr lang="en-US" dirty="0"/>
              <a:t>Now, 50ml of boiled sample water = V3 mL of EDTA</a:t>
            </a:r>
          </a:p>
          <a:p>
            <a:pPr marL="0" indent="0">
              <a:buNone/>
            </a:pPr>
            <a:r>
              <a:rPr lang="en-US" dirty="0"/>
              <a:t>                                                               = V3 x 50/V1 mg of CaCO3</a:t>
            </a:r>
          </a:p>
          <a:p>
            <a:pPr marL="0" indent="0">
              <a:buNone/>
            </a:pPr>
            <a:r>
              <a:rPr lang="en-US" dirty="0"/>
              <a:t> Hence 1000mL of Sample hard water = V3/V1 x 1000 mg of CaCO3</a:t>
            </a:r>
          </a:p>
          <a:p>
            <a:pPr marL="0" indent="0">
              <a:buNone/>
            </a:pPr>
            <a:r>
              <a:rPr lang="en-US" dirty="0"/>
              <a:t>        Therefore, Permanent hardness = V3/V1 x 1000 ppm</a:t>
            </a:r>
          </a:p>
          <a:p>
            <a:pPr marL="0" indent="0">
              <a:buNone/>
            </a:pPr>
            <a:r>
              <a:rPr lang="en-US" b="1" dirty="0"/>
              <a:t>C) Temporary hardness = Total hardness – Permanent hardness</a:t>
            </a:r>
          </a:p>
          <a:p>
            <a:pPr marL="0" indent="0">
              <a:buNone/>
            </a:pPr>
            <a:endParaRPr lang="en-US" dirty="0"/>
          </a:p>
          <a:p>
            <a:pPr marL="0" indent="0">
              <a:buNone/>
            </a:pPr>
            <a:endParaRPr lang="en-IN" dirty="0"/>
          </a:p>
        </p:txBody>
      </p:sp>
      <p:sp>
        <p:nvSpPr>
          <p:cNvPr id="2" name="Rectangle 1">
            <a:extLst>
              <a:ext uri="{FF2B5EF4-FFF2-40B4-BE49-F238E27FC236}">
                <a16:creationId xmlns:a16="http://schemas.microsoft.com/office/drawing/2014/main" xmlns="" id="{11346E49-835F-43C6-A385-49D3EC8C1407}"/>
              </a:ext>
            </a:extLst>
          </p:cNvPr>
          <p:cNvSpPr/>
          <p:nvPr/>
        </p:nvSpPr>
        <p:spPr>
          <a:xfrm>
            <a:off x="1702191" y="1814732"/>
            <a:ext cx="4586067" cy="323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122653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D8D7BE-0F82-4419-9A58-AC0B0B490120}"/>
              </a:ext>
            </a:extLst>
          </p:cNvPr>
          <p:cNvSpPr>
            <a:spLocks noGrp="1"/>
          </p:cNvSpPr>
          <p:nvPr>
            <p:ph type="title"/>
          </p:nvPr>
        </p:nvSpPr>
        <p:spPr/>
        <p:txBody>
          <a:bodyPr/>
          <a:lstStyle/>
          <a:p>
            <a:r>
              <a:rPr lang="en-US" b="1" dirty="0"/>
              <a:t>Advantages of EDTA method</a:t>
            </a:r>
            <a:endParaRPr lang="en-IN" b="1" dirty="0"/>
          </a:p>
        </p:txBody>
      </p:sp>
      <p:sp>
        <p:nvSpPr>
          <p:cNvPr id="3" name="Content Placeholder 2">
            <a:extLst>
              <a:ext uri="{FF2B5EF4-FFF2-40B4-BE49-F238E27FC236}">
                <a16:creationId xmlns:a16="http://schemas.microsoft.com/office/drawing/2014/main" xmlns="" id="{FE3E43CB-4292-4CED-9656-7B0B8AC977AD}"/>
              </a:ext>
            </a:extLst>
          </p:cNvPr>
          <p:cNvSpPr>
            <a:spLocks noGrp="1"/>
          </p:cNvSpPr>
          <p:nvPr>
            <p:ph idx="1"/>
          </p:nvPr>
        </p:nvSpPr>
        <p:spPr/>
        <p:txBody>
          <a:bodyPr/>
          <a:lstStyle/>
          <a:p>
            <a:r>
              <a:rPr lang="en-US" dirty="0"/>
              <a:t>This method is  preferable to the other methods, because of </a:t>
            </a:r>
          </a:p>
          <a:p>
            <a:pPr marL="571500" indent="-571500">
              <a:buAutoNum type="romanLcParenR"/>
            </a:pPr>
            <a:r>
              <a:rPr lang="en-US" dirty="0"/>
              <a:t>Greater accuracy</a:t>
            </a:r>
          </a:p>
          <a:p>
            <a:pPr marL="571500" indent="-571500">
              <a:buAutoNum type="romanLcParenR"/>
            </a:pPr>
            <a:r>
              <a:rPr lang="en-US" dirty="0"/>
              <a:t>Convenience</a:t>
            </a:r>
          </a:p>
          <a:p>
            <a:pPr marL="571500" indent="-571500">
              <a:buAutoNum type="romanLcParenR"/>
            </a:pPr>
            <a:r>
              <a:rPr lang="en-US" dirty="0"/>
              <a:t>More rapid procedure</a:t>
            </a:r>
            <a:endParaRPr lang="en-IN" dirty="0"/>
          </a:p>
        </p:txBody>
      </p:sp>
    </p:spTree>
    <p:extLst>
      <p:ext uri="{BB962C8B-B14F-4D97-AF65-F5344CB8AC3E}">
        <p14:creationId xmlns:p14="http://schemas.microsoft.com/office/powerpoint/2010/main" val="16512025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C13301B-447D-40F1-85C9-F9C4F68971ED}"/>
              </a:ext>
            </a:extLst>
          </p:cNvPr>
          <p:cNvSpPr>
            <a:spLocks noGrp="1"/>
          </p:cNvSpPr>
          <p:nvPr>
            <p:ph idx="1"/>
          </p:nvPr>
        </p:nvSpPr>
        <p:spPr>
          <a:xfrm>
            <a:off x="162962" y="181069"/>
            <a:ext cx="11605411" cy="6676931"/>
          </a:xfrm>
        </p:spPr>
        <p:txBody>
          <a:bodyPr>
            <a:noAutofit/>
          </a:bodyPr>
          <a:lstStyle/>
          <a:p>
            <a:pPr marL="0" indent="0">
              <a:buNone/>
            </a:pPr>
            <a:r>
              <a:rPr lang="en-US" b="1" dirty="0"/>
              <a:t>Numerical 1:</a:t>
            </a:r>
            <a:r>
              <a:rPr lang="en-US" dirty="0"/>
              <a:t> 50mL of standard hard water requires 38mL of EDTA solution. 100 mL of water sample consumes 21mL of EDTA soln. 100mL of boiled water sample consumes 10mL of EDTA soln. Find all types of hardness.</a:t>
            </a:r>
          </a:p>
          <a:p>
            <a:pPr marL="0" indent="0">
              <a:buNone/>
            </a:pPr>
            <a:r>
              <a:rPr lang="en-US" sz="1400" dirty="0"/>
              <a:t>Solution:</a:t>
            </a:r>
          </a:p>
          <a:p>
            <a:pPr marL="0" indent="0">
              <a:buNone/>
            </a:pPr>
            <a:r>
              <a:rPr lang="en-US" sz="1400" dirty="0"/>
              <a:t>50 mL of SHW = _50_mg of CaCO3</a:t>
            </a:r>
          </a:p>
          <a:p>
            <a:pPr marL="0" indent="0">
              <a:buNone/>
            </a:pPr>
            <a:r>
              <a:rPr lang="en-US" sz="1400" dirty="0"/>
              <a:t>50mL of SHW = 38 ml of EDTA soln.</a:t>
            </a:r>
          </a:p>
          <a:p>
            <a:pPr marL="0" indent="0">
              <a:buNone/>
            </a:pPr>
            <a:r>
              <a:rPr lang="en-US" sz="1400" dirty="0"/>
              <a:t>There fore, 38mL of EDTA = 50mg of CaCO3</a:t>
            </a:r>
          </a:p>
          <a:p>
            <a:pPr marL="0" indent="0">
              <a:buNone/>
            </a:pPr>
            <a:r>
              <a:rPr lang="en-US" sz="1400" dirty="0"/>
              <a:t>                      1mL of EDTA = _50/38__mg of CaCO3</a:t>
            </a:r>
          </a:p>
          <a:p>
            <a:pPr marL="0" indent="0">
              <a:buNone/>
            </a:pPr>
            <a:r>
              <a:rPr lang="en-US" sz="1400" dirty="0"/>
              <a:t>                      </a:t>
            </a:r>
            <a:r>
              <a:rPr lang="en-US" sz="1400" b="1" dirty="0"/>
              <a:t>1mL of EDTA = 1.316mg of CaCO3</a:t>
            </a:r>
          </a:p>
          <a:p>
            <a:pPr marL="0" indent="0">
              <a:buNone/>
            </a:pPr>
            <a:r>
              <a:rPr lang="en-US" sz="1400" b="1" dirty="0"/>
              <a:t>Total Hardness:</a:t>
            </a:r>
          </a:p>
          <a:p>
            <a:pPr marL="0" indent="0">
              <a:buNone/>
            </a:pPr>
            <a:r>
              <a:rPr lang="en-US" sz="1400" dirty="0"/>
              <a:t>100mL of sample HW =21 mL of EDTA solution</a:t>
            </a:r>
          </a:p>
          <a:p>
            <a:pPr marL="0" indent="0">
              <a:buNone/>
            </a:pPr>
            <a:r>
              <a:rPr lang="en-US" sz="1400" dirty="0"/>
              <a:t>                                       = 21 x 1.316 mg of CaCO3</a:t>
            </a:r>
          </a:p>
          <a:p>
            <a:pPr marL="0" indent="0">
              <a:buNone/>
            </a:pPr>
            <a:r>
              <a:rPr lang="en-US" sz="1400" dirty="0"/>
              <a:t>                                        = 27.636 mg of CaCO3 </a:t>
            </a:r>
          </a:p>
          <a:p>
            <a:pPr marL="0" indent="0">
              <a:buNone/>
            </a:pPr>
            <a:r>
              <a:rPr lang="en-US" sz="1400" dirty="0"/>
              <a:t>1000mL of sample HW = 27.636 x 1000/100</a:t>
            </a:r>
          </a:p>
          <a:p>
            <a:pPr marL="0" indent="0">
              <a:buNone/>
            </a:pPr>
            <a:r>
              <a:rPr lang="en-US" sz="1400" dirty="0"/>
              <a:t>                                          = 276.36mg of CaCO3/L = 276.36ppm</a:t>
            </a:r>
          </a:p>
          <a:p>
            <a:pPr marL="0" indent="0">
              <a:buNone/>
            </a:pPr>
            <a:r>
              <a:rPr lang="en-US" sz="1400" dirty="0"/>
              <a:t>There fore </a:t>
            </a:r>
            <a:r>
              <a:rPr lang="en-US" sz="1400" b="1" dirty="0"/>
              <a:t>Total hardness = 276.36ppm</a:t>
            </a:r>
          </a:p>
          <a:p>
            <a:pPr marL="0" indent="0">
              <a:buNone/>
            </a:pPr>
            <a:r>
              <a:rPr lang="en-US" sz="1400" b="1" dirty="0"/>
              <a:t>Permanent hardness:</a:t>
            </a:r>
          </a:p>
          <a:p>
            <a:pPr marL="0" indent="0">
              <a:buNone/>
            </a:pPr>
            <a:r>
              <a:rPr lang="en-US" sz="1400" dirty="0"/>
              <a:t>100mL of Boiled sample HW = 10mL of EDTA </a:t>
            </a:r>
          </a:p>
          <a:p>
            <a:pPr marL="0" indent="0">
              <a:buNone/>
            </a:pPr>
            <a:r>
              <a:rPr lang="en-US" sz="1400" dirty="0"/>
              <a:t>                                                    = 13.16 mg of CaCO3</a:t>
            </a:r>
          </a:p>
          <a:p>
            <a:pPr marL="0" indent="0">
              <a:buNone/>
            </a:pPr>
            <a:r>
              <a:rPr lang="en-US" sz="1400" dirty="0"/>
              <a:t>1000mL of boiled sample HW = 13.16 x 1000/100 = 131.6mg of CaCO3 / L</a:t>
            </a:r>
          </a:p>
          <a:p>
            <a:pPr marL="0" indent="0">
              <a:buNone/>
            </a:pPr>
            <a:r>
              <a:rPr lang="en-US" sz="1400" b="1" dirty="0"/>
              <a:t>Permanent hardness    = 131.6ppm</a:t>
            </a:r>
          </a:p>
          <a:p>
            <a:pPr marL="0" indent="0">
              <a:buNone/>
            </a:pPr>
            <a:r>
              <a:rPr lang="en-US" sz="1400" b="1" dirty="0"/>
              <a:t>Temporary Hardness = Total hardness – permanent hardness</a:t>
            </a:r>
          </a:p>
          <a:p>
            <a:pPr marL="0" indent="0">
              <a:buNone/>
            </a:pPr>
            <a:r>
              <a:rPr lang="en-US" sz="1400" b="1" dirty="0"/>
              <a:t>                                      = 276.36 – 131.6 </a:t>
            </a:r>
          </a:p>
          <a:p>
            <a:pPr marL="0" indent="0">
              <a:buNone/>
            </a:pPr>
            <a:r>
              <a:rPr lang="en-US" sz="1400" b="1" dirty="0"/>
              <a:t>                                        = 144.76ppm</a:t>
            </a:r>
          </a:p>
          <a:p>
            <a:pPr marL="0" indent="0">
              <a:buNone/>
            </a:pPr>
            <a:endParaRPr lang="en-IN" sz="1400" b="1" dirty="0"/>
          </a:p>
        </p:txBody>
      </p:sp>
    </p:spTree>
    <p:extLst>
      <p:ext uri="{BB962C8B-B14F-4D97-AF65-F5344CB8AC3E}">
        <p14:creationId xmlns:p14="http://schemas.microsoft.com/office/powerpoint/2010/main" val="32931165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23C0BAA-2E39-40C9-95DD-1ED299ABE77E}"/>
              </a:ext>
            </a:extLst>
          </p:cNvPr>
          <p:cNvSpPr>
            <a:spLocks noGrp="1"/>
          </p:cNvSpPr>
          <p:nvPr>
            <p:ph idx="1"/>
          </p:nvPr>
        </p:nvSpPr>
        <p:spPr>
          <a:xfrm>
            <a:off x="404037" y="321681"/>
            <a:ext cx="11344940" cy="5867474"/>
          </a:xfrm>
        </p:spPr>
        <p:txBody>
          <a:bodyPr>
            <a:normAutofit fontScale="55000" lnSpcReduction="20000"/>
          </a:bodyPr>
          <a:lstStyle/>
          <a:p>
            <a:pPr marL="0" indent="0">
              <a:buNone/>
            </a:pPr>
            <a:r>
              <a:rPr lang="en-US" sz="5100" b="1" dirty="0"/>
              <a:t>Numerical 2:</a:t>
            </a:r>
            <a:r>
              <a:rPr lang="en-US" sz="5100" dirty="0"/>
              <a:t> 50 mL of Standard hard water required 21mL of EDTA solution. 50mL of sample Water requires 21mL of EDTA solution. 50mL of boiled sample water requires 7mL of EDTA soln. calculate all the types of hardness.</a:t>
            </a:r>
          </a:p>
          <a:p>
            <a:pPr marL="0" indent="0">
              <a:buNone/>
            </a:pPr>
            <a:r>
              <a:rPr lang="en-US" dirty="0" err="1"/>
              <a:t>Soln</a:t>
            </a:r>
            <a:r>
              <a:rPr lang="en-US" dirty="0"/>
              <a:t>: </a:t>
            </a:r>
          </a:p>
          <a:p>
            <a:pPr marL="0" indent="0">
              <a:buNone/>
            </a:pPr>
            <a:r>
              <a:rPr lang="en-US" dirty="0"/>
              <a:t>50mL of SHW = 50mg of CaCO3</a:t>
            </a:r>
          </a:p>
          <a:p>
            <a:pPr marL="0" indent="0">
              <a:buNone/>
            </a:pPr>
            <a:r>
              <a:rPr lang="en-US" dirty="0"/>
              <a:t>50mL of SHW = 21mL of EDTA</a:t>
            </a:r>
          </a:p>
          <a:p>
            <a:pPr marL="0" indent="0">
              <a:buNone/>
            </a:pPr>
            <a:r>
              <a:rPr lang="en-US" dirty="0"/>
              <a:t>There fore 21 mL of EDTA </a:t>
            </a:r>
            <a:r>
              <a:rPr lang="en-US" dirty="0" err="1"/>
              <a:t>soln</a:t>
            </a:r>
            <a:r>
              <a:rPr lang="en-US" dirty="0"/>
              <a:t> = 50mg of CaCO3</a:t>
            </a:r>
          </a:p>
          <a:p>
            <a:pPr marL="0" indent="0">
              <a:buNone/>
            </a:pPr>
            <a:r>
              <a:rPr lang="en-US" dirty="0"/>
              <a:t>Hence           </a:t>
            </a:r>
            <a:r>
              <a:rPr lang="en-US" b="1" dirty="0"/>
              <a:t>1mL of EDTA </a:t>
            </a:r>
            <a:r>
              <a:rPr lang="en-US" b="1" dirty="0" err="1"/>
              <a:t>soln</a:t>
            </a:r>
            <a:r>
              <a:rPr lang="en-US" b="1" dirty="0"/>
              <a:t> = 50/21 = 2.381mg of CaCO3 eq.</a:t>
            </a:r>
          </a:p>
          <a:p>
            <a:pPr marL="0" indent="0">
              <a:buNone/>
            </a:pPr>
            <a:r>
              <a:rPr lang="en-US" b="1" dirty="0"/>
              <a:t>Total Hardness</a:t>
            </a:r>
          </a:p>
          <a:p>
            <a:pPr marL="0" indent="0">
              <a:buNone/>
            </a:pPr>
            <a:r>
              <a:rPr lang="en-US" dirty="0"/>
              <a:t>50mL of sample HW = 21mL of EDTA </a:t>
            </a:r>
            <a:r>
              <a:rPr lang="en-US" dirty="0" err="1"/>
              <a:t>soln</a:t>
            </a:r>
            <a:endParaRPr lang="en-US" dirty="0"/>
          </a:p>
          <a:p>
            <a:pPr marL="0" indent="0">
              <a:buNone/>
            </a:pPr>
            <a:r>
              <a:rPr lang="en-US" dirty="0"/>
              <a:t>                                      = 21 x 2.381 = 50.001 mg of CaCO3 eq.</a:t>
            </a:r>
          </a:p>
          <a:p>
            <a:pPr marL="0" indent="0">
              <a:buNone/>
            </a:pPr>
            <a:r>
              <a:rPr lang="en-US" dirty="0"/>
              <a:t>1000mL of sample HW = 50.001 x 1000/50 = 50.001 x 20</a:t>
            </a:r>
          </a:p>
          <a:p>
            <a:pPr marL="0" indent="0">
              <a:buNone/>
            </a:pPr>
            <a:r>
              <a:rPr lang="en-US" dirty="0"/>
              <a:t>                                          = 1000.02mg CaCO3/L </a:t>
            </a:r>
          </a:p>
          <a:p>
            <a:pPr marL="0" indent="0">
              <a:buNone/>
            </a:pPr>
            <a:r>
              <a:rPr lang="en-US" b="1" dirty="0"/>
              <a:t>Hence Total hardness = 1000.02ppm</a:t>
            </a:r>
          </a:p>
          <a:p>
            <a:pPr marL="0" indent="0">
              <a:buNone/>
            </a:pPr>
            <a:r>
              <a:rPr lang="en-US" b="1" dirty="0"/>
              <a:t>Permanent Hardness </a:t>
            </a:r>
          </a:p>
          <a:p>
            <a:pPr marL="0" indent="0">
              <a:buNone/>
            </a:pPr>
            <a:r>
              <a:rPr lang="en-US" dirty="0"/>
              <a:t>50mL of boiled sample HW = 7mL of EDTA </a:t>
            </a:r>
            <a:r>
              <a:rPr lang="en-US" dirty="0" err="1"/>
              <a:t>soln</a:t>
            </a:r>
            <a:endParaRPr lang="en-US" dirty="0"/>
          </a:p>
          <a:p>
            <a:pPr marL="0" indent="0">
              <a:buNone/>
            </a:pPr>
            <a:r>
              <a:rPr lang="en-US" dirty="0"/>
              <a:t>                                                  = 7 x 2.381 = 16.667mg of CaCO3/L</a:t>
            </a:r>
          </a:p>
          <a:p>
            <a:pPr marL="0" indent="0">
              <a:buNone/>
            </a:pPr>
            <a:r>
              <a:rPr lang="en-US" dirty="0"/>
              <a:t>1000mL of boiled sample HW = 16.667 x 1000/50 = 16.667 x 20 =333.34mg of CaCO3</a:t>
            </a:r>
          </a:p>
          <a:p>
            <a:pPr marL="0" indent="0">
              <a:buNone/>
            </a:pPr>
            <a:r>
              <a:rPr lang="en-US" b="1" dirty="0"/>
              <a:t>Hence permanent hardness = 333.34ppm</a:t>
            </a:r>
          </a:p>
          <a:p>
            <a:pPr marL="0" indent="0">
              <a:buNone/>
            </a:pPr>
            <a:r>
              <a:rPr lang="en-US" b="1" dirty="0"/>
              <a:t>Temporary Hardness = total hardness – permanent hardness = 1000.02 -333.34 = 666.68 ppm</a:t>
            </a:r>
          </a:p>
          <a:p>
            <a:pPr marL="0" indent="0">
              <a:buNone/>
            </a:pPr>
            <a:endParaRPr lang="en-US" dirty="0"/>
          </a:p>
          <a:p>
            <a:pPr marL="0" indent="0">
              <a:buNone/>
            </a:pPr>
            <a:endParaRPr lang="en-IN" b="1" dirty="0"/>
          </a:p>
        </p:txBody>
      </p:sp>
    </p:spTree>
    <p:extLst>
      <p:ext uri="{BB962C8B-B14F-4D97-AF65-F5344CB8AC3E}">
        <p14:creationId xmlns:p14="http://schemas.microsoft.com/office/powerpoint/2010/main" val="34467270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EE641F0-E856-4049-9D91-138EFF1C4F6E}"/>
              </a:ext>
            </a:extLst>
          </p:cNvPr>
          <p:cNvSpPr>
            <a:spLocks noGrp="1"/>
          </p:cNvSpPr>
          <p:nvPr>
            <p:ph idx="1"/>
          </p:nvPr>
        </p:nvSpPr>
        <p:spPr>
          <a:xfrm>
            <a:off x="0" y="137786"/>
            <a:ext cx="12087616" cy="6976998"/>
          </a:xfrm>
          <a:solidFill>
            <a:schemeClr val="bg1"/>
          </a:solidFill>
        </p:spPr>
        <p:txBody>
          <a:bodyPr>
            <a:normAutofit fontScale="40000" lnSpcReduction="20000"/>
          </a:bodyPr>
          <a:lstStyle/>
          <a:p>
            <a:pPr marL="0" indent="0">
              <a:buNone/>
            </a:pPr>
            <a:r>
              <a:rPr lang="en-US" sz="5900" b="1" dirty="0"/>
              <a:t>Numerical 3:</a:t>
            </a:r>
            <a:r>
              <a:rPr lang="en-US" sz="5900" dirty="0"/>
              <a:t> 0.38g of CaCO3 was dissolved in HCl and the solution made up to 1Litre with distilled water. 100 mL of the above </a:t>
            </a:r>
            <a:r>
              <a:rPr lang="en-US" sz="5900" dirty="0" err="1"/>
              <a:t>soln</a:t>
            </a:r>
            <a:r>
              <a:rPr lang="en-US" sz="5900" dirty="0"/>
              <a:t> required 25mL of EDTA  soln. 100 mL of hard water sample required 37mL of EDTA soln. 100mL of boiled hard water sample required 10mL of EDTA soln. Calculate each type of hardness.</a:t>
            </a:r>
          </a:p>
          <a:p>
            <a:pPr marL="0" indent="0">
              <a:buNone/>
            </a:pPr>
            <a:r>
              <a:rPr lang="en-US" sz="5900" dirty="0" err="1"/>
              <a:t>Soln</a:t>
            </a:r>
            <a:endParaRPr lang="en-US" sz="5900" dirty="0"/>
          </a:p>
          <a:p>
            <a:pPr marL="0" indent="0">
              <a:buNone/>
            </a:pPr>
            <a:r>
              <a:rPr lang="en-US" sz="4000" strike="sngStrike" dirty="0"/>
              <a:t>1ml of SHW = 1mg of CACO3</a:t>
            </a:r>
          </a:p>
          <a:p>
            <a:pPr marL="0" indent="0">
              <a:buNone/>
            </a:pPr>
            <a:r>
              <a:rPr lang="en-US" sz="4000" dirty="0"/>
              <a:t>SHW = 0.38g of CaCO3/ 1000mL = 380mg of CaCO3 / 1000mL</a:t>
            </a:r>
          </a:p>
          <a:p>
            <a:pPr marL="0" indent="0">
              <a:buNone/>
            </a:pPr>
            <a:r>
              <a:rPr lang="en-US" sz="4000" b="1" dirty="0"/>
              <a:t>1mL of SHW = 0.38mg of CaCO3……using 1</a:t>
            </a:r>
            <a:r>
              <a:rPr lang="en-US" sz="4000" b="1" baseline="30000" dirty="0"/>
              <a:t>st</a:t>
            </a:r>
            <a:r>
              <a:rPr lang="en-US" sz="4000" b="1" dirty="0"/>
              <a:t> statement of numerical</a:t>
            </a:r>
          </a:p>
          <a:p>
            <a:pPr marL="0" indent="0">
              <a:buNone/>
            </a:pPr>
            <a:r>
              <a:rPr lang="en-US" sz="4000" dirty="0"/>
              <a:t>100mL of SHW = 25mL of EDTA</a:t>
            </a:r>
          </a:p>
          <a:p>
            <a:pPr marL="0" indent="0">
              <a:buNone/>
            </a:pPr>
            <a:r>
              <a:rPr lang="en-US" sz="4000" dirty="0"/>
              <a:t>100mL of SHW = 38 mg of CaCO3</a:t>
            </a:r>
          </a:p>
          <a:p>
            <a:pPr marL="0" indent="0">
              <a:buNone/>
            </a:pPr>
            <a:r>
              <a:rPr lang="en-US" sz="4000" dirty="0"/>
              <a:t>There fore 25mL of EDTA = 38mg of CaCO3</a:t>
            </a:r>
          </a:p>
          <a:p>
            <a:pPr marL="0" indent="0">
              <a:buNone/>
            </a:pPr>
            <a:r>
              <a:rPr lang="en-US" sz="4000" dirty="0"/>
              <a:t>Hence          </a:t>
            </a:r>
            <a:r>
              <a:rPr lang="en-US" sz="4000" b="1" dirty="0"/>
              <a:t>1mL of EDTA  = 38/25 =1.52mg of CaCO3 ……using 2</a:t>
            </a:r>
            <a:r>
              <a:rPr lang="en-US" sz="4000" b="1" baseline="30000" dirty="0"/>
              <a:t>nd</a:t>
            </a:r>
            <a:r>
              <a:rPr lang="en-US" sz="4000" b="1" dirty="0"/>
              <a:t> statement of numerical</a:t>
            </a:r>
          </a:p>
          <a:p>
            <a:pPr marL="0" indent="0">
              <a:buNone/>
            </a:pPr>
            <a:r>
              <a:rPr lang="en-US" sz="4000" b="1" dirty="0"/>
              <a:t>Total Hardness</a:t>
            </a:r>
          </a:p>
          <a:p>
            <a:pPr marL="0" indent="0">
              <a:buNone/>
            </a:pPr>
            <a:r>
              <a:rPr lang="en-US" sz="4000" dirty="0"/>
              <a:t>100mL of sample HW = 37mL of EDTA</a:t>
            </a:r>
          </a:p>
          <a:p>
            <a:pPr marL="0" indent="0">
              <a:buNone/>
            </a:pPr>
            <a:r>
              <a:rPr lang="en-US" sz="4000" dirty="0"/>
              <a:t>                                        = 37 x 1.52 = 56.24 mg of CaCO3</a:t>
            </a:r>
          </a:p>
          <a:p>
            <a:pPr marL="0" indent="0">
              <a:buNone/>
            </a:pPr>
            <a:r>
              <a:rPr lang="en-US" sz="4000" dirty="0"/>
              <a:t>1000ml of sample HW = 56.24 x 1000/100 = 562.4 mg of CaCO3 /L</a:t>
            </a:r>
            <a:endParaRPr lang="en-US" sz="4000" b="1" dirty="0"/>
          </a:p>
          <a:p>
            <a:pPr marL="0" indent="0">
              <a:buNone/>
            </a:pPr>
            <a:r>
              <a:rPr lang="en-US" sz="4000" b="1" dirty="0"/>
              <a:t>Hence Total hardness = 562.4ppm</a:t>
            </a:r>
          </a:p>
          <a:p>
            <a:pPr marL="0" indent="0">
              <a:buNone/>
            </a:pPr>
            <a:r>
              <a:rPr lang="en-US" sz="4000" b="1" dirty="0"/>
              <a:t>Permanent hardness</a:t>
            </a:r>
          </a:p>
          <a:p>
            <a:pPr marL="0" indent="0">
              <a:buNone/>
            </a:pPr>
            <a:r>
              <a:rPr lang="en-US" sz="4000" dirty="0"/>
              <a:t>100mL of Boiled sample HW = 10 ml of EDTA</a:t>
            </a:r>
          </a:p>
          <a:p>
            <a:pPr marL="0" indent="0">
              <a:buNone/>
            </a:pPr>
            <a:r>
              <a:rPr lang="en-US" sz="4000" dirty="0"/>
              <a:t>                                                    = 10 x 1.52 = 15.2 mg of CaCO3</a:t>
            </a:r>
          </a:p>
          <a:p>
            <a:pPr marL="0" indent="0">
              <a:buNone/>
            </a:pPr>
            <a:r>
              <a:rPr lang="en-US" sz="4000" dirty="0"/>
              <a:t>1000mL of Boiled sample HW = 15.2 x 1000/100 = 152 mg of CaCO3</a:t>
            </a:r>
          </a:p>
          <a:p>
            <a:pPr marL="0" indent="0">
              <a:buNone/>
            </a:pPr>
            <a:r>
              <a:rPr lang="en-US" sz="4000" dirty="0"/>
              <a:t>           </a:t>
            </a:r>
            <a:r>
              <a:rPr lang="en-US" sz="4000" b="1" dirty="0"/>
              <a:t>Hence permanent hardness  = 152ppm</a:t>
            </a:r>
          </a:p>
          <a:p>
            <a:pPr marL="0" indent="0">
              <a:buNone/>
            </a:pPr>
            <a:r>
              <a:rPr lang="en-US" sz="4000" b="1" dirty="0"/>
              <a:t>Temporary Hardness = total Hardness – permanent hardness = 562.4-152 = </a:t>
            </a:r>
            <a:r>
              <a:rPr lang="en-US" sz="4000" b="1" dirty="0" smtClean="0"/>
              <a:t>410.4ppm</a:t>
            </a:r>
            <a:endParaRPr lang="en-US" sz="4000" b="1" dirty="0"/>
          </a:p>
        </p:txBody>
      </p:sp>
    </p:spTree>
    <p:extLst>
      <p:ext uri="{BB962C8B-B14F-4D97-AF65-F5344CB8AC3E}">
        <p14:creationId xmlns:p14="http://schemas.microsoft.com/office/powerpoint/2010/main" val="354091859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5D08AC3-59A0-4621-8732-046642D66316}"/>
              </a:ext>
            </a:extLst>
          </p:cNvPr>
          <p:cNvSpPr>
            <a:spLocks noGrp="1"/>
          </p:cNvSpPr>
          <p:nvPr>
            <p:ph idx="1"/>
          </p:nvPr>
        </p:nvSpPr>
        <p:spPr>
          <a:xfrm>
            <a:off x="838200" y="478302"/>
            <a:ext cx="10515600" cy="5698661"/>
          </a:xfrm>
        </p:spPr>
        <p:txBody>
          <a:bodyPr>
            <a:normAutofit fontScale="77500" lnSpcReduction="20000"/>
          </a:bodyPr>
          <a:lstStyle/>
          <a:p>
            <a:pPr marL="0" indent="0">
              <a:buNone/>
            </a:pPr>
            <a:r>
              <a:rPr lang="en-US" b="1" dirty="0"/>
              <a:t>Numerical 4:</a:t>
            </a:r>
            <a:r>
              <a:rPr lang="en-US" dirty="0"/>
              <a:t> 1.2g of CaCO3 was dissolved in HCl and the solution made up to 1Litre with distilled water. 50 mL of the above </a:t>
            </a:r>
            <a:r>
              <a:rPr lang="en-US" dirty="0" err="1"/>
              <a:t>soln</a:t>
            </a:r>
            <a:r>
              <a:rPr lang="en-US" dirty="0"/>
              <a:t> required 30 of EDTA  soln. 100 mL of hard water sample required 27mL of EDTA soln. 100mL of boiled hard water sample required 11mL of EDTA soln. Calculate each type of hardness.</a:t>
            </a:r>
          </a:p>
          <a:p>
            <a:pPr marL="0" indent="0">
              <a:buNone/>
            </a:pPr>
            <a:r>
              <a:rPr lang="en-US" dirty="0" err="1"/>
              <a:t>Soln</a:t>
            </a:r>
            <a:r>
              <a:rPr lang="en-US" dirty="0"/>
              <a:t>:</a:t>
            </a:r>
          </a:p>
          <a:p>
            <a:pPr marL="0" indent="0">
              <a:buNone/>
            </a:pPr>
            <a:endParaRPr lang="en-US" dirty="0"/>
          </a:p>
          <a:p>
            <a:pPr marL="0" indent="0">
              <a:buNone/>
            </a:pPr>
            <a:r>
              <a:rPr lang="en-US" b="1" dirty="0"/>
              <a:t>Numerical 5:</a:t>
            </a:r>
            <a:r>
              <a:rPr lang="en-US" dirty="0"/>
              <a:t> 0.55g of CaCO3 was dissolved in HCl and the solution made up to 1Litre with distilled water. 20 mL of the above </a:t>
            </a:r>
            <a:r>
              <a:rPr lang="en-US" dirty="0" err="1"/>
              <a:t>soln</a:t>
            </a:r>
            <a:r>
              <a:rPr lang="en-US" dirty="0"/>
              <a:t> required 10 of EDTA  soln. 50 mL of hard water sample required 17mL of EDTA soln. 10mL of boiled hard water sample required 1.1mL of EDTA soln. Calculate each type of hardness.</a:t>
            </a:r>
          </a:p>
          <a:p>
            <a:pPr marL="0" indent="0">
              <a:buNone/>
            </a:pPr>
            <a:r>
              <a:rPr lang="en-US" dirty="0"/>
              <a:t>Ans: </a:t>
            </a:r>
            <a:r>
              <a:rPr lang="en-US" dirty="0">
                <a:solidFill>
                  <a:schemeClr val="bg1"/>
                </a:solidFill>
              </a:rPr>
              <a:t>Total Hardness = 374ppm</a:t>
            </a:r>
          </a:p>
          <a:p>
            <a:pPr marL="0" indent="0">
              <a:buNone/>
            </a:pPr>
            <a:r>
              <a:rPr lang="en-US" dirty="0">
                <a:solidFill>
                  <a:schemeClr val="bg1"/>
                </a:solidFill>
              </a:rPr>
              <a:t>    permanent Hardness = 121ppm</a:t>
            </a:r>
          </a:p>
          <a:p>
            <a:pPr marL="0" indent="0">
              <a:buNone/>
            </a:pPr>
            <a:r>
              <a:rPr lang="en-US" dirty="0">
                <a:solidFill>
                  <a:schemeClr val="bg1"/>
                </a:solidFill>
              </a:rPr>
              <a:t>Temporary Hardness = 253</a:t>
            </a:r>
          </a:p>
          <a:p>
            <a:pPr marL="0" indent="0">
              <a:buNone/>
            </a:pPr>
            <a:r>
              <a:rPr lang="en-US" b="1" dirty="0"/>
              <a:t>Numerical 6: </a:t>
            </a:r>
            <a:r>
              <a:rPr lang="en-US" dirty="0"/>
              <a:t>50mL sample of water require 10.2mL of M/20 disodium EDTA for titration. After boiling and filtration the same volume required 6.5mL of EDTA. Calculate all the types of hardness in it. </a:t>
            </a:r>
          </a:p>
          <a:p>
            <a:pPr marL="0" indent="0">
              <a:buNone/>
            </a:pPr>
            <a:endParaRPr lang="en-IN" dirty="0"/>
          </a:p>
          <a:p>
            <a:pPr marL="0" indent="0">
              <a:buNone/>
            </a:pPr>
            <a:r>
              <a:rPr lang="en-IN" dirty="0"/>
              <a:t> </a:t>
            </a:r>
          </a:p>
        </p:txBody>
      </p:sp>
    </p:spTree>
    <p:extLst>
      <p:ext uri="{BB962C8B-B14F-4D97-AF65-F5344CB8AC3E}">
        <p14:creationId xmlns:p14="http://schemas.microsoft.com/office/powerpoint/2010/main" val="57580535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F409AE0-D5BE-453D-BEC8-218218BE952C}"/>
              </a:ext>
            </a:extLst>
          </p:cNvPr>
          <p:cNvSpPr>
            <a:spLocks noGrp="1"/>
          </p:cNvSpPr>
          <p:nvPr>
            <p:ph idx="1"/>
          </p:nvPr>
        </p:nvSpPr>
        <p:spPr>
          <a:xfrm>
            <a:off x="325677" y="253218"/>
            <a:ext cx="11173216" cy="6604782"/>
          </a:xfrm>
        </p:spPr>
        <p:txBody>
          <a:bodyPr>
            <a:normAutofit fontScale="62500" lnSpcReduction="20000"/>
          </a:bodyPr>
          <a:lstStyle/>
          <a:p>
            <a:pPr marL="0" indent="0">
              <a:buNone/>
            </a:pPr>
            <a:r>
              <a:rPr lang="en-US" b="1" dirty="0"/>
              <a:t>Numerical 6: </a:t>
            </a:r>
            <a:r>
              <a:rPr lang="en-US" dirty="0"/>
              <a:t>50mL sample of water require 10.2mL of </a:t>
            </a:r>
            <a:r>
              <a:rPr lang="en-US" dirty="0" smtClean="0"/>
              <a:t>M/20 disodium </a:t>
            </a:r>
            <a:r>
              <a:rPr lang="en-US" dirty="0"/>
              <a:t>EDTA for titration. After boiling and filtration the same volume required 6.5mL of EDTA. Calculate all the types of hardness in it. </a:t>
            </a:r>
          </a:p>
          <a:p>
            <a:pPr marL="0" indent="0">
              <a:buNone/>
            </a:pPr>
            <a:r>
              <a:rPr lang="en-IN" dirty="0" err="1" smtClean="0"/>
              <a:t>Soln</a:t>
            </a:r>
            <a:r>
              <a:rPr lang="en-IN" dirty="0" smtClean="0"/>
              <a:t>:</a:t>
            </a:r>
            <a:endParaRPr lang="en-IN" dirty="0"/>
          </a:p>
          <a:p>
            <a:pPr marL="0" indent="0">
              <a:buNone/>
            </a:pPr>
            <a:r>
              <a:rPr lang="en-IN" dirty="0"/>
              <a:t>1mL of 0.05M EDTA = ___mg  of CaCO3</a:t>
            </a:r>
          </a:p>
          <a:p>
            <a:pPr marL="0" indent="0">
              <a:buNone/>
            </a:pPr>
            <a:r>
              <a:rPr lang="en-IN" dirty="0"/>
              <a:t>M/20 EDTA = 1/20M EDTA = 0.05M EDTA</a:t>
            </a:r>
          </a:p>
          <a:p>
            <a:pPr marL="0" indent="0">
              <a:buNone/>
            </a:pPr>
            <a:r>
              <a:rPr lang="en-IN" dirty="0"/>
              <a:t>Std relationships says that,</a:t>
            </a:r>
          </a:p>
          <a:p>
            <a:pPr marL="0" indent="0">
              <a:buNone/>
            </a:pPr>
            <a:r>
              <a:rPr lang="en-IN" b="1" dirty="0"/>
              <a:t>1000mL of 1M EDTA = 100g of CaCO3……due to Avogadro's numbers of molecules</a:t>
            </a:r>
          </a:p>
          <a:p>
            <a:pPr marL="0" indent="0">
              <a:buNone/>
            </a:pPr>
            <a:r>
              <a:rPr lang="en-IN" dirty="0" smtClean="0"/>
              <a:t>1mL of 1M EDTA = </a:t>
            </a:r>
            <a:r>
              <a:rPr lang="en-IN" dirty="0"/>
              <a:t>100mg of CaCO3</a:t>
            </a:r>
          </a:p>
          <a:p>
            <a:pPr marL="0" indent="0">
              <a:buNone/>
            </a:pPr>
            <a:r>
              <a:rPr lang="en-IN" b="1" dirty="0"/>
              <a:t>1mL of  0.05M EDTA = 100 x 0.05 = 5mg of CaCO3</a:t>
            </a:r>
          </a:p>
          <a:p>
            <a:pPr marL="0" indent="0">
              <a:buNone/>
            </a:pPr>
            <a:r>
              <a:rPr lang="en-IN" b="1" dirty="0"/>
              <a:t>Total Hardness:</a:t>
            </a:r>
          </a:p>
          <a:p>
            <a:pPr marL="0" indent="0">
              <a:buNone/>
            </a:pPr>
            <a:r>
              <a:rPr lang="en-IN" b="1" dirty="0"/>
              <a:t>50 mL of sample HW = 10.2mL of 0.05M EDTA </a:t>
            </a:r>
            <a:r>
              <a:rPr lang="en-IN" b="1" dirty="0" err="1"/>
              <a:t>soln</a:t>
            </a:r>
            <a:endParaRPr lang="en-IN" b="1" dirty="0"/>
          </a:p>
          <a:p>
            <a:pPr marL="0" indent="0">
              <a:buNone/>
            </a:pPr>
            <a:r>
              <a:rPr lang="en-IN" b="1" dirty="0"/>
              <a:t>                                       = 10.2 x 5 =51mg of CaCO3 eq.</a:t>
            </a:r>
          </a:p>
          <a:p>
            <a:pPr marL="0" indent="0">
              <a:buNone/>
            </a:pPr>
            <a:r>
              <a:rPr lang="en-IN" b="1" dirty="0"/>
              <a:t>1000mL of sample HW = 51 x 1000/50 = 51 x 20 = 1020mg of CaCO3</a:t>
            </a:r>
          </a:p>
          <a:p>
            <a:pPr marL="0" indent="0">
              <a:buNone/>
            </a:pPr>
            <a:r>
              <a:rPr lang="en-IN" b="1" dirty="0"/>
              <a:t>Hence Total Hardness = 1020ppm</a:t>
            </a:r>
          </a:p>
          <a:p>
            <a:pPr marL="0" indent="0">
              <a:buNone/>
            </a:pPr>
            <a:r>
              <a:rPr lang="en-IN" b="1" dirty="0"/>
              <a:t>Permanent Hardness:</a:t>
            </a:r>
          </a:p>
          <a:p>
            <a:pPr marL="0" indent="0">
              <a:buNone/>
            </a:pPr>
            <a:r>
              <a:rPr lang="en-IN" b="1" dirty="0"/>
              <a:t>50mL of Boiled sample HW = 6.5mL of 0.05M EDTA</a:t>
            </a:r>
          </a:p>
          <a:p>
            <a:pPr marL="0" indent="0">
              <a:buNone/>
            </a:pPr>
            <a:r>
              <a:rPr lang="en-IN" b="1" dirty="0"/>
              <a:t>                                                   = 6.5 x 5 = 32.5mg of CaCO3 eq.</a:t>
            </a:r>
          </a:p>
          <a:p>
            <a:pPr marL="0" indent="0">
              <a:buNone/>
            </a:pPr>
            <a:r>
              <a:rPr lang="en-IN" b="1" dirty="0"/>
              <a:t>1000mL of boiled Sample HW = 32.5 x 20 = 650mg of CaCO3 </a:t>
            </a:r>
            <a:r>
              <a:rPr lang="en-IN" b="1" dirty="0" err="1"/>
              <a:t>eq</a:t>
            </a:r>
            <a:endParaRPr lang="en-IN" b="1" dirty="0"/>
          </a:p>
          <a:p>
            <a:pPr marL="0" indent="0">
              <a:buNone/>
            </a:pPr>
            <a:r>
              <a:rPr lang="en-IN" b="1" dirty="0"/>
              <a:t>Hence Permanent Hardness = 650ppm</a:t>
            </a:r>
          </a:p>
          <a:p>
            <a:pPr marL="0" indent="0">
              <a:buNone/>
            </a:pPr>
            <a:r>
              <a:rPr lang="en-IN" b="1" dirty="0"/>
              <a:t>So, temporary hardness = 1020-650 = 370ppm</a:t>
            </a:r>
          </a:p>
          <a:p>
            <a:pPr marL="0" indent="0">
              <a:buNone/>
            </a:pPr>
            <a:endParaRPr lang="en-IN" b="1" dirty="0"/>
          </a:p>
          <a:p>
            <a:pPr marL="0" indent="0">
              <a:buNone/>
            </a:pPr>
            <a:endParaRPr lang="en-IN" b="1" dirty="0"/>
          </a:p>
          <a:p>
            <a:pPr marL="0" indent="0">
              <a:buNone/>
            </a:pPr>
            <a:endParaRPr lang="en-IN" baseline="-25000" dirty="0"/>
          </a:p>
        </p:txBody>
      </p:sp>
    </p:spTree>
    <p:extLst>
      <p:ext uri="{BB962C8B-B14F-4D97-AF65-F5344CB8AC3E}">
        <p14:creationId xmlns:p14="http://schemas.microsoft.com/office/powerpoint/2010/main" val="4972446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910E30C-D055-4155-8B3F-C313A8751DA6}"/>
              </a:ext>
            </a:extLst>
          </p:cNvPr>
          <p:cNvSpPr>
            <a:spLocks noGrp="1"/>
          </p:cNvSpPr>
          <p:nvPr>
            <p:ph idx="1"/>
          </p:nvPr>
        </p:nvSpPr>
        <p:spPr>
          <a:xfrm>
            <a:off x="768626" y="0"/>
            <a:ext cx="10515600" cy="6554651"/>
          </a:xfrm>
        </p:spPr>
        <p:txBody>
          <a:bodyPr>
            <a:normAutofit fontScale="47500" lnSpcReduction="20000"/>
          </a:bodyPr>
          <a:lstStyle/>
          <a:p>
            <a:pPr marL="0" indent="0">
              <a:buNone/>
            </a:pPr>
            <a:r>
              <a:rPr lang="en-US" sz="5800" b="1" dirty="0"/>
              <a:t>Numerical 7: </a:t>
            </a:r>
            <a:r>
              <a:rPr lang="en-US" sz="5800" dirty="0"/>
              <a:t>50mL sample of water require 15.3mL of M/15 disodium EDTA for titration. After boiling and filtration the same volume required 9.5mL of EDTA. Calculate all the types of hardness in it. </a:t>
            </a:r>
          </a:p>
          <a:p>
            <a:pPr marL="0" indent="0">
              <a:buNone/>
            </a:pPr>
            <a:r>
              <a:rPr lang="en-US" sz="5800" dirty="0"/>
              <a:t>Solution</a:t>
            </a:r>
          </a:p>
          <a:p>
            <a:pPr marL="0" indent="0">
              <a:buNone/>
            </a:pPr>
            <a:r>
              <a:rPr lang="en-IN" sz="3400" dirty="0" smtClean="0"/>
              <a:t>M/15 </a:t>
            </a:r>
            <a:r>
              <a:rPr lang="en-IN" sz="3400" dirty="0"/>
              <a:t>EDTA = 1/15M EDTA = 0.067M EDTA</a:t>
            </a:r>
          </a:p>
          <a:p>
            <a:pPr marL="0" indent="0">
              <a:buNone/>
            </a:pPr>
            <a:r>
              <a:rPr lang="en-IN" sz="3400" dirty="0"/>
              <a:t>Std relationships says that,</a:t>
            </a:r>
          </a:p>
          <a:p>
            <a:pPr marL="0" indent="0">
              <a:buNone/>
            </a:pPr>
            <a:r>
              <a:rPr lang="en-IN" sz="3400" b="1" dirty="0"/>
              <a:t>1000mL of 1M EDTA = 100g of CaCO3……due to Avogadro's numbers of molecules</a:t>
            </a:r>
          </a:p>
          <a:p>
            <a:pPr marL="0" indent="0">
              <a:buNone/>
            </a:pPr>
            <a:r>
              <a:rPr lang="en-IN" sz="3400" dirty="0"/>
              <a:t>1mL of 1M EDTA = 100mg of CaCO3</a:t>
            </a:r>
          </a:p>
          <a:p>
            <a:pPr marL="0" indent="0">
              <a:buNone/>
            </a:pPr>
            <a:r>
              <a:rPr lang="en-IN" sz="3400" b="1" dirty="0"/>
              <a:t>1mL of  0.067M EDTA = 100 x 0.067 = 6.7mg of CaCO3</a:t>
            </a:r>
          </a:p>
          <a:p>
            <a:pPr marL="0" indent="0">
              <a:buNone/>
            </a:pPr>
            <a:r>
              <a:rPr lang="en-IN" sz="3400" b="1" dirty="0"/>
              <a:t>Total Hardness:</a:t>
            </a:r>
          </a:p>
          <a:p>
            <a:pPr marL="0" indent="0">
              <a:buNone/>
            </a:pPr>
            <a:r>
              <a:rPr lang="en-IN" sz="3400" b="1" dirty="0"/>
              <a:t>50 mL of sample HW = 15.3mL of </a:t>
            </a:r>
            <a:r>
              <a:rPr lang="en-IN" sz="3400" b="1" dirty="0" smtClean="0"/>
              <a:t>0.067M </a:t>
            </a:r>
            <a:r>
              <a:rPr lang="en-IN" sz="3400" b="1" dirty="0"/>
              <a:t>EDTA </a:t>
            </a:r>
            <a:r>
              <a:rPr lang="en-IN" sz="3400" b="1" dirty="0" err="1"/>
              <a:t>soln</a:t>
            </a:r>
            <a:endParaRPr lang="en-IN" sz="3400" b="1" dirty="0"/>
          </a:p>
          <a:p>
            <a:pPr marL="0" indent="0">
              <a:buNone/>
            </a:pPr>
            <a:r>
              <a:rPr lang="en-IN" sz="3400" b="1" dirty="0"/>
              <a:t>                                       = 15.3 x 6.7 =102.51mg of CaCO3 eq.</a:t>
            </a:r>
          </a:p>
          <a:p>
            <a:pPr marL="0" indent="0">
              <a:buNone/>
            </a:pPr>
            <a:r>
              <a:rPr lang="en-IN" sz="3400" b="1" dirty="0"/>
              <a:t>1000mL of sample HW = 102.51 x 1000/50 = 102.51 x 20 = 2050.2 mg of CaCO3</a:t>
            </a:r>
          </a:p>
          <a:p>
            <a:pPr marL="0" indent="0">
              <a:buNone/>
            </a:pPr>
            <a:r>
              <a:rPr lang="en-IN" sz="3400" b="1" dirty="0"/>
              <a:t>Hence Total Hardness = 2050.2ppm</a:t>
            </a:r>
          </a:p>
          <a:p>
            <a:pPr marL="0" indent="0">
              <a:buNone/>
            </a:pPr>
            <a:r>
              <a:rPr lang="en-IN" sz="3400" b="1" dirty="0"/>
              <a:t>Permanent Hardness:</a:t>
            </a:r>
          </a:p>
          <a:p>
            <a:pPr marL="0" indent="0">
              <a:buNone/>
            </a:pPr>
            <a:r>
              <a:rPr lang="en-IN" sz="3400" b="1" dirty="0"/>
              <a:t>50mL of Boiled sample HW = 9.5mL of </a:t>
            </a:r>
            <a:r>
              <a:rPr lang="en-IN" sz="3400" b="1" dirty="0" smtClean="0"/>
              <a:t>0.067M </a:t>
            </a:r>
            <a:r>
              <a:rPr lang="en-IN" sz="3400" b="1" dirty="0"/>
              <a:t>EDTA</a:t>
            </a:r>
          </a:p>
          <a:p>
            <a:pPr marL="0" indent="0">
              <a:buNone/>
            </a:pPr>
            <a:r>
              <a:rPr lang="en-IN" sz="3400" b="1" dirty="0"/>
              <a:t>                                                   = 9.5 x 6.7 = 63.65mg of CaCO3 eq.</a:t>
            </a:r>
          </a:p>
          <a:p>
            <a:pPr marL="0" indent="0">
              <a:buNone/>
            </a:pPr>
            <a:r>
              <a:rPr lang="en-IN" sz="3400" b="1" dirty="0"/>
              <a:t>1000mL of boiled Sample HW = 63.65 x 20 = 1273mg of CaCO3 </a:t>
            </a:r>
            <a:r>
              <a:rPr lang="en-IN" sz="3400" b="1" dirty="0" err="1"/>
              <a:t>eq</a:t>
            </a:r>
            <a:endParaRPr lang="en-IN" sz="3400" b="1" dirty="0"/>
          </a:p>
          <a:p>
            <a:pPr marL="0" indent="0">
              <a:buNone/>
            </a:pPr>
            <a:r>
              <a:rPr lang="en-IN" sz="3400" b="1" dirty="0"/>
              <a:t>Hence Permanent Hardness = 1273ppm</a:t>
            </a:r>
          </a:p>
          <a:p>
            <a:pPr marL="0" indent="0">
              <a:buNone/>
            </a:pPr>
            <a:r>
              <a:rPr lang="en-IN" sz="3400" b="1" dirty="0"/>
              <a:t>So, temporary hardness = 2050.2-1273= 777.2ppm</a:t>
            </a:r>
          </a:p>
          <a:p>
            <a:pPr marL="0" indent="0">
              <a:buNone/>
            </a:pPr>
            <a:endParaRPr lang="en-US" sz="3400" dirty="0"/>
          </a:p>
          <a:p>
            <a:pPr marL="0" indent="0">
              <a:buNone/>
            </a:pPr>
            <a:endParaRPr lang="en-IN" dirty="0">
              <a:solidFill>
                <a:schemeClr val="bg1"/>
              </a:solidFill>
            </a:endParaRPr>
          </a:p>
        </p:txBody>
      </p:sp>
    </p:spTree>
    <p:extLst>
      <p:ext uri="{BB962C8B-B14F-4D97-AF65-F5344CB8AC3E}">
        <p14:creationId xmlns:p14="http://schemas.microsoft.com/office/powerpoint/2010/main" val="34458772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884F12-BEDC-4D14-B6FE-E2951472C505}"/>
              </a:ext>
            </a:extLst>
          </p:cNvPr>
          <p:cNvSpPr>
            <a:spLocks noGrp="1"/>
          </p:cNvSpPr>
          <p:nvPr>
            <p:ph type="title"/>
          </p:nvPr>
        </p:nvSpPr>
        <p:spPr/>
        <p:txBody>
          <a:bodyPr/>
          <a:lstStyle/>
          <a:p>
            <a:r>
              <a:rPr lang="en-US" dirty="0"/>
              <a:t>Softening of Water by Lime-Soda Method</a:t>
            </a:r>
            <a:endParaRPr lang="en-IN" dirty="0"/>
          </a:p>
        </p:txBody>
      </p:sp>
      <p:sp>
        <p:nvSpPr>
          <p:cNvPr id="3" name="Content Placeholder 2">
            <a:extLst>
              <a:ext uri="{FF2B5EF4-FFF2-40B4-BE49-F238E27FC236}">
                <a16:creationId xmlns:a16="http://schemas.microsoft.com/office/drawing/2014/main" xmlns="" id="{28BA608B-79C7-4D4F-909B-89FEFD3CEF31}"/>
              </a:ext>
            </a:extLst>
          </p:cNvPr>
          <p:cNvSpPr>
            <a:spLocks noGrp="1"/>
          </p:cNvSpPr>
          <p:nvPr>
            <p:ph idx="1"/>
          </p:nvPr>
        </p:nvSpPr>
        <p:spPr/>
        <p:txBody>
          <a:bodyPr/>
          <a:lstStyle/>
          <a:p>
            <a:pPr marL="0" indent="0">
              <a:buNone/>
            </a:pPr>
            <a:r>
              <a:rPr lang="en-US" dirty="0"/>
              <a:t>The process of removing or reducing the concentrations of hardness causing ions/ salts from hard water is called as Softening of water.</a:t>
            </a:r>
          </a:p>
          <a:p>
            <a:pPr marL="0" indent="0">
              <a:buNone/>
            </a:pPr>
            <a:endParaRPr lang="en-US" dirty="0"/>
          </a:p>
          <a:p>
            <a:pPr marL="0" indent="0">
              <a:buNone/>
            </a:pPr>
            <a:r>
              <a:rPr lang="en-US" dirty="0"/>
              <a:t>Principle</a:t>
            </a:r>
          </a:p>
          <a:p>
            <a:pPr marL="0" indent="0">
              <a:buNone/>
            </a:pPr>
            <a:r>
              <a:rPr lang="en-US" dirty="0"/>
              <a:t>In  this method hard water is treated with calculated amounts of slaked Lime[Ca(OH)2] and soda ash Na2CO3 in reactions tanks. So as to convert hardness producing chemicals into insoluble  compounds, which are then removed by settling and filtration. </a:t>
            </a:r>
            <a:endParaRPr lang="en-IN" dirty="0"/>
          </a:p>
        </p:txBody>
      </p:sp>
    </p:spTree>
    <p:extLst>
      <p:ext uri="{BB962C8B-B14F-4D97-AF65-F5344CB8AC3E}">
        <p14:creationId xmlns:p14="http://schemas.microsoft.com/office/powerpoint/2010/main" val="387941691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4A600974-E269-49BB-8002-109346682C45}"/>
              </a:ext>
            </a:extLst>
          </p:cNvPr>
          <p:cNvGraphicFramePr>
            <a:graphicFrameLocks noGrp="1"/>
          </p:cNvGraphicFramePr>
          <p:nvPr>
            <p:ph idx="1"/>
            <p:extLst>
              <p:ext uri="{D42A27DB-BD31-4B8C-83A1-F6EECF244321}">
                <p14:modId xmlns:p14="http://schemas.microsoft.com/office/powerpoint/2010/main" val="3646995650"/>
              </p:ext>
            </p:extLst>
          </p:nvPr>
        </p:nvGraphicFramePr>
        <p:xfrm>
          <a:off x="642920" y="781582"/>
          <a:ext cx="10515597" cy="6040120"/>
        </p:xfrm>
        <a:graphic>
          <a:graphicData uri="http://schemas.openxmlformats.org/drawingml/2006/table">
            <a:tbl>
              <a:tblPr firstRow="1" bandRow="1">
                <a:tableStyleId>{5C22544A-7EE6-4342-B048-85BDC9FD1C3A}</a:tableStyleId>
              </a:tblPr>
              <a:tblGrid>
                <a:gridCol w="1806526">
                  <a:extLst>
                    <a:ext uri="{9D8B030D-6E8A-4147-A177-3AD203B41FA5}">
                      <a16:colId xmlns:a16="http://schemas.microsoft.com/office/drawing/2014/main" xmlns="" val="3178302436"/>
                    </a:ext>
                  </a:extLst>
                </a:gridCol>
                <a:gridCol w="7272997">
                  <a:extLst>
                    <a:ext uri="{9D8B030D-6E8A-4147-A177-3AD203B41FA5}">
                      <a16:colId xmlns:a16="http://schemas.microsoft.com/office/drawing/2014/main" xmlns="" val="4149260415"/>
                    </a:ext>
                  </a:extLst>
                </a:gridCol>
                <a:gridCol w="1436074">
                  <a:extLst>
                    <a:ext uri="{9D8B030D-6E8A-4147-A177-3AD203B41FA5}">
                      <a16:colId xmlns:a16="http://schemas.microsoft.com/office/drawing/2014/main" xmlns="" val="2347015292"/>
                    </a:ext>
                  </a:extLst>
                </a:gridCol>
              </a:tblGrid>
              <a:tr h="472049">
                <a:tc>
                  <a:txBody>
                    <a:bodyPr/>
                    <a:lstStyle/>
                    <a:p>
                      <a:r>
                        <a:rPr lang="en-US" dirty="0"/>
                        <a:t>Constituent</a:t>
                      </a:r>
                      <a:endParaRPr lang="en-IN" dirty="0"/>
                    </a:p>
                  </a:txBody>
                  <a:tcPr/>
                </a:tc>
                <a:tc>
                  <a:txBody>
                    <a:bodyPr/>
                    <a:lstStyle/>
                    <a:p>
                      <a:r>
                        <a:rPr lang="en-US" dirty="0"/>
                        <a:t>Reactions</a:t>
                      </a:r>
                      <a:endParaRPr lang="en-IN" dirty="0"/>
                    </a:p>
                  </a:txBody>
                  <a:tcPr/>
                </a:tc>
                <a:tc>
                  <a:txBody>
                    <a:bodyPr/>
                    <a:lstStyle/>
                    <a:p>
                      <a:r>
                        <a:rPr lang="en-US" dirty="0"/>
                        <a:t>Requirement L or S</a:t>
                      </a:r>
                      <a:endParaRPr lang="en-IN" dirty="0"/>
                    </a:p>
                  </a:txBody>
                  <a:tcPr/>
                </a:tc>
                <a:extLst>
                  <a:ext uri="{0D108BD9-81ED-4DB2-BD59-A6C34878D82A}">
                    <a16:rowId xmlns:a16="http://schemas.microsoft.com/office/drawing/2014/main" xmlns="" val="4043221770"/>
                  </a:ext>
                </a:extLst>
              </a:tr>
              <a:tr h="370840">
                <a:tc>
                  <a:txBody>
                    <a:bodyPr/>
                    <a:lstStyle/>
                    <a:p>
                      <a:pPr marL="342900" indent="-342900">
                        <a:buAutoNum type="arabicParenR"/>
                      </a:pPr>
                      <a:r>
                        <a:rPr lang="en-US" dirty="0"/>
                        <a:t>Ca2+ (perm.)</a:t>
                      </a:r>
                    </a:p>
                    <a:p>
                      <a:pPr marL="0" indent="0">
                        <a:buNone/>
                      </a:pPr>
                      <a:r>
                        <a:rPr lang="en-US" dirty="0" err="1"/>
                        <a:t>Eg.</a:t>
                      </a:r>
                      <a:r>
                        <a:rPr lang="en-US" dirty="0"/>
                        <a:t> CaCl2, CaSO4</a:t>
                      </a:r>
                      <a:endParaRPr lang="en-IN" dirty="0"/>
                    </a:p>
                  </a:txBody>
                  <a:tcPr/>
                </a:tc>
                <a:tc>
                  <a:txBody>
                    <a:bodyPr/>
                    <a:lstStyle/>
                    <a:p>
                      <a:r>
                        <a:rPr lang="en-US" dirty="0"/>
                        <a:t>Ca2+  +  </a:t>
                      </a:r>
                      <a:r>
                        <a:rPr lang="en-US" b="1" dirty="0"/>
                        <a:t>Na2CO3</a:t>
                      </a:r>
                      <a:r>
                        <a:rPr lang="en-US" dirty="0"/>
                        <a:t>   </a:t>
                      </a:r>
                      <a:r>
                        <a:rPr lang="en-US" dirty="0">
                          <a:sym typeface="Wingdings" panose="05000000000000000000" pitchFamily="2" charset="2"/>
                        </a:rPr>
                        <a:t> CaCO3    + 2Na+</a:t>
                      </a:r>
                      <a:endParaRPr lang="en-IN" dirty="0"/>
                    </a:p>
                  </a:txBody>
                  <a:tcPr/>
                </a:tc>
                <a:tc>
                  <a:txBody>
                    <a:bodyPr/>
                    <a:lstStyle/>
                    <a:p>
                      <a:pPr algn="ctr"/>
                      <a:r>
                        <a:rPr lang="en-US" b="1" dirty="0" smtClean="0"/>
                        <a:t>S</a:t>
                      </a:r>
                      <a:endParaRPr lang="en-IN" b="1" dirty="0"/>
                    </a:p>
                  </a:txBody>
                  <a:tcPr/>
                </a:tc>
                <a:extLst>
                  <a:ext uri="{0D108BD9-81ED-4DB2-BD59-A6C34878D82A}">
                    <a16:rowId xmlns:a16="http://schemas.microsoft.com/office/drawing/2014/main" xmlns="" val="127446643"/>
                  </a:ext>
                </a:extLst>
              </a:tr>
              <a:tr h="370840">
                <a:tc>
                  <a:txBody>
                    <a:bodyPr/>
                    <a:lstStyle/>
                    <a:p>
                      <a:r>
                        <a:rPr lang="en-US" dirty="0"/>
                        <a:t>2) Mg2+ (perm.)</a:t>
                      </a:r>
                    </a:p>
                    <a:p>
                      <a:r>
                        <a:rPr lang="en-US" dirty="0" err="1"/>
                        <a:t>Eg.</a:t>
                      </a:r>
                      <a:r>
                        <a:rPr lang="en-US" dirty="0"/>
                        <a:t> MgCl2, MgSO4</a:t>
                      </a:r>
                      <a:endParaRPr lang="en-IN" dirty="0"/>
                    </a:p>
                  </a:txBody>
                  <a:tcPr/>
                </a:tc>
                <a:tc>
                  <a:txBody>
                    <a:bodyPr/>
                    <a:lstStyle/>
                    <a:p>
                      <a:r>
                        <a:rPr lang="en-US" dirty="0"/>
                        <a:t>Mg2+   + </a:t>
                      </a:r>
                      <a:r>
                        <a:rPr lang="en-US" b="1" dirty="0"/>
                        <a:t>Ca(OH)2</a:t>
                      </a:r>
                      <a:r>
                        <a:rPr lang="en-US" dirty="0"/>
                        <a:t>  </a:t>
                      </a:r>
                      <a:r>
                        <a:rPr lang="en-US" dirty="0">
                          <a:sym typeface="Wingdings" panose="05000000000000000000" pitchFamily="2" charset="2"/>
                        </a:rPr>
                        <a:t> Mg(OH)2   +   Ca2+</a:t>
                      </a:r>
                    </a:p>
                    <a:p>
                      <a:r>
                        <a:rPr lang="en-US" dirty="0">
                          <a:sym typeface="Wingdings" panose="05000000000000000000" pitchFamily="2" charset="2"/>
                        </a:rPr>
                        <a:t>Ca2+     + </a:t>
                      </a:r>
                      <a:r>
                        <a:rPr lang="en-US" b="1" dirty="0">
                          <a:sym typeface="Wingdings" panose="05000000000000000000" pitchFamily="2" charset="2"/>
                        </a:rPr>
                        <a:t>Na2CO3</a:t>
                      </a:r>
                      <a:r>
                        <a:rPr lang="en-US" dirty="0">
                          <a:sym typeface="Wingdings" panose="05000000000000000000" pitchFamily="2" charset="2"/>
                        </a:rPr>
                        <a:t>   CaCO3   + 2Na+ </a:t>
                      </a:r>
                      <a:endParaRPr lang="en-IN" dirty="0"/>
                    </a:p>
                  </a:txBody>
                  <a:tcPr/>
                </a:tc>
                <a:tc>
                  <a:txBody>
                    <a:bodyPr/>
                    <a:lstStyle/>
                    <a:p>
                      <a:pPr algn="ctr"/>
                      <a:r>
                        <a:rPr lang="en-US" b="1" dirty="0"/>
                        <a:t>L + </a:t>
                      </a:r>
                      <a:r>
                        <a:rPr lang="en-US" b="1" dirty="0" smtClean="0"/>
                        <a:t>S </a:t>
                      </a:r>
                      <a:endParaRPr lang="en-IN" b="1" dirty="0"/>
                    </a:p>
                  </a:txBody>
                  <a:tcPr/>
                </a:tc>
                <a:extLst>
                  <a:ext uri="{0D108BD9-81ED-4DB2-BD59-A6C34878D82A}">
                    <a16:rowId xmlns:a16="http://schemas.microsoft.com/office/drawing/2014/main" xmlns="" val="2226707214"/>
                  </a:ext>
                </a:extLst>
              </a:tr>
              <a:tr h="370840">
                <a:tc>
                  <a:txBody>
                    <a:bodyPr/>
                    <a:lstStyle/>
                    <a:p>
                      <a:r>
                        <a:rPr lang="en-US" dirty="0"/>
                        <a:t>3) HCO3-</a:t>
                      </a:r>
                    </a:p>
                    <a:p>
                      <a:r>
                        <a:rPr lang="en-US" dirty="0" err="1"/>
                        <a:t>Eg.</a:t>
                      </a:r>
                      <a:r>
                        <a:rPr lang="en-US" dirty="0"/>
                        <a:t> NaHCO3</a:t>
                      </a:r>
                      <a:endParaRPr lang="en-IN" dirty="0"/>
                    </a:p>
                  </a:txBody>
                  <a:tcPr/>
                </a:tc>
                <a:tc>
                  <a:txBody>
                    <a:bodyPr/>
                    <a:lstStyle/>
                    <a:p>
                      <a:r>
                        <a:rPr lang="en-US" dirty="0"/>
                        <a:t>2HCO3-     +   </a:t>
                      </a:r>
                      <a:r>
                        <a:rPr lang="en-US" b="1" dirty="0"/>
                        <a:t>Ca(OH)2</a:t>
                      </a:r>
                      <a:r>
                        <a:rPr lang="en-US" dirty="0"/>
                        <a:t>  </a:t>
                      </a:r>
                      <a:r>
                        <a:rPr lang="en-US" dirty="0">
                          <a:sym typeface="Wingdings" panose="05000000000000000000" pitchFamily="2" charset="2"/>
                        </a:rPr>
                        <a:t>  CaCO3 + </a:t>
                      </a:r>
                      <a:r>
                        <a:rPr lang="en-US" dirty="0" smtClean="0">
                          <a:sym typeface="Wingdings" panose="05000000000000000000" pitchFamily="2" charset="2"/>
                        </a:rPr>
                        <a:t>2H2O </a:t>
                      </a:r>
                      <a:r>
                        <a:rPr lang="en-US" dirty="0">
                          <a:sym typeface="Wingdings" panose="05000000000000000000" pitchFamily="2" charset="2"/>
                        </a:rPr>
                        <a:t>+ CO3</a:t>
                      </a:r>
                      <a:r>
                        <a:rPr lang="en-US" baseline="30000" dirty="0">
                          <a:sym typeface="Wingdings" panose="05000000000000000000" pitchFamily="2" charset="2"/>
                        </a:rPr>
                        <a:t>2- </a:t>
                      </a:r>
                      <a:r>
                        <a:rPr lang="en-US" baseline="0" dirty="0">
                          <a:sym typeface="Wingdings" panose="05000000000000000000" pitchFamily="2" charset="2"/>
                        </a:rPr>
                        <a:t>= Na2CO3</a:t>
                      </a:r>
                      <a:endParaRPr lang="en-IN" baseline="30000" dirty="0"/>
                    </a:p>
                  </a:txBody>
                  <a:tcPr/>
                </a:tc>
                <a:tc>
                  <a:txBody>
                    <a:bodyPr/>
                    <a:lstStyle/>
                    <a:p>
                      <a:pPr algn="ctr"/>
                      <a:r>
                        <a:rPr lang="en-US" b="1" dirty="0"/>
                        <a:t>L –  S  </a:t>
                      </a:r>
                      <a:endParaRPr lang="en-IN" b="1" dirty="0"/>
                    </a:p>
                  </a:txBody>
                  <a:tcPr/>
                </a:tc>
                <a:extLst>
                  <a:ext uri="{0D108BD9-81ED-4DB2-BD59-A6C34878D82A}">
                    <a16:rowId xmlns:a16="http://schemas.microsoft.com/office/drawing/2014/main" xmlns="" val="2252529375"/>
                  </a:ext>
                </a:extLst>
              </a:tr>
              <a:tr h="370840">
                <a:tc>
                  <a:txBody>
                    <a:bodyPr/>
                    <a:lstStyle/>
                    <a:p>
                      <a:r>
                        <a:rPr lang="en-US" dirty="0"/>
                        <a:t>4) Ca(HCO3)2</a:t>
                      </a:r>
                    </a:p>
                    <a:p>
                      <a:r>
                        <a:rPr lang="en-US" dirty="0"/>
                        <a:t>Temp.</a:t>
                      </a:r>
                      <a:endParaRPr lang="en-IN" dirty="0"/>
                    </a:p>
                  </a:txBody>
                  <a:tcPr/>
                </a:tc>
                <a:tc>
                  <a:txBody>
                    <a:bodyPr/>
                    <a:lstStyle/>
                    <a:p>
                      <a:r>
                        <a:rPr lang="en-US" dirty="0"/>
                        <a:t>     Ca(HCO3)2 + </a:t>
                      </a:r>
                      <a:r>
                        <a:rPr lang="en-US" b="1" dirty="0"/>
                        <a:t>Ca(OH)2 </a:t>
                      </a:r>
                      <a:r>
                        <a:rPr lang="en-US" dirty="0"/>
                        <a:t>      </a:t>
                      </a:r>
                      <a:r>
                        <a:rPr lang="en-US" dirty="0">
                          <a:sym typeface="Wingdings" panose="05000000000000000000" pitchFamily="2" charset="2"/>
                        </a:rPr>
                        <a:t> 2CaCO3  + 2H2O</a:t>
                      </a:r>
                      <a:endParaRPr lang="en-IN" dirty="0"/>
                    </a:p>
                  </a:txBody>
                  <a:tcPr/>
                </a:tc>
                <a:tc>
                  <a:txBody>
                    <a:bodyPr/>
                    <a:lstStyle/>
                    <a:p>
                      <a:r>
                        <a:rPr lang="en-US" dirty="0"/>
                        <a:t>           </a:t>
                      </a:r>
                      <a:r>
                        <a:rPr lang="en-US" b="1" dirty="0"/>
                        <a:t>L</a:t>
                      </a:r>
                      <a:endParaRPr lang="en-IN" b="1" dirty="0"/>
                    </a:p>
                  </a:txBody>
                  <a:tcPr/>
                </a:tc>
                <a:extLst>
                  <a:ext uri="{0D108BD9-81ED-4DB2-BD59-A6C34878D82A}">
                    <a16:rowId xmlns:a16="http://schemas.microsoft.com/office/drawing/2014/main" xmlns="" val="2347374369"/>
                  </a:ext>
                </a:extLst>
              </a:tr>
              <a:tr h="370840">
                <a:tc>
                  <a:txBody>
                    <a:bodyPr/>
                    <a:lstStyle/>
                    <a:p>
                      <a:r>
                        <a:rPr lang="en-US" dirty="0"/>
                        <a:t>5) Mg(HCO3)2</a:t>
                      </a:r>
                    </a:p>
                    <a:p>
                      <a:r>
                        <a:rPr lang="en-US" dirty="0"/>
                        <a:t>Temp.</a:t>
                      </a:r>
                      <a:endParaRPr lang="en-IN" dirty="0"/>
                    </a:p>
                  </a:txBody>
                  <a:tcPr/>
                </a:tc>
                <a:tc>
                  <a:txBody>
                    <a:bodyPr/>
                    <a:lstStyle/>
                    <a:p>
                      <a:r>
                        <a:rPr lang="en-US" dirty="0"/>
                        <a:t>Mg(HCO3)2  +  2Ca(OH)2 </a:t>
                      </a:r>
                      <a:r>
                        <a:rPr lang="en-US" dirty="0">
                          <a:sym typeface="Wingdings" panose="05000000000000000000" pitchFamily="2" charset="2"/>
                        </a:rPr>
                        <a:t> Mg(OH)2 + 2 CaCO3 + 2H2O</a:t>
                      </a:r>
                      <a:endParaRPr lang="en-IN" dirty="0"/>
                    </a:p>
                  </a:txBody>
                  <a:tcPr/>
                </a:tc>
                <a:tc>
                  <a:txBody>
                    <a:bodyPr/>
                    <a:lstStyle/>
                    <a:p>
                      <a:pPr algn="ctr"/>
                      <a:r>
                        <a:rPr lang="en-US" b="1" dirty="0"/>
                        <a:t>2L</a:t>
                      </a:r>
                      <a:endParaRPr lang="en-IN" b="1" dirty="0"/>
                    </a:p>
                  </a:txBody>
                  <a:tcPr/>
                </a:tc>
                <a:extLst>
                  <a:ext uri="{0D108BD9-81ED-4DB2-BD59-A6C34878D82A}">
                    <a16:rowId xmlns:a16="http://schemas.microsoft.com/office/drawing/2014/main" xmlns="" val="1174547122"/>
                  </a:ext>
                </a:extLst>
              </a:tr>
              <a:tr h="370840">
                <a:tc>
                  <a:txBody>
                    <a:bodyPr/>
                    <a:lstStyle/>
                    <a:p>
                      <a:r>
                        <a:rPr lang="en-US" dirty="0"/>
                        <a:t>6) CO2</a:t>
                      </a:r>
                      <a:endParaRPr lang="en-IN" dirty="0"/>
                    </a:p>
                  </a:txBody>
                  <a:tcPr/>
                </a:tc>
                <a:tc>
                  <a:txBody>
                    <a:bodyPr/>
                    <a:lstStyle/>
                    <a:p>
                      <a:r>
                        <a:rPr lang="en-US" dirty="0"/>
                        <a:t>CO2 + Ca(OH)2  </a:t>
                      </a:r>
                      <a:r>
                        <a:rPr lang="en-US" dirty="0">
                          <a:sym typeface="Wingdings" panose="05000000000000000000" pitchFamily="2" charset="2"/>
                        </a:rPr>
                        <a:t> CaCO3 + H2O</a:t>
                      </a:r>
                      <a:endParaRPr lang="en-IN" dirty="0"/>
                    </a:p>
                  </a:txBody>
                  <a:tcPr/>
                </a:tc>
                <a:tc>
                  <a:txBody>
                    <a:bodyPr/>
                    <a:lstStyle/>
                    <a:p>
                      <a:pPr algn="ctr"/>
                      <a:r>
                        <a:rPr lang="en-US" b="1" dirty="0"/>
                        <a:t>L</a:t>
                      </a:r>
                      <a:endParaRPr lang="en-IN" b="1" dirty="0"/>
                    </a:p>
                  </a:txBody>
                  <a:tcPr/>
                </a:tc>
                <a:extLst>
                  <a:ext uri="{0D108BD9-81ED-4DB2-BD59-A6C34878D82A}">
                    <a16:rowId xmlns:a16="http://schemas.microsoft.com/office/drawing/2014/main" xmlns="" val="764430348"/>
                  </a:ext>
                </a:extLst>
              </a:tr>
              <a:tr h="370840">
                <a:tc>
                  <a:txBody>
                    <a:bodyPr/>
                    <a:lstStyle/>
                    <a:p>
                      <a:r>
                        <a:rPr lang="en-US" dirty="0"/>
                        <a:t>7) H+</a:t>
                      </a:r>
                      <a:endParaRPr lang="en-IN" dirty="0"/>
                    </a:p>
                  </a:txBody>
                  <a:tcPr/>
                </a:tc>
                <a:tc>
                  <a:txBody>
                    <a:bodyPr/>
                    <a:lstStyle/>
                    <a:p>
                      <a:r>
                        <a:rPr lang="en-US" dirty="0"/>
                        <a:t>2H+  +  Ca(OH)2 </a:t>
                      </a:r>
                      <a:r>
                        <a:rPr lang="en-US" dirty="0">
                          <a:sym typeface="Wingdings" panose="05000000000000000000" pitchFamily="2" charset="2"/>
                        </a:rPr>
                        <a:t> 2H2O + Ca2+</a:t>
                      </a:r>
                    </a:p>
                    <a:p>
                      <a:r>
                        <a:rPr lang="en-US" dirty="0">
                          <a:sym typeface="Wingdings" panose="05000000000000000000" pitchFamily="2" charset="2"/>
                        </a:rPr>
                        <a:t>Ca2+   +    Na2CO3  CaCO3  + 2Na+ </a:t>
                      </a:r>
                      <a:endParaRPr lang="en-IN" dirty="0"/>
                    </a:p>
                  </a:txBody>
                  <a:tcPr/>
                </a:tc>
                <a:tc>
                  <a:txBody>
                    <a:bodyPr/>
                    <a:lstStyle/>
                    <a:p>
                      <a:pPr algn="ctr"/>
                      <a:r>
                        <a:rPr lang="en-US" b="1" dirty="0"/>
                        <a:t>L + S</a:t>
                      </a:r>
                      <a:endParaRPr lang="en-IN" b="1" dirty="0"/>
                    </a:p>
                  </a:txBody>
                  <a:tcPr/>
                </a:tc>
                <a:extLst>
                  <a:ext uri="{0D108BD9-81ED-4DB2-BD59-A6C34878D82A}">
                    <a16:rowId xmlns:a16="http://schemas.microsoft.com/office/drawing/2014/main" xmlns="" val="1124363497"/>
                  </a:ext>
                </a:extLst>
              </a:tr>
              <a:tr h="370840">
                <a:tc>
                  <a:txBody>
                    <a:bodyPr/>
                    <a:lstStyle/>
                    <a:p>
                      <a:r>
                        <a:rPr lang="en-US" dirty="0"/>
                        <a:t>8) FeSO4</a:t>
                      </a:r>
                      <a:endParaRPr lang="en-IN" dirty="0"/>
                    </a:p>
                  </a:txBody>
                  <a:tcPr/>
                </a:tc>
                <a:tc>
                  <a:txBody>
                    <a:bodyPr/>
                    <a:lstStyle/>
                    <a:p>
                      <a:r>
                        <a:rPr lang="en-US" dirty="0"/>
                        <a:t>FeSO4 + Ca(OH)2 </a:t>
                      </a:r>
                      <a:r>
                        <a:rPr lang="en-US" dirty="0">
                          <a:sym typeface="Wingdings" panose="05000000000000000000" pitchFamily="2" charset="2"/>
                        </a:rPr>
                        <a:t> Fe(OH)2 + CaSO4</a:t>
                      </a:r>
                    </a:p>
                    <a:p>
                      <a:r>
                        <a:rPr lang="en-US" dirty="0">
                          <a:sym typeface="Wingdings" panose="05000000000000000000" pitchFamily="2" charset="2"/>
                        </a:rPr>
                        <a:t>Fe(OH)2 + O2 + H2O  Fe(OH)3</a:t>
                      </a:r>
                    </a:p>
                    <a:p>
                      <a:r>
                        <a:rPr lang="en-US" dirty="0">
                          <a:sym typeface="Wingdings" panose="05000000000000000000" pitchFamily="2" charset="2"/>
                        </a:rPr>
                        <a:t>CaSO4 + Na2CO3  CaCO3 + Na2SO4</a:t>
                      </a:r>
                      <a:endParaRPr lang="en-IN" dirty="0"/>
                    </a:p>
                  </a:txBody>
                  <a:tcPr/>
                </a:tc>
                <a:tc>
                  <a:txBody>
                    <a:bodyPr/>
                    <a:lstStyle/>
                    <a:p>
                      <a:pPr algn="ctr"/>
                      <a:r>
                        <a:rPr lang="en-US" b="1" dirty="0"/>
                        <a:t>L+S</a:t>
                      </a:r>
                      <a:endParaRPr lang="en-IN" b="1" dirty="0"/>
                    </a:p>
                  </a:txBody>
                  <a:tcPr/>
                </a:tc>
                <a:extLst>
                  <a:ext uri="{0D108BD9-81ED-4DB2-BD59-A6C34878D82A}">
                    <a16:rowId xmlns:a16="http://schemas.microsoft.com/office/drawing/2014/main" xmlns="" val="195977932"/>
                  </a:ext>
                </a:extLst>
              </a:tr>
            </a:tbl>
          </a:graphicData>
        </a:graphic>
      </p:graphicFrame>
      <p:sp>
        <p:nvSpPr>
          <p:cNvPr id="5" name="TextBox 4">
            <a:extLst>
              <a:ext uri="{FF2B5EF4-FFF2-40B4-BE49-F238E27FC236}">
                <a16:creationId xmlns:a16="http://schemas.microsoft.com/office/drawing/2014/main" xmlns="" id="{0C9056DF-8555-416B-8D4E-552E6D18B3C5}"/>
              </a:ext>
            </a:extLst>
          </p:cNvPr>
          <p:cNvSpPr txBox="1"/>
          <p:nvPr/>
        </p:nvSpPr>
        <p:spPr>
          <a:xfrm>
            <a:off x="2700997" y="296148"/>
            <a:ext cx="6399444" cy="923330"/>
          </a:xfrm>
          <a:prstGeom prst="rect">
            <a:avLst/>
          </a:prstGeom>
          <a:noFill/>
        </p:spPr>
        <p:txBody>
          <a:bodyPr wrap="none" rtlCol="0">
            <a:spAutoFit/>
          </a:bodyPr>
          <a:lstStyle/>
          <a:p>
            <a:r>
              <a:rPr lang="en-US" dirty="0"/>
              <a:t>Convert Ca2+ in CaCO3 and Mg2+ into Mg(OH)2, Fe 2+ </a:t>
            </a:r>
            <a:r>
              <a:rPr lang="en-US" dirty="0">
                <a:sym typeface="Wingdings" panose="05000000000000000000" pitchFamily="2" charset="2"/>
              </a:rPr>
              <a:t> Fe(OH)2</a:t>
            </a:r>
            <a:endParaRPr lang="en-US" dirty="0"/>
          </a:p>
          <a:p>
            <a:endParaRPr lang="en-US" dirty="0"/>
          </a:p>
          <a:p>
            <a:r>
              <a:rPr lang="en-US" dirty="0"/>
              <a:t>Soda = Na2CO3  and Lime = Ca(OH)2</a:t>
            </a:r>
            <a:endParaRPr lang="en-IN" dirty="0"/>
          </a:p>
        </p:txBody>
      </p:sp>
      <p:cxnSp>
        <p:nvCxnSpPr>
          <p:cNvPr id="3" name="Straight Arrow Connector 2">
            <a:extLst>
              <a:ext uri="{FF2B5EF4-FFF2-40B4-BE49-F238E27FC236}">
                <a16:creationId xmlns:a16="http://schemas.microsoft.com/office/drawing/2014/main" xmlns="" id="{1AD49C85-6ADB-4EDE-9FCA-B0889EE853A3}"/>
              </a:ext>
            </a:extLst>
          </p:cNvPr>
          <p:cNvCxnSpPr/>
          <p:nvPr/>
        </p:nvCxnSpPr>
        <p:spPr>
          <a:xfrm>
            <a:off x="5233182" y="1997612"/>
            <a:ext cx="0" cy="253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xmlns="" id="{8197C8EC-950C-49D6-940A-03472AD877E1}"/>
              </a:ext>
            </a:extLst>
          </p:cNvPr>
          <p:cNvCxnSpPr/>
          <p:nvPr/>
        </p:nvCxnSpPr>
        <p:spPr>
          <a:xfrm>
            <a:off x="5512191" y="2586110"/>
            <a:ext cx="0" cy="253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xmlns="" id="{0828EECE-9EB1-4AEC-830E-B285061EDBBC}"/>
              </a:ext>
            </a:extLst>
          </p:cNvPr>
          <p:cNvCxnSpPr/>
          <p:nvPr/>
        </p:nvCxnSpPr>
        <p:spPr>
          <a:xfrm>
            <a:off x="6285914" y="4217963"/>
            <a:ext cx="0" cy="253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968949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163C53DF-55A3-4E74-B169-D84ED8BA60D8}"/>
              </a:ext>
            </a:extLst>
          </p:cNvPr>
          <p:cNvGraphicFramePr>
            <a:graphicFrameLocks noGrp="1"/>
          </p:cNvGraphicFramePr>
          <p:nvPr>
            <p:extLst>
              <p:ext uri="{D42A27DB-BD31-4B8C-83A1-F6EECF244321}">
                <p14:modId xmlns:p14="http://schemas.microsoft.com/office/powerpoint/2010/main" val="2637062933"/>
              </p:ext>
            </p:extLst>
          </p:nvPr>
        </p:nvGraphicFramePr>
        <p:xfrm>
          <a:off x="500576" y="953428"/>
          <a:ext cx="10515597" cy="1651000"/>
        </p:xfrm>
        <a:graphic>
          <a:graphicData uri="http://schemas.openxmlformats.org/drawingml/2006/table">
            <a:tbl>
              <a:tblPr firstRow="1" bandRow="1">
                <a:tableStyleId>{5C22544A-7EE6-4342-B048-85BDC9FD1C3A}</a:tableStyleId>
              </a:tblPr>
              <a:tblGrid>
                <a:gridCol w="1806526">
                  <a:extLst>
                    <a:ext uri="{9D8B030D-6E8A-4147-A177-3AD203B41FA5}">
                      <a16:colId xmlns:a16="http://schemas.microsoft.com/office/drawing/2014/main" xmlns="" val="1357443226"/>
                    </a:ext>
                  </a:extLst>
                </a:gridCol>
                <a:gridCol w="7272997">
                  <a:extLst>
                    <a:ext uri="{9D8B030D-6E8A-4147-A177-3AD203B41FA5}">
                      <a16:colId xmlns:a16="http://schemas.microsoft.com/office/drawing/2014/main" xmlns="" val="1814532151"/>
                    </a:ext>
                  </a:extLst>
                </a:gridCol>
                <a:gridCol w="1436074">
                  <a:extLst>
                    <a:ext uri="{9D8B030D-6E8A-4147-A177-3AD203B41FA5}">
                      <a16:colId xmlns:a16="http://schemas.microsoft.com/office/drawing/2014/main" xmlns="" val="1818084216"/>
                    </a:ext>
                  </a:extLst>
                </a:gridCol>
              </a:tblGrid>
              <a:tr h="472049">
                <a:tc>
                  <a:txBody>
                    <a:bodyPr/>
                    <a:lstStyle/>
                    <a:p>
                      <a:r>
                        <a:rPr lang="en-US" dirty="0"/>
                        <a:t>Constituent</a:t>
                      </a:r>
                      <a:endParaRPr lang="en-IN" dirty="0"/>
                    </a:p>
                  </a:txBody>
                  <a:tcPr/>
                </a:tc>
                <a:tc>
                  <a:txBody>
                    <a:bodyPr/>
                    <a:lstStyle/>
                    <a:p>
                      <a:r>
                        <a:rPr lang="en-US" dirty="0"/>
                        <a:t>Reactions</a:t>
                      </a:r>
                      <a:endParaRPr lang="en-IN" dirty="0"/>
                    </a:p>
                  </a:txBody>
                  <a:tcPr/>
                </a:tc>
                <a:tc>
                  <a:txBody>
                    <a:bodyPr/>
                    <a:lstStyle/>
                    <a:p>
                      <a:r>
                        <a:rPr lang="en-US" dirty="0"/>
                        <a:t>Requirement L or S</a:t>
                      </a:r>
                      <a:endParaRPr lang="en-IN" dirty="0"/>
                    </a:p>
                  </a:txBody>
                  <a:tcPr/>
                </a:tc>
                <a:extLst>
                  <a:ext uri="{0D108BD9-81ED-4DB2-BD59-A6C34878D82A}">
                    <a16:rowId xmlns:a16="http://schemas.microsoft.com/office/drawing/2014/main" xmlns="" val="18926091"/>
                  </a:ext>
                </a:extLst>
              </a:tr>
              <a:tr h="370840">
                <a:tc>
                  <a:txBody>
                    <a:bodyPr/>
                    <a:lstStyle/>
                    <a:p>
                      <a:pPr marL="0" indent="0">
                        <a:buNone/>
                      </a:pPr>
                      <a:r>
                        <a:rPr lang="en-US" dirty="0"/>
                        <a:t>9) Al2(SO4)3</a:t>
                      </a:r>
                    </a:p>
                  </a:txBody>
                  <a:tcPr/>
                </a:tc>
                <a:tc>
                  <a:txBody>
                    <a:bodyPr/>
                    <a:lstStyle/>
                    <a:p>
                      <a:r>
                        <a:rPr lang="en-US" dirty="0"/>
                        <a:t>2Al3+ + 3 Ca(OH)2 </a:t>
                      </a:r>
                      <a:r>
                        <a:rPr lang="en-US" dirty="0">
                          <a:sym typeface="Wingdings" panose="05000000000000000000" pitchFamily="2" charset="2"/>
                        </a:rPr>
                        <a:t> </a:t>
                      </a:r>
                      <a:r>
                        <a:rPr lang="en-US" dirty="0" smtClean="0">
                          <a:sym typeface="Wingdings" panose="05000000000000000000" pitchFamily="2" charset="2"/>
                        </a:rPr>
                        <a:t>2Al(OH)3  </a:t>
                      </a:r>
                      <a:r>
                        <a:rPr lang="en-US" dirty="0">
                          <a:sym typeface="Wingdings" panose="05000000000000000000" pitchFamily="2" charset="2"/>
                        </a:rPr>
                        <a:t>+ 3Ca2+</a:t>
                      </a:r>
                    </a:p>
                    <a:p>
                      <a:r>
                        <a:rPr lang="en-US" dirty="0">
                          <a:sym typeface="Wingdings" panose="05000000000000000000" pitchFamily="2" charset="2"/>
                        </a:rPr>
                        <a:t>3Ca2+ + 3Na2CO3  </a:t>
                      </a:r>
                      <a:r>
                        <a:rPr lang="en-US" dirty="0" smtClean="0">
                          <a:sym typeface="Wingdings" panose="05000000000000000000" pitchFamily="2" charset="2"/>
                        </a:rPr>
                        <a:t>3CaCO3 + 6Na+</a:t>
                      </a:r>
                      <a:endParaRPr lang="en-IN" dirty="0"/>
                    </a:p>
                  </a:txBody>
                  <a:tcPr/>
                </a:tc>
                <a:tc>
                  <a:txBody>
                    <a:bodyPr/>
                    <a:lstStyle/>
                    <a:p>
                      <a:pPr algn="ctr"/>
                      <a:r>
                        <a:rPr lang="en-US" b="1" dirty="0" smtClean="0"/>
                        <a:t>L + S</a:t>
                      </a:r>
                      <a:endParaRPr lang="en-IN" b="1" dirty="0"/>
                    </a:p>
                  </a:txBody>
                  <a:tcPr/>
                </a:tc>
                <a:extLst>
                  <a:ext uri="{0D108BD9-81ED-4DB2-BD59-A6C34878D82A}">
                    <a16:rowId xmlns:a16="http://schemas.microsoft.com/office/drawing/2014/main" xmlns="" val="4070702699"/>
                  </a:ext>
                </a:extLst>
              </a:tr>
              <a:tr h="370840">
                <a:tc>
                  <a:txBody>
                    <a:bodyPr/>
                    <a:lstStyle/>
                    <a:p>
                      <a:pPr marL="0" indent="0">
                        <a:buNone/>
                      </a:pPr>
                      <a:r>
                        <a:rPr lang="en-US" dirty="0"/>
                        <a:t>10) NaAlO2</a:t>
                      </a:r>
                    </a:p>
                  </a:txBody>
                  <a:tcPr/>
                </a:tc>
                <a:tc>
                  <a:txBody>
                    <a:bodyPr/>
                    <a:lstStyle/>
                    <a:p>
                      <a:r>
                        <a:rPr lang="en-US" dirty="0"/>
                        <a:t>NaAlO2 + H2O </a:t>
                      </a:r>
                      <a:r>
                        <a:rPr lang="en-US" dirty="0">
                          <a:sym typeface="Wingdings" panose="05000000000000000000" pitchFamily="2" charset="2"/>
                        </a:rPr>
                        <a:t>  Al(OH)3 + NaOH</a:t>
                      </a:r>
                      <a:endParaRPr lang="en-IN" dirty="0"/>
                    </a:p>
                  </a:txBody>
                  <a:tcPr/>
                </a:tc>
                <a:tc>
                  <a:txBody>
                    <a:bodyPr/>
                    <a:lstStyle/>
                    <a:p>
                      <a:pPr algn="ctr"/>
                      <a:r>
                        <a:rPr lang="en-US" b="1" dirty="0"/>
                        <a:t>-L</a:t>
                      </a:r>
                      <a:endParaRPr lang="en-IN" b="1" dirty="0"/>
                    </a:p>
                  </a:txBody>
                  <a:tcPr/>
                </a:tc>
                <a:extLst>
                  <a:ext uri="{0D108BD9-81ED-4DB2-BD59-A6C34878D82A}">
                    <a16:rowId xmlns:a16="http://schemas.microsoft.com/office/drawing/2014/main" xmlns="" val="4034277336"/>
                  </a:ext>
                </a:extLst>
              </a:tr>
            </a:tbl>
          </a:graphicData>
        </a:graphic>
      </p:graphicFrame>
      <p:sp>
        <p:nvSpPr>
          <p:cNvPr id="5" name="TextBox 4">
            <a:extLst>
              <a:ext uri="{FF2B5EF4-FFF2-40B4-BE49-F238E27FC236}">
                <a16:creationId xmlns:a16="http://schemas.microsoft.com/office/drawing/2014/main" xmlns="" id="{9E84F924-591D-45EF-ADED-26545DB5C160}"/>
              </a:ext>
            </a:extLst>
          </p:cNvPr>
          <p:cNvSpPr txBox="1"/>
          <p:nvPr/>
        </p:nvSpPr>
        <p:spPr>
          <a:xfrm>
            <a:off x="500576" y="2936631"/>
            <a:ext cx="12102480" cy="3139321"/>
          </a:xfrm>
          <a:prstGeom prst="rect">
            <a:avLst/>
          </a:prstGeom>
          <a:noFill/>
        </p:spPr>
        <p:txBody>
          <a:bodyPr wrap="none" rtlCol="0">
            <a:spAutoFit/>
          </a:bodyPr>
          <a:lstStyle/>
          <a:p>
            <a:r>
              <a:rPr lang="en-US" dirty="0"/>
              <a:t>Equivalence</a:t>
            </a:r>
          </a:p>
          <a:p>
            <a:r>
              <a:rPr lang="en-US" dirty="0"/>
              <a:t>   CaCO3  =  Ca(OH)2    =    Na2CO3</a:t>
            </a:r>
          </a:p>
          <a:p>
            <a:r>
              <a:rPr lang="en-IN" dirty="0"/>
              <a:t>     100     =    74              =  106</a:t>
            </a:r>
          </a:p>
          <a:p>
            <a:endParaRPr lang="en-IN" dirty="0"/>
          </a:p>
          <a:p>
            <a:r>
              <a:rPr lang="en-IN" dirty="0"/>
              <a:t>Lime required = 74/100 [ Mg2+ perm. + HCO3- + Ca2+ temp. + 2 Mg2+ temp. +  CO2 + H+ + Fe2+ + Al3+ -NaAlO2] mg/L</a:t>
            </a:r>
          </a:p>
          <a:p>
            <a:r>
              <a:rPr lang="en-IN" dirty="0"/>
              <a:t>        </a:t>
            </a:r>
            <a:r>
              <a:rPr lang="en-IN" dirty="0" smtClean="0"/>
              <a:t> </a:t>
            </a:r>
            <a:r>
              <a:rPr lang="en-IN" dirty="0"/>
              <a:t>= </a:t>
            </a:r>
            <a:r>
              <a:rPr lang="en-IN" u="sng" dirty="0"/>
              <a:t>74 [ Mg2+ perm. + HCO3- + Ca2+ temp. + 2 Mg2+ temp. +  CO2 + H+ + Fe2+ + Al3+ -NaAlO2] x Volume of water x 100</a:t>
            </a:r>
          </a:p>
          <a:p>
            <a:r>
              <a:rPr lang="en-IN" u="sng" dirty="0"/>
              <a:t>            </a:t>
            </a:r>
            <a:r>
              <a:rPr lang="en-IN" dirty="0"/>
              <a:t>                                             100 x 1000  x % Purity</a:t>
            </a:r>
          </a:p>
          <a:p>
            <a:r>
              <a:rPr lang="en-IN" dirty="0"/>
              <a:t>                           =    g of Lime</a:t>
            </a:r>
          </a:p>
          <a:p>
            <a:r>
              <a:rPr lang="en-IN" dirty="0"/>
              <a:t>Soda required = </a:t>
            </a:r>
            <a:r>
              <a:rPr lang="en-IN" u="sng" dirty="0"/>
              <a:t>106 [ Ca2+ perm. + Mg2+ perm – HCO3-  + H+ + Fe2+ + Al3+] x volume of water x 100</a:t>
            </a:r>
          </a:p>
          <a:p>
            <a:r>
              <a:rPr lang="en-IN" dirty="0"/>
              <a:t>                                                       100 x 1000 x % </a:t>
            </a:r>
            <a:r>
              <a:rPr lang="en-IN" dirty="0" smtClean="0"/>
              <a:t>purity</a:t>
            </a:r>
          </a:p>
          <a:p>
            <a:r>
              <a:rPr lang="en-IN" dirty="0"/>
              <a:t> </a:t>
            </a:r>
            <a:r>
              <a:rPr lang="en-IN" dirty="0" smtClean="0"/>
              <a:t>                        = ___g of Soda</a:t>
            </a:r>
            <a:endParaRPr lang="en-IN" dirty="0"/>
          </a:p>
        </p:txBody>
      </p:sp>
    </p:spTree>
    <p:extLst>
      <p:ext uri="{BB962C8B-B14F-4D97-AF65-F5344CB8AC3E}">
        <p14:creationId xmlns:p14="http://schemas.microsoft.com/office/powerpoint/2010/main" val="33342593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256A250-CFE1-4C92-B1E7-405466B66467}"/>
              </a:ext>
            </a:extLst>
          </p:cNvPr>
          <p:cNvSpPr>
            <a:spLocks noGrp="1"/>
          </p:cNvSpPr>
          <p:nvPr>
            <p:ph idx="1"/>
          </p:nvPr>
        </p:nvSpPr>
        <p:spPr>
          <a:xfrm>
            <a:off x="548640" y="422032"/>
            <a:ext cx="11240086" cy="6203852"/>
          </a:xfrm>
        </p:spPr>
        <p:txBody>
          <a:bodyPr>
            <a:normAutofit/>
          </a:bodyPr>
          <a:lstStyle/>
          <a:p>
            <a:pPr marL="0" indent="0">
              <a:buNone/>
            </a:pPr>
            <a:r>
              <a:rPr lang="en-US" sz="1400" dirty="0"/>
              <a:t>Numerical 1: Calculate the amount of lime (74% pure) &amp; Soda (90% Pure) for softening of 6000 </a:t>
            </a:r>
            <a:r>
              <a:rPr lang="en-US" sz="1400" dirty="0" err="1"/>
              <a:t>litres</a:t>
            </a:r>
            <a:r>
              <a:rPr lang="en-US" sz="1400" dirty="0"/>
              <a:t> of water containing following impurities.</a:t>
            </a:r>
          </a:p>
          <a:p>
            <a:pPr marL="0" indent="0">
              <a:buNone/>
            </a:pPr>
            <a:r>
              <a:rPr lang="en-US" sz="1400" dirty="0"/>
              <a:t>Mg(HCO3)2 =73mg/L, CaCl2 = 222mg/L, MgSO4 = 120mg/L, Ca(NO3)2 = 164mg/L.</a:t>
            </a:r>
          </a:p>
          <a:p>
            <a:pPr marL="0" indent="0">
              <a:buNone/>
            </a:pPr>
            <a:r>
              <a:rPr lang="en-US" sz="1400" dirty="0" err="1"/>
              <a:t>Soln</a:t>
            </a:r>
            <a:endParaRPr lang="en-US" sz="1400" dirty="0"/>
          </a:p>
          <a:p>
            <a:pPr marL="0" indent="0">
              <a:buNone/>
            </a:pPr>
            <a:endParaRPr lang="en-IN" sz="1400" dirty="0"/>
          </a:p>
        </p:txBody>
      </p:sp>
      <p:graphicFrame>
        <p:nvGraphicFramePr>
          <p:cNvPr id="4" name="Table 4">
            <a:extLst>
              <a:ext uri="{FF2B5EF4-FFF2-40B4-BE49-F238E27FC236}">
                <a16:creationId xmlns:a16="http://schemas.microsoft.com/office/drawing/2014/main" xmlns="" id="{F18B93E9-7008-46D9-899E-E5128CA253F5}"/>
              </a:ext>
            </a:extLst>
          </p:cNvPr>
          <p:cNvGraphicFramePr>
            <a:graphicFrameLocks noGrp="1"/>
          </p:cNvGraphicFramePr>
          <p:nvPr>
            <p:extLst>
              <p:ext uri="{D42A27DB-BD31-4B8C-83A1-F6EECF244321}">
                <p14:modId xmlns:p14="http://schemas.microsoft.com/office/powerpoint/2010/main" val="3084463306"/>
              </p:ext>
            </p:extLst>
          </p:nvPr>
        </p:nvGraphicFramePr>
        <p:xfrm>
          <a:off x="2032000" y="1386400"/>
          <a:ext cx="8697976" cy="2118360"/>
        </p:xfrm>
        <a:graphic>
          <a:graphicData uri="http://schemas.openxmlformats.org/drawingml/2006/table">
            <a:tbl>
              <a:tblPr firstRow="1" bandRow="1">
                <a:tableStyleId>{5C22544A-7EE6-4342-B048-85BDC9FD1C3A}</a:tableStyleId>
              </a:tblPr>
              <a:tblGrid>
                <a:gridCol w="2601976">
                  <a:extLst>
                    <a:ext uri="{9D8B030D-6E8A-4147-A177-3AD203B41FA5}">
                      <a16:colId xmlns:a16="http://schemas.microsoft.com/office/drawing/2014/main" xmlns="" val="1316902536"/>
                    </a:ext>
                  </a:extLst>
                </a:gridCol>
                <a:gridCol w="2032000">
                  <a:extLst>
                    <a:ext uri="{9D8B030D-6E8A-4147-A177-3AD203B41FA5}">
                      <a16:colId xmlns:a16="http://schemas.microsoft.com/office/drawing/2014/main" xmlns="" val="2700790207"/>
                    </a:ext>
                  </a:extLst>
                </a:gridCol>
                <a:gridCol w="2131255">
                  <a:extLst>
                    <a:ext uri="{9D8B030D-6E8A-4147-A177-3AD203B41FA5}">
                      <a16:colId xmlns:a16="http://schemas.microsoft.com/office/drawing/2014/main" xmlns="" val="392619232"/>
                    </a:ext>
                  </a:extLst>
                </a:gridCol>
                <a:gridCol w="1932745">
                  <a:extLst>
                    <a:ext uri="{9D8B030D-6E8A-4147-A177-3AD203B41FA5}">
                      <a16:colId xmlns:a16="http://schemas.microsoft.com/office/drawing/2014/main" xmlns="" val="1904807582"/>
                    </a:ext>
                  </a:extLst>
                </a:gridCol>
              </a:tblGrid>
              <a:tr h="370840">
                <a:tc>
                  <a:txBody>
                    <a:bodyPr/>
                    <a:lstStyle/>
                    <a:p>
                      <a:r>
                        <a:rPr lang="en-US" dirty="0"/>
                        <a:t>Impurities</a:t>
                      </a:r>
                      <a:endParaRPr lang="en-IN" dirty="0"/>
                    </a:p>
                  </a:txBody>
                  <a:tcPr/>
                </a:tc>
                <a:tc>
                  <a:txBody>
                    <a:bodyPr/>
                    <a:lstStyle/>
                    <a:p>
                      <a:r>
                        <a:rPr lang="en-US" dirty="0"/>
                        <a:t>Multiplication Factor</a:t>
                      </a:r>
                      <a:endParaRPr lang="en-IN" dirty="0"/>
                    </a:p>
                  </a:txBody>
                  <a:tcPr/>
                </a:tc>
                <a:tc>
                  <a:txBody>
                    <a:bodyPr/>
                    <a:lstStyle/>
                    <a:p>
                      <a:r>
                        <a:rPr lang="en-US" dirty="0"/>
                        <a:t>CaCO3 eq.</a:t>
                      </a:r>
                      <a:endParaRPr lang="en-IN" dirty="0"/>
                    </a:p>
                  </a:txBody>
                  <a:tcPr/>
                </a:tc>
                <a:tc>
                  <a:txBody>
                    <a:bodyPr/>
                    <a:lstStyle/>
                    <a:p>
                      <a:r>
                        <a:rPr lang="en-US" dirty="0"/>
                        <a:t>Requirement</a:t>
                      </a:r>
                      <a:endParaRPr lang="en-IN" dirty="0"/>
                    </a:p>
                  </a:txBody>
                  <a:tcPr/>
                </a:tc>
                <a:extLst>
                  <a:ext uri="{0D108BD9-81ED-4DB2-BD59-A6C34878D82A}">
                    <a16:rowId xmlns:a16="http://schemas.microsoft.com/office/drawing/2014/main" xmlns="" val="3304036254"/>
                  </a:ext>
                </a:extLst>
              </a:tr>
              <a:tr h="370840">
                <a:tc>
                  <a:txBody>
                    <a:bodyPr/>
                    <a:lstStyle/>
                    <a:p>
                      <a:pPr marL="342900" indent="-342900">
                        <a:buAutoNum type="arabicParenR"/>
                      </a:pPr>
                      <a:r>
                        <a:rPr lang="en-US" dirty="0"/>
                        <a:t>Mg(HCO3)2 = 73mg/L</a:t>
                      </a:r>
                      <a:endParaRPr lang="en-IN" dirty="0"/>
                    </a:p>
                  </a:txBody>
                  <a:tcPr/>
                </a:tc>
                <a:tc>
                  <a:txBody>
                    <a:bodyPr/>
                    <a:lstStyle/>
                    <a:p>
                      <a:r>
                        <a:rPr lang="en-US" dirty="0"/>
                        <a:t>100/ 146 or 50/73</a:t>
                      </a:r>
                      <a:endParaRPr lang="en-IN" dirty="0"/>
                    </a:p>
                  </a:txBody>
                  <a:tcPr/>
                </a:tc>
                <a:tc>
                  <a:txBody>
                    <a:bodyPr/>
                    <a:lstStyle/>
                    <a:p>
                      <a:r>
                        <a:rPr lang="en-US" dirty="0"/>
                        <a:t>= 73 x 50/73 =50</a:t>
                      </a:r>
                      <a:endParaRPr lang="en-IN" dirty="0"/>
                    </a:p>
                  </a:txBody>
                  <a:tcPr/>
                </a:tc>
                <a:tc>
                  <a:txBody>
                    <a:bodyPr/>
                    <a:lstStyle/>
                    <a:p>
                      <a:r>
                        <a:rPr lang="en-US" dirty="0"/>
                        <a:t>    2L </a:t>
                      </a:r>
                      <a:endParaRPr lang="en-IN" dirty="0"/>
                    </a:p>
                  </a:txBody>
                  <a:tcPr/>
                </a:tc>
                <a:extLst>
                  <a:ext uri="{0D108BD9-81ED-4DB2-BD59-A6C34878D82A}">
                    <a16:rowId xmlns:a16="http://schemas.microsoft.com/office/drawing/2014/main" xmlns="" val="1279310936"/>
                  </a:ext>
                </a:extLst>
              </a:tr>
              <a:tr h="370840">
                <a:tc>
                  <a:txBody>
                    <a:bodyPr/>
                    <a:lstStyle/>
                    <a:p>
                      <a:r>
                        <a:rPr lang="en-US" dirty="0"/>
                        <a:t>2) CaCl2 = </a:t>
                      </a:r>
                      <a:r>
                        <a:rPr lang="en-US" dirty="0" smtClean="0"/>
                        <a:t>222mg/L</a:t>
                      </a:r>
                      <a:endParaRPr lang="en-IN" dirty="0"/>
                    </a:p>
                  </a:txBody>
                  <a:tcPr/>
                </a:tc>
                <a:tc>
                  <a:txBody>
                    <a:bodyPr/>
                    <a:lstStyle/>
                    <a:p>
                      <a:r>
                        <a:rPr lang="en-US" dirty="0"/>
                        <a:t>100/111 or 50/55.5</a:t>
                      </a:r>
                      <a:endParaRPr lang="en-IN" dirty="0"/>
                    </a:p>
                  </a:txBody>
                  <a:tcPr/>
                </a:tc>
                <a:tc>
                  <a:txBody>
                    <a:bodyPr/>
                    <a:lstStyle/>
                    <a:p>
                      <a:r>
                        <a:rPr lang="en-US" dirty="0"/>
                        <a:t>222 x 100/111 = 200</a:t>
                      </a:r>
                      <a:endParaRPr lang="en-IN" dirty="0"/>
                    </a:p>
                  </a:txBody>
                  <a:tcPr/>
                </a:tc>
                <a:tc>
                  <a:txBody>
                    <a:bodyPr/>
                    <a:lstStyle/>
                    <a:p>
                      <a:r>
                        <a:rPr lang="en-US" dirty="0"/>
                        <a:t>      S </a:t>
                      </a:r>
                      <a:endParaRPr lang="en-IN" dirty="0"/>
                    </a:p>
                  </a:txBody>
                  <a:tcPr/>
                </a:tc>
                <a:extLst>
                  <a:ext uri="{0D108BD9-81ED-4DB2-BD59-A6C34878D82A}">
                    <a16:rowId xmlns:a16="http://schemas.microsoft.com/office/drawing/2014/main" xmlns="" val="560870288"/>
                  </a:ext>
                </a:extLst>
              </a:tr>
              <a:tr h="370840">
                <a:tc>
                  <a:txBody>
                    <a:bodyPr/>
                    <a:lstStyle/>
                    <a:p>
                      <a:r>
                        <a:rPr lang="en-US" dirty="0"/>
                        <a:t>3) MgSO4 = 120mg/L</a:t>
                      </a:r>
                      <a:endParaRPr lang="en-IN" dirty="0"/>
                    </a:p>
                  </a:txBody>
                  <a:tcPr/>
                </a:tc>
                <a:tc>
                  <a:txBody>
                    <a:bodyPr/>
                    <a:lstStyle/>
                    <a:p>
                      <a:r>
                        <a:rPr lang="en-US" dirty="0"/>
                        <a:t>100/120 or 50/60</a:t>
                      </a:r>
                      <a:endParaRPr lang="en-IN" dirty="0"/>
                    </a:p>
                  </a:txBody>
                  <a:tcPr/>
                </a:tc>
                <a:tc>
                  <a:txBody>
                    <a:bodyPr/>
                    <a:lstStyle/>
                    <a:p>
                      <a:r>
                        <a:rPr lang="en-US" dirty="0"/>
                        <a:t>120 x 100/120 = 100</a:t>
                      </a:r>
                      <a:endParaRPr lang="en-IN" dirty="0"/>
                    </a:p>
                  </a:txBody>
                  <a:tcPr/>
                </a:tc>
                <a:tc>
                  <a:txBody>
                    <a:bodyPr/>
                    <a:lstStyle/>
                    <a:p>
                      <a:r>
                        <a:rPr lang="en-US" dirty="0"/>
                        <a:t>L + S</a:t>
                      </a:r>
                      <a:endParaRPr lang="en-IN" dirty="0"/>
                    </a:p>
                  </a:txBody>
                  <a:tcPr/>
                </a:tc>
                <a:extLst>
                  <a:ext uri="{0D108BD9-81ED-4DB2-BD59-A6C34878D82A}">
                    <a16:rowId xmlns:a16="http://schemas.microsoft.com/office/drawing/2014/main" xmlns="" val="2826948923"/>
                  </a:ext>
                </a:extLst>
              </a:tr>
              <a:tr h="317694">
                <a:tc>
                  <a:txBody>
                    <a:bodyPr/>
                    <a:lstStyle/>
                    <a:p>
                      <a:r>
                        <a:rPr lang="en-US" dirty="0"/>
                        <a:t>4) Ca(NO3)2 </a:t>
                      </a:r>
                      <a:r>
                        <a:rPr lang="en-US"/>
                        <a:t>= </a:t>
                      </a:r>
                      <a:r>
                        <a:rPr lang="en-US" smtClean="0"/>
                        <a:t>164mg/L</a:t>
                      </a:r>
                      <a:endParaRPr lang="en-IN" dirty="0"/>
                    </a:p>
                  </a:txBody>
                  <a:tcPr/>
                </a:tc>
                <a:tc>
                  <a:txBody>
                    <a:bodyPr/>
                    <a:lstStyle/>
                    <a:p>
                      <a:r>
                        <a:rPr lang="en-US" dirty="0"/>
                        <a:t>100/164 or 50/82</a:t>
                      </a:r>
                      <a:endParaRPr lang="en-IN" dirty="0"/>
                    </a:p>
                  </a:txBody>
                  <a:tcPr/>
                </a:tc>
                <a:tc>
                  <a:txBody>
                    <a:bodyPr/>
                    <a:lstStyle/>
                    <a:p>
                      <a:r>
                        <a:rPr lang="en-US" dirty="0"/>
                        <a:t>164x 100/164 = 100</a:t>
                      </a:r>
                      <a:endParaRPr lang="en-IN" dirty="0"/>
                    </a:p>
                  </a:txBody>
                  <a:tcPr/>
                </a:tc>
                <a:tc>
                  <a:txBody>
                    <a:bodyPr/>
                    <a:lstStyle/>
                    <a:p>
                      <a:r>
                        <a:rPr lang="en-US" dirty="0"/>
                        <a:t>S</a:t>
                      </a:r>
                      <a:endParaRPr lang="en-IN" dirty="0"/>
                    </a:p>
                  </a:txBody>
                  <a:tcPr/>
                </a:tc>
                <a:extLst>
                  <a:ext uri="{0D108BD9-81ED-4DB2-BD59-A6C34878D82A}">
                    <a16:rowId xmlns:a16="http://schemas.microsoft.com/office/drawing/2014/main" xmlns="" val="546828222"/>
                  </a:ext>
                </a:extLst>
              </a:tr>
            </a:tbl>
          </a:graphicData>
        </a:graphic>
      </p:graphicFrame>
      <p:sp>
        <p:nvSpPr>
          <p:cNvPr id="5" name="TextBox 4">
            <a:extLst>
              <a:ext uri="{FF2B5EF4-FFF2-40B4-BE49-F238E27FC236}">
                <a16:creationId xmlns:a16="http://schemas.microsoft.com/office/drawing/2014/main" xmlns="" id="{158BBA80-4CF3-4B0D-8F2A-0BD8354BAEB3}"/>
              </a:ext>
            </a:extLst>
          </p:cNvPr>
          <p:cNvSpPr txBox="1"/>
          <p:nvPr/>
        </p:nvSpPr>
        <p:spPr>
          <a:xfrm>
            <a:off x="1280160" y="4127644"/>
            <a:ext cx="8331961" cy="2308324"/>
          </a:xfrm>
          <a:prstGeom prst="rect">
            <a:avLst/>
          </a:prstGeom>
          <a:noFill/>
        </p:spPr>
        <p:txBody>
          <a:bodyPr wrap="none" rtlCol="0">
            <a:spAutoFit/>
          </a:bodyPr>
          <a:lstStyle/>
          <a:p>
            <a:r>
              <a:rPr lang="en-US" dirty="0"/>
              <a:t>Lime required = </a:t>
            </a:r>
            <a:r>
              <a:rPr lang="en-US" u="sng" dirty="0"/>
              <a:t>74 x [CaCo3 eq of 2x Mg(HCO3)2 + MgSO4] x volume of water x 100</a:t>
            </a:r>
          </a:p>
          <a:p>
            <a:r>
              <a:rPr lang="en-US" dirty="0"/>
              <a:t>                                                 100 x 1000 x % purity</a:t>
            </a:r>
          </a:p>
          <a:p>
            <a:r>
              <a:rPr lang="en-US" dirty="0"/>
              <a:t>                         =  </a:t>
            </a:r>
            <a:r>
              <a:rPr lang="en-US" u="sng" dirty="0"/>
              <a:t>74 x [ 2 x 50+ 100] x 6000 x 100 </a:t>
            </a:r>
            <a:r>
              <a:rPr lang="en-US" dirty="0"/>
              <a:t>= 200 x 6 = 1200g = 1.2Kg</a:t>
            </a:r>
          </a:p>
          <a:p>
            <a:r>
              <a:rPr lang="en-US" dirty="0"/>
              <a:t>                                    100 x 1000 x 74</a:t>
            </a:r>
          </a:p>
          <a:p>
            <a:r>
              <a:rPr lang="en-US" dirty="0"/>
              <a:t>Soda Required  = </a:t>
            </a:r>
            <a:r>
              <a:rPr lang="en-US" u="sng" dirty="0"/>
              <a:t>106 x [ CaCO3 eq of CaCl2 + MgSO4 + Ca(NO3)2 ] x vol. of water x 100</a:t>
            </a:r>
          </a:p>
          <a:p>
            <a:r>
              <a:rPr lang="en-US" dirty="0"/>
              <a:t>                                             100 x 1000 x % purity</a:t>
            </a:r>
          </a:p>
          <a:p>
            <a:r>
              <a:rPr lang="en-US" dirty="0"/>
              <a:t>                             = </a:t>
            </a:r>
            <a:r>
              <a:rPr lang="en-US" u="sng" dirty="0"/>
              <a:t>106 x [ 200+100+100] x 6000 x 100 </a:t>
            </a:r>
            <a:r>
              <a:rPr lang="en-US" dirty="0"/>
              <a:t> = 2826.67g = 2.827Kg</a:t>
            </a:r>
            <a:endParaRPr lang="en-US" u="sng" dirty="0"/>
          </a:p>
          <a:p>
            <a:r>
              <a:rPr lang="en-US" dirty="0"/>
              <a:t>                                            100 x 1000 x 90</a:t>
            </a:r>
            <a:endParaRPr lang="en-IN" dirty="0"/>
          </a:p>
        </p:txBody>
      </p:sp>
    </p:spTree>
    <p:extLst>
      <p:ext uri="{BB962C8B-B14F-4D97-AF65-F5344CB8AC3E}">
        <p14:creationId xmlns:p14="http://schemas.microsoft.com/office/powerpoint/2010/main" val="306448688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03E69FD-146D-4C80-AD89-962FECD6C485}"/>
              </a:ext>
            </a:extLst>
          </p:cNvPr>
          <p:cNvSpPr>
            <a:spLocks noGrp="1"/>
          </p:cNvSpPr>
          <p:nvPr>
            <p:ph idx="1"/>
          </p:nvPr>
        </p:nvSpPr>
        <p:spPr>
          <a:xfrm>
            <a:off x="838200" y="379828"/>
            <a:ext cx="10515600" cy="5797135"/>
          </a:xfrm>
        </p:spPr>
        <p:txBody>
          <a:bodyPr>
            <a:normAutofit fontScale="62500" lnSpcReduction="20000"/>
          </a:bodyPr>
          <a:lstStyle/>
          <a:p>
            <a:pPr marL="0" indent="0">
              <a:buNone/>
            </a:pPr>
            <a:r>
              <a:rPr lang="en-US" dirty="0"/>
              <a:t>Numerical 2: Calculate the quantity of soda and lime needed to soften 10000 </a:t>
            </a:r>
            <a:r>
              <a:rPr lang="en-US" dirty="0" err="1"/>
              <a:t>litres</a:t>
            </a:r>
            <a:r>
              <a:rPr lang="en-US" dirty="0"/>
              <a:t> of water containing following impurities. Na2SO4 =7mg/L, SiO2 = 2mg/L, CaCl2 = 22.2mg/L, MgSO4 = 2.0mg/L, Mg(HCO3)2 = 5.0mg/L.</a:t>
            </a:r>
          </a:p>
          <a:p>
            <a:pPr marL="0" indent="0">
              <a:buNone/>
            </a:pPr>
            <a:r>
              <a:rPr lang="en-US" dirty="0" err="1"/>
              <a:t>Soln</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Lime Required = </a:t>
            </a:r>
            <a:r>
              <a:rPr lang="en-US" u="sng" dirty="0"/>
              <a:t>74 x [CaCo3 eq of MgSO4 + 2x Mg(HCO3)2 x 10000 </a:t>
            </a:r>
          </a:p>
          <a:p>
            <a:pPr marL="0" indent="0">
              <a:buNone/>
            </a:pPr>
            <a:r>
              <a:rPr lang="en-US" dirty="0"/>
              <a:t>                                        100 x 1000</a:t>
            </a:r>
          </a:p>
          <a:p>
            <a:pPr marL="0" indent="0">
              <a:buNone/>
            </a:pPr>
            <a:r>
              <a:rPr lang="en-US" dirty="0"/>
              <a:t>                           = </a:t>
            </a:r>
            <a:r>
              <a:rPr lang="en-US" u="sng" dirty="0"/>
              <a:t>74 x [1.67 + 3.42x2] x 10000</a:t>
            </a:r>
            <a:r>
              <a:rPr lang="en-US" dirty="0"/>
              <a:t> = 62.974g</a:t>
            </a:r>
            <a:endParaRPr lang="en-US" u="sng" dirty="0"/>
          </a:p>
          <a:p>
            <a:pPr marL="0" indent="0">
              <a:buNone/>
            </a:pPr>
            <a:r>
              <a:rPr lang="en-US" dirty="0"/>
              <a:t>                                         100 x 1000</a:t>
            </a:r>
          </a:p>
          <a:p>
            <a:pPr marL="0" indent="0">
              <a:buNone/>
            </a:pPr>
            <a:r>
              <a:rPr lang="en-US" dirty="0"/>
              <a:t>Soda Required = </a:t>
            </a:r>
            <a:r>
              <a:rPr lang="en-US" u="sng" dirty="0"/>
              <a:t>106 x [CaCo3 eq. of CaCl2 + MgSO4] x vol of water</a:t>
            </a:r>
          </a:p>
          <a:p>
            <a:pPr marL="0" indent="0">
              <a:buNone/>
            </a:pPr>
            <a:r>
              <a:rPr lang="en-US" dirty="0"/>
              <a:t>                                             100 x 1000</a:t>
            </a:r>
          </a:p>
          <a:p>
            <a:pPr marL="0" indent="0">
              <a:buNone/>
            </a:pPr>
            <a:r>
              <a:rPr lang="en-US" dirty="0"/>
              <a:t>                              = 229.702g</a:t>
            </a:r>
          </a:p>
          <a:p>
            <a:pPr marL="0" indent="0">
              <a:buNone/>
            </a:pPr>
            <a:endParaRPr lang="en-IN" u="sng" dirty="0"/>
          </a:p>
        </p:txBody>
      </p:sp>
      <p:graphicFrame>
        <p:nvGraphicFramePr>
          <p:cNvPr id="6" name="Table 4">
            <a:extLst>
              <a:ext uri="{FF2B5EF4-FFF2-40B4-BE49-F238E27FC236}">
                <a16:creationId xmlns:a16="http://schemas.microsoft.com/office/drawing/2014/main" xmlns="" id="{2E209647-B6FB-4E14-8D44-D5AF67FAEBCA}"/>
              </a:ext>
            </a:extLst>
          </p:cNvPr>
          <p:cNvGraphicFramePr>
            <a:graphicFrameLocks noGrp="1"/>
          </p:cNvGraphicFramePr>
          <p:nvPr>
            <p:extLst>
              <p:ext uri="{D42A27DB-BD31-4B8C-83A1-F6EECF244321}">
                <p14:modId xmlns:p14="http://schemas.microsoft.com/office/powerpoint/2010/main" val="3337631718"/>
              </p:ext>
            </p:extLst>
          </p:nvPr>
        </p:nvGraphicFramePr>
        <p:xfrm>
          <a:off x="2074203" y="894030"/>
          <a:ext cx="8697976" cy="2758440"/>
        </p:xfrm>
        <a:graphic>
          <a:graphicData uri="http://schemas.openxmlformats.org/drawingml/2006/table">
            <a:tbl>
              <a:tblPr firstRow="1" bandRow="1">
                <a:tableStyleId>{5C22544A-7EE6-4342-B048-85BDC9FD1C3A}</a:tableStyleId>
              </a:tblPr>
              <a:tblGrid>
                <a:gridCol w="2216443">
                  <a:extLst>
                    <a:ext uri="{9D8B030D-6E8A-4147-A177-3AD203B41FA5}">
                      <a16:colId xmlns:a16="http://schemas.microsoft.com/office/drawing/2014/main" xmlns="" val="1316902536"/>
                    </a:ext>
                  </a:extLst>
                </a:gridCol>
                <a:gridCol w="2417533">
                  <a:extLst>
                    <a:ext uri="{9D8B030D-6E8A-4147-A177-3AD203B41FA5}">
                      <a16:colId xmlns:a16="http://schemas.microsoft.com/office/drawing/2014/main" xmlns="" val="2700790207"/>
                    </a:ext>
                  </a:extLst>
                </a:gridCol>
                <a:gridCol w="2131255">
                  <a:extLst>
                    <a:ext uri="{9D8B030D-6E8A-4147-A177-3AD203B41FA5}">
                      <a16:colId xmlns:a16="http://schemas.microsoft.com/office/drawing/2014/main" xmlns="" val="392619232"/>
                    </a:ext>
                  </a:extLst>
                </a:gridCol>
                <a:gridCol w="1932745">
                  <a:extLst>
                    <a:ext uri="{9D8B030D-6E8A-4147-A177-3AD203B41FA5}">
                      <a16:colId xmlns:a16="http://schemas.microsoft.com/office/drawing/2014/main" xmlns="" val="1904807582"/>
                    </a:ext>
                  </a:extLst>
                </a:gridCol>
              </a:tblGrid>
              <a:tr h="370840">
                <a:tc>
                  <a:txBody>
                    <a:bodyPr/>
                    <a:lstStyle/>
                    <a:p>
                      <a:r>
                        <a:rPr lang="en-US" dirty="0">
                          <a:solidFill>
                            <a:schemeClr val="bg2"/>
                          </a:solidFill>
                        </a:rPr>
                        <a:t>Impurities</a:t>
                      </a:r>
                      <a:endParaRPr lang="en-IN" dirty="0">
                        <a:solidFill>
                          <a:schemeClr val="bg2"/>
                        </a:solidFill>
                      </a:endParaRPr>
                    </a:p>
                  </a:txBody>
                  <a:tcPr/>
                </a:tc>
                <a:tc>
                  <a:txBody>
                    <a:bodyPr/>
                    <a:lstStyle/>
                    <a:p>
                      <a:r>
                        <a:rPr lang="en-US" dirty="0">
                          <a:solidFill>
                            <a:schemeClr val="bg2"/>
                          </a:solidFill>
                        </a:rPr>
                        <a:t>Multiplication Factor</a:t>
                      </a:r>
                      <a:endParaRPr lang="en-IN" dirty="0">
                        <a:solidFill>
                          <a:schemeClr val="bg2"/>
                        </a:solidFill>
                      </a:endParaRPr>
                    </a:p>
                  </a:txBody>
                  <a:tcPr/>
                </a:tc>
                <a:tc>
                  <a:txBody>
                    <a:bodyPr/>
                    <a:lstStyle/>
                    <a:p>
                      <a:r>
                        <a:rPr lang="en-US" dirty="0">
                          <a:solidFill>
                            <a:schemeClr val="bg2"/>
                          </a:solidFill>
                        </a:rPr>
                        <a:t>CaCO3 eq.</a:t>
                      </a:r>
                      <a:endParaRPr lang="en-IN" dirty="0">
                        <a:solidFill>
                          <a:schemeClr val="bg2"/>
                        </a:solidFill>
                      </a:endParaRPr>
                    </a:p>
                  </a:txBody>
                  <a:tcPr/>
                </a:tc>
                <a:tc>
                  <a:txBody>
                    <a:bodyPr/>
                    <a:lstStyle/>
                    <a:p>
                      <a:r>
                        <a:rPr lang="en-US" dirty="0">
                          <a:solidFill>
                            <a:schemeClr val="bg2"/>
                          </a:solidFill>
                        </a:rPr>
                        <a:t>Requirement</a:t>
                      </a:r>
                      <a:endParaRPr lang="en-IN" dirty="0">
                        <a:solidFill>
                          <a:schemeClr val="bg2"/>
                        </a:solidFill>
                      </a:endParaRPr>
                    </a:p>
                  </a:txBody>
                  <a:tcPr/>
                </a:tc>
                <a:extLst>
                  <a:ext uri="{0D108BD9-81ED-4DB2-BD59-A6C34878D82A}">
                    <a16:rowId xmlns:a16="http://schemas.microsoft.com/office/drawing/2014/main" xmlns="" val="3304036254"/>
                  </a:ext>
                </a:extLst>
              </a:tr>
              <a:tr h="370840">
                <a:tc>
                  <a:txBody>
                    <a:bodyPr/>
                    <a:lstStyle/>
                    <a:p>
                      <a:pPr marL="0" indent="0">
                        <a:buNone/>
                      </a:pPr>
                      <a:r>
                        <a:rPr lang="en-US" dirty="0">
                          <a:solidFill>
                            <a:schemeClr val="tx1"/>
                          </a:solidFill>
                        </a:rPr>
                        <a:t>1) Na2SO4 = 7mg/L </a:t>
                      </a:r>
                      <a:endParaRPr lang="en-IN" dirty="0">
                        <a:solidFill>
                          <a:schemeClr val="tx1"/>
                        </a:solidFill>
                      </a:endParaRPr>
                    </a:p>
                  </a:txBody>
                  <a:tcPr/>
                </a:tc>
                <a:tc>
                  <a:txBody>
                    <a:bodyPr/>
                    <a:lstStyle/>
                    <a:p>
                      <a:r>
                        <a:rPr lang="en-US" dirty="0">
                          <a:solidFill>
                            <a:schemeClr val="tx1"/>
                          </a:solidFill>
                        </a:rPr>
                        <a:t>Non-hardness causing</a:t>
                      </a:r>
                      <a:endParaRPr lang="en-IN" dirty="0">
                        <a:solidFill>
                          <a:schemeClr val="tx1"/>
                        </a:solidFill>
                      </a:endParaRPr>
                    </a:p>
                  </a:txBody>
                  <a:tcPr/>
                </a:tc>
                <a:tc>
                  <a:txBody>
                    <a:bodyPr/>
                    <a:lstStyle/>
                    <a:p>
                      <a:endParaRPr lang="en-IN" dirty="0">
                        <a:solidFill>
                          <a:schemeClr val="tx1"/>
                        </a:solidFill>
                      </a:endParaRPr>
                    </a:p>
                  </a:txBody>
                  <a:tcPr/>
                </a:tc>
                <a:tc>
                  <a:txBody>
                    <a:bodyPr/>
                    <a:lstStyle/>
                    <a:p>
                      <a:endParaRPr lang="en-IN" dirty="0">
                        <a:solidFill>
                          <a:schemeClr val="tx1"/>
                        </a:solidFill>
                      </a:endParaRPr>
                    </a:p>
                  </a:txBody>
                  <a:tcPr/>
                </a:tc>
                <a:extLst>
                  <a:ext uri="{0D108BD9-81ED-4DB2-BD59-A6C34878D82A}">
                    <a16:rowId xmlns:a16="http://schemas.microsoft.com/office/drawing/2014/main" xmlns="" val="1279310936"/>
                  </a:ext>
                </a:extLst>
              </a:tr>
              <a:tr h="370840">
                <a:tc>
                  <a:txBody>
                    <a:bodyPr/>
                    <a:lstStyle/>
                    <a:p>
                      <a:r>
                        <a:rPr lang="en-US" dirty="0">
                          <a:solidFill>
                            <a:schemeClr val="tx1"/>
                          </a:solidFill>
                        </a:rPr>
                        <a:t>2) SiO2= 2mg/L</a:t>
                      </a:r>
                      <a:endParaRPr lang="en-IN" dirty="0">
                        <a:solidFill>
                          <a:schemeClr val="tx1"/>
                        </a:solidFill>
                      </a:endParaRPr>
                    </a:p>
                  </a:txBody>
                  <a:tcPr/>
                </a:tc>
                <a:tc>
                  <a:txBody>
                    <a:bodyPr/>
                    <a:lstStyle/>
                    <a:p>
                      <a:r>
                        <a:rPr lang="en-US" dirty="0">
                          <a:solidFill>
                            <a:schemeClr val="tx1"/>
                          </a:solidFill>
                        </a:rPr>
                        <a:t>Non-hardness causing </a:t>
                      </a:r>
                      <a:endParaRPr lang="en-IN" dirty="0">
                        <a:solidFill>
                          <a:schemeClr val="tx1"/>
                        </a:solidFill>
                      </a:endParaRPr>
                    </a:p>
                  </a:txBody>
                  <a:tcPr/>
                </a:tc>
                <a:tc>
                  <a:txBody>
                    <a:bodyPr/>
                    <a:lstStyle/>
                    <a:p>
                      <a:endParaRPr lang="en-IN" dirty="0">
                        <a:solidFill>
                          <a:schemeClr val="tx1"/>
                        </a:solidFill>
                      </a:endParaRPr>
                    </a:p>
                  </a:txBody>
                  <a:tcPr/>
                </a:tc>
                <a:tc>
                  <a:txBody>
                    <a:bodyPr/>
                    <a:lstStyle/>
                    <a:p>
                      <a:endParaRPr lang="en-IN" dirty="0">
                        <a:solidFill>
                          <a:schemeClr val="tx1"/>
                        </a:solidFill>
                      </a:endParaRPr>
                    </a:p>
                  </a:txBody>
                  <a:tcPr/>
                </a:tc>
                <a:extLst>
                  <a:ext uri="{0D108BD9-81ED-4DB2-BD59-A6C34878D82A}">
                    <a16:rowId xmlns:a16="http://schemas.microsoft.com/office/drawing/2014/main" xmlns="" val="560870288"/>
                  </a:ext>
                </a:extLst>
              </a:tr>
              <a:tr h="370840">
                <a:tc>
                  <a:txBody>
                    <a:bodyPr/>
                    <a:lstStyle/>
                    <a:p>
                      <a:r>
                        <a:rPr lang="en-US" dirty="0">
                          <a:solidFill>
                            <a:schemeClr val="tx1"/>
                          </a:solidFill>
                        </a:rPr>
                        <a:t>3) CaCl2 = 22.2mg/L</a:t>
                      </a:r>
                      <a:endParaRPr lang="en-IN" dirty="0">
                        <a:solidFill>
                          <a:schemeClr val="tx1"/>
                        </a:solidFill>
                      </a:endParaRPr>
                    </a:p>
                  </a:txBody>
                  <a:tcPr/>
                </a:tc>
                <a:tc>
                  <a:txBody>
                    <a:bodyPr/>
                    <a:lstStyle/>
                    <a:p>
                      <a:r>
                        <a:rPr lang="en-US" dirty="0">
                          <a:solidFill>
                            <a:schemeClr val="tx1"/>
                          </a:solidFill>
                        </a:rPr>
                        <a:t>100/111 or 50/55.5</a:t>
                      </a:r>
                      <a:endParaRPr lang="en-IN" dirty="0">
                        <a:solidFill>
                          <a:schemeClr val="tx1"/>
                        </a:solidFill>
                      </a:endParaRPr>
                    </a:p>
                  </a:txBody>
                  <a:tcPr/>
                </a:tc>
                <a:tc>
                  <a:txBody>
                    <a:bodyPr/>
                    <a:lstStyle/>
                    <a:p>
                      <a:r>
                        <a:rPr lang="en-US" dirty="0">
                          <a:solidFill>
                            <a:schemeClr val="tx1"/>
                          </a:solidFill>
                        </a:rPr>
                        <a:t>= 22.2 x 100/111 =20</a:t>
                      </a:r>
                      <a:endParaRPr lang="en-IN" dirty="0">
                        <a:solidFill>
                          <a:schemeClr val="tx1"/>
                        </a:solidFill>
                      </a:endParaRPr>
                    </a:p>
                  </a:txBody>
                  <a:tcPr/>
                </a:tc>
                <a:tc>
                  <a:txBody>
                    <a:bodyPr/>
                    <a:lstStyle/>
                    <a:p>
                      <a:r>
                        <a:rPr lang="en-US" dirty="0">
                          <a:solidFill>
                            <a:schemeClr val="tx1"/>
                          </a:solidFill>
                        </a:rPr>
                        <a:t> </a:t>
                      </a:r>
                      <a:r>
                        <a:rPr lang="en-US" b="1" dirty="0">
                          <a:solidFill>
                            <a:schemeClr val="tx1"/>
                          </a:solidFill>
                        </a:rPr>
                        <a:t>S</a:t>
                      </a:r>
                      <a:endParaRPr lang="en-IN" b="1" dirty="0">
                        <a:solidFill>
                          <a:schemeClr val="tx1"/>
                        </a:solidFill>
                      </a:endParaRPr>
                    </a:p>
                  </a:txBody>
                  <a:tcPr/>
                </a:tc>
                <a:extLst>
                  <a:ext uri="{0D108BD9-81ED-4DB2-BD59-A6C34878D82A}">
                    <a16:rowId xmlns:a16="http://schemas.microsoft.com/office/drawing/2014/main" xmlns="" val="2826948923"/>
                  </a:ext>
                </a:extLst>
              </a:tr>
              <a:tr h="317694">
                <a:tc>
                  <a:txBody>
                    <a:bodyPr/>
                    <a:lstStyle/>
                    <a:p>
                      <a:r>
                        <a:rPr lang="en-US" dirty="0">
                          <a:solidFill>
                            <a:schemeClr val="tx1"/>
                          </a:solidFill>
                        </a:rPr>
                        <a:t>4) MgSO4 =2.0mg/L</a:t>
                      </a:r>
                      <a:endParaRPr lang="en-IN" dirty="0">
                        <a:solidFill>
                          <a:schemeClr val="tx1"/>
                        </a:solidFill>
                      </a:endParaRPr>
                    </a:p>
                  </a:txBody>
                  <a:tcPr/>
                </a:tc>
                <a:tc>
                  <a:txBody>
                    <a:bodyPr/>
                    <a:lstStyle/>
                    <a:p>
                      <a:r>
                        <a:rPr lang="en-US" dirty="0">
                          <a:solidFill>
                            <a:schemeClr val="tx1"/>
                          </a:solidFill>
                        </a:rPr>
                        <a:t>100/120 or 50/60</a:t>
                      </a:r>
                      <a:endParaRPr lang="en-IN" dirty="0">
                        <a:solidFill>
                          <a:schemeClr val="tx1"/>
                        </a:solidFill>
                      </a:endParaRPr>
                    </a:p>
                  </a:txBody>
                  <a:tcPr/>
                </a:tc>
                <a:tc>
                  <a:txBody>
                    <a:bodyPr/>
                    <a:lstStyle/>
                    <a:p>
                      <a:r>
                        <a:rPr lang="en-US" dirty="0">
                          <a:solidFill>
                            <a:schemeClr val="tx1"/>
                          </a:solidFill>
                        </a:rPr>
                        <a:t>= 2 x 100/120 =1.67</a:t>
                      </a:r>
                      <a:endParaRPr lang="en-IN" dirty="0">
                        <a:solidFill>
                          <a:schemeClr val="tx1"/>
                        </a:solidFill>
                      </a:endParaRPr>
                    </a:p>
                  </a:txBody>
                  <a:tcPr/>
                </a:tc>
                <a:tc>
                  <a:txBody>
                    <a:bodyPr/>
                    <a:lstStyle/>
                    <a:p>
                      <a:r>
                        <a:rPr lang="en-US" b="1" dirty="0">
                          <a:solidFill>
                            <a:schemeClr val="tx1"/>
                          </a:solidFill>
                        </a:rPr>
                        <a:t>L + S</a:t>
                      </a:r>
                      <a:endParaRPr lang="en-IN" b="1" dirty="0">
                        <a:solidFill>
                          <a:schemeClr val="tx1"/>
                        </a:solidFill>
                      </a:endParaRPr>
                    </a:p>
                  </a:txBody>
                  <a:tcPr/>
                </a:tc>
                <a:extLst>
                  <a:ext uri="{0D108BD9-81ED-4DB2-BD59-A6C34878D82A}">
                    <a16:rowId xmlns:a16="http://schemas.microsoft.com/office/drawing/2014/main" xmlns="" val="546828222"/>
                  </a:ext>
                </a:extLst>
              </a:tr>
              <a:tr h="317694">
                <a:tc>
                  <a:txBody>
                    <a:bodyPr/>
                    <a:lstStyle/>
                    <a:p>
                      <a:r>
                        <a:rPr lang="en-US" dirty="0">
                          <a:solidFill>
                            <a:schemeClr val="tx1"/>
                          </a:solidFill>
                        </a:rPr>
                        <a:t>5) Mg(HCO3)2 = 5.0mg/L</a:t>
                      </a:r>
                      <a:endParaRPr lang="en-IN" dirty="0">
                        <a:solidFill>
                          <a:schemeClr val="tx1"/>
                        </a:solidFill>
                      </a:endParaRPr>
                    </a:p>
                  </a:txBody>
                  <a:tcPr/>
                </a:tc>
                <a:tc>
                  <a:txBody>
                    <a:bodyPr/>
                    <a:lstStyle/>
                    <a:p>
                      <a:r>
                        <a:rPr lang="en-US" dirty="0">
                          <a:solidFill>
                            <a:schemeClr val="tx1"/>
                          </a:solidFill>
                        </a:rPr>
                        <a:t>100/146 or 50/73</a:t>
                      </a:r>
                      <a:endParaRPr lang="en-IN" dirty="0">
                        <a:solidFill>
                          <a:schemeClr val="tx1"/>
                        </a:solidFill>
                      </a:endParaRPr>
                    </a:p>
                  </a:txBody>
                  <a:tcPr/>
                </a:tc>
                <a:tc>
                  <a:txBody>
                    <a:bodyPr/>
                    <a:lstStyle/>
                    <a:p>
                      <a:r>
                        <a:rPr lang="en-US" dirty="0">
                          <a:solidFill>
                            <a:schemeClr val="tx1"/>
                          </a:solidFill>
                        </a:rPr>
                        <a:t>= 5.0 x 100/146 = 3.42</a:t>
                      </a:r>
                      <a:endParaRPr lang="en-IN" dirty="0">
                        <a:solidFill>
                          <a:schemeClr val="tx1"/>
                        </a:solidFill>
                      </a:endParaRPr>
                    </a:p>
                  </a:txBody>
                  <a:tcPr/>
                </a:tc>
                <a:tc>
                  <a:txBody>
                    <a:bodyPr/>
                    <a:lstStyle/>
                    <a:p>
                      <a:r>
                        <a:rPr lang="en-US" b="1" dirty="0">
                          <a:solidFill>
                            <a:schemeClr val="tx1"/>
                          </a:solidFill>
                        </a:rPr>
                        <a:t>2L</a:t>
                      </a:r>
                      <a:endParaRPr lang="en-IN" b="1" dirty="0">
                        <a:solidFill>
                          <a:schemeClr val="tx1"/>
                        </a:solidFill>
                      </a:endParaRPr>
                    </a:p>
                  </a:txBody>
                  <a:tcPr/>
                </a:tc>
                <a:extLst>
                  <a:ext uri="{0D108BD9-81ED-4DB2-BD59-A6C34878D82A}">
                    <a16:rowId xmlns:a16="http://schemas.microsoft.com/office/drawing/2014/main" xmlns="" val="775957814"/>
                  </a:ext>
                </a:extLst>
              </a:tr>
            </a:tbl>
          </a:graphicData>
        </a:graphic>
      </p:graphicFrame>
    </p:spTree>
    <p:extLst>
      <p:ext uri="{BB962C8B-B14F-4D97-AF65-F5344CB8AC3E}">
        <p14:creationId xmlns:p14="http://schemas.microsoft.com/office/powerpoint/2010/main" val="17876862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Numerical 2: Calculate the quantity of soda and lime needed to soften 10000 </a:t>
            </a:r>
            <a:r>
              <a:rPr lang="en-US" sz="2800" dirty="0" err="1"/>
              <a:t>litres</a:t>
            </a:r>
            <a:r>
              <a:rPr lang="en-US" sz="2800" dirty="0"/>
              <a:t> of water containing following impurities. Na2SO4 =7mg/L, SiO2 = 2mg/L, CaCl2 = 22.2mg/L, MgSO4 = 2.0mg/L, Mg(HCO3)2 = 5.0mg/L.</a:t>
            </a:r>
            <a:br>
              <a:rPr lang="en-US" sz="2800" dirty="0"/>
            </a:br>
            <a:endParaRPr lang="en-IN" sz="2800"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5899984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96D8BFC-5C34-4F4E-BE82-DB4C2B5BF510}"/>
              </a:ext>
            </a:extLst>
          </p:cNvPr>
          <p:cNvSpPr>
            <a:spLocks noGrp="1"/>
          </p:cNvSpPr>
          <p:nvPr>
            <p:ph idx="1"/>
          </p:nvPr>
        </p:nvSpPr>
        <p:spPr>
          <a:xfrm>
            <a:off x="838199" y="407963"/>
            <a:ext cx="11193379" cy="6049108"/>
          </a:xfrm>
        </p:spPr>
        <p:txBody>
          <a:bodyPr>
            <a:normAutofit fontScale="47500" lnSpcReduction="20000"/>
          </a:bodyPr>
          <a:lstStyle/>
          <a:p>
            <a:pPr marL="0" indent="0">
              <a:buNone/>
            </a:pPr>
            <a:r>
              <a:rPr lang="en-US" dirty="0"/>
              <a:t>Numerical 3: Calculate amount of lime </a:t>
            </a:r>
            <a:r>
              <a:rPr lang="en-US" dirty="0" smtClean="0"/>
              <a:t>(90% </a:t>
            </a:r>
            <a:r>
              <a:rPr lang="en-US" dirty="0"/>
              <a:t>pure) and Soda (98% Pure)for the treatment of 1 million </a:t>
            </a:r>
            <a:r>
              <a:rPr lang="en-US" dirty="0" err="1"/>
              <a:t>litres</a:t>
            </a:r>
            <a:r>
              <a:rPr lang="en-US" dirty="0"/>
              <a:t> </a:t>
            </a:r>
            <a:r>
              <a:rPr lang="en-US" dirty="0" err="1"/>
              <a:t>ofwater</a:t>
            </a:r>
            <a:r>
              <a:rPr lang="en-US" dirty="0"/>
              <a:t> containing Ca(HCO3)2 = 8.1ppm, CaCl2=33.3ppm, HCO3-= 91.5ppm, MgCl2 = 38ppm, Mg(HCO3)2 = 14.6ppm. The coagulant Al2(SO4)3 was added at the rate of 17.1ppm</a:t>
            </a:r>
            <a:r>
              <a:rPr lang="en-US" dirty="0" smtClean="0"/>
              <a:t>.</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r>
              <a:rPr lang="en-US" sz="3300" dirty="0" smtClean="0"/>
              <a:t>Lime Required = </a:t>
            </a:r>
            <a:r>
              <a:rPr lang="en-US" sz="3300" u="sng" dirty="0" smtClean="0"/>
              <a:t>74 x { Caco3 </a:t>
            </a:r>
            <a:r>
              <a:rPr lang="en-US" sz="3300" u="sng" dirty="0" err="1" smtClean="0"/>
              <a:t>eq</a:t>
            </a:r>
            <a:r>
              <a:rPr lang="en-US" sz="3300" u="sng" dirty="0" smtClean="0"/>
              <a:t> of </a:t>
            </a:r>
            <a:r>
              <a:rPr lang="en-US" sz="3300" u="sng" dirty="0" smtClean="0"/>
              <a:t>Ca(HCO3)2+HCO3-+</a:t>
            </a:r>
            <a:r>
              <a:rPr lang="en-US" sz="3300" u="sng" dirty="0"/>
              <a:t>MgCl2 </a:t>
            </a:r>
            <a:r>
              <a:rPr lang="en-US" sz="3300" u="sng" dirty="0" smtClean="0"/>
              <a:t>+2xMg(HCO3)2+Al2(SO4)3}x volume of water x 100</a:t>
            </a:r>
          </a:p>
          <a:p>
            <a:pPr marL="0" indent="0">
              <a:buNone/>
            </a:pPr>
            <a:r>
              <a:rPr lang="en-US" sz="3300" dirty="0"/>
              <a:t> </a:t>
            </a:r>
            <a:r>
              <a:rPr lang="en-US" sz="3300" dirty="0" smtClean="0"/>
              <a:t>                                           100 x 1000x 90</a:t>
            </a:r>
          </a:p>
          <a:p>
            <a:pPr marL="0" indent="0">
              <a:buNone/>
            </a:pPr>
            <a:r>
              <a:rPr lang="en-US" sz="3300" dirty="0"/>
              <a:t> </a:t>
            </a:r>
            <a:r>
              <a:rPr lang="en-US" sz="3300" dirty="0" smtClean="0"/>
              <a:t>                          = </a:t>
            </a:r>
            <a:r>
              <a:rPr lang="en-US" sz="3300" u="sng" dirty="0" smtClean="0"/>
              <a:t>74 [5+75+40+20+15]x 1000000 x 100</a:t>
            </a:r>
          </a:p>
          <a:p>
            <a:pPr marL="0" indent="0">
              <a:buNone/>
            </a:pPr>
            <a:r>
              <a:rPr lang="en-US" sz="3300" dirty="0"/>
              <a:t> </a:t>
            </a:r>
            <a:r>
              <a:rPr lang="en-US" sz="3300" dirty="0" smtClean="0"/>
              <a:t>                                  100 x 1000 x 90</a:t>
            </a:r>
          </a:p>
          <a:p>
            <a:pPr marL="0" indent="0">
              <a:buNone/>
            </a:pPr>
            <a:r>
              <a:rPr lang="en-US" sz="3300" dirty="0" smtClean="0"/>
              <a:t>                              =127444.44g = 127.44Kg</a:t>
            </a:r>
          </a:p>
          <a:p>
            <a:pPr marL="0" indent="0">
              <a:buNone/>
            </a:pPr>
            <a:r>
              <a:rPr lang="en-US" sz="3300" dirty="0" smtClean="0"/>
              <a:t>Soda required = 10816.33g = 10.816Kg</a:t>
            </a:r>
          </a:p>
          <a:p>
            <a:pPr marL="0" indent="0">
              <a:buNone/>
            </a:pPr>
            <a:r>
              <a:rPr lang="en-US" dirty="0" smtClean="0"/>
              <a:t> </a:t>
            </a:r>
            <a:endParaRPr lang="en-IN" dirty="0"/>
          </a:p>
        </p:txBody>
      </p:sp>
      <p:sp>
        <p:nvSpPr>
          <p:cNvPr id="5" name="TextBox 4">
            <a:extLst>
              <a:ext uri="{FF2B5EF4-FFF2-40B4-BE49-F238E27FC236}">
                <a16:creationId xmlns:a16="http://schemas.microsoft.com/office/drawing/2014/main" xmlns="" id="{3466598B-8EEE-438F-96BA-636C79BF03B9}"/>
              </a:ext>
            </a:extLst>
          </p:cNvPr>
          <p:cNvSpPr txBox="1"/>
          <p:nvPr/>
        </p:nvSpPr>
        <p:spPr>
          <a:xfrm>
            <a:off x="5247249" y="3429000"/>
            <a:ext cx="184731" cy="369332"/>
          </a:xfrm>
          <a:prstGeom prst="rect">
            <a:avLst/>
          </a:prstGeom>
          <a:noFill/>
        </p:spPr>
        <p:txBody>
          <a:bodyPr wrap="none" rtlCol="0">
            <a:spAutoFit/>
          </a:bodyPr>
          <a:lstStyle/>
          <a:p>
            <a:endParaRPr lang="en-IN" dirty="0"/>
          </a:p>
        </p:txBody>
      </p:sp>
      <p:graphicFrame>
        <p:nvGraphicFramePr>
          <p:cNvPr id="6" name="Table 4">
            <a:extLst>
              <a:ext uri="{FF2B5EF4-FFF2-40B4-BE49-F238E27FC236}">
                <a16:creationId xmlns:a16="http://schemas.microsoft.com/office/drawing/2014/main" xmlns="" id="{A75F7E73-88A6-4FA3-A7F7-3FDB5743C95D}"/>
              </a:ext>
            </a:extLst>
          </p:cNvPr>
          <p:cNvGraphicFramePr>
            <a:graphicFrameLocks noGrp="1"/>
          </p:cNvGraphicFramePr>
          <p:nvPr>
            <p:extLst>
              <p:ext uri="{D42A27DB-BD31-4B8C-83A1-F6EECF244321}">
                <p14:modId xmlns:p14="http://schemas.microsoft.com/office/powerpoint/2010/main" val="2311939757"/>
              </p:ext>
            </p:extLst>
          </p:nvPr>
        </p:nvGraphicFramePr>
        <p:xfrm>
          <a:off x="1049619" y="767214"/>
          <a:ext cx="8579989" cy="3398520"/>
        </p:xfrm>
        <a:graphic>
          <a:graphicData uri="http://schemas.openxmlformats.org/drawingml/2006/table">
            <a:tbl>
              <a:tblPr firstRow="1" bandRow="1">
                <a:tableStyleId>{5C22544A-7EE6-4342-B048-85BDC9FD1C3A}</a:tableStyleId>
              </a:tblPr>
              <a:tblGrid>
                <a:gridCol w="2216443">
                  <a:extLst>
                    <a:ext uri="{9D8B030D-6E8A-4147-A177-3AD203B41FA5}">
                      <a16:colId xmlns:a16="http://schemas.microsoft.com/office/drawing/2014/main" xmlns="" val="1316902536"/>
                    </a:ext>
                  </a:extLst>
                </a:gridCol>
                <a:gridCol w="2417533">
                  <a:extLst>
                    <a:ext uri="{9D8B030D-6E8A-4147-A177-3AD203B41FA5}">
                      <a16:colId xmlns:a16="http://schemas.microsoft.com/office/drawing/2014/main" xmlns="" val="2700790207"/>
                    </a:ext>
                  </a:extLst>
                </a:gridCol>
                <a:gridCol w="2013268">
                  <a:extLst>
                    <a:ext uri="{9D8B030D-6E8A-4147-A177-3AD203B41FA5}">
                      <a16:colId xmlns:a16="http://schemas.microsoft.com/office/drawing/2014/main" xmlns="" val="392619232"/>
                    </a:ext>
                  </a:extLst>
                </a:gridCol>
                <a:gridCol w="1932745">
                  <a:extLst>
                    <a:ext uri="{9D8B030D-6E8A-4147-A177-3AD203B41FA5}">
                      <a16:colId xmlns:a16="http://schemas.microsoft.com/office/drawing/2014/main" xmlns="" val="1904807582"/>
                    </a:ext>
                  </a:extLst>
                </a:gridCol>
              </a:tblGrid>
              <a:tr h="370840">
                <a:tc>
                  <a:txBody>
                    <a:bodyPr/>
                    <a:lstStyle/>
                    <a:p>
                      <a:r>
                        <a:rPr lang="en-US" dirty="0"/>
                        <a:t>Impurities</a:t>
                      </a:r>
                      <a:endParaRPr lang="en-IN" dirty="0"/>
                    </a:p>
                  </a:txBody>
                  <a:tcPr/>
                </a:tc>
                <a:tc>
                  <a:txBody>
                    <a:bodyPr/>
                    <a:lstStyle/>
                    <a:p>
                      <a:r>
                        <a:rPr lang="en-US" dirty="0"/>
                        <a:t>Multiplication Factor</a:t>
                      </a:r>
                      <a:endParaRPr lang="en-IN" dirty="0"/>
                    </a:p>
                  </a:txBody>
                  <a:tcPr/>
                </a:tc>
                <a:tc>
                  <a:txBody>
                    <a:bodyPr/>
                    <a:lstStyle/>
                    <a:p>
                      <a:r>
                        <a:rPr lang="en-US" dirty="0"/>
                        <a:t>CaCO3 eq.</a:t>
                      </a:r>
                      <a:endParaRPr lang="en-IN" dirty="0"/>
                    </a:p>
                  </a:txBody>
                  <a:tcPr/>
                </a:tc>
                <a:tc>
                  <a:txBody>
                    <a:bodyPr/>
                    <a:lstStyle/>
                    <a:p>
                      <a:r>
                        <a:rPr lang="en-US" dirty="0"/>
                        <a:t>Requirement</a:t>
                      </a:r>
                      <a:endParaRPr lang="en-IN" dirty="0"/>
                    </a:p>
                  </a:txBody>
                  <a:tcPr/>
                </a:tc>
                <a:extLst>
                  <a:ext uri="{0D108BD9-81ED-4DB2-BD59-A6C34878D82A}">
                    <a16:rowId xmlns:a16="http://schemas.microsoft.com/office/drawing/2014/main" xmlns="" val="3304036254"/>
                  </a:ext>
                </a:extLst>
              </a:tr>
              <a:tr h="370840">
                <a:tc>
                  <a:txBody>
                    <a:bodyPr/>
                    <a:lstStyle/>
                    <a:p>
                      <a:pPr marL="342900" indent="-342900">
                        <a:buAutoNum type="arabicParenR"/>
                      </a:pPr>
                      <a:r>
                        <a:rPr lang="en-US" dirty="0"/>
                        <a:t>Ca(HCO3)2 = 8.1mg/L</a:t>
                      </a:r>
                      <a:endParaRPr lang="en-IN" dirty="0"/>
                    </a:p>
                  </a:txBody>
                  <a:tcPr/>
                </a:tc>
                <a:tc>
                  <a:txBody>
                    <a:bodyPr/>
                    <a:lstStyle/>
                    <a:p>
                      <a:r>
                        <a:rPr lang="en-US" dirty="0"/>
                        <a:t>= 100/162 or 50/81</a:t>
                      </a:r>
                      <a:endParaRPr lang="en-IN" dirty="0"/>
                    </a:p>
                  </a:txBody>
                  <a:tcPr/>
                </a:tc>
                <a:tc>
                  <a:txBody>
                    <a:bodyPr/>
                    <a:lstStyle/>
                    <a:p>
                      <a:r>
                        <a:rPr lang="en-US" dirty="0"/>
                        <a:t>5</a:t>
                      </a:r>
                      <a:endParaRPr lang="en-IN" dirty="0"/>
                    </a:p>
                  </a:txBody>
                  <a:tcPr/>
                </a:tc>
                <a:tc>
                  <a:txBody>
                    <a:bodyPr/>
                    <a:lstStyle/>
                    <a:p>
                      <a:r>
                        <a:rPr lang="en-US" dirty="0"/>
                        <a:t>L</a:t>
                      </a:r>
                      <a:endParaRPr lang="en-IN" dirty="0"/>
                    </a:p>
                  </a:txBody>
                  <a:tcPr/>
                </a:tc>
                <a:extLst>
                  <a:ext uri="{0D108BD9-81ED-4DB2-BD59-A6C34878D82A}">
                    <a16:rowId xmlns:a16="http://schemas.microsoft.com/office/drawing/2014/main" xmlns="" val="1279310936"/>
                  </a:ext>
                </a:extLst>
              </a:tr>
              <a:tr h="370840">
                <a:tc>
                  <a:txBody>
                    <a:bodyPr/>
                    <a:lstStyle/>
                    <a:p>
                      <a:r>
                        <a:rPr lang="en-US" dirty="0"/>
                        <a:t>2) CaCl2 = 33.3mg/L</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100/111 or 50/55.5</a:t>
                      </a:r>
                      <a:endParaRPr lang="en-IN" dirty="0"/>
                    </a:p>
                  </a:txBody>
                  <a:tcPr/>
                </a:tc>
                <a:tc>
                  <a:txBody>
                    <a:bodyPr/>
                    <a:lstStyle/>
                    <a:p>
                      <a:r>
                        <a:rPr lang="en-US" dirty="0"/>
                        <a:t>30</a:t>
                      </a:r>
                      <a:endParaRPr lang="en-IN" dirty="0"/>
                    </a:p>
                  </a:txBody>
                  <a:tcPr/>
                </a:tc>
                <a:tc>
                  <a:txBody>
                    <a:bodyPr/>
                    <a:lstStyle/>
                    <a:p>
                      <a:r>
                        <a:rPr lang="en-US" dirty="0"/>
                        <a:t>S</a:t>
                      </a:r>
                      <a:endParaRPr lang="en-IN" dirty="0"/>
                    </a:p>
                  </a:txBody>
                  <a:tcPr/>
                </a:tc>
                <a:extLst>
                  <a:ext uri="{0D108BD9-81ED-4DB2-BD59-A6C34878D82A}">
                    <a16:rowId xmlns:a16="http://schemas.microsoft.com/office/drawing/2014/main" xmlns="" val="560870288"/>
                  </a:ext>
                </a:extLst>
              </a:tr>
              <a:tr h="370840">
                <a:tc>
                  <a:txBody>
                    <a:bodyPr/>
                    <a:lstStyle/>
                    <a:p>
                      <a:r>
                        <a:rPr lang="en-US" dirty="0"/>
                        <a:t>3) HCO3-  = 91.5mg/L</a:t>
                      </a:r>
                      <a:endParaRPr lang="en-IN" dirty="0"/>
                    </a:p>
                  </a:txBody>
                  <a:tcPr/>
                </a:tc>
                <a:tc>
                  <a:txBody>
                    <a:bodyPr/>
                    <a:lstStyle/>
                    <a:p>
                      <a:r>
                        <a:rPr lang="en-US" dirty="0"/>
                        <a:t>=100/122 or 50/61</a:t>
                      </a:r>
                      <a:endParaRPr lang="en-IN" dirty="0"/>
                    </a:p>
                  </a:txBody>
                  <a:tcPr/>
                </a:tc>
                <a:tc>
                  <a:txBody>
                    <a:bodyPr/>
                    <a:lstStyle/>
                    <a:p>
                      <a:r>
                        <a:rPr lang="en-US" dirty="0"/>
                        <a:t>75</a:t>
                      </a:r>
                      <a:endParaRPr lang="en-IN" dirty="0"/>
                    </a:p>
                  </a:txBody>
                  <a:tcPr/>
                </a:tc>
                <a:tc>
                  <a:txBody>
                    <a:bodyPr/>
                    <a:lstStyle/>
                    <a:p>
                      <a:r>
                        <a:rPr lang="en-US" dirty="0"/>
                        <a:t> </a:t>
                      </a:r>
                      <a:r>
                        <a:rPr lang="en-US" b="1" dirty="0"/>
                        <a:t>L - S</a:t>
                      </a:r>
                      <a:endParaRPr lang="en-IN" b="1" dirty="0"/>
                    </a:p>
                  </a:txBody>
                  <a:tcPr/>
                </a:tc>
                <a:extLst>
                  <a:ext uri="{0D108BD9-81ED-4DB2-BD59-A6C34878D82A}">
                    <a16:rowId xmlns:a16="http://schemas.microsoft.com/office/drawing/2014/main" xmlns="" val="2826948923"/>
                  </a:ext>
                </a:extLst>
              </a:tr>
              <a:tr h="317694">
                <a:tc>
                  <a:txBody>
                    <a:bodyPr/>
                    <a:lstStyle/>
                    <a:p>
                      <a:r>
                        <a:rPr lang="en-US" dirty="0"/>
                        <a:t>4) MgCl2 =38.0mg/L</a:t>
                      </a:r>
                      <a:endParaRPr lang="en-IN" dirty="0"/>
                    </a:p>
                  </a:txBody>
                  <a:tcPr/>
                </a:tc>
                <a:tc>
                  <a:txBody>
                    <a:bodyPr/>
                    <a:lstStyle/>
                    <a:p>
                      <a:r>
                        <a:rPr lang="en-US" dirty="0"/>
                        <a:t>100/95 or 50/47.5</a:t>
                      </a:r>
                      <a:endParaRPr lang="en-IN" dirty="0"/>
                    </a:p>
                  </a:txBody>
                  <a:tcPr/>
                </a:tc>
                <a:tc>
                  <a:txBody>
                    <a:bodyPr/>
                    <a:lstStyle/>
                    <a:p>
                      <a:r>
                        <a:rPr lang="en-US" dirty="0"/>
                        <a:t>40</a:t>
                      </a:r>
                      <a:endParaRPr lang="en-IN" dirty="0"/>
                    </a:p>
                  </a:txBody>
                  <a:tcPr/>
                </a:tc>
                <a:tc>
                  <a:txBody>
                    <a:bodyPr/>
                    <a:lstStyle/>
                    <a:p>
                      <a:r>
                        <a:rPr lang="en-US" b="1" dirty="0"/>
                        <a:t>L + S</a:t>
                      </a:r>
                      <a:endParaRPr lang="en-IN" b="1" dirty="0"/>
                    </a:p>
                  </a:txBody>
                  <a:tcPr/>
                </a:tc>
                <a:extLst>
                  <a:ext uri="{0D108BD9-81ED-4DB2-BD59-A6C34878D82A}">
                    <a16:rowId xmlns:a16="http://schemas.microsoft.com/office/drawing/2014/main" xmlns="" val="546828222"/>
                  </a:ext>
                </a:extLst>
              </a:tr>
              <a:tr h="317694">
                <a:tc>
                  <a:txBody>
                    <a:bodyPr/>
                    <a:lstStyle/>
                    <a:p>
                      <a:r>
                        <a:rPr lang="en-US" dirty="0"/>
                        <a:t>5) Mg(HCO3)2 = 14.6mg/L</a:t>
                      </a:r>
                      <a:endParaRPr lang="en-IN" dirty="0"/>
                    </a:p>
                  </a:txBody>
                  <a:tcPr/>
                </a:tc>
                <a:tc>
                  <a:txBody>
                    <a:bodyPr/>
                    <a:lstStyle/>
                    <a:p>
                      <a:r>
                        <a:rPr lang="en-US" dirty="0"/>
                        <a:t>100/146 or 50/73</a:t>
                      </a:r>
                      <a:endParaRPr lang="en-IN" dirty="0"/>
                    </a:p>
                  </a:txBody>
                  <a:tcPr/>
                </a:tc>
                <a:tc>
                  <a:txBody>
                    <a:bodyPr/>
                    <a:lstStyle/>
                    <a:p>
                      <a:r>
                        <a:rPr lang="en-US" dirty="0"/>
                        <a:t>10</a:t>
                      </a:r>
                      <a:endParaRPr lang="en-IN" dirty="0"/>
                    </a:p>
                  </a:txBody>
                  <a:tcPr/>
                </a:tc>
                <a:tc>
                  <a:txBody>
                    <a:bodyPr/>
                    <a:lstStyle/>
                    <a:p>
                      <a:r>
                        <a:rPr lang="en-US" b="1" dirty="0"/>
                        <a:t>2L</a:t>
                      </a:r>
                      <a:endParaRPr lang="en-IN" b="1" dirty="0"/>
                    </a:p>
                  </a:txBody>
                  <a:tcPr/>
                </a:tc>
                <a:extLst>
                  <a:ext uri="{0D108BD9-81ED-4DB2-BD59-A6C34878D82A}">
                    <a16:rowId xmlns:a16="http://schemas.microsoft.com/office/drawing/2014/main" xmlns="" val="775957814"/>
                  </a:ext>
                </a:extLst>
              </a:tr>
              <a:tr h="317694">
                <a:tc>
                  <a:txBody>
                    <a:bodyPr/>
                    <a:lstStyle/>
                    <a:p>
                      <a:r>
                        <a:rPr lang="en-US" dirty="0"/>
                        <a:t>6) Al2(SO4)3 = 17.1mg/L</a:t>
                      </a:r>
                      <a:endParaRPr lang="en-IN" dirty="0"/>
                    </a:p>
                  </a:txBody>
                  <a:tcPr/>
                </a:tc>
                <a:tc>
                  <a:txBody>
                    <a:bodyPr/>
                    <a:lstStyle/>
                    <a:p>
                      <a:r>
                        <a:rPr lang="en-US" dirty="0"/>
                        <a:t>100/114 or 50/57</a:t>
                      </a:r>
                      <a:endParaRPr lang="en-IN" dirty="0"/>
                    </a:p>
                  </a:txBody>
                  <a:tcPr/>
                </a:tc>
                <a:tc>
                  <a:txBody>
                    <a:bodyPr/>
                    <a:lstStyle/>
                    <a:p>
                      <a:r>
                        <a:rPr lang="en-US" dirty="0"/>
                        <a:t>15</a:t>
                      </a:r>
                      <a:endParaRPr lang="en-IN" dirty="0"/>
                    </a:p>
                  </a:txBody>
                  <a:tcPr/>
                </a:tc>
                <a:tc>
                  <a:txBody>
                    <a:bodyPr/>
                    <a:lstStyle/>
                    <a:p>
                      <a:r>
                        <a:rPr lang="en-US" b="1" dirty="0"/>
                        <a:t>L + S</a:t>
                      </a:r>
                      <a:endParaRPr lang="en-IN" b="1" dirty="0"/>
                    </a:p>
                  </a:txBody>
                  <a:tcPr/>
                </a:tc>
                <a:extLst>
                  <a:ext uri="{0D108BD9-81ED-4DB2-BD59-A6C34878D82A}">
                    <a16:rowId xmlns:a16="http://schemas.microsoft.com/office/drawing/2014/main" xmlns="" val="832736287"/>
                  </a:ext>
                </a:extLst>
              </a:tr>
            </a:tbl>
          </a:graphicData>
        </a:graphic>
      </p:graphicFrame>
    </p:spTree>
    <p:extLst>
      <p:ext uri="{BB962C8B-B14F-4D97-AF65-F5344CB8AC3E}">
        <p14:creationId xmlns:p14="http://schemas.microsoft.com/office/powerpoint/2010/main" val="32537384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1325563"/>
          </a:xfrm>
        </p:spPr>
        <p:txBody>
          <a:bodyPr>
            <a:noAutofit/>
          </a:bodyPr>
          <a:lstStyle/>
          <a:p>
            <a:pPr marL="0" indent="0"/>
            <a:r>
              <a:rPr lang="en-US" sz="2400" dirty="0"/>
              <a:t>Numerical 3: Calculate amount of lime </a:t>
            </a:r>
            <a:r>
              <a:rPr lang="en-US" sz="2400" dirty="0" smtClean="0"/>
              <a:t>(85% </a:t>
            </a:r>
            <a:r>
              <a:rPr lang="en-US" sz="2400" dirty="0"/>
              <a:t>pure) and Soda (</a:t>
            </a:r>
            <a:r>
              <a:rPr lang="en-US" sz="2400" dirty="0" smtClean="0"/>
              <a:t>92% </a:t>
            </a:r>
            <a:r>
              <a:rPr lang="en-US" sz="2400" dirty="0"/>
              <a:t>Pure)for the treatment of 1 million </a:t>
            </a:r>
            <a:r>
              <a:rPr lang="en-US" sz="2400" dirty="0" err="1"/>
              <a:t>litres</a:t>
            </a:r>
            <a:r>
              <a:rPr lang="en-US" sz="2400" dirty="0"/>
              <a:t> </a:t>
            </a:r>
            <a:r>
              <a:rPr lang="en-US" sz="2400" dirty="0" err="1"/>
              <a:t>ofwater</a:t>
            </a:r>
            <a:r>
              <a:rPr lang="en-US" sz="2400" dirty="0"/>
              <a:t> containing Ca(HCO3)2 = </a:t>
            </a:r>
            <a:r>
              <a:rPr lang="en-US" sz="2400" dirty="0" smtClean="0"/>
              <a:t>16.2ppm</a:t>
            </a:r>
            <a:r>
              <a:rPr lang="en-US" sz="2400" dirty="0"/>
              <a:t>, </a:t>
            </a:r>
            <a:r>
              <a:rPr lang="en-US" sz="2400" dirty="0" smtClean="0"/>
              <a:t>CaCl2=22.2 ppm</a:t>
            </a:r>
            <a:r>
              <a:rPr lang="en-US" sz="2400" dirty="0"/>
              <a:t>, HCO3-= </a:t>
            </a:r>
            <a:r>
              <a:rPr lang="en-US" sz="2400" dirty="0" smtClean="0"/>
              <a:t>61 ppm</a:t>
            </a:r>
            <a:r>
              <a:rPr lang="en-US" sz="2400" dirty="0"/>
              <a:t>, MgCl2 = </a:t>
            </a:r>
            <a:r>
              <a:rPr lang="en-US" sz="2400" dirty="0" smtClean="0"/>
              <a:t>47.5ppm</a:t>
            </a:r>
            <a:r>
              <a:rPr lang="en-US" sz="2400" dirty="0"/>
              <a:t>, Mg(HCO3)2 = 14.6ppm. The coagulant Al2(SO4)3 was added at the rate </a:t>
            </a:r>
            <a:r>
              <a:rPr lang="en-US" sz="2400" dirty="0" smtClean="0"/>
              <a:t>of 20 ppm.</a:t>
            </a:r>
            <a:endParaRPr lang="en-IN" sz="2400" dirty="0"/>
          </a:p>
        </p:txBody>
      </p:sp>
      <p:graphicFrame>
        <p:nvGraphicFramePr>
          <p:cNvPr id="4" name="Table 4">
            <a:extLst>
              <a:ext uri="{FF2B5EF4-FFF2-40B4-BE49-F238E27FC236}">
                <a16:creationId xmlns:a16="http://schemas.microsoft.com/office/drawing/2014/main" xmlns="" id="{A75F7E73-88A6-4FA3-A7F7-3FDB5743C95D}"/>
              </a:ext>
            </a:extLst>
          </p:cNvPr>
          <p:cNvGraphicFramePr>
            <a:graphicFrameLocks noGrp="1"/>
          </p:cNvGraphicFramePr>
          <p:nvPr>
            <p:extLst>
              <p:ext uri="{D42A27DB-BD31-4B8C-83A1-F6EECF244321}">
                <p14:modId xmlns:p14="http://schemas.microsoft.com/office/powerpoint/2010/main" val="1926676472"/>
              </p:ext>
            </p:extLst>
          </p:nvPr>
        </p:nvGraphicFramePr>
        <p:xfrm>
          <a:off x="1020743" y="1566110"/>
          <a:ext cx="8579989" cy="3398520"/>
        </p:xfrm>
        <a:graphic>
          <a:graphicData uri="http://schemas.openxmlformats.org/drawingml/2006/table">
            <a:tbl>
              <a:tblPr firstRow="1" bandRow="1">
                <a:tableStyleId>{5C22544A-7EE6-4342-B048-85BDC9FD1C3A}</a:tableStyleId>
              </a:tblPr>
              <a:tblGrid>
                <a:gridCol w="2216443">
                  <a:extLst>
                    <a:ext uri="{9D8B030D-6E8A-4147-A177-3AD203B41FA5}">
                      <a16:colId xmlns:a16="http://schemas.microsoft.com/office/drawing/2014/main" xmlns="" val="1316902536"/>
                    </a:ext>
                  </a:extLst>
                </a:gridCol>
                <a:gridCol w="2417533">
                  <a:extLst>
                    <a:ext uri="{9D8B030D-6E8A-4147-A177-3AD203B41FA5}">
                      <a16:colId xmlns:a16="http://schemas.microsoft.com/office/drawing/2014/main" xmlns="" val="2700790207"/>
                    </a:ext>
                  </a:extLst>
                </a:gridCol>
                <a:gridCol w="2013268">
                  <a:extLst>
                    <a:ext uri="{9D8B030D-6E8A-4147-A177-3AD203B41FA5}">
                      <a16:colId xmlns:a16="http://schemas.microsoft.com/office/drawing/2014/main" xmlns="" val="392619232"/>
                    </a:ext>
                  </a:extLst>
                </a:gridCol>
                <a:gridCol w="1932745">
                  <a:extLst>
                    <a:ext uri="{9D8B030D-6E8A-4147-A177-3AD203B41FA5}">
                      <a16:colId xmlns:a16="http://schemas.microsoft.com/office/drawing/2014/main" xmlns="" val="1904807582"/>
                    </a:ext>
                  </a:extLst>
                </a:gridCol>
              </a:tblGrid>
              <a:tr h="370840">
                <a:tc>
                  <a:txBody>
                    <a:bodyPr/>
                    <a:lstStyle/>
                    <a:p>
                      <a:r>
                        <a:rPr lang="en-US" dirty="0"/>
                        <a:t>Impurities</a:t>
                      </a:r>
                      <a:endParaRPr lang="en-IN" dirty="0"/>
                    </a:p>
                  </a:txBody>
                  <a:tcPr/>
                </a:tc>
                <a:tc>
                  <a:txBody>
                    <a:bodyPr/>
                    <a:lstStyle/>
                    <a:p>
                      <a:r>
                        <a:rPr lang="en-US" dirty="0"/>
                        <a:t>Multiplication Factor</a:t>
                      </a:r>
                      <a:endParaRPr lang="en-IN" dirty="0"/>
                    </a:p>
                  </a:txBody>
                  <a:tcPr/>
                </a:tc>
                <a:tc>
                  <a:txBody>
                    <a:bodyPr/>
                    <a:lstStyle/>
                    <a:p>
                      <a:r>
                        <a:rPr lang="en-US" dirty="0"/>
                        <a:t>CaCO3 eq.</a:t>
                      </a:r>
                      <a:endParaRPr lang="en-IN" dirty="0"/>
                    </a:p>
                  </a:txBody>
                  <a:tcPr/>
                </a:tc>
                <a:tc>
                  <a:txBody>
                    <a:bodyPr/>
                    <a:lstStyle/>
                    <a:p>
                      <a:r>
                        <a:rPr lang="en-US" dirty="0"/>
                        <a:t>Requirement</a:t>
                      </a:r>
                      <a:endParaRPr lang="en-IN" dirty="0"/>
                    </a:p>
                  </a:txBody>
                  <a:tcPr/>
                </a:tc>
                <a:extLst>
                  <a:ext uri="{0D108BD9-81ED-4DB2-BD59-A6C34878D82A}">
                    <a16:rowId xmlns:a16="http://schemas.microsoft.com/office/drawing/2014/main" xmlns="" val="3304036254"/>
                  </a:ext>
                </a:extLst>
              </a:tr>
              <a:tr h="370840">
                <a:tc>
                  <a:txBody>
                    <a:bodyPr/>
                    <a:lstStyle/>
                    <a:p>
                      <a:pPr marL="342900" indent="-342900">
                        <a:buAutoNum type="arabicParenR"/>
                      </a:pPr>
                      <a:r>
                        <a:rPr lang="en-US" dirty="0"/>
                        <a:t>Ca(HCO3)2 = </a:t>
                      </a:r>
                      <a:r>
                        <a:rPr lang="en-US" dirty="0" smtClean="0"/>
                        <a:t>16.2mg/L</a:t>
                      </a:r>
                      <a:endParaRPr lang="en-IN" dirty="0"/>
                    </a:p>
                  </a:txBody>
                  <a:tcPr/>
                </a:tc>
                <a:tc>
                  <a:txBody>
                    <a:bodyPr/>
                    <a:lstStyle/>
                    <a:p>
                      <a:r>
                        <a:rPr lang="en-US" dirty="0"/>
                        <a:t>= 100/162 or 50/81</a:t>
                      </a:r>
                      <a:endParaRPr lang="en-IN" dirty="0"/>
                    </a:p>
                  </a:txBody>
                  <a:tcPr/>
                </a:tc>
                <a:tc>
                  <a:txBody>
                    <a:bodyPr/>
                    <a:lstStyle/>
                    <a:p>
                      <a:r>
                        <a:rPr lang="en-US" dirty="0" smtClean="0"/>
                        <a:t>10</a:t>
                      </a:r>
                      <a:endParaRPr lang="en-IN" dirty="0"/>
                    </a:p>
                  </a:txBody>
                  <a:tcPr/>
                </a:tc>
                <a:tc>
                  <a:txBody>
                    <a:bodyPr/>
                    <a:lstStyle/>
                    <a:p>
                      <a:r>
                        <a:rPr lang="en-US" dirty="0"/>
                        <a:t>L</a:t>
                      </a:r>
                      <a:endParaRPr lang="en-IN" dirty="0"/>
                    </a:p>
                  </a:txBody>
                  <a:tcPr/>
                </a:tc>
                <a:extLst>
                  <a:ext uri="{0D108BD9-81ED-4DB2-BD59-A6C34878D82A}">
                    <a16:rowId xmlns:a16="http://schemas.microsoft.com/office/drawing/2014/main" xmlns="" val="1279310936"/>
                  </a:ext>
                </a:extLst>
              </a:tr>
              <a:tr h="370840">
                <a:tc>
                  <a:txBody>
                    <a:bodyPr/>
                    <a:lstStyle/>
                    <a:p>
                      <a:r>
                        <a:rPr lang="en-US" dirty="0"/>
                        <a:t>2) CaCl2 = </a:t>
                      </a:r>
                      <a:r>
                        <a:rPr lang="en-US" dirty="0" smtClean="0"/>
                        <a:t>22.2mg/L</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100/111 or 50/55.5</a:t>
                      </a:r>
                      <a:endParaRPr lang="en-IN" dirty="0"/>
                    </a:p>
                  </a:txBody>
                  <a:tcPr/>
                </a:tc>
                <a:tc>
                  <a:txBody>
                    <a:bodyPr/>
                    <a:lstStyle/>
                    <a:p>
                      <a:r>
                        <a:rPr lang="en-US" dirty="0" smtClean="0"/>
                        <a:t>20</a:t>
                      </a:r>
                      <a:endParaRPr lang="en-IN" dirty="0"/>
                    </a:p>
                  </a:txBody>
                  <a:tcPr/>
                </a:tc>
                <a:tc>
                  <a:txBody>
                    <a:bodyPr/>
                    <a:lstStyle/>
                    <a:p>
                      <a:r>
                        <a:rPr lang="en-US" dirty="0"/>
                        <a:t>S</a:t>
                      </a:r>
                      <a:endParaRPr lang="en-IN" dirty="0"/>
                    </a:p>
                  </a:txBody>
                  <a:tcPr/>
                </a:tc>
                <a:extLst>
                  <a:ext uri="{0D108BD9-81ED-4DB2-BD59-A6C34878D82A}">
                    <a16:rowId xmlns:a16="http://schemas.microsoft.com/office/drawing/2014/main" xmlns="" val="560870288"/>
                  </a:ext>
                </a:extLst>
              </a:tr>
              <a:tr h="370840">
                <a:tc>
                  <a:txBody>
                    <a:bodyPr/>
                    <a:lstStyle/>
                    <a:p>
                      <a:r>
                        <a:rPr lang="en-US" dirty="0"/>
                        <a:t>3) HCO3-  = </a:t>
                      </a:r>
                      <a:r>
                        <a:rPr lang="en-US" dirty="0" smtClean="0"/>
                        <a:t>61mg/L</a:t>
                      </a:r>
                      <a:endParaRPr lang="en-IN" dirty="0"/>
                    </a:p>
                  </a:txBody>
                  <a:tcPr/>
                </a:tc>
                <a:tc>
                  <a:txBody>
                    <a:bodyPr/>
                    <a:lstStyle/>
                    <a:p>
                      <a:r>
                        <a:rPr lang="en-US" dirty="0"/>
                        <a:t>=100/122 or 50/61</a:t>
                      </a:r>
                      <a:endParaRPr lang="en-IN" dirty="0"/>
                    </a:p>
                  </a:txBody>
                  <a:tcPr/>
                </a:tc>
                <a:tc>
                  <a:txBody>
                    <a:bodyPr/>
                    <a:lstStyle/>
                    <a:p>
                      <a:r>
                        <a:rPr lang="en-US" dirty="0" smtClean="0"/>
                        <a:t>50</a:t>
                      </a:r>
                      <a:endParaRPr lang="en-IN" dirty="0"/>
                    </a:p>
                  </a:txBody>
                  <a:tcPr/>
                </a:tc>
                <a:tc>
                  <a:txBody>
                    <a:bodyPr/>
                    <a:lstStyle/>
                    <a:p>
                      <a:r>
                        <a:rPr lang="en-US" dirty="0"/>
                        <a:t> </a:t>
                      </a:r>
                      <a:r>
                        <a:rPr lang="en-US" b="1" dirty="0"/>
                        <a:t>L - S</a:t>
                      </a:r>
                      <a:endParaRPr lang="en-IN" b="1" dirty="0"/>
                    </a:p>
                  </a:txBody>
                  <a:tcPr/>
                </a:tc>
                <a:extLst>
                  <a:ext uri="{0D108BD9-81ED-4DB2-BD59-A6C34878D82A}">
                    <a16:rowId xmlns:a16="http://schemas.microsoft.com/office/drawing/2014/main" xmlns="" val="2826948923"/>
                  </a:ext>
                </a:extLst>
              </a:tr>
              <a:tr h="317694">
                <a:tc>
                  <a:txBody>
                    <a:bodyPr/>
                    <a:lstStyle/>
                    <a:p>
                      <a:r>
                        <a:rPr lang="en-US" dirty="0"/>
                        <a:t>4) MgCl2 </a:t>
                      </a:r>
                      <a:r>
                        <a:rPr lang="en-US" dirty="0" smtClean="0"/>
                        <a:t>=47.5mg/L</a:t>
                      </a:r>
                      <a:endParaRPr lang="en-IN" dirty="0"/>
                    </a:p>
                  </a:txBody>
                  <a:tcPr/>
                </a:tc>
                <a:tc>
                  <a:txBody>
                    <a:bodyPr/>
                    <a:lstStyle/>
                    <a:p>
                      <a:r>
                        <a:rPr lang="en-US" dirty="0"/>
                        <a:t>100/95 or 50/47.5</a:t>
                      </a:r>
                      <a:endParaRPr lang="en-IN" dirty="0"/>
                    </a:p>
                  </a:txBody>
                  <a:tcPr/>
                </a:tc>
                <a:tc>
                  <a:txBody>
                    <a:bodyPr/>
                    <a:lstStyle/>
                    <a:p>
                      <a:r>
                        <a:rPr lang="en-IN" dirty="0" smtClean="0"/>
                        <a:t>50</a:t>
                      </a:r>
                      <a:endParaRPr lang="en-IN" dirty="0"/>
                    </a:p>
                  </a:txBody>
                  <a:tcPr/>
                </a:tc>
                <a:tc>
                  <a:txBody>
                    <a:bodyPr/>
                    <a:lstStyle/>
                    <a:p>
                      <a:r>
                        <a:rPr lang="en-US" b="1" dirty="0"/>
                        <a:t>L + S</a:t>
                      </a:r>
                      <a:endParaRPr lang="en-IN" b="1" dirty="0"/>
                    </a:p>
                  </a:txBody>
                  <a:tcPr/>
                </a:tc>
                <a:extLst>
                  <a:ext uri="{0D108BD9-81ED-4DB2-BD59-A6C34878D82A}">
                    <a16:rowId xmlns:a16="http://schemas.microsoft.com/office/drawing/2014/main" xmlns="" val="546828222"/>
                  </a:ext>
                </a:extLst>
              </a:tr>
              <a:tr h="317694">
                <a:tc>
                  <a:txBody>
                    <a:bodyPr/>
                    <a:lstStyle/>
                    <a:p>
                      <a:r>
                        <a:rPr lang="en-US" dirty="0"/>
                        <a:t>5) Mg(HCO3)2 = 14.6mg/L</a:t>
                      </a:r>
                      <a:endParaRPr lang="en-IN" dirty="0"/>
                    </a:p>
                  </a:txBody>
                  <a:tcPr/>
                </a:tc>
                <a:tc>
                  <a:txBody>
                    <a:bodyPr/>
                    <a:lstStyle/>
                    <a:p>
                      <a:r>
                        <a:rPr lang="en-US" dirty="0"/>
                        <a:t>100/146 or 50/73</a:t>
                      </a:r>
                      <a:endParaRPr lang="en-IN" dirty="0"/>
                    </a:p>
                  </a:txBody>
                  <a:tcPr/>
                </a:tc>
                <a:tc>
                  <a:txBody>
                    <a:bodyPr/>
                    <a:lstStyle/>
                    <a:p>
                      <a:r>
                        <a:rPr lang="en-US" dirty="0"/>
                        <a:t>10</a:t>
                      </a:r>
                      <a:endParaRPr lang="en-IN" dirty="0"/>
                    </a:p>
                  </a:txBody>
                  <a:tcPr/>
                </a:tc>
                <a:tc>
                  <a:txBody>
                    <a:bodyPr/>
                    <a:lstStyle/>
                    <a:p>
                      <a:r>
                        <a:rPr lang="en-US" b="1" dirty="0"/>
                        <a:t>2L</a:t>
                      </a:r>
                      <a:endParaRPr lang="en-IN" b="1" dirty="0"/>
                    </a:p>
                  </a:txBody>
                  <a:tcPr/>
                </a:tc>
                <a:extLst>
                  <a:ext uri="{0D108BD9-81ED-4DB2-BD59-A6C34878D82A}">
                    <a16:rowId xmlns:a16="http://schemas.microsoft.com/office/drawing/2014/main" xmlns="" val="775957814"/>
                  </a:ext>
                </a:extLst>
              </a:tr>
              <a:tr h="317694">
                <a:tc>
                  <a:txBody>
                    <a:bodyPr/>
                    <a:lstStyle/>
                    <a:p>
                      <a:r>
                        <a:rPr lang="en-US" dirty="0"/>
                        <a:t>6) </a:t>
                      </a:r>
                      <a:r>
                        <a:rPr lang="en-US" dirty="0" smtClean="0"/>
                        <a:t>Al2(SO4)3 = 20mg/L</a:t>
                      </a:r>
                      <a:endParaRPr lang="en-IN" dirty="0"/>
                    </a:p>
                  </a:txBody>
                  <a:tcPr/>
                </a:tc>
                <a:tc>
                  <a:txBody>
                    <a:bodyPr/>
                    <a:lstStyle/>
                    <a:p>
                      <a:r>
                        <a:rPr lang="en-US" dirty="0"/>
                        <a:t>100/114 or 50/57</a:t>
                      </a:r>
                      <a:endParaRPr lang="en-IN" dirty="0"/>
                    </a:p>
                  </a:txBody>
                  <a:tcPr/>
                </a:tc>
                <a:tc>
                  <a:txBody>
                    <a:bodyPr/>
                    <a:lstStyle/>
                    <a:p>
                      <a:r>
                        <a:rPr lang="en-US" dirty="0" smtClean="0"/>
                        <a:t>17.544</a:t>
                      </a:r>
                      <a:endParaRPr lang="en-IN" dirty="0"/>
                    </a:p>
                  </a:txBody>
                  <a:tcPr/>
                </a:tc>
                <a:tc>
                  <a:txBody>
                    <a:bodyPr/>
                    <a:lstStyle/>
                    <a:p>
                      <a:r>
                        <a:rPr lang="en-US" b="1" dirty="0"/>
                        <a:t>L + S</a:t>
                      </a:r>
                      <a:endParaRPr lang="en-IN" b="1" dirty="0"/>
                    </a:p>
                  </a:txBody>
                  <a:tcPr/>
                </a:tc>
                <a:extLst>
                  <a:ext uri="{0D108BD9-81ED-4DB2-BD59-A6C34878D82A}">
                    <a16:rowId xmlns:a16="http://schemas.microsoft.com/office/drawing/2014/main" xmlns="" val="832736287"/>
                  </a:ext>
                </a:extLst>
              </a:tr>
            </a:tbl>
          </a:graphicData>
        </a:graphic>
      </p:graphicFrame>
      <p:sp>
        <p:nvSpPr>
          <p:cNvPr id="5" name="TextBox 4"/>
          <p:cNvSpPr txBox="1"/>
          <p:nvPr/>
        </p:nvSpPr>
        <p:spPr>
          <a:xfrm>
            <a:off x="731518" y="4889632"/>
            <a:ext cx="12560967" cy="2308324"/>
          </a:xfrm>
          <a:prstGeom prst="rect">
            <a:avLst/>
          </a:prstGeom>
          <a:noFill/>
        </p:spPr>
        <p:txBody>
          <a:bodyPr wrap="square" rtlCol="0">
            <a:spAutoFit/>
          </a:bodyPr>
          <a:lstStyle/>
          <a:p>
            <a:r>
              <a:rPr lang="en-US" dirty="0"/>
              <a:t>Lime Required = </a:t>
            </a:r>
            <a:r>
              <a:rPr lang="en-US" u="sng" dirty="0"/>
              <a:t>74 x [CaCo3 </a:t>
            </a:r>
            <a:r>
              <a:rPr lang="en-US" u="sng" dirty="0" err="1"/>
              <a:t>eq</a:t>
            </a:r>
            <a:r>
              <a:rPr lang="en-US" u="sng" dirty="0"/>
              <a:t> of </a:t>
            </a:r>
            <a:r>
              <a:rPr lang="en-US" u="sng" dirty="0" smtClean="0"/>
              <a:t>MgCl2 + Ca(HCO3)2+ </a:t>
            </a:r>
            <a:r>
              <a:rPr lang="en-US" u="sng" dirty="0"/>
              <a:t> HCO3</a:t>
            </a:r>
            <a:r>
              <a:rPr lang="en-US" u="sng" dirty="0" smtClean="0"/>
              <a:t>+Al2(SO4)3 + </a:t>
            </a:r>
            <a:r>
              <a:rPr lang="en-US" u="sng" dirty="0"/>
              <a:t>2x Mg(HCO3)2 x </a:t>
            </a:r>
            <a:r>
              <a:rPr lang="en-US" u="sng" dirty="0" smtClean="0"/>
              <a:t>1000000 x 100 </a:t>
            </a:r>
            <a:endParaRPr lang="en-US" u="sng" dirty="0"/>
          </a:p>
          <a:p>
            <a:r>
              <a:rPr lang="en-US" dirty="0"/>
              <a:t>                                        100 x </a:t>
            </a:r>
            <a:r>
              <a:rPr lang="en-US" dirty="0" smtClean="0"/>
              <a:t>1000 x 85</a:t>
            </a:r>
            <a:endParaRPr lang="en-US" dirty="0"/>
          </a:p>
          <a:p>
            <a:r>
              <a:rPr lang="en-US" dirty="0"/>
              <a:t>                           = </a:t>
            </a:r>
            <a:r>
              <a:rPr lang="en-US" u="sng" dirty="0"/>
              <a:t>74 x </a:t>
            </a:r>
            <a:r>
              <a:rPr lang="en-US" u="sng" dirty="0" smtClean="0"/>
              <a:t>[10+50+50+20+17.544] </a:t>
            </a:r>
            <a:r>
              <a:rPr lang="en-US" u="sng" dirty="0"/>
              <a:t>x </a:t>
            </a:r>
            <a:r>
              <a:rPr lang="en-US" u="sng" dirty="0" smtClean="0"/>
              <a:t>1000000 x100</a:t>
            </a:r>
            <a:r>
              <a:rPr lang="en-US" dirty="0" smtClean="0"/>
              <a:t> </a:t>
            </a:r>
            <a:r>
              <a:rPr lang="en-US" dirty="0"/>
              <a:t>= </a:t>
            </a:r>
            <a:r>
              <a:rPr lang="en-US" dirty="0" smtClean="0"/>
              <a:t>128450.070g = 128.45KG</a:t>
            </a:r>
            <a:endParaRPr lang="en-US" u="sng" dirty="0"/>
          </a:p>
          <a:p>
            <a:r>
              <a:rPr lang="en-US" dirty="0"/>
              <a:t>                                         100 x </a:t>
            </a:r>
            <a:r>
              <a:rPr lang="en-US" dirty="0" smtClean="0"/>
              <a:t>1000 x85	</a:t>
            </a:r>
            <a:endParaRPr lang="en-US" dirty="0"/>
          </a:p>
          <a:p>
            <a:r>
              <a:rPr lang="en-US" dirty="0"/>
              <a:t>Soda Required = </a:t>
            </a:r>
            <a:r>
              <a:rPr lang="en-US" u="sng" dirty="0"/>
              <a:t>106 x [CaCo3 eq. of </a:t>
            </a:r>
            <a:r>
              <a:rPr lang="en-US" u="sng" dirty="0" smtClean="0"/>
              <a:t>CaCl2- HCO3+ Al2(SO4)3 </a:t>
            </a:r>
            <a:r>
              <a:rPr lang="en-US" u="sng" dirty="0"/>
              <a:t>+ </a:t>
            </a:r>
            <a:r>
              <a:rPr lang="en-US" u="sng" dirty="0" smtClean="0"/>
              <a:t>MgCl2] </a:t>
            </a:r>
            <a:r>
              <a:rPr lang="en-US" u="sng" dirty="0"/>
              <a:t>x </a:t>
            </a:r>
            <a:r>
              <a:rPr lang="en-US" u="sng" dirty="0" smtClean="0"/>
              <a:t>1000000x 100</a:t>
            </a:r>
            <a:endParaRPr lang="en-US" u="sng" dirty="0"/>
          </a:p>
          <a:p>
            <a:r>
              <a:rPr lang="en-US" dirty="0"/>
              <a:t>                                             100 x </a:t>
            </a:r>
            <a:r>
              <a:rPr lang="en-US" dirty="0" smtClean="0"/>
              <a:t>1000 x 92</a:t>
            </a:r>
            <a:endParaRPr lang="en-US" dirty="0"/>
          </a:p>
          <a:p>
            <a:r>
              <a:rPr lang="en-US" dirty="0"/>
              <a:t>                              = </a:t>
            </a:r>
            <a:r>
              <a:rPr lang="en-US" dirty="0" smtClean="0"/>
              <a:t>43257.217g = 43.257Kg</a:t>
            </a:r>
            <a:endParaRPr lang="en-US" dirty="0"/>
          </a:p>
          <a:p>
            <a:endParaRPr lang="en-IN" dirty="0"/>
          </a:p>
        </p:txBody>
      </p:sp>
    </p:spTree>
    <p:extLst>
      <p:ext uri="{BB962C8B-B14F-4D97-AF65-F5344CB8AC3E}">
        <p14:creationId xmlns:p14="http://schemas.microsoft.com/office/powerpoint/2010/main" val="6255657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212962"/>
          </a:xfrm>
        </p:spPr>
        <p:txBody>
          <a:bodyPr>
            <a:noAutofit/>
          </a:bodyPr>
          <a:lstStyle/>
          <a:p>
            <a:pPr marL="0" indent="0"/>
            <a:r>
              <a:rPr lang="en-US" sz="2800" dirty="0"/>
              <a:t>Numerical 3: Calculate amount of lime (90% pure) and Soda (98% Pure)for the treatment of 1 million </a:t>
            </a:r>
            <a:r>
              <a:rPr lang="en-US" sz="2800" dirty="0" err="1"/>
              <a:t>litres</a:t>
            </a:r>
            <a:r>
              <a:rPr lang="en-US" sz="2800" dirty="0"/>
              <a:t> </a:t>
            </a:r>
            <a:r>
              <a:rPr lang="en-US" sz="2800" dirty="0" err="1"/>
              <a:t>ofwater</a:t>
            </a:r>
            <a:r>
              <a:rPr lang="en-US" sz="2800" dirty="0"/>
              <a:t> containing Ca(HCO3)2 = 8.1ppm, CaCl2=33.3ppm, HCO3-= 91.5ppm, MgCl2 = 38ppm, Mg(HCO3)2 = 14.6ppm. The coagulant Al2(SO4)3 was added at the rate of 17.1ppm.</a:t>
            </a:r>
            <a:br>
              <a:rPr lang="en-US" sz="2800" dirty="0"/>
            </a:br>
            <a:r>
              <a:rPr lang="en-US" sz="2800" dirty="0"/>
              <a:t/>
            </a:r>
            <a:br>
              <a:rPr lang="en-US" sz="2800" dirty="0"/>
            </a:br>
            <a:endParaRPr lang="en-IN" sz="2800"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389287897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48B896-4434-4943-A8A4-FC78B85F6C1C}"/>
              </a:ext>
            </a:extLst>
          </p:cNvPr>
          <p:cNvSpPr>
            <a:spLocks noGrp="1"/>
          </p:cNvSpPr>
          <p:nvPr>
            <p:ph type="title"/>
          </p:nvPr>
        </p:nvSpPr>
        <p:spPr/>
        <p:txBody>
          <a:bodyPr/>
          <a:lstStyle/>
          <a:p>
            <a:r>
              <a:rPr lang="en-US" dirty="0"/>
              <a:t>Types of Lime Soda Processes</a:t>
            </a:r>
            <a:endParaRPr lang="en-IN" dirty="0"/>
          </a:p>
        </p:txBody>
      </p:sp>
      <p:sp>
        <p:nvSpPr>
          <p:cNvPr id="3" name="Content Placeholder 2">
            <a:extLst>
              <a:ext uri="{FF2B5EF4-FFF2-40B4-BE49-F238E27FC236}">
                <a16:creationId xmlns:a16="http://schemas.microsoft.com/office/drawing/2014/main" xmlns="" id="{74E759B6-EEDA-4AF5-B7A0-A59D58ED4D1C}"/>
              </a:ext>
            </a:extLst>
          </p:cNvPr>
          <p:cNvSpPr>
            <a:spLocks noGrp="1"/>
          </p:cNvSpPr>
          <p:nvPr>
            <p:ph idx="1"/>
          </p:nvPr>
        </p:nvSpPr>
        <p:spPr/>
        <p:txBody>
          <a:bodyPr/>
          <a:lstStyle/>
          <a:p>
            <a:r>
              <a:rPr lang="en-US" dirty="0"/>
              <a:t> Hot Lime-Soda Method</a:t>
            </a:r>
          </a:p>
          <a:p>
            <a:r>
              <a:rPr lang="en-US" dirty="0"/>
              <a:t>Cold Lime-Soda Method</a:t>
            </a:r>
            <a:endParaRPr lang="en-IN" dirty="0"/>
          </a:p>
        </p:txBody>
      </p:sp>
    </p:spTree>
    <p:extLst>
      <p:ext uri="{BB962C8B-B14F-4D97-AF65-F5344CB8AC3E}">
        <p14:creationId xmlns:p14="http://schemas.microsoft.com/office/powerpoint/2010/main" val="25507525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0A8A48-7E8E-40C5-851C-184F230537DF}"/>
              </a:ext>
            </a:extLst>
          </p:cNvPr>
          <p:cNvSpPr>
            <a:spLocks noGrp="1"/>
          </p:cNvSpPr>
          <p:nvPr>
            <p:ph type="title"/>
          </p:nvPr>
        </p:nvSpPr>
        <p:spPr/>
        <p:txBody>
          <a:bodyPr/>
          <a:lstStyle/>
          <a:p>
            <a:r>
              <a:rPr lang="en-US" dirty="0"/>
              <a:t>Cold Lime Soda Method</a:t>
            </a:r>
            <a:endParaRPr lang="en-IN" dirty="0"/>
          </a:p>
        </p:txBody>
      </p:sp>
      <p:pic>
        <p:nvPicPr>
          <p:cNvPr id="1026" name="Picture 2" descr="Explain hot and cold lime soda process with the help of diagram PROCESS (theroy)-">
            <a:extLst>
              <a:ext uri="{FF2B5EF4-FFF2-40B4-BE49-F238E27FC236}">
                <a16:creationId xmlns:a16="http://schemas.microsoft.com/office/drawing/2014/main" xmlns="" id="{758E7DF8-A706-4AA1-8429-AB6C43B717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5393788" cy="42625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143F89B2-85E5-40F8-89AC-8909C2028898}"/>
              </a:ext>
            </a:extLst>
          </p:cNvPr>
          <p:cNvSpPr txBox="1"/>
          <p:nvPr/>
        </p:nvSpPr>
        <p:spPr>
          <a:xfrm>
            <a:off x="6096000" y="1559786"/>
            <a:ext cx="6105518" cy="4524315"/>
          </a:xfrm>
          <a:prstGeom prst="rect">
            <a:avLst/>
          </a:prstGeom>
          <a:noFill/>
        </p:spPr>
        <p:txBody>
          <a:bodyPr wrap="none" rtlCol="0">
            <a:spAutoFit/>
          </a:bodyPr>
          <a:lstStyle/>
          <a:p>
            <a:r>
              <a:rPr lang="en-US" dirty="0"/>
              <a:t>Principle: </a:t>
            </a:r>
          </a:p>
          <a:p>
            <a:r>
              <a:rPr lang="en-US" dirty="0"/>
              <a:t>In this process calculated quantities of lime and soda are mixed</a:t>
            </a:r>
          </a:p>
          <a:p>
            <a:r>
              <a:rPr lang="en-US" dirty="0"/>
              <a:t> with hard water at room temperature.</a:t>
            </a:r>
          </a:p>
          <a:p>
            <a:r>
              <a:rPr lang="en-US" dirty="0"/>
              <a:t>The precipitate formed are finely divided and there fore</a:t>
            </a:r>
          </a:p>
          <a:p>
            <a:r>
              <a:rPr lang="en-US" dirty="0"/>
              <a:t> do not settle down easily and cant be filtered easily.</a:t>
            </a:r>
          </a:p>
          <a:p>
            <a:r>
              <a:rPr lang="en-US" dirty="0"/>
              <a:t>Thus it  is essential to add small quantities of coagulants like</a:t>
            </a:r>
          </a:p>
          <a:p>
            <a:r>
              <a:rPr lang="en-US" dirty="0"/>
              <a:t> alum, aluminum sulphate, sodium aluminates. </a:t>
            </a:r>
          </a:p>
          <a:p>
            <a:r>
              <a:rPr lang="en-US" dirty="0"/>
              <a:t>These hydrolyze to  gelatinous ppt of aluminum hydroxide and</a:t>
            </a:r>
          </a:p>
          <a:p>
            <a:r>
              <a:rPr lang="en-US" dirty="0"/>
              <a:t> entrap fine precipitate.</a:t>
            </a:r>
          </a:p>
          <a:p>
            <a:r>
              <a:rPr lang="en-US" dirty="0"/>
              <a:t>If sodium aluminate is used as coagulant, silica as well as oil</a:t>
            </a:r>
          </a:p>
          <a:p>
            <a:r>
              <a:rPr lang="en-US" dirty="0"/>
              <a:t> present in water are also removed.</a:t>
            </a:r>
          </a:p>
          <a:p>
            <a:r>
              <a:rPr lang="en-US" dirty="0"/>
              <a:t>Cold lime soda process provides water containing a </a:t>
            </a:r>
          </a:p>
          <a:p>
            <a:r>
              <a:rPr lang="en-US" dirty="0"/>
              <a:t>Residual hardness of 50 to 60 ppm.</a:t>
            </a:r>
          </a:p>
          <a:p>
            <a:r>
              <a:rPr lang="en-US" dirty="0"/>
              <a:t>NaAlO2 + 2H2O  </a:t>
            </a:r>
            <a:r>
              <a:rPr lang="en-US" dirty="0">
                <a:sym typeface="Wingdings" panose="05000000000000000000" pitchFamily="2" charset="2"/>
              </a:rPr>
              <a:t> NaOH  + Al(OH)3</a:t>
            </a:r>
          </a:p>
          <a:p>
            <a:endParaRPr lang="en-US" dirty="0">
              <a:sym typeface="Wingdings" panose="05000000000000000000" pitchFamily="2" charset="2"/>
            </a:endParaRPr>
          </a:p>
          <a:p>
            <a:r>
              <a:rPr lang="en-US" dirty="0">
                <a:sym typeface="Wingdings" panose="05000000000000000000" pitchFamily="2" charset="2"/>
              </a:rPr>
              <a:t>Al2(SO4)3 + 3Ca(HCO3)2   2Al(OH)3  + 3CaSO4 + 6CO2</a:t>
            </a:r>
            <a:endParaRPr lang="en-IN" dirty="0"/>
          </a:p>
        </p:txBody>
      </p:sp>
    </p:spTree>
    <p:extLst>
      <p:ext uri="{BB962C8B-B14F-4D97-AF65-F5344CB8AC3E}">
        <p14:creationId xmlns:p14="http://schemas.microsoft.com/office/powerpoint/2010/main" val="21558819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38BE50-26B7-4BD1-A702-59261826831B}"/>
              </a:ext>
            </a:extLst>
          </p:cNvPr>
          <p:cNvSpPr>
            <a:spLocks noGrp="1"/>
          </p:cNvSpPr>
          <p:nvPr>
            <p:ph type="title"/>
          </p:nvPr>
        </p:nvSpPr>
        <p:spPr>
          <a:xfrm>
            <a:off x="655320" y="322922"/>
            <a:ext cx="10515600" cy="1325563"/>
          </a:xfrm>
        </p:spPr>
        <p:txBody>
          <a:bodyPr/>
          <a:lstStyle/>
          <a:p>
            <a:r>
              <a:rPr lang="en-US" dirty="0"/>
              <a:t>Hot Lime Soda Method</a:t>
            </a:r>
            <a:endParaRPr lang="en-IN" dirty="0"/>
          </a:p>
        </p:txBody>
      </p:sp>
      <p:pic>
        <p:nvPicPr>
          <p:cNvPr id="2050" name="Picture 2" descr="Explain hot and cold lime soda process with the help of diagram PROCESS (theroy)-">
            <a:extLst>
              <a:ext uri="{FF2B5EF4-FFF2-40B4-BE49-F238E27FC236}">
                <a16:creationId xmlns:a16="http://schemas.microsoft.com/office/drawing/2014/main" xmlns="" id="{D4C1E6FA-5806-4289-8062-4CDED4762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 y="1406040"/>
            <a:ext cx="5614851" cy="52596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5F6BDB06-C0D6-4B9B-B490-986DF2460B71}"/>
              </a:ext>
            </a:extLst>
          </p:cNvPr>
          <p:cNvSpPr txBox="1"/>
          <p:nvPr/>
        </p:nvSpPr>
        <p:spPr>
          <a:xfrm>
            <a:off x="6096000" y="1456765"/>
            <a:ext cx="5979886" cy="3970318"/>
          </a:xfrm>
          <a:prstGeom prst="rect">
            <a:avLst/>
          </a:prstGeom>
          <a:noFill/>
        </p:spPr>
        <p:txBody>
          <a:bodyPr wrap="square" rtlCol="0">
            <a:spAutoFit/>
          </a:bodyPr>
          <a:lstStyle/>
          <a:p>
            <a:r>
              <a:rPr lang="en-US" dirty="0"/>
              <a:t>Principle:</a:t>
            </a:r>
          </a:p>
          <a:p>
            <a:r>
              <a:rPr lang="en-US" dirty="0"/>
              <a:t>In this method water is treated with softening chemicals like soda and Lime at a temp. of 80°C to 150°C. this process  is operated at a temp close to boiling point of the solution.</a:t>
            </a:r>
          </a:p>
          <a:p>
            <a:r>
              <a:rPr lang="en-US" dirty="0"/>
              <a:t>Hence the reaction proceeds faster, the softening capacity </a:t>
            </a:r>
          </a:p>
          <a:p>
            <a:r>
              <a:rPr lang="en-US" dirty="0"/>
              <a:t>Of the process increased many fold, the precipitate and sludge formed settle down rapidly and hence no coagulants are required.</a:t>
            </a:r>
          </a:p>
          <a:p>
            <a:r>
              <a:rPr lang="en-US" dirty="0"/>
              <a:t>Much of the dissolved gases like CO2 &amp; air are driven out of water.</a:t>
            </a:r>
          </a:p>
          <a:p>
            <a:r>
              <a:rPr lang="en-US" dirty="0"/>
              <a:t>Viscosity of soften water is lowered therefore filtration of water becomes much easier.</a:t>
            </a:r>
          </a:p>
          <a:p>
            <a:r>
              <a:rPr lang="en-US" dirty="0"/>
              <a:t>This method produces water of comparatively lower </a:t>
            </a:r>
          </a:p>
          <a:p>
            <a:r>
              <a:rPr lang="en-US" dirty="0"/>
              <a:t>residual hardness of 15 to 30 ppm.</a:t>
            </a:r>
            <a:endParaRPr lang="en-IN" dirty="0"/>
          </a:p>
        </p:txBody>
      </p:sp>
    </p:spTree>
    <p:extLst>
      <p:ext uri="{BB962C8B-B14F-4D97-AF65-F5344CB8AC3E}">
        <p14:creationId xmlns:p14="http://schemas.microsoft.com/office/powerpoint/2010/main" val="328203642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3F4887-6E87-44BA-8D16-D136B544BF6E}"/>
              </a:ext>
            </a:extLst>
          </p:cNvPr>
          <p:cNvSpPr>
            <a:spLocks noGrp="1"/>
          </p:cNvSpPr>
          <p:nvPr>
            <p:ph type="title"/>
          </p:nvPr>
        </p:nvSpPr>
        <p:spPr/>
        <p:txBody>
          <a:bodyPr/>
          <a:lstStyle/>
          <a:p>
            <a:r>
              <a:rPr lang="en-US" dirty="0"/>
              <a:t>Advantages of Lime Soda Process</a:t>
            </a:r>
            <a:endParaRPr lang="en-IN" dirty="0"/>
          </a:p>
        </p:txBody>
      </p:sp>
      <p:sp>
        <p:nvSpPr>
          <p:cNvPr id="3" name="Content Placeholder 2">
            <a:extLst>
              <a:ext uri="{FF2B5EF4-FFF2-40B4-BE49-F238E27FC236}">
                <a16:creationId xmlns:a16="http://schemas.microsoft.com/office/drawing/2014/main" xmlns="" id="{70E73757-05C1-4A38-820F-441E3F5D6D76}"/>
              </a:ext>
            </a:extLst>
          </p:cNvPr>
          <p:cNvSpPr>
            <a:spLocks noGrp="1"/>
          </p:cNvSpPr>
          <p:nvPr>
            <p:ph idx="1"/>
          </p:nvPr>
        </p:nvSpPr>
        <p:spPr/>
        <p:txBody>
          <a:bodyPr>
            <a:normAutofit fontScale="92500"/>
          </a:bodyPr>
          <a:lstStyle/>
          <a:p>
            <a:r>
              <a:rPr lang="en-US" dirty="0"/>
              <a:t>It is very Economical</a:t>
            </a:r>
          </a:p>
          <a:p>
            <a:r>
              <a:rPr lang="en-US" dirty="0"/>
              <a:t>If the process is combined with sedimentation &amp; coagulation, lesser amounts of coagulants shall be needed.</a:t>
            </a:r>
          </a:p>
          <a:p>
            <a:r>
              <a:rPr lang="en-US" dirty="0"/>
              <a:t>The process increases the pH value of the treated water, thereby corrosion of the distribution pipe is reduced.</a:t>
            </a:r>
          </a:p>
          <a:p>
            <a:r>
              <a:rPr lang="en-US" dirty="0"/>
              <a:t>Besides the removal of hardness, the quantity of minerals  in the water is reduced.</a:t>
            </a:r>
          </a:p>
          <a:p>
            <a:r>
              <a:rPr lang="en-US" dirty="0"/>
              <a:t>To a certain extent, iron and manganese are also removed from the water.</a:t>
            </a:r>
          </a:p>
          <a:p>
            <a:r>
              <a:rPr lang="en-US" dirty="0"/>
              <a:t>Due to alkaline nature of treated water, the amount of pathogenic bacterial in water is considerably reduced.</a:t>
            </a:r>
            <a:endParaRPr lang="en-IN" dirty="0"/>
          </a:p>
        </p:txBody>
      </p:sp>
    </p:spTree>
    <p:extLst>
      <p:ext uri="{BB962C8B-B14F-4D97-AF65-F5344CB8AC3E}">
        <p14:creationId xmlns:p14="http://schemas.microsoft.com/office/powerpoint/2010/main" val="265091382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BD423A-0B4C-4589-8B87-047981D10980}"/>
              </a:ext>
            </a:extLst>
          </p:cNvPr>
          <p:cNvSpPr>
            <a:spLocks noGrp="1"/>
          </p:cNvSpPr>
          <p:nvPr>
            <p:ph type="title"/>
          </p:nvPr>
        </p:nvSpPr>
        <p:spPr/>
        <p:txBody>
          <a:bodyPr/>
          <a:lstStyle/>
          <a:p>
            <a:r>
              <a:rPr lang="en-US" dirty="0"/>
              <a:t>Disadvantages</a:t>
            </a:r>
            <a:endParaRPr lang="en-IN" dirty="0"/>
          </a:p>
        </p:txBody>
      </p:sp>
      <p:sp>
        <p:nvSpPr>
          <p:cNvPr id="3" name="Content Placeholder 2">
            <a:extLst>
              <a:ext uri="{FF2B5EF4-FFF2-40B4-BE49-F238E27FC236}">
                <a16:creationId xmlns:a16="http://schemas.microsoft.com/office/drawing/2014/main" xmlns="" id="{35393FF3-3214-4A2D-9DAF-DDDA301B1E87}"/>
              </a:ext>
            </a:extLst>
          </p:cNvPr>
          <p:cNvSpPr>
            <a:spLocks noGrp="1"/>
          </p:cNvSpPr>
          <p:nvPr>
            <p:ph idx="1"/>
          </p:nvPr>
        </p:nvSpPr>
        <p:spPr/>
        <p:txBody>
          <a:bodyPr/>
          <a:lstStyle/>
          <a:p>
            <a:r>
              <a:rPr lang="en-US" dirty="0"/>
              <a:t>For efficient and economical softening, careful operation &amp; skilled supervision is required.</a:t>
            </a:r>
          </a:p>
          <a:p>
            <a:r>
              <a:rPr lang="en-US" dirty="0"/>
              <a:t>Disposal of large amounts of sludge poses a problem. However the sludge may be disposed off in raising low lying areas of the city.</a:t>
            </a:r>
          </a:p>
          <a:p>
            <a:r>
              <a:rPr lang="en-US" dirty="0"/>
              <a:t>This can remove hardness only up to 15ppm which is not good for boilers.</a:t>
            </a:r>
          </a:p>
          <a:p>
            <a:endParaRPr lang="en-US" dirty="0"/>
          </a:p>
          <a:p>
            <a:endParaRPr lang="en-IN" dirty="0"/>
          </a:p>
        </p:txBody>
      </p:sp>
    </p:spTree>
    <p:extLst>
      <p:ext uri="{BB962C8B-B14F-4D97-AF65-F5344CB8AC3E}">
        <p14:creationId xmlns:p14="http://schemas.microsoft.com/office/powerpoint/2010/main" val="57806049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9293D4-52A5-412A-88B9-329E0E36ADC2}"/>
              </a:ext>
            </a:extLst>
          </p:cNvPr>
          <p:cNvSpPr>
            <a:spLocks noGrp="1"/>
          </p:cNvSpPr>
          <p:nvPr>
            <p:ph type="title"/>
          </p:nvPr>
        </p:nvSpPr>
        <p:spPr/>
        <p:txBody>
          <a:bodyPr/>
          <a:lstStyle/>
          <a:p>
            <a:r>
              <a:rPr lang="en-US" b="1" dirty="0"/>
              <a:t>Softening  of water by zeolite process</a:t>
            </a:r>
            <a:endParaRPr lang="en-IN" b="1" dirty="0"/>
          </a:p>
        </p:txBody>
      </p:sp>
      <p:sp>
        <p:nvSpPr>
          <p:cNvPr id="3" name="Content Placeholder 2">
            <a:extLst>
              <a:ext uri="{FF2B5EF4-FFF2-40B4-BE49-F238E27FC236}">
                <a16:creationId xmlns:a16="http://schemas.microsoft.com/office/drawing/2014/main" xmlns="" id="{E41D239A-5CF3-4B30-B889-217E9FD7BA87}"/>
              </a:ext>
            </a:extLst>
          </p:cNvPr>
          <p:cNvSpPr>
            <a:spLocks noGrp="1"/>
          </p:cNvSpPr>
          <p:nvPr>
            <p:ph idx="1"/>
          </p:nvPr>
        </p:nvSpPr>
        <p:spPr/>
        <p:txBody>
          <a:bodyPr/>
          <a:lstStyle/>
          <a:p>
            <a:r>
              <a:rPr lang="en-US" dirty="0"/>
              <a:t>Sodium zeolite: Na2O. Al2O3.xSiO2.yH2O</a:t>
            </a:r>
          </a:p>
          <a:p>
            <a:endParaRPr lang="en-US" dirty="0"/>
          </a:p>
          <a:p>
            <a:r>
              <a:rPr lang="en-US" dirty="0"/>
              <a:t>Where x = 2-10 and y = 2-6</a:t>
            </a:r>
          </a:p>
          <a:p>
            <a:r>
              <a:rPr lang="en-US" dirty="0"/>
              <a:t>Zeolite is sodium </a:t>
            </a:r>
            <a:r>
              <a:rPr lang="en-US" dirty="0" err="1"/>
              <a:t>alumino</a:t>
            </a:r>
            <a:r>
              <a:rPr lang="en-US" dirty="0"/>
              <a:t> silicate capable of exchanging reversibly its sodium ions for hardness producing ions present in water.</a:t>
            </a:r>
          </a:p>
          <a:p>
            <a:r>
              <a:rPr lang="en-US" dirty="0"/>
              <a:t>Types of zeolite</a:t>
            </a:r>
          </a:p>
          <a:p>
            <a:r>
              <a:rPr lang="en-US" dirty="0"/>
              <a:t>Natural Zeolite: are non porous </a:t>
            </a:r>
            <a:r>
              <a:rPr lang="en-US" dirty="0" err="1"/>
              <a:t>eg.</a:t>
            </a:r>
            <a:r>
              <a:rPr lang="en-US" dirty="0"/>
              <a:t> Natrolite Na2O.Al2O3.4SiO2.2H2O</a:t>
            </a:r>
          </a:p>
          <a:p>
            <a:r>
              <a:rPr lang="en-US" dirty="0"/>
              <a:t>Synthetic Zeolite: are porous and possess gel structure. They are prepared by heating together china clay, feldspar and soda ash.</a:t>
            </a:r>
          </a:p>
          <a:p>
            <a:endParaRPr lang="en-IN" dirty="0"/>
          </a:p>
        </p:txBody>
      </p:sp>
    </p:spTree>
    <p:extLst>
      <p:ext uri="{BB962C8B-B14F-4D97-AF65-F5344CB8AC3E}">
        <p14:creationId xmlns:p14="http://schemas.microsoft.com/office/powerpoint/2010/main" val="401329045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Zeolite Process of Water Softening - Dr. Rajdeep Deb">
            <a:extLst>
              <a:ext uri="{FF2B5EF4-FFF2-40B4-BE49-F238E27FC236}">
                <a16:creationId xmlns:a16="http://schemas.microsoft.com/office/drawing/2014/main" xmlns="" id="{8903A8D5-73C4-42E0-B704-40071BE6C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181" y="783395"/>
            <a:ext cx="4586067" cy="482961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Water - PowerPoint Slides">
            <a:extLst>
              <a:ext uri="{FF2B5EF4-FFF2-40B4-BE49-F238E27FC236}">
                <a16:creationId xmlns:a16="http://schemas.microsoft.com/office/drawing/2014/main" xmlns="" id="{8CB07E60-9100-4613-865B-E400848BDA9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3490" r="8873"/>
          <a:stretch/>
        </p:blipFill>
        <p:spPr bwMode="auto">
          <a:xfrm>
            <a:off x="5936565" y="2025747"/>
            <a:ext cx="5978769" cy="358726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hlinkClick r:id="rId4"/>
            <a:extLst>
              <a:ext uri="{FF2B5EF4-FFF2-40B4-BE49-F238E27FC236}">
                <a16:creationId xmlns:a16="http://schemas.microsoft.com/office/drawing/2014/main" xmlns="" id="{48318DA9-DBB7-4ABB-A210-252FB31D91D9}"/>
              </a:ext>
            </a:extLst>
          </p:cNvPr>
          <p:cNvSpPr txBox="1"/>
          <p:nvPr/>
        </p:nvSpPr>
        <p:spPr>
          <a:xfrm>
            <a:off x="3052689" y="6231988"/>
            <a:ext cx="3699803"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762086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4E6E6E-1B35-4FE6-8783-1112386F7041}"/>
              </a:ext>
            </a:extLst>
          </p:cNvPr>
          <p:cNvSpPr>
            <a:spLocks noGrp="1"/>
          </p:cNvSpPr>
          <p:nvPr>
            <p:ph idx="1"/>
          </p:nvPr>
        </p:nvSpPr>
        <p:spPr>
          <a:xfrm>
            <a:off x="838200" y="281354"/>
            <a:ext cx="10515600" cy="5895609"/>
          </a:xfrm>
        </p:spPr>
        <p:txBody>
          <a:bodyPr/>
          <a:lstStyle/>
          <a:p>
            <a:pPr marL="0" indent="0">
              <a:buNone/>
            </a:pPr>
            <a:r>
              <a:rPr lang="en-US" sz="3200" b="1" dirty="0"/>
              <a:t>Advantages of zeolite process</a:t>
            </a:r>
          </a:p>
          <a:p>
            <a:r>
              <a:rPr lang="en-US" dirty="0"/>
              <a:t>It removes the hardness almost completely and water of about 10ppm hardness is produced.</a:t>
            </a:r>
          </a:p>
          <a:p>
            <a:r>
              <a:rPr lang="en-US" dirty="0"/>
              <a:t>The equipment used is compact, occupying small space.</a:t>
            </a:r>
          </a:p>
          <a:p>
            <a:r>
              <a:rPr lang="en-US" dirty="0"/>
              <a:t>No impurities are precipitated, so there is no danger of sludge formation in treated water at a later stage.</a:t>
            </a:r>
          </a:p>
          <a:p>
            <a:r>
              <a:rPr lang="en-US" dirty="0"/>
              <a:t>The process automatically adjusts itself for variation in hardness of incoming water.</a:t>
            </a:r>
          </a:p>
          <a:p>
            <a:r>
              <a:rPr lang="en-US" dirty="0"/>
              <a:t>It is quite clean process.</a:t>
            </a:r>
          </a:p>
          <a:p>
            <a:r>
              <a:rPr lang="en-US" dirty="0"/>
              <a:t>It requires less time for softening.</a:t>
            </a:r>
          </a:p>
          <a:p>
            <a:r>
              <a:rPr lang="en-US" dirty="0"/>
              <a:t>It requires less skill for maintenance as well as operation.</a:t>
            </a:r>
          </a:p>
          <a:p>
            <a:endParaRPr lang="en-US" dirty="0"/>
          </a:p>
          <a:p>
            <a:endParaRPr lang="en-US" dirty="0"/>
          </a:p>
          <a:p>
            <a:endParaRPr lang="en-IN" dirty="0"/>
          </a:p>
        </p:txBody>
      </p:sp>
    </p:spTree>
    <p:extLst>
      <p:ext uri="{BB962C8B-B14F-4D97-AF65-F5344CB8AC3E}">
        <p14:creationId xmlns:p14="http://schemas.microsoft.com/office/powerpoint/2010/main" val="23499777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4A1480-E754-4EEF-8865-C2F08822B574}"/>
              </a:ext>
            </a:extLst>
          </p:cNvPr>
          <p:cNvSpPr>
            <a:spLocks noGrp="1"/>
          </p:cNvSpPr>
          <p:nvPr>
            <p:ph type="title"/>
          </p:nvPr>
        </p:nvSpPr>
        <p:spPr/>
        <p:txBody>
          <a:bodyPr/>
          <a:lstStyle/>
          <a:p>
            <a:r>
              <a:rPr lang="en-US" dirty="0"/>
              <a:t>Disadvantages</a:t>
            </a:r>
            <a:endParaRPr lang="en-IN" dirty="0"/>
          </a:p>
        </p:txBody>
      </p:sp>
      <p:sp>
        <p:nvSpPr>
          <p:cNvPr id="3" name="Content Placeholder 2">
            <a:extLst>
              <a:ext uri="{FF2B5EF4-FFF2-40B4-BE49-F238E27FC236}">
                <a16:creationId xmlns:a16="http://schemas.microsoft.com/office/drawing/2014/main" xmlns="" id="{61A0E921-E025-4CFE-A319-AB2AA3D47CCD}"/>
              </a:ext>
            </a:extLst>
          </p:cNvPr>
          <p:cNvSpPr>
            <a:spLocks noGrp="1"/>
          </p:cNvSpPr>
          <p:nvPr>
            <p:ph idx="1"/>
          </p:nvPr>
        </p:nvSpPr>
        <p:spPr/>
        <p:txBody>
          <a:bodyPr/>
          <a:lstStyle/>
          <a:p>
            <a:r>
              <a:rPr lang="en-US" dirty="0"/>
              <a:t>The treated water contains more sodium salts than in lime soda process.</a:t>
            </a:r>
          </a:p>
          <a:p>
            <a:r>
              <a:rPr lang="en-US" dirty="0"/>
              <a:t>The method only replaces Ca2+ and Mg2+ ions by Na+ ions but leaves all the acidic ions like HCO</a:t>
            </a:r>
            <a:r>
              <a:rPr lang="en-US" baseline="-25000" dirty="0"/>
              <a:t>3</a:t>
            </a:r>
            <a:r>
              <a:rPr lang="en-US" dirty="0"/>
              <a:t>- and CO</a:t>
            </a:r>
            <a:r>
              <a:rPr lang="en-US" baseline="-25000" dirty="0"/>
              <a:t>3</a:t>
            </a:r>
            <a:r>
              <a:rPr lang="en-US" dirty="0"/>
              <a:t>2-  as such in the softened water.</a:t>
            </a:r>
          </a:p>
          <a:p>
            <a:r>
              <a:rPr lang="en-US" dirty="0"/>
              <a:t>When such soften water is used in boilers for steam generation, sodium carbonate decomposes producing CO2, which cause corrosion and sodium carbonate hydrolyses to sodium hydroxide which cause caustic embrittlement. </a:t>
            </a:r>
          </a:p>
          <a:p>
            <a:r>
              <a:rPr lang="en-US" dirty="0"/>
              <a:t>High turbidity water cannot be treated efficiently by this method. </a:t>
            </a:r>
            <a:endParaRPr lang="en-IN" dirty="0"/>
          </a:p>
        </p:txBody>
      </p:sp>
    </p:spTree>
    <p:extLst>
      <p:ext uri="{BB962C8B-B14F-4D97-AF65-F5344CB8AC3E}">
        <p14:creationId xmlns:p14="http://schemas.microsoft.com/office/powerpoint/2010/main" val="150374926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47ED884-EA81-4EA4-839A-8247804FBA23}"/>
              </a:ext>
            </a:extLst>
          </p:cNvPr>
          <p:cNvSpPr>
            <a:spLocks noGrp="1"/>
          </p:cNvSpPr>
          <p:nvPr>
            <p:ph idx="1"/>
          </p:nvPr>
        </p:nvSpPr>
        <p:spPr>
          <a:xfrm>
            <a:off x="838200" y="457200"/>
            <a:ext cx="10515600" cy="5719763"/>
          </a:xfrm>
        </p:spPr>
        <p:txBody>
          <a:bodyPr>
            <a:normAutofit fontScale="92500" lnSpcReduction="20000"/>
          </a:bodyPr>
          <a:lstStyle/>
          <a:p>
            <a:pPr marL="0" indent="0">
              <a:buNone/>
            </a:pPr>
            <a:r>
              <a:rPr lang="en-US" dirty="0"/>
              <a:t>Numerical 1: The hardness of 10000 </a:t>
            </a:r>
            <a:r>
              <a:rPr lang="en-US" dirty="0" err="1"/>
              <a:t>litres</a:t>
            </a:r>
            <a:r>
              <a:rPr lang="en-US" dirty="0"/>
              <a:t> of hard water sample was completely removed by passing it through a zeolite softener. The zeolite softener required 5000litres of NaCl </a:t>
            </a:r>
            <a:r>
              <a:rPr lang="en-US" dirty="0" err="1"/>
              <a:t>soln</a:t>
            </a:r>
            <a:r>
              <a:rPr lang="en-US" dirty="0"/>
              <a:t> containing 1170mg of NaCl/L. Determine hardness of water sample. </a:t>
            </a:r>
          </a:p>
          <a:p>
            <a:pPr marL="0" indent="0">
              <a:buNone/>
            </a:pPr>
            <a:r>
              <a:rPr lang="en-US" dirty="0"/>
              <a:t>Solution:</a:t>
            </a:r>
          </a:p>
          <a:p>
            <a:pPr marL="0" indent="0">
              <a:buNone/>
            </a:pPr>
            <a:r>
              <a:rPr lang="en-US" dirty="0"/>
              <a:t>5000 L of NaCl </a:t>
            </a:r>
            <a:r>
              <a:rPr lang="en-US" dirty="0" err="1"/>
              <a:t>soln</a:t>
            </a:r>
            <a:r>
              <a:rPr lang="en-US" dirty="0"/>
              <a:t> = 5000 x 1170mg of NaCl</a:t>
            </a:r>
          </a:p>
          <a:p>
            <a:pPr marL="0" indent="0">
              <a:buNone/>
            </a:pPr>
            <a:r>
              <a:rPr lang="en-US" dirty="0"/>
              <a:t>                                    = 5850000mg of NaCl</a:t>
            </a:r>
          </a:p>
          <a:p>
            <a:pPr marL="0" indent="0">
              <a:buNone/>
            </a:pPr>
            <a:r>
              <a:rPr lang="en-US" dirty="0"/>
              <a:t>     1eq of NaCl = 1eq of CaCO3</a:t>
            </a:r>
          </a:p>
          <a:p>
            <a:pPr marL="0" indent="0">
              <a:buNone/>
            </a:pPr>
            <a:r>
              <a:rPr lang="en-US" dirty="0"/>
              <a:t>58.5mg of NaCl = 50mg of CaCO3</a:t>
            </a:r>
          </a:p>
          <a:p>
            <a:pPr marL="0" indent="0">
              <a:buNone/>
            </a:pPr>
            <a:r>
              <a:rPr lang="en-US" dirty="0"/>
              <a:t>5850000mg of NaCl = </a:t>
            </a:r>
            <a:r>
              <a:rPr lang="en-US" u="sng" dirty="0"/>
              <a:t>5000000 </a:t>
            </a:r>
            <a:r>
              <a:rPr lang="en-US" dirty="0"/>
              <a:t>mg of CaCO3</a:t>
            </a:r>
          </a:p>
          <a:p>
            <a:pPr marL="0" indent="0">
              <a:buNone/>
            </a:pPr>
            <a:r>
              <a:rPr lang="en-US" dirty="0"/>
              <a:t>There fore,</a:t>
            </a:r>
          </a:p>
          <a:p>
            <a:pPr marL="0" indent="0">
              <a:buNone/>
            </a:pPr>
            <a:r>
              <a:rPr lang="en-US" dirty="0"/>
              <a:t>10000L of Hard water = 5000000mg of CaCO3</a:t>
            </a:r>
          </a:p>
          <a:p>
            <a:pPr marL="0" indent="0">
              <a:buNone/>
            </a:pPr>
            <a:r>
              <a:rPr lang="en-US" dirty="0"/>
              <a:t>1L of Hard water = 5000000/10000 = 500mg of CaCO3</a:t>
            </a:r>
          </a:p>
          <a:p>
            <a:pPr marL="0" indent="0">
              <a:buNone/>
            </a:pPr>
            <a:r>
              <a:rPr lang="en-US" dirty="0"/>
              <a:t>Hence Hardness of water = 500ppm.</a:t>
            </a:r>
            <a:endParaRPr lang="en-IN" dirty="0"/>
          </a:p>
        </p:txBody>
      </p:sp>
    </p:spTree>
    <p:extLst>
      <p:ext uri="{BB962C8B-B14F-4D97-AF65-F5344CB8AC3E}">
        <p14:creationId xmlns:p14="http://schemas.microsoft.com/office/powerpoint/2010/main" val="164857018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3FB23F8-E200-48C0-A922-D00740E645FB}"/>
              </a:ext>
            </a:extLst>
          </p:cNvPr>
          <p:cNvSpPr>
            <a:spLocks noGrp="1"/>
          </p:cNvSpPr>
          <p:nvPr>
            <p:ph idx="1"/>
          </p:nvPr>
        </p:nvSpPr>
        <p:spPr>
          <a:xfrm>
            <a:off x="838200" y="625642"/>
            <a:ext cx="10515600" cy="5551321"/>
          </a:xfrm>
        </p:spPr>
        <p:txBody>
          <a:bodyPr>
            <a:normAutofit fontScale="92500" lnSpcReduction="10000"/>
          </a:bodyPr>
          <a:lstStyle/>
          <a:p>
            <a:pPr marL="0" indent="0">
              <a:buNone/>
            </a:pPr>
            <a:r>
              <a:rPr lang="en-US" dirty="0"/>
              <a:t>Numerical 2: An Exhausted zeolite softener was regenerated by passing 75L of NaCl </a:t>
            </a:r>
            <a:r>
              <a:rPr lang="en-US" dirty="0" err="1"/>
              <a:t>soln</a:t>
            </a:r>
            <a:r>
              <a:rPr lang="en-US" dirty="0"/>
              <a:t> having strength of 75g/L. If 1.6 x 10</a:t>
            </a:r>
            <a:r>
              <a:rPr lang="en-US" baseline="30000" dirty="0"/>
              <a:t>4 </a:t>
            </a:r>
            <a:r>
              <a:rPr lang="en-US" dirty="0"/>
              <a:t> hard water was passed though zeolite bed, what will be the hardness of water.</a:t>
            </a:r>
          </a:p>
          <a:p>
            <a:pPr marL="0" indent="0">
              <a:buNone/>
            </a:pPr>
            <a:r>
              <a:rPr lang="en-US" baseline="30000" dirty="0" err="1"/>
              <a:t>Soln</a:t>
            </a:r>
            <a:r>
              <a:rPr lang="en-US" baseline="30000" dirty="0"/>
              <a:t>:</a:t>
            </a:r>
          </a:p>
          <a:p>
            <a:pPr marL="0" indent="0">
              <a:buNone/>
            </a:pPr>
            <a:r>
              <a:rPr lang="en-US" dirty="0"/>
              <a:t> 75L of </a:t>
            </a:r>
            <a:r>
              <a:rPr lang="en-US" dirty="0" err="1"/>
              <a:t>NaCl</a:t>
            </a:r>
            <a:r>
              <a:rPr lang="en-US" dirty="0"/>
              <a:t> = 75 x 75 g of </a:t>
            </a:r>
            <a:r>
              <a:rPr lang="en-US" dirty="0" err="1"/>
              <a:t>NaCl</a:t>
            </a:r>
            <a:r>
              <a:rPr lang="en-US" dirty="0"/>
              <a:t> = 5625g of </a:t>
            </a:r>
            <a:r>
              <a:rPr lang="en-US" dirty="0" err="1"/>
              <a:t>NaCl</a:t>
            </a:r>
            <a:endParaRPr lang="en-US" dirty="0"/>
          </a:p>
          <a:p>
            <a:pPr marL="0" indent="0">
              <a:buNone/>
            </a:pPr>
            <a:r>
              <a:rPr lang="en-US" dirty="0"/>
              <a:t>                      = 5625 x 10</a:t>
            </a:r>
            <a:r>
              <a:rPr lang="en-US" baseline="30000" dirty="0"/>
              <a:t>3</a:t>
            </a:r>
            <a:r>
              <a:rPr lang="en-US" dirty="0"/>
              <a:t> mg of </a:t>
            </a:r>
            <a:r>
              <a:rPr lang="en-US" dirty="0" err="1"/>
              <a:t>NaCl</a:t>
            </a:r>
            <a:endParaRPr lang="en-US" dirty="0"/>
          </a:p>
          <a:p>
            <a:pPr marL="0" indent="0">
              <a:buNone/>
            </a:pPr>
            <a:r>
              <a:rPr lang="en-IN" dirty="0"/>
              <a:t>1eq of </a:t>
            </a:r>
            <a:r>
              <a:rPr lang="en-IN" dirty="0" err="1"/>
              <a:t>NaCl</a:t>
            </a:r>
            <a:r>
              <a:rPr lang="en-IN" dirty="0"/>
              <a:t> = 1eq. Of CaCO3</a:t>
            </a:r>
          </a:p>
          <a:p>
            <a:pPr marL="0" indent="0">
              <a:buNone/>
            </a:pPr>
            <a:r>
              <a:rPr lang="en-IN" dirty="0"/>
              <a:t>58.5mg of </a:t>
            </a:r>
            <a:r>
              <a:rPr lang="en-IN" dirty="0" err="1"/>
              <a:t>NaCl</a:t>
            </a:r>
            <a:r>
              <a:rPr lang="en-IN" dirty="0"/>
              <a:t> = 50mg of CaCO3</a:t>
            </a:r>
          </a:p>
          <a:p>
            <a:pPr marL="0" indent="0">
              <a:buNone/>
            </a:pPr>
            <a:r>
              <a:rPr lang="en-IN" dirty="0"/>
              <a:t>5625x10</a:t>
            </a:r>
            <a:r>
              <a:rPr lang="en-IN" baseline="30000" dirty="0"/>
              <a:t>3</a:t>
            </a:r>
            <a:r>
              <a:rPr lang="en-IN" dirty="0"/>
              <a:t> mg of </a:t>
            </a:r>
            <a:r>
              <a:rPr lang="en-IN" dirty="0" err="1"/>
              <a:t>NaCl</a:t>
            </a:r>
            <a:r>
              <a:rPr lang="en-IN" dirty="0"/>
              <a:t> = 5625 x 10</a:t>
            </a:r>
            <a:r>
              <a:rPr lang="en-IN" baseline="30000" dirty="0"/>
              <a:t>3</a:t>
            </a:r>
            <a:r>
              <a:rPr lang="en-IN" dirty="0"/>
              <a:t> x 50/58.5 mg of CaCO</a:t>
            </a:r>
            <a:r>
              <a:rPr lang="en-IN" baseline="-25000" dirty="0"/>
              <a:t>3</a:t>
            </a:r>
          </a:p>
          <a:p>
            <a:pPr marL="0" indent="0">
              <a:buNone/>
            </a:pPr>
            <a:r>
              <a:rPr lang="en-IN" dirty="0"/>
              <a:t>                                       = 4.81 x 10</a:t>
            </a:r>
            <a:r>
              <a:rPr lang="en-IN" baseline="30000" dirty="0"/>
              <a:t>6</a:t>
            </a:r>
            <a:r>
              <a:rPr lang="en-IN" dirty="0"/>
              <a:t> mg of CaCO</a:t>
            </a:r>
            <a:r>
              <a:rPr lang="en-IN" baseline="-25000" dirty="0"/>
              <a:t>3</a:t>
            </a:r>
          </a:p>
          <a:p>
            <a:pPr marL="0" indent="0">
              <a:buNone/>
            </a:pPr>
            <a:r>
              <a:rPr lang="en-IN" dirty="0"/>
              <a:t>1.6 x 10</a:t>
            </a:r>
            <a:r>
              <a:rPr lang="en-IN" baseline="30000" dirty="0"/>
              <a:t>4</a:t>
            </a:r>
            <a:r>
              <a:rPr lang="en-IN" dirty="0"/>
              <a:t> L of hard water = 4.81 x 10</a:t>
            </a:r>
            <a:r>
              <a:rPr lang="en-IN" baseline="30000" dirty="0"/>
              <a:t>6</a:t>
            </a:r>
            <a:r>
              <a:rPr lang="en-IN" dirty="0"/>
              <a:t> mg of CaCO3</a:t>
            </a:r>
          </a:p>
          <a:p>
            <a:pPr marL="0" indent="0">
              <a:buNone/>
            </a:pPr>
            <a:r>
              <a:rPr lang="en-IN" dirty="0"/>
              <a:t>1L of hard water = 4.81 x 10</a:t>
            </a:r>
            <a:r>
              <a:rPr lang="en-IN" baseline="30000" dirty="0"/>
              <a:t>6</a:t>
            </a:r>
            <a:r>
              <a:rPr lang="en-IN" dirty="0"/>
              <a:t> / 1.6 x 10</a:t>
            </a:r>
            <a:r>
              <a:rPr lang="en-IN" baseline="30000" dirty="0"/>
              <a:t>4</a:t>
            </a:r>
          </a:p>
          <a:p>
            <a:pPr marL="0" indent="0">
              <a:buNone/>
            </a:pPr>
            <a:r>
              <a:rPr lang="en-IN" baseline="30000" dirty="0"/>
              <a:t>   </a:t>
            </a:r>
            <a:r>
              <a:rPr lang="en-IN" dirty="0"/>
              <a:t>                             = 300ppm</a:t>
            </a:r>
            <a:endParaRPr lang="en-US" baseline="30000" dirty="0"/>
          </a:p>
          <a:p>
            <a:pPr marL="0" indent="0">
              <a:buNone/>
            </a:pPr>
            <a:endParaRPr lang="en-US" baseline="30000" dirty="0"/>
          </a:p>
        </p:txBody>
      </p:sp>
    </p:spTree>
    <p:extLst>
      <p:ext uri="{BB962C8B-B14F-4D97-AF65-F5344CB8AC3E}">
        <p14:creationId xmlns:p14="http://schemas.microsoft.com/office/powerpoint/2010/main" val="32683783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1DE09DC-5D15-4C10-84CD-BD3E91FC7CF6}"/>
              </a:ext>
            </a:extLst>
          </p:cNvPr>
          <p:cNvSpPr>
            <a:spLocks noGrp="1"/>
          </p:cNvSpPr>
          <p:nvPr>
            <p:ph idx="1"/>
          </p:nvPr>
        </p:nvSpPr>
        <p:spPr>
          <a:xfrm>
            <a:off x="838200" y="323557"/>
            <a:ext cx="10515600" cy="5853406"/>
          </a:xfrm>
        </p:spPr>
        <p:txBody>
          <a:bodyPr>
            <a:normAutofit fontScale="92500" lnSpcReduction="20000"/>
          </a:bodyPr>
          <a:lstStyle/>
          <a:p>
            <a:pPr marL="0" indent="0">
              <a:buNone/>
            </a:pPr>
            <a:r>
              <a:rPr lang="en-US" dirty="0"/>
              <a:t>Numerical 3: An exhausted zeolite softener was regenerated by passing 125L of NaCl having strength 50gNaCl/L. If the hardness of water is 350ppm, then calculate the total volume of water sample.</a:t>
            </a:r>
          </a:p>
          <a:p>
            <a:pPr marL="0" indent="0">
              <a:buNone/>
            </a:pPr>
            <a:r>
              <a:rPr lang="en-US" dirty="0" err="1"/>
              <a:t>Soln</a:t>
            </a:r>
            <a:r>
              <a:rPr lang="en-US" dirty="0"/>
              <a:t>:</a:t>
            </a:r>
          </a:p>
          <a:p>
            <a:pPr marL="0" indent="0">
              <a:buNone/>
            </a:pPr>
            <a:r>
              <a:rPr lang="en-US" dirty="0"/>
              <a:t>125L of NaCl = 125 x 50g of NaCl</a:t>
            </a:r>
          </a:p>
          <a:p>
            <a:pPr marL="0" indent="0">
              <a:buNone/>
            </a:pPr>
            <a:r>
              <a:rPr lang="en-US" dirty="0"/>
              <a:t>                        = 6250g = 6250000mg of NaCl</a:t>
            </a:r>
          </a:p>
          <a:p>
            <a:pPr marL="0" indent="0">
              <a:buNone/>
            </a:pPr>
            <a:r>
              <a:rPr lang="en-US" dirty="0"/>
              <a:t>58.5mg of NaCl = 50mg of CaCO3</a:t>
            </a:r>
          </a:p>
          <a:p>
            <a:pPr marL="0" indent="0">
              <a:buNone/>
            </a:pPr>
            <a:r>
              <a:rPr lang="en-US" dirty="0"/>
              <a:t>6250000mf of NaCl = 6250000x50/58.5</a:t>
            </a:r>
          </a:p>
          <a:p>
            <a:pPr marL="0" indent="0">
              <a:buNone/>
            </a:pPr>
            <a:r>
              <a:rPr lang="en-US" dirty="0"/>
              <a:t>                                    = 5341880mg of CaCO3</a:t>
            </a:r>
          </a:p>
          <a:p>
            <a:pPr marL="0" indent="0">
              <a:buNone/>
            </a:pPr>
            <a:r>
              <a:rPr lang="en-US" dirty="0"/>
              <a:t>1L of hard water = 350mg of CaCO3</a:t>
            </a:r>
          </a:p>
          <a:p>
            <a:pPr marL="0" indent="0">
              <a:buNone/>
            </a:pPr>
            <a:r>
              <a:rPr lang="en-US" dirty="0"/>
              <a:t>Therefore,</a:t>
            </a:r>
          </a:p>
          <a:p>
            <a:pPr marL="0" indent="0">
              <a:buNone/>
            </a:pPr>
            <a:r>
              <a:rPr lang="en-US" dirty="0"/>
              <a:t>x L of Hard water = 5341880mg of CaCO3</a:t>
            </a:r>
          </a:p>
          <a:p>
            <a:pPr marL="0" indent="0">
              <a:buNone/>
            </a:pPr>
            <a:r>
              <a:rPr lang="en-US" dirty="0"/>
              <a:t>Hence volume of hard water = 5341880/350</a:t>
            </a:r>
          </a:p>
          <a:p>
            <a:pPr marL="0" indent="0">
              <a:buNone/>
            </a:pPr>
            <a:r>
              <a:rPr lang="en-US" dirty="0"/>
              <a:t>                                                    = 15262.5L</a:t>
            </a:r>
            <a:endParaRPr lang="en-IN" dirty="0"/>
          </a:p>
        </p:txBody>
      </p:sp>
    </p:spTree>
    <p:extLst>
      <p:ext uri="{BB962C8B-B14F-4D97-AF65-F5344CB8AC3E}">
        <p14:creationId xmlns:p14="http://schemas.microsoft.com/office/powerpoint/2010/main" val="311377932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8F9EB93-E97C-4188-AF21-82C28BFC472F}"/>
              </a:ext>
            </a:extLst>
          </p:cNvPr>
          <p:cNvSpPr>
            <a:spLocks noGrp="1"/>
          </p:cNvSpPr>
          <p:nvPr>
            <p:ph idx="1"/>
          </p:nvPr>
        </p:nvSpPr>
        <p:spPr/>
        <p:txBody>
          <a:bodyPr/>
          <a:lstStyle/>
          <a:p>
            <a:r>
              <a:rPr lang="en-US" dirty="0"/>
              <a:t>Numerical4: Calculate the volume of NaCl (12.5g/L) in L for regeneration of zeolite, the 200ppm of 10000L of hardwater was passed through it to get zeolite exhausted. </a:t>
            </a:r>
            <a:endParaRPr lang="en-IN" dirty="0"/>
          </a:p>
        </p:txBody>
      </p:sp>
    </p:spTree>
    <p:extLst>
      <p:ext uri="{BB962C8B-B14F-4D97-AF65-F5344CB8AC3E}">
        <p14:creationId xmlns:p14="http://schemas.microsoft.com/office/powerpoint/2010/main" val="120500512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87C77F-A2AF-4493-89A4-ED69C18F849F}"/>
              </a:ext>
            </a:extLst>
          </p:cNvPr>
          <p:cNvSpPr>
            <a:spLocks noGrp="1"/>
          </p:cNvSpPr>
          <p:nvPr>
            <p:ph type="title"/>
          </p:nvPr>
        </p:nvSpPr>
        <p:spPr/>
        <p:txBody>
          <a:bodyPr/>
          <a:lstStyle/>
          <a:p>
            <a:r>
              <a:rPr lang="en-US" b="1" dirty="0"/>
              <a:t>Softening of Water by Ion-Exchange Process Or Demineralization process</a:t>
            </a:r>
            <a:endParaRPr lang="en-IN" b="1" dirty="0"/>
          </a:p>
        </p:txBody>
      </p:sp>
      <p:sp>
        <p:nvSpPr>
          <p:cNvPr id="3" name="Content Placeholder 2">
            <a:extLst>
              <a:ext uri="{FF2B5EF4-FFF2-40B4-BE49-F238E27FC236}">
                <a16:creationId xmlns:a16="http://schemas.microsoft.com/office/drawing/2014/main" xmlns="" id="{52BB1732-F884-4BCD-8688-E4F249B0C796}"/>
              </a:ext>
            </a:extLst>
          </p:cNvPr>
          <p:cNvSpPr>
            <a:spLocks noGrp="1"/>
          </p:cNvSpPr>
          <p:nvPr>
            <p:ph idx="1"/>
          </p:nvPr>
        </p:nvSpPr>
        <p:spPr>
          <a:xfrm>
            <a:off x="838200" y="1801813"/>
            <a:ext cx="10515600" cy="4351338"/>
          </a:xfrm>
        </p:spPr>
        <p:txBody>
          <a:bodyPr/>
          <a:lstStyle/>
          <a:p>
            <a:r>
              <a:rPr lang="en-US" dirty="0"/>
              <a:t>Ion exchange resins are insoluble cross linked long-chained organic polymers with a microporous structure.</a:t>
            </a:r>
          </a:p>
          <a:p>
            <a:r>
              <a:rPr lang="en-US" b="1" dirty="0"/>
              <a:t>Cation Exchange resin: </a:t>
            </a:r>
            <a:r>
              <a:rPr lang="en-US" dirty="0"/>
              <a:t>     Styrene-divinyl benzene copolymers which on </a:t>
            </a:r>
            <a:r>
              <a:rPr lang="en-US" dirty="0" err="1"/>
              <a:t>sulphonation</a:t>
            </a:r>
            <a:r>
              <a:rPr lang="en-US" dirty="0"/>
              <a:t> or carboxylation become capable of exchanging their hydrogen ions with the cations in hard water.</a:t>
            </a:r>
          </a:p>
          <a:p>
            <a:endParaRPr lang="en-IN" dirty="0"/>
          </a:p>
        </p:txBody>
      </p:sp>
      <p:pic>
        <p:nvPicPr>
          <p:cNvPr id="2050" name="Picture 2" descr="Ion Exchange Resins, Cation Exchange Resins, Anion Exchange Resins - YouTube">
            <a:extLst>
              <a:ext uri="{FF2B5EF4-FFF2-40B4-BE49-F238E27FC236}">
                <a16:creationId xmlns:a16="http://schemas.microsoft.com/office/drawing/2014/main" xmlns="" id="{413189DE-36EB-4BEF-8990-64E553B23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652" y="770021"/>
            <a:ext cx="7800452" cy="5074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05196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0E8A9D0-72E2-46BE-83F2-140207C9031B}"/>
              </a:ext>
            </a:extLst>
          </p:cNvPr>
          <p:cNvSpPr>
            <a:spLocks noGrp="1"/>
          </p:cNvSpPr>
          <p:nvPr>
            <p:ph idx="1"/>
          </p:nvPr>
        </p:nvSpPr>
        <p:spPr>
          <a:xfrm>
            <a:off x="641252" y="492369"/>
            <a:ext cx="10515600" cy="6176963"/>
          </a:xfrm>
        </p:spPr>
        <p:txBody>
          <a:bodyPr/>
          <a:lstStyle/>
          <a:p>
            <a:pPr marL="0" indent="0">
              <a:buNone/>
            </a:pPr>
            <a:r>
              <a:rPr lang="en-US" b="1" dirty="0"/>
              <a:t>Anion Exchange resin:</a:t>
            </a:r>
            <a:r>
              <a:rPr lang="en-US" dirty="0"/>
              <a:t> Styrene-divinyl benzene copolymers which on further functionalization like formylation followed by </a:t>
            </a:r>
            <a:r>
              <a:rPr lang="en-US" dirty="0" err="1"/>
              <a:t>Mannich</a:t>
            </a:r>
            <a:r>
              <a:rPr lang="en-US" dirty="0"/>
              <a:t> reaction or nitration followed by amination and alkylation gives quaternary ammonium groups as an integral part of the resin matrix. These after treatment with </a:t>
            </a:r>
            <a:r>
              <a:rPr lang="en-US" dirty="0" err="1"/>
              <a:t>dil</a:t>
            </a:r>
            <a:r>
              <a:rPr lang="en-US" dirty="0"/>
              <a:t> NaOH </a:t>
            </a:r>
            <a:r>
              <a:rPr lang="en-US" dirty="0" err="1"/>
              <a:t>soln</a:t>
            </a:r>
            <a:r>
              <a:rPr lang="en-US" dirty="0"/>
              <a:t> become capable of exchanging their OH- anions with anions of hard water.</a:t>
            </a:r>
            <a:endParaRPr lang="en-IN" dirty="0"/>
          </a:p>
        </p:txBody>
      </p:sp>
      <p:pic>
        <p:nvPicPr>
          <p:cNvPr id="3074" name="Picture 2" descr="What are ion exchanger gave their to uses - Chemistry - Hydrogen - 12012295  | Meritnation.com">
            <a:extLst>
              <a:ext uri="{FF2B5EF4-FFF2-40B4-BE49-F238E27FC236}">
                <a16:creationId xmlns:a16="http://schemas.microsoft.com/office/drawing/2014/main" xmlns="" id="{D078CBBD-AAA7-41E7-A34A-669C63EAC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6812" y="3147865"/>
            <a:ext cx="4342960" cy="3085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51498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on Exchange Resin - an overview | ScienceDirect Topics">
            <a:extLst>
              <a:ext uri="{FF2B5EF4-FFF2-40B4-BE49-F238E27FC236}">
                <a16:creationId xmlns:a16="http://schemas.microsoft.com/office/drawing/2014/main" xmlns="" id="{C131E1D2-07DE-4FC8-9AAA-268277AA42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7280" y="355487"/>
            <a:ext cx="9791113" cy="6397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93559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F93EDBB1-4869-4BA7-93E7-603F5FE1F252}"/>
              </a:ext>
            </a:extLst>
          </p:cNvPr>
          <p:cNvSpPr txBox="1"/>
          <p:nvPr/>
        </p:nvSpPr>
        <p:spPr>
          <a:xfrm>
            <a:off x="281354" y="365760"/>
            <a:ext cx="3384901" cy="369332"/>
          </a:xfrm>
          <a:prstGeom prst="rect">
            <a:avLst/>
          </a:prstGeom>
          <a:noFill/>
        </p:spPr>
        <p:txBody>
          <a:bodyPr wrap="none" rtlCol="0">
            <a:spAutoFit/>
          </a:bodyPr>
          <a:lstStyle/>
          <a:p>
            <a:r>
              <a:rPr lang="en-US" dirty="0"/>
              <a:t>Process: Ca(HCO3)2, CaCl2, MgCl2</a:t>
            </a:r>
            <a:endParaRPr lang="en-IN" dirty="0"/>
          </a:p>
        </p:txBody>
      </p:sp>
      <p:pic>
        <p:nvPicPr>
          <p:cNvPr id="1030" name="Picture 6" descr="Explain demineralization of water by ion exchange method">
            <a:extLst>
              <a:ext uri="{FF2B5EF4-FFF2-40B4-BE49-F238E27FC236}">
                <a16:creationId xmlns:a16="http://schemas.microsoft.com/office/drawing/2014/main" xmlns="" id="{D56BD885-CB14-489F-8178-2DC225369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9632" y="1130618"/>
            <a:ext cx="8192159" cy="5253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56635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9ACDB1C8-FCA3-41CF-B8B8-35806C3969E8}"/>
              </a:ext>
            </a:extLst>
          </p:cNvPr>
          <p:cNvSpPr>
            <a:spLocks noGrp="1"/>
          </p:cNvSpPr>
          <p:nvPr>
            <p:ph type="subTitle" idx="1"/>
          </p:nvPr>
        </p:nvSpPr>
        <p:spPr>
          <a:xfrm>
            <a:off x="1524000" y="379827"/>
            <a:ext cx="9144000" cy="5627077"/>
          </a:xfrm>
        </p:spPr>
        <p:txBody>
          <a:bodyPr>
            <a:normAutofit fontScale="77500" lnSpcReduction="20000"/>
          </a:bodyPr>
          <a:lstStyle/>
          <a:p>
            <a:pPr algn="l"/>
            <a:r>
              <a:rPr lang="en-US" b="1" dirty="0"/>
              <a:t>Reactions with Cation Exchanger</a:t>
            </a:r>
            <a:r>
              <a:rPr lang="en-US" b="1" dirty="0">
                <a:sym typeface="Wingdings" panose="05000000000000000000" pitchFamily="2" charset="2"/>
              </a:rPr>
              <a:t>: RH+</a:t>
            </a:r>
          </a:p>
          <a:p>
            <a:pPr algn="l"/>
            <a:r>
              <a:rPr lang="en-US" dirty="0">
                <a:sym typeface="Wingdings" panose="05000000000000000000" pitchFamily="2" charset="2"/>
              </a:rPr>
              <a:t>RH+     +       Ca2+         R</a:t>
            </a:r>
            <a:r>
              <a:rPr lang="en-US" baseline="-25000" dirty="0">
                <a:sym typeface="Wingdings" panose="05000000000000000000" pitchFamily="2" charset="2"/>
              </a:rPr>
              <a:t>2</a:t>
            </a:r>
            <a:r>
              <a:rPr lang="en-US" dirty="0">
                <a:sym typeface="Wingdings" panose="05000000000000000000" pitchFamily="2" charset="2"/>
              </a:rPr>
              <a:t>Ca   +    2H+</a:t>
            </a:r>
            <a:endParaRPr lang="en-US" dirty="0"/>
          </a:p>
          <a:p>
            <a:pPr algn="l"/>
            <a:r>
              <a:rPr lang="en-US" dirty="0"/>
              <a:t>Resin    Hardwater       Resin        Soften water </a:t>
            </a:r>
          </a:p>
          <a:p>
            <a:pPr algn="l"/>
            <a:r>
              <a:rPr lang="en-US" dirty="0"/>
              <a:t>RH+     +   Mg2+   </a:t>
            </a:r>
            <a:r>
              <a:rPr lang="en-US" dirty="0">
                <a:sym typeface="Wingdings" panose="05000000000000000000" pitchFamily="2" charset="2"/>
              </a:rPr>
              <a:t>      R2Mg   + 2H+</a:t>
            </a:r>
          </a:p>
          <a:p>
            <a:pPr algn="l"/>
            <a:r>
              <a:rPr lang="en-US" smtClean="0">
                <a:sym typeface="Wingdings" panose="05000000000000000000" pitchFamily="2" charset="2"/>
              </a:rPr>
              <a:t>HCO3-</a:t>
            </a:r>
            <a:r>
              <a:rPr lang="en-US" dirty="0">
                <a:sym typeface="Wingdings" panose="05000000000000000000" pitchFamily="2" charset="2"/>
              </a:rPr>
              <a:t>, Cl-</a:t>
            </a:r>
            <a:r>
              <a:rPr lang="en-US">
                <a:sym typeface="Wingdings" panose="05000000000000000000" pitchFamily="2" charset="2"/>
              </a:rPr>
              <a:t>, </a:t>
            </a:r>
            <a:r>
              <a:rPr lang="en-US" smtClean="0">
                <a:sym typeface="Wingdings" panose="05000000000000000000" pitchFamily="2" charset="2"/>
              </a:rPr>
              <a:t>SO4-</a:t>
            </a:r>
            <a:endParaRPr lang="en-US" dirty="0"/>
          </a:p>
          <a:p>
            <a:pPr algn="l"/>
            <a:r>
              <a:rPr lang="en-US" b="1" dirty="0"/>
              <a:t>Reactions with Anion Exchanger: R’OH</a:t>
            </a:r>
          </a:p>
          <a:p>
            <a:pPr algn="l"/>
            <a:r>
              <a:rPr lang="en-US" dirty="0"/>
              <a:t>R’OH      +    Cl-            </a:t>
            </a:r>
            <a:r>
              <a:rPr lang="en-US" dirty="0">
                <a:sym typeface="Wingdings" panose="05000000000000000000" pitchFamily="2" charset="2"/>
              </a:rPr>
              <a:t>     </a:t>
            </a:r>
            <a:r>
              <a:rPr lang="en-US" dirty="0" err="1">
                <a:sym typeface="Wingdings" panose="05000000000000000000" pitchFamily="2" charset="2"/>
              </a:rPr>
              <a:t>R’Cl</a:t>
            </a:r>
            <a:r>
              <a:rPr lang="en-US" dirty="0">
                <a:sym typeface="Wingdings" panose="05000000000000000000" pitchFamily="2" charset="2"/>
              </a:rPr>
              <a:t>    +   OH-</a:t>
            </a:r>
          </a:p>
          <a:p>
            <a:pPr algn="l"/>
            <a:r>
              <a:rPr lang="en-US" dirty="0"/>
              <a:t>Resin     Hard Water          Resin        Soften water</a:t>
            </a:r>
          </a:p>
          <a:p>
            <a:pPr algn="l"/>
            <a:r>
              <a:rPr lang="en-US" dirty="0"/>
              <a:t>2R’OH  + SO4-           </a:t>
            </a:r>
            <a:r>
              <a:rPr lang="en-US" dirty="0">
                <a:sym typeface="Wingdings" panose="05000000000000000000" pitchFamily="2" charset="2"/>
              </a:rPr>
              <a:t>     R’2SO4  +  2OH-</a:t>
            </a:r>
          </a:p>
          <a:p>
            <a:pPr algn="l"/>
            <a:r>
              <a:rPr lang="en-US" b="1" dirty="0"/>
              <a:t>Overall Reaction:</a:t>
            </a:r>
          </a:p>
          <a:p>
            <a:pPr algn="l"/>
            <a:r>
              <a:rPr lang="en-US" dirty="0"/>
              <a:t>H+     +      OH-     </a:t>
            </a:r>
            <a:r>
              <a:rPr lang="en-US" dirty="0">
                <a:sym typeface="Wingdings" panose="05000000000000000000" pitchFamily="2" charset="2"/>
              </a:rPr>
              <a:t>   H2O</a:t>
            </a:r>
            <a:endParaRPr lang="en-US" dirty="0"/>
          </a:p>
          <a:p>
            <a:pPr algn="l"/>
            <a:r>
              <a:rPr lang="en-US" b="1" dirty="0"/>
              <a:t>Regeneration Reactions</a:t>
            </a:r>
          </a:p>
          <a:p>
            <a:pPr algn="l"/>
            <a:r>
              <a:rPr lang="en-US" b="1" dirty="0"/>
              <a:t>Cation Exchanger</a:t>
            </a:r>
          </a:p>
          <a:p>
            <a:pPr algn="l"/>
            <a:r>
              <a:rPr lang="en-US" dirty="0"/>
              <a:t>R</a:t>
            </a:r>
            <a:r>
              <a:rPr lang="en-US" baseline="-25000" dirty="0"/>
              <a:t>2</a:t>
            </a:r>
            <a:r>
              <a:rPr lang="en-US" dirty="0"/>
              <a:t>Ca   +  2HCl     </a:t>
            </a:r>
            <a:r>
              <a:rPr lang="en-US" dirty="0">
                <a:sym typeface="Wingdings" panose="05000000000000000000" pitchFamily="2" charset="2"/>
              </a:rPr>
              <a:t>     RH+                                         + CaCl2</a:t>
            </a:r>
          </a:p>
          <a:p>
            <a:pPr algn="l"/>
            <a:r>
              <a:rPr lang="en-US" dirty="0">
                <a:sym typeface="Wingdings" panose="05000000000000000000" pitchFamily="2" charset="2"/>
              </a:rPr>
              <a:t>                                     Regenerated Resin                  Washings</a:t>
            </a:r>
          </a:p>
          <a:p>
            <a:pPr algn="l"/>
            <a:r>
              <a:rPr lang="en-US" b="1" dirty="0">
                <a:sym typeface="Wingdings" panose="05000000000000000000" pitchFamily="2" charset="2"/>
              </a:rPr>
              <a:t>Anion Exchanger</a:t>
            </a:r>
          </a:p>
          <a:p>
            <a:pPr algn="l"/>
            <a:r>
              <a:rPr lang="en-US" dirty="0">
                <a:sym typeface="Wingdings" panose="05000000000000000000" pitchFamily="2" charset="2"/>
              </a:rPr>
              <a:t>R’</a:t>
            </a:r>
            <a:r>
              <a:rPr lang="en-US" baseline="-25000" dirty="0">
                <a:sym typeface="Wingdings" panose="05000000000000000000" pitchFamily="2" charset="2"/>
              </a:rPr>
              <a:t>2</a:t>
            </a:r>
            <a:r>
              <a:rPr lang="en-US" dirty="0">
                <a:sym typeface="Wingdings" panose="05000000000000000000" pitchFamily="2" charset="2"/>
              </a:rPr>
              <a:t>SO</a:t>
            </a:r>
            <a:r>
              <a:rPr lang="en-US" baseline="-25000" dirty="0">
                <a:sym typeface="Wingdings" panose="05000000000000000000" pitchFamily="2" charset="2"/>
              </a:rPr>
              <a:t>4  </a:t>
            </a:r>
            <a:r>
              <a:rPr lang="en-US" dirty="0">
                <a:sym typeface="Wingdings" panose="05000000000000000000" pitchFamily="2" charset="2"/>
              </a:rPr>
              <a:t>    +  2NaOH         2 R’OH                            +   Na</a:t>
            </a:r>
            <a:r>
              <a:rPr lang="en-US" baseline="-25000" dirty="0">
                <a:sym typeface="Wingdings" panose="05000000000000000000" pitchFamily="2" charset="2"/>
              </a:rPr>
              <a:t>2</a:t>
            </a:r>
            <a:r>
              <a:rPr lang="en-US" dirty="0">
                <a:sym typeface="Wingdings" panose="05000000000000000000" pitchFamily="2" charset="2"/>
              </a:rPr>
              <a:t>SO</a:t>
            </a:r>
            <a:r>
              <a:rPr lang="en-US" baseline="-25000" dirty="0">
                <a:sym typeface="Wingdings" panose="05000000000000000000" pitchFamily="2" charset="2"/>
              </a:rPr>
              <a:t>4</a:t>
            </a:r>
          </a:p>
          <a:p>
            <a:pPr algn="l"/>
            <a:endParaRPr lang="en-IN" dirty="0"/>
          </a:p>
        </p:txBody>
      </p:sp>
    </p:spTree>
    <p:extLst>
      <p:ext uri="{BB962C8B-B14F-4D97-AF65-F5344CB8AC3E}">
        <p14:creationId xmlns:p14="http://schemas.microsoft.com/office/powerpoint/2010/main" val="274540285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30DDF9-1D2D-4DFA-8912-616936793850}"/>
              </a:ext>
            </a:extLst>
          </p:cNvPr>
          <p:cNvSpPr>
            <a:spLocks noGrp="1"/>
          </p:cNvSpPr>
          <p:nvPr>
            <p:ph type="title"/>
          </p:nvPr>
        </p:nvSpPr>
        <p:spPr/>
        <p:txBody>
          <a:bodyPr/>
          <a:lstStyle/>
          <a:p>
            <a:r>
              <a:rPr lang="en-US" dirty="0"/>
              <a:t>Advantages</a:t>
            </a:r>
            <a:endParaRPr lang="en-IN" dirty="0"/>
          </a:p>
        </p:txBody>
      </p:sp>
      <p:sp>
        <p:nvSpPr>
          <p:cNvPr id="3" name="Content Placeholder 2">
            <a:extLst>
              <a:ext uri="{FF2B5EF4-FFF2-40B4-BE49-F238E27FC236}">
                <a16:creationId xmlns:a16="http://schemas.microsoft.com/office/drawing/2014/main" xmlns="" id="{78B624F9-9CFC-4B98-AC2C-9A83623FEADB}"/>
              </a:ext>
            </a:extLst>
          </p:cNvPr>
          <p:cNvSpPr>
            <a:spLocks noGrp="1"/>
          </p:cNvSpPr>
          <p:nvPr>
            <p:ph idx="1"/>
          </p:nvPr>
        </p:nvSpPr>
        <p:spPr/>
        <p:txBody>
          <a:bodyPr/>
          <a:lstStyle/>
          <a:p>
            <a:r>
              <a:rPr lang="en-US" dirty="0"/>
              <a:t>The process can be used to soften highly acidic or alkaline water.</a:t>
            </a:r>
          </a:p>
          <a:p>
            <a:r>
              <a:rPr lang="en-US" dirty="0"/>
              <a:t>It produces water of very low residual hardness (2ppm) so it is very good for treating water for use in high pressure boilers.</a:t>
            </a:r>
          </a:p>
          <a:p>
            <a:endParaRPr lang="en-US" dirty="0"/>
          </a:p>
          <a:p>
            <a:r>
              <a:rPr lang="en-US" dirty="0"/>
              <a:t>Disadvantages:</a:t>
            </a:r>
          </a:p>
          <a:p>
            <a:pPr marL="0" indent="0">
              <a:buNone/>
            </a:pPr>
            <a:r>
              <a:rPr lang="en-US" dirty="0"/>
              <a:t>The Equipment is costly and more expensive chemicals are needed.</a:t>
            </a:r>
          </a:p>
          <a:p>
            <a:pPr marL="0" indent="0">
              <a:buNone/>
            </a:pPr>
            <a:r>
              <a:rPr lang="en-US" dirty="0"/>
              <a:t>If water contains turbidity then the output of the process is reduced. The turbidity must be below 10ppm. If it is more it has to be removed first by coagulation and filtration. </a:t>
            </a:r>
          </a:p>
          <a:p>
            <a:pPr marL="0" indent="0">
              <a:buNone/>
            </a:pPr>
            <a:endParaRPr lang="en-IN" dirty="0"/>
          </a:p>
        </p:txBody>
      </p:sp>
    </p:spTree>
    <p:extLst>
      <p:ext uri="{BB962C8B-B14F-4D97-AF65-F5344CB8AC3E}">
        <p14:creationId xmlns:p14="http://schemas.microsoft.com/office/powerpoint/2010/main" val="346535591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D531B20-2BEE-4A21-9AC3-879B337FCDD4}"/>
              </a:ext>
            </a:extLst>
          </p:cNvPr>
          <p:cNvSpPr>
            <a:spLocks noGrp="1"/>
          </p:cNvSpPr>
          <p:nvPr>
            <p:ph idx="1"/>
          </p:nvPr>
        </p:nvSpPr>
        <p:spPr>
          <a:xfrm>
            <a:off x="838200" y="436098"/>
            <a:ext cx="10515600" cy="5684594"/>
          </a:xfrm>
        </p:spPr>
        <p:txBody>
          <a:bodyPr>
            <a:normAutofit fontScale="62500" lnSpcReduction="20000"/>
          </a:bodyPr>
          <a:lstStyle/>
          <a:p>
            <a:pPr marL="0" indent="0">
              <a:buNone/>
            </a:pPr>
            <a:r>
              <a:rPr lang="en-US" dirty="0"/>
              <a:t>Numerical 1: After treating 10000 </a:t>
            </a:r>
            <a:r>
              <a:rPr lang="en-US" dirty="0" err="1"/>
              <a:t>litres</a:t>
            </a:r>
            <a:r>
              <a:rPr lang="en-US" dirty="0"/>
              <a:t> of water by ion exchanger the cationic resin required 200 </a:t>
            </a:r>
            <a:r>
              <a:rPr lang="en-US" dirty="0" err="1"/>
              <a:t>litres</a:t>
            </a:r>
            <a:r>
              <a:rPr lang="en-US" dirty="0"/>
              <a:t> of 0.1N HCl and anionic resin required 200 </a:t>
            </a:r>
            <a:r>
              <a:rPr lang="en-US" dirty="0" err="1"/>
              <a:t>Litres</a:t>
            </a:r>
            <a:r>
              <a:rPr lang="en-US" dirty="0"/>
              <a:t> of 0.1N NaOH soln. Find the hardness of water.</a:t>
            </a:r>
          </a:p>
          <a:p>
            <a:pPr marL="0" indent="0">
              <a:buNone/>
            </a:pPr>
            <a:r>
              <a:rPr lang="en-IN" dirty="0" err="1"/>
              <a:t>Soln</a:t>
            </a:r>
            <a:r>
              <a:rPr lang="en-IN" dirty="0"/>
              <a:t>:</a:t>
            </a:r>
          </a:p>
          <a:p>
            <a:pPr marL="0" indent="0">
              <a:buNone/>
            </a:pPr>
            <a:endParaRPr lang="en-IN" dirty="0"/>
          </a:p>
          <a:p>
            <a:pPr marL="0" indent="0">
              <a:buNone/>
            </a:pPr>
            <a:r>
              <a:rPr lang="en-IN" dirty="0"/>
              <a:t>Hardness of 10000L of water = 200 L of 0.1N HCl</a:t>
            </a:r>
          </a:p>
          <a:p>
            <a:pPr marL="0" indent="0">
              <a:buNone/>
            </a:pPr>
            <a:r>
              <a:rPr lang="en-IN" dirty="0"/>
              <a:t>                                                     = 200L of 0.1 N NaOH</a:t>
            </a:r>
          </a:p>
          <a:p>
            <a:pPr marL="0" indent="0">
              <a:buNone/>
            </a:pPr>
            <a:r>
              <a:rPr lang="en-IN" dirty="0"/>
              <a:t>1 eq. of HCl   =   1 Eq. of CaCO3</a:t>
            </a:r>
          </a:p>
          <a:p>
            <a:pPr marL="0" indent="0">
              <a:buNone/>
            </a:pPr>
            <a:r>
              <a:rPr lang="en-IN" dirty="0"/>
              <a:t>0.1N of HCl   =  0.1N of CaCO3</a:t>
            </a:r>
          </a:p>
          <a:p>
            <a:pPr marL="0" indent="0">
              <a:buNone/>
            </a:pPr>
            <a:r>
              <a:rPr lang="en-IN" dirty="0"/>
              <a:t>Hence,</a:t>
            </a:r>
          </a:p>
          <a:p>
            <a:pPr marL="0" indent="0">
              <a:buNone/>
            </a:pPr>
            <a:r>
              <a:rPr lang="en-IN" dirty="0"/>
              <a:t>Hardness of 10000L of water = 200L of 0.1N CaCO3 eq.</a:t>
            </a:r>
          </a:p>
          <a:p>
            <a:pPr marL="0" indent="0">
              <a:buNone/>
            </a:pPr>
            <a:r>
              <a:rPr lang="en-IN" dirty="0"/>
              <a:t>                                                    = 20L of 1N CaCO3 eq.</a:t>
            </a:r>
          </a:p>
          <a:p>
            <a:pPr marL="0" indent="0">
              <a:buNone/>
            </a:pPr>
            <a:r>
              <a:rPr lang="en-IN" dirty="0"/>
              <a:t>Std Statement: 1L of 1N CaCO3 = Eq. </a:t>
            </a:r>
            <a:r>
              <a:rPr lang="en-IN" dirty="0" err="1"/>
              <a:t>wt</a:t>
            </a:r>
            <a:r>
              <a:rPr lang="en-IN" dirty="0"/>
              <a:t> = 50g</a:t>
            </a:r>
          </a:p>
          <a:p>
            <a:pPr marL="0" indent="0">
              <a:buNone/>
            </a:pPr>
            <a:r>
              <a:rPr lang="en-IN" dirty="0"/>
              <a:t>Hardness of 10000L of water = 20 x 1L of 1N CaCO3</a:t>
            </a:r>
          </a:p>
          <a:p>
            <a:pPr marL="0" indent="0">
              <a:buNone/>
            </a:pPr>
            <a:r>
              <a:rPr lang="en-IN" dirty="0"/>
              <a:t>                                                      = 20 x 50 g = 1000g</a:t>
            </a:r>
          </a:p>
          <a:p>
            <a:pPr marL="0" indent="0">
              <a:buNone/>
            </a:pPr>
            <a:r>
              <a:rPr lang="en-IN" dirty="0"/>
              <a:t>                                                        = 1000000mg of CaCO3 eq.</a:t>
            </a:r>
          </a:p>
          <a:p>
            <a:pPr marL="0" indent="0">
              <a:buNone/>
            </a:pPr>
            <a:r>
              <a:rPr lang="en-IN" dirty="0"/>
              <a:t>Hence,</a:t>
            </a:r>
          </a:p>
          <a:p>
            <a:pPr marL="0" indent="0">
              <a:buNone/>
            </a:pPr>
            <a:r>
              <a:rPr lang="en-IN" dirty="0"/>
              <a:t>Hardness of 1L of water         =      1000000/10000  = 100mg/L  = 100ppm</a:t>
            </a:r>
            <a:endParaRPr lang="en-US" dirty="0"/>
          </a:p>
        </p:txBody>
      </p:sp>
    </p:spTree>
    <p:extLst>
      <p:ext uri="{BB962C8B-B14F-4D97-AF65-F5344CB8AC3E}">
        <p14:creationId xmlns:p14="http://schemas.microsoft.com/office/powerpoint/2010/main" val="340068257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97C2268-12DF-4D71-8DB5-A7ED4169B255}"/>
              </a:ext>
            </a:extLst>
          </p:cNvPr>
          <p:cNvSpPr>
            <a:spLocks noGrp="1"/>
          </p:cNvSpPr>
          <p:nvPr>
            <p:ph idx="1"/>
          </p:nvPr>
        </p:nvSpPr>
        <p:spPr/>
        <p:txBody>
          <a:bodyPr/>
          <a:lstStyle/>
          <a:p>
            <a:r>
              <a:rPr lang="en-US" dirty="0"/>
              <a:t>Numerical 2: After treating 50000 </a:t>
            </a:r>
            <a:r>
              <a:rPr lang="en-US" dirty="0" err="1"/>
              <a:t>litres</a:t>
            </a:r>
            <a:r>
              <a:rPr lang="en-US" dirty="0"/>
              <a:t> of water by ion exchanger the cationic resin required 150 </a:t>
            </a:r>
            <a:r>
              <a:rPr lang="en-US" dirty="0" err="1"/>
              <a:t>litres</a:t>
            </a:r>
            <a:r>
              <a:rPr lang="en-US" dirty="0"/>
              <a:t> of 0.25N HCl and anionic resin required 150 </a:t>
            </a:r>
            <a:r>
              <a:rPr lang="en-US" dirty="0" err="1"/>
              <a:t>Litres</a:t>
            </a:r>
            <a:r>
              <a:rPr lang="en-US" dirty="0"/>
              <a:t> of 0.25N NaOH soln. Find the hardness of water.</a:t>
            </a:r>
          </a:p>
          <a:p>
            <a:endParaRPr lang="en-IN" dirty="0"/>
          </a:p>
        </p:txBody>
      </p:sp>
    </p:spTree>
    <p:extLst>
      <p:ext uri="{BB962C8B-B14F-4D97-AF65-F5344CB8AC3E}">
        <p14:creationId xmlns:p14="http://schemas.microsoft.com/office/powerpoint/2010/main" val="413417542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D441D23-BA88-48D6-827D-1D8401E1A250}"/>
              </a:ext>
            </a:extLst>
          </p:cNvPr>
          <p:cNvSpPr>
            <a:spLocks noGrp="1"/>
          </p:cNvSpPr>
          <p:nvPr>
            <p:ph idx="1"/>
          </p:nvPr>
        </p:nvSpPr>
        <p:spPr>
          <a:xfrm>
            <a:off x="838200" y="365760"/>
            <a:ext cx="10515600" cy="5811203"/>
          </a:xfrm>
        </p:spPr>
        <p:txBody>
          <a:bodyPr>
            <a:normAutofit fontScale="77500" lnSpcReduction="20000"/>
          </a:bodyPr>
          <a:lstStyle/>
          <a:p>
            <a:pPr marL="0" indent="0">
              <a:buNone/>
            </a:pPr>
            <a:r>
              <a:rPr lang="en-US" dirty="0"/>
              <a:t>BOD:</a:t>
            </a:r>
          </a:p>
          <a:p>
            <a:pPr marL="0" indent="0">
              <a:buNone/>
            </a:pPr>
            <a:r>
              <a:rPr lang="en-US" dirty="0"/>
              <a:t>Biological oxygen demand of sewage is defined as the amount of free oxygen required for the biological oxidation of the organic matter under aerobic condition at 20°C for a period of 5days.</a:t>
            </a:r>
          </a:p>
          <a:p>
            <a:pPr marL="0" indent="0">
              <a:buNone/>
            </a:pPr>
            <a:endParaRPr lang="en-US" dirty="0"/>
          </a:p>
          <a:p>
            <a:pPr marL="0" indent="0">
              <a:buNone/>
            </a:pPr>
            <a:r>
              <a:rPr lang="en-US" dirty="0"/>
              <a:t>Unit of BOD = ppm or mg/L</a:t>
            </a:r>
          </a:p>
          <a:p>
            <a:pPr marL="0" indent="0">
              <a:buNone/>
            </a:pPr>
            <a:r>
              <a:rPr lang="en-US" dirty="0"/>
              <a:t>Determination of BOD</a:t>
            </a:r>
          </a:p>
          <a:p>
            <a:pPr marL="0" indent="0">
              <a:buNone/>
            </a:pPr>
            <a:r>
              <a:rPr lang="en-US" dirty="0"/>
              <a:t>A known volume of effluent sample is diluted with a known volume of water. Sample is diluted to ensure that sufficient oxygen is available for the complete aerobic oxidation of organic matter.</a:t>
            </a:r>
          </a:p>
          <a:p>
            <a:pPr marL="0" indent="0">
              <a:buNone/>
            </a:pPr>
            <a:r>
              <a:rPr lang="en-US" dirty="0"/>
              <a:t>The diluted sample is divided into two parts and kept in two stoppered bottles. The dissolved oxygen content of one of the bottle is determined by Winkler's </a:t>
            </a:r>
            <a:r>
              <a:rPr lang="en-US" dirty="0" smtClean="0"/>
              <a:t>method, which </a:t>
            </a:r>
            <a:r>
              <a:rPr lang="en-US" dirty="0"/>
              <a:t>is blank reading. It is denoted as </a:t>
            </a:r>
            <a:r>
              <a:rPr lang="en-US" dirty="0" err="1"/>
              <a:t>DO</a:t>
            </a:r>
            <a:r>
              <a:rPr lang="en-US" baseline="-25000" dirty="0" err="1"/>
              <a:t>b</a:t>
            </a:r>
            <a:r>
              <a:rPr lang="en-US" dirty="0"/>
              <a:t> .</a:t>
            </a:r>
          </a:p>
          <a:p>
            <a:pPr marL="0" indent="0">
              <a:buNone/>
            </a:pPr>
            <a:r>
              <a:rPr lang="en-US" dirty="0"/>
              <a:t>Another bottle is incubated at 20°C for 5days. Then dissolved oxygen is determined. This is denoted as </a:t>
            </a:r>
            <a:r>
              <a:rPr lang="en-US" dirty="0" err="1" smtClean="0"/>
              <a:t>DOi</a:t>
            </a:r>
            <a:r>
              <a:rPr lang="en-US" dirty="0"/>
              <a:t>.</a:t>
            </a:r>
          </a:p>
          <a:p>
            <a:pPr marL="0" indent="0">
              <a:buNone/>
            </a:pPr>
            <a:r>
              <a:rPr lang="en-US" dirty="0"/>
              <a:t>The difference between </a:t>
            </a:r>
            <a:r>
              <a:rPr lang="en-US" dirty="0" err="1" smtClean="0"/>
              <a:t>DOb</a:t>
            </a:r>
            <a:r>
              <a:rPr lang="en-US" dirty="0" smtClean="0"/>
              <a:t> </a:t>
            </a:r>
            <a:r>
              <a:rPr lang="en-US" dirty="0"/>
              <a:t>and </a:t>
            </a:r>
            <a:r>
              <a:rPr lang="en-US" dirty="0" err="1" smtClean="0"/>
              <a:t>DOi</a:t>
            </a:r>
            <a:r>
              <a:rPr lang="en-US" dirty="0" smtClean="0"/>
              <a:t> </a:t>
            </a:r>
            <a:r>
              <a:rPr lang="en-US" dirty="0"/>
              <a:t>gives BOD.</a:t>
            </a:r>
          </a:p>
          <a:p>
            <a:pPr marL="0" indent="0">
              <a:buNone/>
            </a:pPr>
            <a:r>
              <a:rPr lang="en-US" dirty="0"/>
              <a:t>BOD = (</a:t>
            </a:r>
            <a:r>
              <a:rPr lang="en-US" dirty="0" err="1" smtClean="0"/>
              <a:t>DOb-DOi</a:t>
            </a:r>
            <a:r>
              <a:rPr lang="en-US" dirty="0"/>
              <a:t>) x dilution factor</a:t>
            </a:r>
          </a:p>
          <a:p>
            <a:pPr marL="0" indent="0">
              <a:buNone/>
            </a:pPr>
            <a:r>
              <a:rPr lang="en-US" dirty="0"/>
              <a:t>         = (</a:t>
            </a:r>
            <a:r>
              <a:rPr lang="en-US" dirty="0" err="1" smtClean="0"/>
              <a:t>DOb-DOi</a:t>
            </a:r>
            <a:r>
              <a:rPr lang="en-US" dirty="0"/>
              <a:t>) x Volume of sample after dilution/volume of sample before dilution.</a:t>
            </a:r>
            <a:endParaRPr lang="en-IN" dirty="0"/>
          </a:p>
        </p:txBody>
      </p:sp>
    </p:spTree>
    <p:extLst>
      <p:ext uri="{BB962C8B-B14F-4D97-AF65-F5344CB8AC3E}">
        <p14:creationId xmlns:p14="http://schemas.microsoft.com/office/powerpoint/2010/main" val="308236483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AB30F50-90F7-45F2-89A6-52CBC858E689}"/>
              </a:ext>
            </a:extLst>
          </p:cNvPr>
          <p:cNvSpPr>
            <a:spLocks noGrp="1"/>
          </p:cNvSpPr>
          <p:nvPr>
            <p:ph idx="1"/>
          </p:nvPr>
        </p:nvSpPr>
        <p:spPr>
          <a:xfrm>
            <a:off x="838200" y="520505"/>
            <a:ext cx="10515600" cy="5656458"/>
          </a:xfrm>
        </p:spPr>
        <p:txBody>
          <a:bodyPr>
            <a:normAutofit fontScale="77500" lnSpcReduction="20000"/>
          </a:bodyPr>
          <a:lstStyle/>
          <a:p>
            <a:pPr marL="0" indent="0">
              <a:buNone/>
            </a:pPr>
            <a:r>
              <a:rPr lang="en-US" dirty="0"/>
              <a:t>BOD test is </a:t>
            </a:r>
            <a:r>
              <a:rPr lang="en-US" dirty="0" smtClean="0"/>
              <a:t>usually </a:t>
            </a:r>
            <a:r>
              <a:rPr lang="en-US" dirty="0"/>
              <a:t>influenced by the type of micro-organisms, presence of toxins, pH, Some reduced minerals</a:t>
            </a:r>
            <a:r>
              <a:rPr lang="en-US" dirty="0" smtClean="0"/>
              <a:t>; etc</a:t>
            </a:r>
            <a:r>
              <a:rPr lang="en-US" dirty="0"/>
              <a:t>.</a:t>
            </a:r>
          </a:p>
          <a:p>
            <a:pPr marL="0" indent="0">
              <a:buNone/>
            </a:pPr>
            <a:r>
              <a:rPr lang="en-US" dirty="0"/>
              <a:t>Reaction:</a:t>
            </a:r>
          </a:p>
          <a:p>
            <a:pPr marL="0" indent="0">
              <a:buNone/>
            </a:pPr>
            <a:endParaRPr lang="en-US" dirty="0"/>
          </a:p>
          <a:p>
            <a:pPr marL="0" indent="0">
              <a:buNone/>
            </a:pPr>
            <a:r>
              <a:rPr lang="en-US" dirty="0"/>
              <a:t>Organic Matter  + O2  </a:t>
            </a:r>
            <a:r>
              <a:rPr lang="en-US" dirty="0">
                <a:sym typeface="Wingdings" panose="05000000000000000000" pitchFamily="2" charset="2"/>
              </a:rPr>
              <a:t>  CO2  + H2O</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BOD is proportional to the amount of organic waste to be degraded.</a:t>
            </a:r>
          </a:p>
          <a:p>
            <a:pPr marL="0" indent="0">
              <a:buNone/>
            </a:pPr>
            <a:r>
              <a:rPr lang="en-US" dirty="0">
                <a:sym typeface="Wingdings" panose="05000000000000000000" pitchFamily="2" charset="2"/>
              </a:rPr>
              <a:t>An average sewage has BOD of 100-150ppm.</a:t>
            </a:r>
          </a:p>
          <a:p>
            <a:pPr marL="0" indent="0">
              <a:buNone/>
            </a:pPr>
            <a:r>
              <a:rPr lang="en-US" dirty="0">
                <a:sym typeface="Wingdings" panose="05000000000000000000" pitchFamily="2" charset="2"/>
              </a:rPr>
              <a:t>Drinking water should have BOD less than 1ppm.</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Significance of BOD:</a:t>
            </a:r>
          </a:p>
          <a:p>
            <a:pPr marL="514350" indent="-514350">
              <a:buAutoNum type="arabicPeriod"/>
            </a:pPr>
            <a:r>
              <a:rPr lang="en-US" dirty="0">
                <a:sym typeface="Wingdings" panose="05000000000000000000" pitchFamily="2" charset="2"/>
              </a:rPr>
              <a:t>It indicates the amount of decomposable organic matter in sewage.</a:t>
            </a:r>
          </a:p>
          <a:p>
            <a:pPr marL="514350" indent="-514350">
              <a:buAutoNum type="arabicPeriod"/>
            </a:pPr>
            <a:r>
              <a:rPr lang="en-US" dirty="0">
                <a:sym typeface="Wingdings" panose="05000000000000000000" pitchFamily="2" charset="2"/>
              </a:rPr>
              <a:t>The higher is the BOD of a sample the higher the amount of decomposable organic matter in the sample and the higher is the pollution in water.</a:t>
            </a:r>
          </a:p>
          <a:p>
            <a:pPr marL="514350" indent="-514350">
              <a:buAutoNum type="arabicPeriod"/>
            </a:pPr>
            <a:r>
              <a:rPr lang="en-IN" dirty="0"/>
              <a:t>From BOD self purifying capacity of streams cans be determined. Thus it provides the degree of pollution at any time in the sewage stream.</a:t>
            </a:r>
          </a:p>
        </p:txBody>
      </p:sp>
    </p:spTree>
    <p:extLst>
      <p:ext uri="{BB962C8B-B14F-4D97-AF65-F5344CB8AC3E}">
        <p14:creationId xmlns:p14="http://schemas.microsoft.com/office/powerpoint/2010/main" val="151872508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596323-6E0C-4094-8649-19067A71EDB6}"/>
              </a:ext>
            </a:extLst>
          </p:cNvPr>
          <p:cNvSpPr>
            <a:spLocks noGrp="1"/>
          </p:cNvSpPr>
          <p:nvPr>
            <p:ph type="title"/>
          </p:nvPr>
        </p:nvSpPr>
        <p:spPr/>
        <p:txBody>
          <a:bodyPr/>
          <a:lstStyle/>
          <a:p>
            <a:r>
              <a:rPr lang="en-US" dirty="0"/>
              <a:t>COD</a:t>
            </a:r>
            <a:endParaRPr lang="en-IN" dirty="0"/>
          </a:p>
        </p:txBody>
      </p:sp>
      <p:sp>
        <p:nvSpPr>
          <p:cNvPr id="3" name="Content Placeholder 2">
            <a:extLst>
              <a:ext uri="{FF2B5EF4-FFF2-40B4-BE49-F238E27FC236}">
                <a16:creationId xmlns:a16="http://schemas.microsoft.com/office/drawing/2014/main" xmlns="" id="{C461F59C-5392-4994-9456-54186199ED8C}"/>
              </a:ext>
            </a:extLst>
          </p:cNvPr>
          <p:cNvSpPr>
            <a:spLocks noGrp="1"/>
          </p:cNvSpPr>
          <p:nvPr>
            <p:ph idx="1"/>
          </p:nvPr>
        </p:nvSpPr>
        <p:spPr/>
        <p:txBody>
          <a:bodyPr>
            <a:normAutofit fontScale="70000" lnSpcReduction="20000"/>
          </a:bodyPr>
          <a:lstStyle/>
          <a:p>
            <a:pPr marL="0" indent="0">
              <a:buNone/>
            </a:pPr>
            <a:r>
              <a:rPr lang="en-US" dirty="0"/>
              <a:t>Chemical oxygen demand may be defined as the amount of oxygen required for the oxidation of chemically degradable organic matter in the hot conditions with the use of oxidants like acidified K2Cr2O7 in 2-3hrs. </a:t>
            </a:r>
          </a:p>
          <a:p>
            <a:pPr marL="0" indent="0">
              <a:buNone/>
            </a:pPr>
            <a:r>
              <a:rPr lang="en-US" dirty="0"/>
              <a:t>Unit of COD = mg/L or ppm</a:t>
            </a:r>
          </a:p>
          <a:p>
            <a:pPr marL="0" indent="0">
              <a:buNone/>
            </a:pPr>
            <a:endParaRPr lang="en-US" dirty="0"/>
          </a:p>
          <a:p>
            <a:pPr marL="0" indent="0">
              <a:buNone/>
            </a:pPr>
            <a:r>
              <a:rPr lang="en-US" dirty="0"/>
              <a:t>Determination of COD:</a:t>
            </a:r>
          </a:p>
          <a:p>
            <a:pPr marL="0" indent="0">
              <a:buNone/>
            </a:pPr>
            <a:r>
              <a:rPr lang="en-US" dirty="0"/>
              <a:t>A known volume of waste water sample is refluxed with a known excess of standard potassium dichromate </a:t>
            </a:r>
            <a:r>
              <a:rPr lang="en-US" dirty="0" err="1"/>
              <a:t>soln</a:t>
            </a:r>
            <a:r>
              <a:rPr lang="en-US" dirty="0"/>
              <a:t> and dilute </a:t>
            </a:r>
            <a:r>
              <a:rPr lang="en-US" dirty="0" err="1"/>
              <a:t>sulphuric</a:t>
            </a:r>
            <a:r>
              <a:rPr lang="en-US" dirty="0"/>
              <a:t> acid in presence of silver sulphate for 2-3hs. Silver sulfate is used as catalyst to promote oxidation of straight chain aliphatic compounds, aromatic compounds.</a:t>
            </a:r>
          </a:p>
          <a:p>
            <a:pPr marL="0" indent="0">
              <a:buNone/>
            </a:pPr>
            <a:r>
              <a:rPr lang="en-US" dirty="0"/>
              <a:t>The organic matter of the sample  is oxidized to ammonia, CO2 and H2O. The unreacted K2Cr2O7 is titrated against Ferrous ammonium sulphate[FeSo4.(NH4)2SO4.H2O]i.e. Mohr’s Salt.</a:t>
            </a:r>
          </a:p>
          <a:p>
            <a:pPr marL="0" indent="0">
              <a:buNone/>
            </a:pPr>
            <a:r>
              <a:rPr lang="en-US" dirty="0"/>
              <a:t>This experimentally measured amount of potassium dichromate  is used to calculate the equivalent oxygen required by the waste water for degradation of the pollutants.</a:t>
            </a:r>
            <a:endParaRPr lang="en-IN" dirty="0"/>
          </a:p>
        </p:txBody>
      </p:sp>
    </p:spTree>
    <p:extLst>
      <p:ext uri="{BB962C8B-B14F-4D97-AF65-F5344CB8AC3E}">
        <p14:creationId xmlns:p14="http://schemas.microsoft.com/office/powerpoint/2010/main" val="202509453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29A956D-8717-434B-82AF-D467ABCDBA60}"/>
              </a:ext>
            </a:extLst>
          </p:cNvPr>
          <p:cNvSpPr>
            <a:spLocks noGrp="1"/>
          </p:cNvSpPr>
          <p:nvPr>
            <p:ph idx="1"/>
          </p:nvPr>
        </p:nvSpPr>
        <p:spPr>
          <a:xfrm>
            <a:off x="838200" y="337625"/>
            <a:ext cx="10515600" cy="5839338"/>
          </a:xfrm>
        </p:spPr>
        <p:txBody>
          <a:bodyPr>
            <a:normAutofit fontScale="77500" lnSpcReduction="20000"/>
          </a:bodyPr>
          <a:lstStyle/>
          <a:p>
            <a:pPr marL="0" indent="0">
              <a:buNone/>
            </a:pPr>
            <a:r>
              <a:rPr lang="en-US" dirty="0"/>
              <a:t>Reactions</a:t>
            </a:r>
          </a:p>
          <a:p>
            <a:pPr marL="0" indent="0">
              <a:buNone/>
            </a:pPr>
            <a:r>
              <a:rPr lang="en-US" dirty="0" err="1"/>
              <a:t>CxHyOz</a:t>
            </a:r>
            <a:r>
              <a:rPr lang="en-US" dirty="0"/>
              <a:t>   + (x + y/4 –z/2) O2  </a:t>
            </a:r>
            <a:r>
              <a:rPr lang="en-US" dirty="0">
                <a:sym typeface="Wingdings" panose="05000000000000000000" pitchFamily="2" charset="2"/>
              </a:rPr>
              <a:t>  xCO2  + y/2 H2O</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The unreacted dichromate solution is titrated against </a:t>
            </a:r>
            <a:r>
              <a:rPr lang="en-US" dirty="0" err="1">
                <a:sym typeface="Wingdings" panose="05000000000000000000" pitchFamily="2" charset="2"/>
              </a:rPr>
              <a:t>Mohrs</a:t>
            </a:r>
            <a:r>
              <a:rPr lang="en-US" dirty="0">
                <a:sym typeface="Wingdings" panose="05000000000000000000" pitchFamily="2" charset="2"/>
              </a:rPr>
              <a:t> salt using ferroin indicator. </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Cr</a:t>
            </a:r>
            <a:r>
              <a:rPr lang="en-US" baseline="-25000" dirty="0">
                <a:sym typeface="Wingdings" panose="05000000000000000000" pitchFamily="2" charset="2"/>
              </a:rPr>
              <a:t>2</a:t>
            </a:r>
            <a:r>
              <a:rPr lang="en-US" dirty="0">
                <a:sym typeface="Wingdings" panose="05000000000000000000" pitchFamily="2" charset="2"/>
              </a:rPr>
              <a:t>O</a:t>
            </a:r>
            <a:r>
              <a:rPr lang="en-US" baseline="-25000" dirty="0">
                <a:sym typeface="Wingdings" panose="05000000000000000000" pitchFamily="2" charset="2"/>
              </a:rPr>
              <a:t>7</a:t>
            </a:r>
            <a:r>
              <a:rPr lang="en-US" baseline="30000" dirty="0">
                <a:sym typeface="Wingdings" panose="05000000000000000000" pitchFamily="2" charset="2"/>
              </a:rPr>
              <a:t>2-</a:t>
            </a:r>
            <a:r>
              <a:rPr lang="en-US" dirty="0">
                <a:sym typeface="Wingdings" panose="05000000000000000000" pitchFamily="2" charset="2"/>
              </a:rPr>
              <a:t>   +    14H</a:t>
            </a:r>
            <a:r>
              <a:rPr lang="en-US" baseline="30000" dirty="0">
                <a:sym typeface="Wingdings" panose="05000000000000000000" pitchFamily="2" charset="2"/>
              </a:rPr>
              <a:t>+</a:t>
            </a:r>
            <a:r>
              <a:rPr lang="en-US" dirty="0">
                <a:sym typeface="Wingdings" panose="05000000000000000000" pitchFamily="2" charset="2"/>
              </a:rPr>
              <a:t>   + 6e</a:t>
            </a:r>
            <a:r>
              <a:rPr lang="en-US" baseline="30000" dirty="0">
                <a:sym typeface="Wingdings" panose="05000000000000000000" pitchFamily="2" charset="2"/>
              </a:rPr>
              <a:t>-</a:t>
            </a:r>
            <a:r>
              <a:rPr lang="en-US" dirty="0">
                <a:sym typeface="Wingdings" panose="05000000000000000000" pitchFamily="2" charset="2"/>
              </a:rPr>
              <a:t>        2Cr</a:t>
            </a:r>
            <a:r>
              <a:rPr lang="en-US" baseline="30000" dirty="0">
                <a:sym typeface="Wingdings" panose="05000000000000000000" pitchFamily="2" charset="2"/>
              </a:rPr>
              <a:t>3+</a:t>
            </a:r>
            <a:r>
              <a:rPr lang="en-US" dirty="0">
                <a:sym typeface="Wingdings" panose="05000000000000000000" pitchFamily="2" charset="2"/>
              </a:rPr>
              <a:t>   + 7H</a:t>
            </a:r>
            <a:r>
              <a:rPr lang="en-US" baseline="-25000" dirty="0">
                <a:sym typeface="Wingdings" panose="05000000000000000000" pitchFamily="2" charset="2"/>
              </a:rPr>
              <a:t>2</a:t>
            </a:r>
            <a:r>
              <a:rPr lang="en-US" dirty="0">
                <a:sym typeface="Wingdings" panose="05000000000000000000" pitchFamily="2" charset="2"/>
              </a:rPr>
              <a:t>O</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[Fe</a:t>
            </a:r>
            <a:r>
              <a:rPr lang="en-US" baseline="30000" dirty="0">
                <a:sym typeface="Wingdings" panose="05000000000000000000" pitchFamily="2" charset="2"/>
              </a:rPr>
              <a:t>2+</a:t>
            </a:r>
            <a:r>
              <a:rPr lang="en-US" dirty="0">
                <a:sym typeface="Wingdings" panose="05000000000000000000" pitchFamily="2" charset="2"/>
              </a:rPr>
              <a:t>    Fe</a:t>
            </a:r>
            <a:r>
              <a:rPr lang="en-US" baseline="30000" dirty="0">
                <a:sym typeface="Wingdings" panose="05000000000000000000" pitchFamily="2" charset="2"/>
              </a:rPr>
              <a:t>3+</a:t>
            </a:r>
            <a:r>
              <a:rPr lang="en-US" dirty="0">
                <a:sym typeface="Wingdings" panose="05000000000000000000" pitchFamily="2" charset="2"/>
              </a:rPr>
              <a:t>  + e]  x 6</a:t>
            </a:r>
          </a:p>
          <a:p>
            <a:pPr marL="0" indent="0">
              <a:buNone/>
            </a:pPr>
            <a:r>
              <a:rPr lang="en-US" dirty="0">
                <a:sym typeface="Wingdings" panose="05000000000000000000" pitchFamily="2" charset="2"/>
              </a:rPr>
              <a:t>Overall reaction</a:t>
            </a:r>
          </a:p>
          <a:p>
            <a:pPr marL="0" indent="0">
              <a:buNone/>
            </a:pPr>
            <a:r>
              <a:rPr lang="en-US" dirty="0">
                <a:sym typeface="Wingdings" panose="05000000000000000000" pitchFamily="2" charset="2"/>
              </a:rPr>
              <a:t>Cr</a:t>
            </a:r>
            <a:r>
              <a:rPr lang="en-US" baseline="-25000" dirty="0">
                <a:sym typeface="Wingdings" panose="05000000000000000000" pitchFamily="2" charset="2"/>
              </a:rPr>
              <a:t>2</a:t>
            </a:r>
            <a:r>
              <a:rPr lang="en-US" dirty="0">
                <a:sym typeface="Wingdings" panose="05000000000000000000" pitchFamily="2" charset="2"/>
              </a:rPr>
              <a:t>O</a:t>
            </a:r>
            <a:r>
              <a:rPr lang="en-US" baseline="-25000" dirty="0">
                <a:sym typeface="Wingdings" panose="05000000000000000000" pitchFamily="2" charset="2"/>
              </a:rPr>
              <a:t>7</a:t>
            </a:r>
            <a:r>
              <a:rPr lang="en-US" baseline="30000" dirty="0">
                <a:sym typeface="Wingdings" panose="05000000000000000000" pitchFamily="2" charset="2"/>
              </a:rPr>
              <a:t>2-</a:t>
            </a:r>
            <a:r>
              <a:rPr lang="en-US" dirty="0">
                <a:sym typeface="Wingdings" panose="05000000000000000000" pitchFamily="2" charset="2"/>
              </a:rPr>
              <a:t>   +    14H</a:t>
            </a:r>
            <a:r>
              <a:rPr lang="en-US" baseline="30000" dirty="0">
                <a:sym typeface="Wingdings" panose="05000000000000000000" pitchFamily="2" charset="2"/>
              </a:rPr>
              <a:t>+</a:t>
            </a:r>
            <a:r>
              <a:rPr lang="en-US" dirty="0">
                <a:sym typeface="Wingdings" panose="05000000000000000000" pitchFamily="2" charset="2"/>
              </a:rPr>
              <a:t>  + 6 Fe</a:t>
            </a:r>
            <a:r>
              <a:rPr lang="en-US" baseline="30000" dirty="0">
                <a:sym typeface="Wingdings" panose="05000000000000000000" pitchFamily="2" charset="2"/>
              </a:rPr>
              <a:t>2+</a:t>
            </a:r>
            <a:r>
              <a:rPr lang="en-US" dirty="0">
                <a:sym typeface="Wingdings" panose="05000000000000000000" pitchFamily="2" charset="2"/>
              </a:rPr>
              <a:t>   2Cr</a:t>
            </a:r>
            <a:r>
              <a:rPr lang="en-US" baseline="30000" dirty="0">
                <a:sym typeface="Wingdings" panose="05000000000000000000" pitchFamily="2" charset="2"/>
              </a:rPr>
              <a:t>3+</a:t>
            </a:r>
            <a:r>
              <a:rPr lang="en-US" dirty="0">
                <a:sym typeface="Wingdings" panose="05000000000000000000" pitchFamily="2" charset="2"/>
              </a:rPr>
              <a:t>   + 7H</a:t>
            </a:r>
            <a:r>
              <a:rPr lang="en-US" baseline="-25000" dirty="0">
                <a:sym typeface="Wingdings" panose="05000000000000000000" pitchFamily="2" charset="2"/>
              </a:rPr>
              <a:t>2</a:t>
            </a:r>
            <a:r>
              <a:rPr lang="en-US" dirty="0">
                <a:sym typeface="Wingdings" panose="05000000000000000000" pitchFamily="2" charset="2"/>
              </a:rPr>
              <a:t>O  + 6Fe</a:t>
            </a:r>
            <a:r>
              <a:rPr lang="en-US" baseline="30000" dirty="0">
                <a:sym typeface="Wingdings" panose="05000000000000000000" pitchFamily="2" charset="2"/>
              </a:rPr>
              <a:t>3+</a:t>
            </a:r>
            <a:endParaRPr lang="en-US" dirty="0">
              <a:sym typeface="Wingdings" panose="05000000000000000000" pitchFamily="2" charset="2"/>
            </a:endParaRPr>
          </a:p>
          <a:p>
            <a:pPr marL="0" indent="0">
              <a:buNone/>
            </a:pPr>
            <a:r>
              <a:rPr lang="en-US" dirty="0">
                <a:sym typeface="Wingdings" panose="05000000000000000000" pitchFamily="2" charset="2"/>
              </a:rPr>
              <a:t>The COD is calculated as</a:t>
            </a:r>
          </a:p>
          <a:p>
            <a:pPr marL="0" indent="0">
              <a:buNone/>
            </a:pPr>
            <a:r>
              <a:rPr lang="en-US" dirty="0">
                <a:sym typeface="Wingdings" panose="05000000000000000000" pitchFamily="2" charset="2"/>
              </a:rPr>
              <a:t>COD  =  </a:t>
            </a:r>
            <a:r>
              <a:rPr lang="en-US" u="sng" dirty="0">
                <a:sym typeface="Wingdings" panose="05000000000000000000" pitchFamily="2" charset="2"/>
              </a:rPr>
              <a:t>(V1-V2) x N</a:t>
            </a:r>
            <a:r>
              <a:rPr lang="en-US" u="sng" baseline="-25000" dirty="0">
                <a:sym typeface="Wingdings" panose="05000000000000000000" pitchFamily="2" charset="2"/>
              </a:rPr>
              <a:t>FAS  </a:t>
            </a:r>
            <a:r>
              <a:rPr lang="en-US" u="sng" dirty="0">
                <a:sym typeface="Wingdings" panose="05000000000000000000" pitchFamily="2" charset="2"/>
              </a:rPr>
              <a:t> x 8000</a:t>
            </a:r>
          </a:p>
          <a:p>
            <a:pPr marL="0" indent="0">
              <a:buNone/>
            </a:pPr>
            <a:r>
              <a:rPr lang="en-US" dirty="0">
                <a:sym typeface="Wingdings" panose="05000000000000000000" pitchFamily="2" charset="2"/>
              </a:rPr>
              <a:t>                 Volume of sample</a:t>
            </a:r>
          </a:p>
          <a:p>
            <a:pPr marL="0" indent="0">
              <a:buNone/>
            </a:pPr>
            <a:r>
              <a:rPr lang="en-US" dirty="0">
                <a:sym typeface="Wingdings" panose="05000000000000000000" pitchFamily="2" charset="2"/>
              </a:rPr>
              <a:t>V1 = vol. of FAS in blank titration</a:t>
            </a:r>
          </a:p>
          <a:p>
            <a:pPr marL="0" indent="0">
              <a:buNone/>
            </a:pPr>
            <a:r>
              <a:rPr lang="en-US" dirty="0">
                <a:sym typeface="Wingdings" panose="05000000000000000000" pitchFamily="2" charset="2"/>
              </a:rPr>
              <a:t>V2 = vol. of FAS in back titration</a:t>
            </a:r>
          </a:p>
          <a:p>
            <a:pPr marL="0" indent="0">
              <a:buNone/>
            </a:pPr>
            <a:endParaRPr lang="en-IN" dirty="0"/>
          </a:p>
        </p:txBody>
      </p:sp>
    </p:spTree>
    <p:extLst>
      <p:ext uri="{BB962C8B-B14F-4D97-AF65-F5344CB8AC3E}">
        <p14:creationId xmlns:p14="http://schemas.microsoft.com/office/powerpoint/2010/main" val="355349128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87F028-3CB9-4F2C-A268-718D97A02676}"/>
              </a:ext>
            </a:extLst>
          </p:cNvPr>
          <p:cNvSpPr>
            <a:spLocks noGrp="1"/>
          </p:cNvSpPr>
          <p:nvPr>
            <p:ph type="title"/>
          </p:nvPr>
        </p:nvSpPr>
        <p:spPr/>
        <p:txBody>
          <a:bodyPr/>
          <a:lstStyle/>
          <a:p>
            <a:r>
              <a:rPr lang="en-US" dirty="0"/>
              <a:t>Significance of COD</a:t>
            </a:r>
            <a:endParaRPr lang="en-IN" dirty="0"/>
          </a:p>
        </p:txBody>
      </p:sp>
      <p:sp>
        <p:nvSpPr>
          <p:cNvPr id="3" name="Content Placeholder 2">
            <a:extLst>
              <a:ext uri="{FF2B5EF4-FFF2-40B4-BE49-F238E27FC236}">
                <a16:creationId xmlns:a16="http://schemas.microsoft.com/office/drawing/2014/main" xmlns="" id="{A40917CD-C30F-4B43-B913-762B7CF48F5B}"/>
              </a:ext>
            </a:extLst>
          </p:cNvPr>
          <p:cNvSpPr>
            <a:spLocks noGrp="1"/>
          </p:cNvSpPr>
          <p:nvPr>
            <p:ph idx="1"/>
          </p:nvPr>
        </p:nvSpPr>
        <p:spPr/>
        <p:txBody>
          <a:bodyPr/>
          <a:lstStyle/>
          <a:p>
            <a:pPr marL="0" indent="0">
              <a:buNone/>
            </a:pPr>
            <a:r>
              <a:rPr lang="en-US" dirty="0"/>
              <a:t>The COD value is not affected by the presence of toxins and other </a:t>
            </a:r>
            <a:r>
              <a:rPr lang="en-US" dirty="0" err="1"/>
              <a:t>unfavaourable</a:t>
            </a:r>
            <a:r>
              <a:rPr lang="en-US" dirty="0"/>
              <a:t> conditions for the growth of microorganisms.</a:t>
            </a:r>
          </a:p>
          <a:p>
            <a:pPr marL="0" indent="0">
              <a:buNone/>
            </a:pPr>
            <a:endParaRPr lang="en-US" dirty="0"/>
          </a:p>
          <a:p>
            <a:pPr marL="0" indent="0">
              <a:buNone/>
            </a:pPr>
            <a:r>
              <a:rPr lang="en-US" dirty="0"/>
              <a:t>It is taken as basis for calculation of efficiency of treatment plant.</a:t>
            </a:r>
          </a:p>
          <a:p>
            <a:pPr marL="0" indent="0">
              <a:buNone/>
            </a:pPr>
            <a:endParaRPr lang="en-US" dirty="0"/>
          </a:p>
          <a:p>
            <a:pPr marL="0" indent="0">
              <a:buNone/>
            </a:pPr>
            <a:r>
              <a:rPr lang="en-US" dirty="0"/>
              <a:t>It help in designing the water treatment plant.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92675549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8057038-445F-4FC3-B2F8-F1DD59395B44}"/>
              </a:ext>
            </a:extLst>
          </p:cNvPr>
          <p:cNvSpPr>
            <a:spLocks noGrp="1"/>
          </p:cNvSpPr>
          <p:nvPr>
            <p:ph idx="1"/>
          </p:nvPr>
        </p:nvSpPr>
        <p:spPr>
          <a:xfrm>
            <a:off x="838200" y="407963"/>
            <a:ext cx="10515600" cy="5769000"/>
          </a:xfrm>
        </p:spPr>
        <p:txBody>
          <a:bodyPr>
            <a:normAutofit fontScale="55000" lnSpcReduction="20000"/>
          </a:bodyPr>
          <a:lstStyle/>
          <a:p>
            <a:pPr marL="0" indent="0">
              <a:buNone/>
            </a:pPr>
            <a:r>
              <a:rPr lang="en-US" dirty="0"/>
              <a:t>Numerical 1: A 50mL of sample contains 840ppm of dissolved oxygen. After 5days the dissolved oxygen value becomes 230 ppm, after the dilution of sample to 80mL. Calculate the BOD</a:t>
            </a:r>
            <a:r>
              <a:rPr lang="en-US" dirty="0" smtClean="0"/>
              <a:t>.</a:t>
            </a:r>
          </a:p>
          <a:p>
            <a:pPr marL="0" indent="0">
              <a:buNone/>
            </a:pPr>
            <a:r>
              <a:rPr lang="en-US" dirty="0" err="1" smtClean="0"/>
              <a:t>Soln</a:t>
            </a:r>
            <a:r>
              <a:rPr lang="en-US" dirty="0" smtClean="0"/>
              <a:t>: BOD = (</a:t>
            </a:r>
            <a:r>
              <a:rPr lang="en-US" dirty="0" err="1" smtClean="0"/>
              <a:t>Dob-Doi</a:t>
            </a:r>
            <a:r>
              <a:rPr lang="en-US" dirty="0" smtClean="0"/>
              <a:t>) x Volume of sample after dilution/ </a:t>
            </a:r>
            <a:r>
              <a:rPr lang="en-US" dirty="0" err="1" smtClean="0"/>
              <a:t>vol</a:t>
            </a:r>
            <a:r>
              <a:rPr lang="en-US" dirty="0" smtClean="0"/>
              <a:t> of sample before dilution</a:t>
            </a:r>
          </a:p>
          <a:p>
            <a:pPr marL="0" indent="0">
              <a:buNone/>
            </a:pPr>
            <a:r>
              <a:rPr lang="en-US" dirty="0" smtClean="0"/>
              <a:t>BOD = (840-230) x 80/50 = 976ppm</a:t>
            </a:r>
            <a:endParaRPr lang="en-US" dirty="0"/>
          </a:p>
          <a:p>
            <a:pPr marL="0" indent="0">
              <a:buNone/>
            </a:pPr>
            <a:endParaRPr lang="en-US" dirty="0"/>
          </a:p>
          <a:p>
            <a:pPr marL="0" indent="0">
              <a:buNone/>
            </a:pPr>
            <a:r>
              <a:rPr lang="en-US" dirty="0"/>
              <a:t>Numerical 2: A 25mL of sewage water sample was refluxed with 10mL of 0.25N K2Cr2O7 </a:t>
            </a:r>
            <a:r>
              <a:rPr lang="en-US" dirty="0" err="1"/>
              <a:t>soln</a:t>
            </a:r>
            <a:r>
              <a:rPr lang="en-US" dirty="0"/>
              <a:t> in presence of dil.H2SO4, Ag2SO4 and HgSO4. The unreacted dichromate required 6.5ml of 0.1N FAS. 10mL of same K2Cr2O7 required 27mL of 0.1N FAS. Calculate COD</a:t>
            </a:r>
            <a:r>
              <a:rPr lang="en-US" dirty="0" smtClean="0"/>
              <a:t>.</a:t>
            </a:r>
          </a:p>
          <a:p>
            <a:pPr marL="0" indent="0">
              <a:buNone/>
            </a:pPr>
            <a:r>
              <a:rPr lang="en-US" dirty="0" smtClean="0"/>
              <a:t>Given: Volume of sample = 25mL</a:t>
            </a:r>
          </a:p>
          <a:p>
            <a:pPr marL="0" indent="0">
              <a:buNone/>
            </a:pPr>
            <a:r>
              <a:rPr lang="en-US" dirty="0" smtClean="0"/>
              <a:t>Blank titration reading (V1) = 27mL</a:t>
            </a:r>
          </a:p>
          <a:p>
            <a:pPr marL="0" indent="0">
              <a:buNone/>
            </a:pPr>
            <a:r>
              <a:rPr lang="en-US" dirty="0" smtClean="0"/>
              <a:t>Back titration reading (V2) = 6.5mL</a:t>
            </a:r>
          </a:p>
          <a:p>
            <a:pPr marL="0" indent="0">
              <a:buNone/>
            </a:pPr>
            <a:r>
              <a:rPr lang="en-US" dirty="0" smtClean="0"/>
              <a:t>COD= (V1-V2) x N(FAS) x 8000/Vol. of Sample</a:t>
            </a:r>
          </a:p>
          <a:p>
            <a:pPr marL="0" indent="0">
              <a:buNone/>
            </a:pPr>
            <a:r>
              <a:rPr lang="en-US" dirty="0"/>
              <a:t> </a:t>
            </a:r>
            <a:r>
              <a:rPr lang="en-US" dirty="0" smtClean="0"/>
              <a:t>       = (27-6.5) x 0.1 x 8000/25 = 656ppm</a:t>
            </a:r>
          </a:p>
          <a:p>
            <a:pPr marL="0" indent="0">
              <a:buNone/>
            </a:pPr>
            <a:endParaRPr lang="en-US" dirty="0" smtClean="0"/>
          </a:p>
          <a:p>
            <a:pPr marL="0" indent="0">
              <a:buNone/>
            </a:pPr>
            <a:r>
              <a:rPr lang="en-US" dirty="0"/>
              <a:t>Numerical </a:t>
            </a:r>
            <a:r>
              <a:rPr lang="en-US" dirty="0" smtClean="0"/>
              <a:t>3: </a:t>
            </a:r>
            <a:r>
              <a:rPr lang="en-US" dirty="0"/>
              <a:t>A </a:t>
            </a:r>
            <a:r>
              <a:rPr lang="en-US" dirty="0" smtClean="0"/>
              <a:t>30mL </a:t>
            </a:r>
            <a:r>
              <a:rPr lang="en-US" dirty="0"/>
              <a:t>of sewage water sample was refluxed with </a:t>
            </a:r>
            <a:r>
              <a:rPr lang="en-US" dirty="0" smtClean="0"/>
              <a:t>15mL </a:t>
            </a:r>
            <a:r>
              <a:rPr lang="en-US" dirty="0"/>
              <a:t>of 0.25N K2Cr2O7 </a:t>
            </a:r>
            <a:r>
              <a:rPr lang="en-US" dirty="0" err="1"/>
              <a:t>soln</a:t>
            </a:r>
            <a:r>
              <a:rPr lang="en-US" dirty="0"/>
              <a:t> in presence of dil.H2SO4, Ag2SO4 and HgSO4. The unreacted dichromate required </a:t>
            </a:r>
            <a:r>
              <a:rPr lang="en-US" dirty="0" smtClean="0"/>
              <a:t>14 ml </a:t>
            </a:r>
            <a:r>
              <a:rPr lang="en-US" dirty="0"/>
              <a:t>of </a:t>
            </a:r>
            <a:r>
              <a:rPr lang="en-US" dirty="0" smtClean="0"/>
              <a:t>0.05N </a:t>
            </a:r>
            <a:r>
              <a:rPr lang="en-US" dirty="0"/>
              <a:t>FAS. </a:t>
            </a:r>
            <a:r>
              <a:rPr lang="en-US" dirty="0" smtClean="0"/>
              <a:t>15mL </a:t>
            </a:r>
            <a:r>
              <a:rPr lang="en-US" dirty="0"/>
              <a:t>of same K2Cr2O7 required </a:t>
            </a:r>
            <a:r>
              <a:rPr lang="en-US" dirty="0" smtClean="0"/>
              <a:t>20mL </a:t>
            </a:r>
            <a:r>
              <a:rPr lang="en-US" dirty="0"/>
              <a:t>of 0.1N FAS. Calculate COD</a:t>
            </a:r>
            <a:r>
              <a:rPr lang="en-US" dirty="0" smtClean="0"/>
              <a:t>.</a:t>
            </a:r>
          </a:p>
          <a:p>
            <a:pPr marL="0" indent="0">
              <a:buNone/>
            </a:pPr>
            <a:r>
              <a:rPr lang="en-US" dirty="0" smtClean="0"/>
              <a:t>Note: Covert one statement in to fixed normality.</a:t>
            </a:r>
          </a:p>
          <a:p>
            <a:pPr marL="0" indent="0">
              <a:buNone/>
            </a:pPr>
            <a:r>
              <a:rPr lang="en-US" dirty="0" smtClean="0"/>
              <a:t>Volume of sample = 30mL</a:t>
            </a:r>
          </a:p>
          <a:p>
            <a:pPr marL="0" indent="0">
              <a:buNone/>
            </a:pPr>
            <a:r>
              <a:rPr lang="en-US" dirty="0" smtClean="0"/>
              <a:t>Blank Titration reading (V1) = 20ml of 0.1N FAS = </a:t>
            </a:r>
            <a:r>
              <a:rPr lang="en-US" b="1" dirty="0" smtClean="0"/>
              <a:t>40 mL</a:t>
            </a:r>
            <a:r>
              <a:rPr lang="en-US" dirty="0" smtClean="0"/>
              <a:t> of </a:t>
            </a:r>
            <a:r>
              <a:rPr lang="en-US" b="1" dirty="0" smtClean="0"/>
              <a:t>0.05N</a:t>
            </a:r>
            <a:r>
              <a:rPr lang="en-US" dirty="0" smtClean="0"/>
              <a:t> FAS </a:t>
            </a:r>
          </a:p>
          <a:p>
            <a:pPr marL="0" indent="0">
              <a:buNone/>
            </a:pPr>
            <a:r>
              <a:rPr lang="en-US" dirty="0" smtClean="0"/>
              <a:t>Back Titration reading (V2) = </a:t>
            </a:r>
            <a:r>
              <a:rPr lang="en-US" b="1" dirty="0" smtClean="0"/>
              <a:t>14mL</a:t>
            </a:r>
            <a:r>
              <a:rPr lang="en-US" dirty="0" smtClean="0"/>
              <a:t> of </a:t>
            </a:r>
            <a:r>
              <a:rPr lang="en-US" b="1" dirty="0" smtClean="0"/>
              <a:t>0.05N</a:t>
            </a:r>
            <a:r>
              <a:rPr lang="en-US" dirty="0" smtClean="0"/>
              <a:t> FAS </a:t>
            </a:r>
          </a:p>
          <a:p>
            <a:pPr marL="0" indent="0">
              <a:buNone/>
            </a:pPr>
            <a:r>
              <a:rPr lang="en-US" dirty="0" smtClean="0"/>
              <a:t>COD = 346.667ppm</a:t>
            </a:r>
          </a:p>
        </p:txBody>
      </p:sp>
    </p:spTree>
    <p:extLst>
      <p:ext uri="{BB962C8B-B14F-4D97-AF65-F5344CB8AC3E}">
        <p14:creationId xmlns:p14="http://schemas.microsoft.com/office/powerpoint/2010/main" val="12815325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74258</TotalTime>
  <Words>7720</Words>
  <Application>Microsoft Office PowerPoint</Application>
  <PresentationFormat>Custom</PresentationFormat>
  <Paragraphs>925</Paragraphs>
  <Slides>81</Slides>
  <Notes>3</Notes>
  <HiddenSlides>0</HiddenSlides>
  <MMClips>0</MMClips>
  <ScaleCrop>false</ScaleCrop>
  <HeadingPairs>
    <vt:vector size="4" baseType="variant">
      <vt:variant>
        <vt:lpstr>Theme</vt:lpstr>
      </vt:variant>
      <vt:variant>
        <vt:i4>1</vt:i4>
      </vt:variant>
      <vt:variant>
        <vt:lpstr>Slide Titles</vt:lpstr>
      </vt:variant>
      <vt:variant>
        <vt:i4>81</vt:i4>
      </vt:variant>
    </vt:vector>
  </HeadingPairs>
  <TitlesOfParts>
    <vt:vector size="82" baseType="lpstr">
      <vt:lpstr>Office Theme</vt:lpstr>
      <vt:lpstr>Water</vt:lpstr>
      <vt:lpstr>Sources and Impurities in Water</vt:lpstr>
      <vt:lpstr>Acidity in water</vt:lpstr>
      <vt:lpstr>Industrial problems of water</vt:lpstr>
      <vt:lpstr>TEXTILE INDUSTRY</vt:lpstr>
      <vt:lpstr>SUGAR INDUSTRY</vt:lpstr>
      <vt:lpstr>DYEING INDUSTRY</vt:lpstr>
      <vt:lpstr>PAPER INDUSTRY</vt:lpstr>
      <vt:lpstr>LAUNDRY INDUSTRY</vt:lpstr>
      <vt:lpstr>PHARMACEUTICAL INDUSTRY</vt:lpstr>
      <vt:lpstr>PowerPoint Presentation</vt:lpstr>
      <vt:lpstr>BEVERAGE INDUSTRY</vt:lpstr>
      <vt:lpstr>RUST FORMATION</vt:lpstr>
      <vt:lpstr>PowerPoint Presentation</vt:lpstr>
      <vt:lpstr> SLUDGE AND SCALE FORMATION </vt:lpstr>
      <vt:lpstr>PowerPoint Presentation</vt:lpstr>
      <vt:lpstr>REFERENCES </vt:lpstr>
      <vt:lpstr>THANK YOU!</vt:lpstr>
      <vt:lpstr>Soap and Soap Consuming capacity</vt:lpstr>
      <vt:lpstr>Hard Water &amp; Soft water</vt:lpstr>
      <vt:lpstr>Types of hardness</vt:lpstr>
      <vt:lpstr>PowerPoint Presentation</vt:lpstr>
      <vt:lpstr>PowerPoint Presentation</vt:lpstr>
      <vt:lpstr>Measurement of Hardness</vt:lpstr>
      <vt:lpstr>The Equivalent of CaCO3</vt:lpstr>
      <vt:lpstr>Multiplication factors</vt:lpstr>
      <vt:lpstr>PowerPoint Presentation</vt:lpstr>
      <vt:lpstr>Units of hardness</vt:lpstr>
      <vt:lpstr>Relationship between various units of hardness</vt:lpstr>
      <vt:lpstr>PowerPoint Presentation</vt:lpstr>
      <vt:lpstr>PowerPoint Presentation</vt:lpstr>
      <vt:lpstr>PowerPoint Presentation</vt:lpstr>
      <vt:lpstr>Determination of hardness of water by EDTA method</vt:lpstr>
      <vt:lpstr>PowerPoint Presentation</vt:lpstr>
      <vt:lpstr>PowerPoint Presentation</vt:lpstr>
      <vt:lpstr>PowerPoint Presentation</vt:lpstr>
      <vt:lpstr>PowerPoint Presentation</vt:lpstr>
      <vt:lpstr>PowerPoint Presentation</vt:lpstr>
      <vt:lpstr>Advantages of EDTA method</vt:lpstr>
      <vt:lpstr>PowerPoint Presentation</vt:lpstr>
      <vt:lpstr>PowerPoint Presentation</vt:lpstr>
      <vt:lpstr>PowerPoint Presentation</vt:lpstr>
      <vt:lpstr>PowerPoint Presentation</vt:lpstr>
      <vt:lpstr>PowerPoint Presentation</vt:lpstr>
      <vt:lpstr>PowerPoint Presentation</vt:lpstr>
      <vt:lpstr>Softening of Water by Lime-Soda Method</vt:lpstr>
      <vt:lpstr>PowerPoint Presentation</vt:lpstr>
      <vt:lpstr>PowerPoint Presentation</vt:lpstr>
      <vt:lpstr>PowerPoint Presentation</vt:lpstr>
      <vt:lpstr>PowerPoint Presentation</vt:lpstr>
      <vt:lpstr>Numerical 2: Calculate the quantity of soda and lime needed to soften 10000 litres of water containing following impurities. Na2SO4 =7mg/L, SiO2 = 2mg/L, CaCl2 = 22.2mg/L, MgSO4 = 2.0mg/L, Mg(HCO3)2 = 5.0mg/L. </vt:lpstr>
      <vt:lpstr>PowerPoint Presentation</vt:lpstr>
      <vt:lpstr>Numerical 3: Calculate amount of lime (85% pure) and Soda (92% Pure)for the treatment of 1 million litres ofwater containing Ca(HCO3)2 = 16.2ppm, CaCl2=22.2 ppm, HCO3-= 61 ppm, MgCl2 = 47.5ppm, Mg(HCO3)2 = 14.6ppm. The coagulant Al2(SO4)3 was added at the rate of 20 ppm.</vt:lpstr>
      <vt:lpstr>Numerical 3: Calculate amount of lime (90% pure) and Soda (98% Pure)for the treatment of 1 million litres ofwater containing Ca(HCO3)2 = 8.1ppm, CaCl2=33.3ppm, HCO3-= 91.5ppm, MgCl2 = 38ppm, Mg(HCO3)2 = 14.6ppm. The coagulant Al2(SO4)3 was added at the rate of 17.1ppm.  </vt:lpstr>
      <vt:lpstr>Types of Lime Soda Processes</vt:lpstr>
      <vt:lpstr>Cold Lime Soda Method</vt:lpstr>
      <vt:lpstr>Hot Lime Soda Method</vt:lpstr>
      <vt:lpstr>Advantages of Lime Soda Process</vt:lpstr>
      <vt:lpstr>Disadvantages</vt:lpstr>
      <vt:lpstr>Softening  of water by zeolite process</vt:lpstr>
      <vt:lpstr>PowerPoint Presentation</vt:lpstr>
      <vt:lpstr>PowerPoint Presentation</vt:lpstr>
      <vt:lpstr>Disadvantages</vt:lpstr>
      <vt:lpstr>PowerPoint Presentation</vt:lpstr>
      <vt:lpstr>PowerPoint Presentation</vt:lpstr>
      <vt:lpstr>PowerPoint Presentation</vt:lpstr>
      <vt:lpstr>PowerPoint Presentation</vt:lpstr>
      <vt:lpstr>Softening of Water by Ion-Exchange Process Or Demineralization process</vt:lpstr>
      <vt:lpstr>PowerPoint Presentation</vt:lpstr>
      <vt:lpstr>PowerPoint Presentation</vt:lpstr>
      <vt:lpstr>PowerPoint Presentation</vt:lpstr>
      <vt:lpstr>PowerPoint Presentation</vt:lpstr>
      <vt:lpstr>Advantages</vt:lpstr>
      <vt:lpstr>PowerPoint Presentation</vt:lpstr>
      <vt:lpstr>PowerPoint Presentation</vt:lpstr>
      <vt:lpstr>PowerPoint Presentation</vt:lpstr>
      <vt:lpstr>PowerPoint Presentation</vt:lpstr>
      <vt:lpstr>COD</vt:lpstr>
      <vt:lpstr>PowerPoint Presentation</vt:lpstr>
      <vt:lpstr>Significance of COD</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dc:title>
  <dc:creator>Druman Utekar</dc:creator>
  <cp:lastModifiedBy>Admin</cp:lastModifiedBy>
  <cp:revision>185</cp:revision>
  <dcterms:created xsi:type="dcterms:W3CDTF">2021-02-08T04:37:54Z</dcterms:created>
  <dcterms:modified xsi:type="dcterms:W3CDTF">2025-09-22T08:52:19Z</dcterms:modified>
</cp:coreProperties>
</file>