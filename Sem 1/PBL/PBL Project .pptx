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1" r:id="rId17"/>
  </p:sldIdLst>
  <p:sldSz cx="12192000" cy="6858000"/>
  <p:notesSz cx="6858000" cy="9144000"/>
  <p:embeddedFontLst>
    <p:embeddedFont>
      <p:font typeface="Century Gothic" panose="020B0502020202020204" pitchFamily="34" charset="0"/>
      <p:regular r:id="rId19"/>
      <p:bold r:id="rId20"/>
      <p:italic r:id="rId21"/>
      <p:boldItalic r:id="rId22"/>
    </p:embeddedFont>
    <p:embeddedFont>
      <p:font typeface="Fira Sans" panose="020B0503050000020004" pitchFamily="34" charset="0"/>
      <p:regular r:id="rId23"/>
      <p:bold r:id="rId24"/>
      <p:italic r:id="rId25"/>
      <p:boldItalic r:id="rId26"/>
    </p:embeddedFont>
    <p:embeddedFont>
      <p:font typeface="Noto Sans Symbols" pitchFamily="2"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iwpM233IRgCF+vutqnnKRuFLh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4DD06BE-E33E-44DE-BB38-01E6AB116E1E}">
  <a:tblStyle styleId="{E4DD06BE-E33E-44DE-BB38-01E6AB116E1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8D4982F-BB56-4BF9-BC91-46109F0DE6CF}"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0F0"/>
          </a:solidFill>
        </a:fill>
      </a:tcStyle>
    </a:wholeTbl>
    <a:band1H>
      <a:tcTxStyle/>
      <a:tcStyle>
        <a:tcBdr/>
        <a:fill>
          <a:solidFill>
            <a:srgbClr val="E0E0E0"/>
          </a:solidFill>
        </a:fill>
      </a:tcStyle>
    </a:band1H>
    <a:band2H>
      <a:tcTxStyle/>
      <a:tcStyle>
        <a:tcBdr/>
      </a:tcStyle>
    </a:band2H>
    <a:band1V>
      <a:tcTxStyle/>
      <a:tcStyle>
        <a:tcBdr/>
        <a:fill>
          <a:solidFill>
            <a:srgbClr val="E0E0E0"/>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6702519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0395f8316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20395f8316a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0395f8316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20395f8316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eec32c6c4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1eec32c6c4d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eec32c6c4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1eec32c6c4d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eec32c6c4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1eec32c6c4d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6" descr="A picture containing drawing&#10;&#10;Description automatically generated"/>
          <p:cNvPicPr preferRelativeResize="0"/>
          <p:nvPr/>
        </p:nvPicPr>
        <p:blipFill rotWithShape="1">
          <a:blip r:embed="rId11">
            <a:alphaModFix/>
          </a:blip>
          <a:srcRect/>
          <a:stretch/>
        </p:blipFill>
        <p:spPr>
          <a:xfrm>
            <a:off x="180328" y="93609"/>
            <a:ext cx="3783105" cy="863652"/>
          </a:xfrm>
          <a:prstGeom prst="rect">
            <a:avLst/>
          </a:prstGeom>
          <a:noFill/>
          <a:ln>
            <a:noFill/>
          </a:ln>
        </p:spPr>
      </p:pic>
      <p:pic>
        <p:nvPicPr>
          <p:cNvPr id="12" name="Google Shape;12;p6" descr="A close up of a sign&#10;&#10;Description automatically generated"/>
          <p:cNvPicPr preferRelativeResize="0"/>
          <p:nvPr/>
        </p:nvPicPr>
        <p:blipFill rotWithShape="1">
          <a:blip r:embed="rId12">
            <a:alphaModFix/>
          </a:blip>
          <a:srcRect/>
          <a:stretch/>
        </p:blipFill>
        <p:spPr>
          <a:xfrm>
            <a:off x="10757469" y="93609"/>
            <a:ext cx="1313507" cy="721920"/>
          </a:xfrm>
          <a:prstGeom prst="rect">
            <a:avLst/>
          </a:prstGeom>
          <a:noFill/>
          <a:ln>
            <a:noFill/>
          </a:ln>
        </p:spPr>
      </p:pic>
      <p:pic>
        <p:nvPicPr>
          <p:cNvPr id="13" name="Google Shape;13;p6"/>
          <p:cNvPicPr preferRelativeResize="0"/>
          <p:nvPr/>
        </p:nvPicPr>
        <p:blipFill rotWithShape="1">
          <a:blip r:embed="rId13">
            <a:alphaModFix/>
          </a:blip>
          <a:srcRect/>
          <a:stretch/>
        </p:blipFill>
        <p:spPr>
          <a:xfrm rot="5400000">
            <a:off x="5722459" y="409320"/>
            <a:ext cx="702416" cy="12236665"/>
          </a:xfrm>
          <a:prstGeom prst="rect">
            <a:avLst/>
          </a:prstGeom>
          <a:noFill/>
          <a:ln>
            <a:noFill/>
          </a:ln>
        </p:spPr>
      </p:pic>
      <p:pic>
        <p:nvPicPr>
          <p:cNvPr id="14" name="Google Shape;14;p6"/>
          <p:cNvPicPr preferRelativeResize="0"/>
          <p:nvPr/>
        </p:nvPicPr>
        <p:blipFill rotWithShape="1">
          <a:blip r:embed="rId14">
            <a:alphaModFix/>
          </a:blip>
          <a:srcRect/>
          <a:stretch/>
        </p:blipFill>
        <p:spPr>
          <a:xfrm rot="5400000">
            <a:off x="7421731" y="1406173"/>
            <a:ext cx="207493" cy="93330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8" r:id="rId8"/>
    <p:sldLayoutId id="2147483659" r:id="rId9"/>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4173783" y="1237288"/>
            <a:ext cx="3844433" cy="79010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sz="4400" b="1" dirty="0">
                <a:solidFill>
                  <a:srgbClr val="C00000"/>
                </a:solidFill>
                <a:latin typeface="Arial"/>
                <a:ea typeface="Arial"/>
                <a:cs typeface="Arial"/>
                <a:sym typeface="Arial"/>
              </a:rPr>
              <a:t>PBL – Project </a:t>
            </a:r>
            <a:endParaRPr sz="4400" b="1" dirty="0">
              <a:solidFill>
                <a:srgbClr val="C00000"/>
              </a:solidFill>
              <a:latin typeface="Arial"/>
              <a:ea typeface="Arial"/>
              <a:cs typeface="Arial"/>
              <a:sym typeface="Arial"/>
            </a:endParaRPr>
          </a:p>
        </p:txBody>
      </p:sp>
      <p:sp>
        <p:nvSpPr>
          <p:cNvPr id="89" name="Google Shape;89;p1"/>
          <p:cNvSpPr txBox="1">
            <a:spLocks noGrp="1"/>
          </p:cNvSpPr>
          <p:nvPr>
            <p:ph type="subTitle" idx="1"/>
          </p:nvPr>
        </p:nvSpPr>
        <p:spPr>
          <a:xfrm>
            <a:off x="2911560" y="2343084"/>
            <a:ext cx="6368878" cy="72071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400"/>
              <a:buNone/>
            </a:pPr>
            <a:r>
              <a:rPr lang="en-US" sz="2800" b="1" dirty="0">
                <a:latin typeface="Fira Sans"/>
                <a:ea typeface="Fira Sans"/>
                <a:cs typeface="Fira Sans"/>
                <a:sym typeface="Fira Sans"/>
              </a:rPr>
              <a:t>FY  BTech EXCP Semester  II ( 2024-25</a:t>
            </a:r>
            <a:r>
              <a:rPr lang="en-US" sz="3200" b="1" dirty="0">
                <a:latin typeface="Fira Sans"/>
                <a:ea typeface="Fira Sans"/>
                <a:cs typeface="Fira Sans"/>
                <a:sym typeface="Fira Sans"/>
              </a:rPr>
              <a:t>)</a:t>
            </a:r>
            <a:endParaRPr sz="3200" b="1" dirty="0">
              <a:latin typeface="Fira Sans"/>
              <a:ea typeface="Fira Sans"/>
              <a:cs typeface="Fira Sans"/>
              <a:sym typeface="Fira Sans"/>
            </a:endParaRPr>
          </a:p>
        </p:txBody>
      </p:sp>
      <p:sp>
        <p:nvSpPr>
          <p:cNvPr id="91" name="Google Shape;9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z="1800">
                <a:solidFill>
                  <a:schemeClr val="lt1"/>
                </a:solidFill>
              </a:rPr>
              <a:t>1</a:t>
            </a:fld>
            <a:endParaRPr sz="1800">
              <a:solidFill>
                <a:schemeClr val="lt1"/>
              </a:solidFill>
            </a:endParaRPr>
          </a:p>
        </p:txBody>
      </p:sp>
      <p:sp>
        <p:nvSpPr>
          <p:cNvPr id="92" name="Google Shape;92;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dirty="0"/>
          </a:p>
        </p:txBody>
      </p:sp>
      <p:graphicFrame>
        <p:nvGraphicFramePr>
          <p:cNvPr id="2" name="Table 1">
            <a:extLst>
              <a:ext uri="{FF2B5EF4-FFF2-40B4-BE49-F238E27FC236}">
                <a16:creationId xmlns:a16="http://schemas.microsoft.com/office/drawing/2014/main" id="{01CDDB69-9C08-05A5-4DCA-A0CDB0C6B56A}"/>
              </a:ext>
            </a:extLst>
          </p:cNvPr>
          <p:cNvGraphicFramePr>
            <a:graphicFrameLocks noGrp="1"/>
          </p:cNvGraphicFramePr>
          <p:nvPr>
            <p:extLst>
              <p:ext uri="{D42A27DB-BD31-4B8C-83A1-F6EECF244321}">
                <p14:modId xmlns:p14="http://schemas.microsoft.com/office/powerpoint/2010/main" val="670283295"/>
              </p:ext>
            </p:extLst>
          </p:nvPr>
        </p:nvGraphicFramePr>
        <p:xfrm>
          <a:off x="4791074" y="3429000"/>
          <a:ext cx="2609850" cy="2225040"/>
        </p:xfrm>
        <a:graphic>
          <a:graphicData uri="http://schemas.openxmlformats.org/drawingml/2006/table">
            <a:tbl>
              <a:tblPr firstRow="1" bandRow="1">
                <a:tableStyleId>{E4DD06BE-E33E-44DE-BB38-01E6AB116E1E}</a:tableStyleId>
              </a:tblPr>
              <a:tblGrid>
                <a:gridCol w="1298575">
                  <a:extLst>
                    <a:ext uri="{9D8B030D-6E8A-4147-A177-3AD203B41FA5}">
                      <a16:colId xmlns:a16="http://schemas.microsoft.com/office/drawing/2014/main" val="1341154944"/>
                    </a:ext>
                  </a:extLst>
                </a:gridCol>
                <a:gridCol w="1311275">
                  <a:extLst>
                    <a:ext uri="{9D8B030D-6E8A-4147-A177-3AD203B41FA5}">
                      <a16:colId xmlns:a16="http://schemas.microsoft.com/office/drawing/2014/main" val="3360235244"/>
                    </a:ext>
                  </a:extLst>
                </a:gridCol>
              </a:tblGrid>
              <a:tr h="370840">
                <a:tc>
                  <a:txBody>
                    <a:bodyPr/>
                    <a:lstStyle/>
                    <a:p>
                      <a:pPr algn="l"/>
                      <a:r>
                        <a:rPr lang="en-US" sz="1200" dirty="0">
                          <a:solidFill>
                            <a:schemeClr val="tx1"/>
                          </a:solidFill>
                          <a:latin typeface="Century Gothic" panose="020B0502020202020204" pitchFamily="34" charset="0"/>
                        </a:rPr>
                        <a:t>Names</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solidFill>
                            <a:schemeClr val="tx1"/>
                          </a:solidFill>
                          <a:latin typeface="Century Gothic" panose="020B0502020202020204" pitchFamily="34" charset="0"/>
                        </a:rPr>
                        <a:t>Roll Number</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251141"/>
                  </a:ext>
                </a:extLst>
              </a:tr>
              <a:tr h="370840">
                <a:tc>
                  <a:txBody>
                    <a:bodyPr/>
                    <a:lstStyle/>
                    <a:p>
                      <a:pPr algn="l"/>
                      <a:r>
                        <a:rPr lang="en-US" sz="1200" dirty="0">
                          <a:solidFill>
                            <a:schemeClr val="tx1"/>
                          </a:solidFill>
                          <a:latin typeface="Century Gothic" panose="020B0502020202020204" pitchFamily="34" charset="0"/>
                        </a:rPr>
                        <a:t>Mihir Parekh</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solidFill>
                            <a:schemeClr val="tx1"/>
                          </a:solidFill>
                          <a:latin typeface="Century Gothic" panose="020B0502020202020204" pitchFamily="34" charset="0"/>
                        </a:rPr>
                        <a:t>16014024051</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515511"/>
                  </a:ext>
                </a:extLst>
              </a:tr>
              <a:tr h="370840">
                <a:tc>
                  <a:txBody>
                    <a:bodyPr/>
                    <a:lstStyle/>
                    <a:p>
                      <a:pPr algn="l"/>
                      <a:r>
                        <a:rPr lang="en-US" sz="1200" dirty="0">
                          <a:solidFill>
                            <a:schemeClr val="tx1"/>
                          </a:solidFill>
                          <a:latin typeface="Century Gothic" panose="020B0502020202020204" pitchFamily="34" charset="0"/>
                        </a:rPr>
                        <a:t>Neel Parikh</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solidFill>
                            <a:schemeClr val="tx1"/>
                          </a:solidFill>
                          <a:latin typeface="Century Gothic" panose="020B0502020202020204" pitchFamily="34" charset="0"/>
                        </a:rPr>
                        <a:t>16014024052</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083797"/>
                  </a:ext>
                </a:extLst>
              </a:tr>
              <a:tr h="370840">
                <a:tc>
                  <a:txBody>
                    <a:bodyPr/>
                    <a:lstStyle/>
                    <a:p>
                      <a:pPr algn="l"/>
                      <a:r>
                        <a:rPr lang="en-US" sz="1200" dirty="0">
                          <a:solidFill>
                            <a:schemeClr val="tx1"/>
                          </a:solidFill>
                          <a:latin typeface="Century Gothic" panose="020B0502020202020204" pitchFamily="34" charset="0"/>
                        </a:rPr>
                        <a:t>Neal Wadekar</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solidFill>
                            <a:schemeClr val="tx1"/>
                          </a:solidFill>
                          <a:latin typeface="Century Gothic" panose="020B0502020202020204" pitchFamily="34" charset="0"/>
                        </a:rPr>
                        <a:t>16014024053</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4774963"/>
                  </a:ext>
                </a:extLst>
              </a:tr>
              <a:tr h="370840">
                <a:tc>
                  <a:txBody>
                    <a:bodyPr/>
                    <a:lstStyle/>
                    <a:p>
                      <a:pPr algn="l"/>
                      <a:r>
                        <a:rPr lang="en-US" sz="1200" dirty="0">
                          <a:solidFill>
                            <a:schemeClr val="tx1"/>
                          </a:solidFill>
                          <a:latin typeface="Century Gothic" panose="020B0502020202020204" pitchFamily="34" charset="0"/>
                        </a:rPr>
                        <a:t>Jaineel Patel</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solidFill>
                            <a:schemeClr val="tx1"/>
                          </a:solidFill>
                          <a:latin typeface="Century Gothic" panose="020B0502020202020204" pitchFamily="34" charset="0"/>
                        </a:rPr>
                        <a:t>16014024054</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089339"/>
                  </a:ext>
                </a:extLst>
              </a:tr>
              <a:tr h="370840">
                <a:tc>
                  <a:txBody>
                    <a:bodyPr/>
                    <a:lstStyle/>
                    <a:p>
                      <a:pPr algn="l"/>
                      <a:r>
                        <a:rPr lang="en-US" sz="1200" dirty="0">
                          <a:solidFill>
                            <a:schemeClr val="tx1"/>
                          </a:solidFill>
                          <a:latin typeface="Century Gothic" panose="020B0502020202020204" pitchFamily="34" charset="0"/>
                        </a:rPr>
                        <a:t>Meeta Patil</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dirty="0">
                          <a:solidFill>
                            <a:schemeClr val="tx1"/>
                          </a:solidFill>
                          <a:latin typeface="Century Gothic" panose="020B0502020202020204" pitchFamily="34" charset="0"/>
                        </a:rPr>
                        <a:t>16014024055</a:t>
                      </a:r>
                      <a:endParaRPr lang="en-IN" sz="1200" dirty="0">
                        <a:solidFill>
                          <a:schemeClr val="tx1"/>
                        </a:solidFill>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310402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20395f8316a_0_6"/>
          <p:cNvSpPr txBox="1">
            <a:spLocks noGrp="1"/>
          </p:cNvSpPr>
          <p:nvPr>
            <p:ph type="ctrTitle"/>
          </p:nvPr>
        </p:nvSpPr>
        <p:spPr>
          <a:xfrm>
            <a:off x="1524000" y="626888"/>
            <a:ext cx="9144000" cy="87947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3600" b="1" dirty="0">
                <a:solidFill>
                  <a:srgbClr val="C00000"/>
                </a:solidFill>
                <a:latin typeface="Arial"/>
                <a:ea typeface="Arial"/>
                <a:cs typeface="Arial"/>
                <a:sym typeface="Arial"/>
              </a:rPr>
              <a:t>Theme chosen for Project </a:t>
            </a:r>
            <a:endParaRPr sz="3600" b="1" dirty="0">
              <a:solidFill>
                <a:srgbClr val="C00000"/>
              </a:solidFill>
              <a:latin typeface="Arial"/>
              <a:ea typeface="Arial"/>
              <a:cs typeface="Arial"/>
              <a:sym typeface="Arial"/>
            </a:endParaRPr>
          </a:p>
        </p:txBody>
      </p:sp>
      <p:sp>
        <p:nvSpPr>
          <p:cNvPr id="98" name="Google Shape;98;g20395f8316a_0_6"/>
          <p:cNvSpPr txBox="1">
            <a:spLocks noGrp="1"/>
          </p:cNvSpPr>
          <p:nvPr>
            <p:ph type="subTitle" idx="1"/>
          </p:nvPr>
        </p:nvSpPr>
        <p:spPr>
          <a:xfrm>
            <a:off x="1524000" y="1695450"/>
            <a:ext cx="9144000" cy="3886200"/>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1000"/>
              </a:spcBef>
              <a:spcAft>
                <a:spcPts val="0"/>
              </a:spcAft>
              <a:buSzPts val="2400"/>
              <a:buNone/>
            </a:pPr>
            <a:r>
              <a:rPr lang="en-US" sz="1800" b="1" i="0" u="none" strike="noStrike" baseline="0" dirty="0">
                <a:latin typeface="Century Gothic" panose="020B0502020202020204" pitchFamily="34" charset="0"/>
              </a:rPr>
              <a:t>Automation of Attendance Using RFID and ESP3266</a:t>
            </a:r>
          </a:p>
          <a:p>
            <a:pPr marL="0" lvl="0" indent="0" algn="l" rtl="0">
              <a:lnSpc>
                <a:spcPct val="90000"/>
              </a:lnSpc>
              <a:spcBef>
                <a:spcPts val="1000"/>
              </a:spcBef>
              <a:spcAft>
                <a:spcPts val="0"/>
              </a:spcAft>
              <a:buSzPts val="2400"/>
              <a:buNone/>
            </a:pPr>
            <a:endParaRPr lang="en-US" sz="100" b="0" i="0" u="none" strike="noStrike" baseline="0" dirty="0">
              <a:latin typeface="Century Gothic" panose="020B0502020202020204" pitchFamily="34" charset="0"/>
            </a:endParaRPr>
          </a:p>
          <a:p>
            <a:pPr marL="0" lvl="0" indent="0" algn="just" rtl="0">
              <a:lnSpc>
                <a:spcPct val="150000"/>
              </a:lnSpc>
              <a:spcBef>
                <a:spcPts val="1000"/>
              </a:spcBef>
              <a:spcAft>
                <a:spcPts val="0"/>
              </a:spcAft>
              <a:buSzPts val="2400"/>
              <a:buNone/>
            </a:pPr>
            <a:r>
              <a:rPr lang="en-US" sz="1800" b="0" i="0" u="none" strike="noStrike" baseline="0" dirty="0">
                <a:latin typeface="Century Gothic" panose="020B0502020202020204" pitchFamily="34" charset="0"/>
              </a:rPr>
              <a:t>This project leverages the power of Radio Frequency Identification (RFID) technology combined with the versatility of ESP3266 to create an automated attendance system. The goal is to minimize manual intervention, reduce errors, and streamline the process of tracking attendance in various environments such as educational institutions, corporate offices, and public facilities. By integrating these technologies, the system offers a cost-effective, scalable, and efficient solution for real-time attendance monitoring.</a:t>
            </a:r>
            <a:endParaRPr dirty="0">
              <a:latin typeface="Century Gothic" panose="020B0502020202020204" pitchFamily="34" charset="0"/>
            </a:endParaRPr>
          </a:p>
        </p:txBody>
      </p:sp>
      <p:sp>
        <p:nvSpPr>
          <p:cNvPr id="99" name="Google Shape;99;g20395f8316a_0_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
        <p:nvSpPr>
          <p:cNvPr id="100" name="Google Shape;100;g20395f8316a_0_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20395f8316a_0_0"/>
          <p:cNvSpPr txBox="1">
            <a:spLocks noGrp="1"/>
          </p:cNvSpPr>
          <p:nvPr>
            <p:ph type="ctrTitle"/>
          </p:nvPr>
        </p:nvSpPr>
        <p:spPr>
          <a:xfrm>
            <a:off x="1487488" y="764704"/>
            <a:ext cx="9144000" cy="72246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3600" b="1">
                <a:solidFill>
                  <a:srgbClr val="C00000"/>
                </a:solidFill>
                <a:latin typeface="Arial"/>
                <a:ea typeface="Arial"/>
                <a:cs typeface="Arial"/>
                <a:sym typeface="Arial"/>
              </a:rPr>
              <a:t>Need Statement</a:t>
            </a:r>
            <a:endParaRPr sz="3600" b="1">
              <a:solidFill>
                <a:srgbClr val="C00000"/>
              </a:solidFill>
              <a:latin typeface="Arial"/>
              <a:ea typeface="Arial"/>
              <a:cs typeface="Arial"/>
              <a:sym typeface="Arial"/>
            </a:endParaRPr>
          </a:p>
        </p:txBody>
      </p:sp>
      <p:sp>
        <p:nvSpPr>
          <p:cNvPr id="107" name="Google Shape;107;g20395f8316a_0_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
        <p:nvSpPr>
          <p:cNvPr id="108" name="Google Shape;108;g20395f8316a_0_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2" name="Subtitle 1">
            <a:extLst>
              <a:ext uri="{FF2B5EF4-FFF2-40B4-BE49-F238E27FC236}">
                <a16:creationId xmlns:a16="http://schemas.microsoft.com/office/drawing/2014/main" id="{1A69DBB4-AC5F-63F0-90CC-90E15E871998}"/>
              </a:ext>
            </a:extLst>
          </p:cNvPr>
          <p:cNvSpPr>
            <a:spLocks noGrp="1" noChangeArrowheads="1"/>
          </p:cNvSpPr>
          <p:nvPr>
            <p:ph type="subTitle" idx="1"/>
          </p:nvPr>
        </p:nvSpPr>
        <p:spPr bwMode="auto">
          <a:xfrm>
            <a:off x="1487488" y="1657342"/>
            <a:ext cx="91440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This project aims to improve attendance recording in large organizations by using RFID technology and ESP3266 Board.</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RFID technology allows for contactless scanning of unique identification cards, </a:t>
            </a:r>
            <a:r>
              <a:rPr kumimoji="0" lang="en-US" altLang="en-US" sz="1800" b="0" i="0" u="none" strike="noStrike" cap="none" normalizeH="0" baseline="0">
                <a:ln>
                  <a:noFill/>
                </a:ln>
                <a:solidFill>
                  <a:schemeClr val="tx1"/>
                </a:solidFill>
                <a:effectLst/>
                <a:latin typeface="Century Gothic" panose="020B0502020202020204" pitchFamily="34" charset="0"/>
              </a:rPr>
              <a:t>while ESP3266 serves </a:t>
            </a:r>
            <a:r>
              <a:rPr kumimoji="0" lang="en-US" altLang="en-US" sz="1800" b="0" i="0" u="none" strike="noStrike" cap="none" normalizeH="0" baseline="0" dirty="0">
                <a:ln>
                  <a:noFill/>
                </a:ln>
                <a:solidFill>
                  <a:schemeClr val="tx1"/>
                </a:solidFill>
                <a:effectLst/>
                <a:latin typeface="Century Gothic" panose="020B0502020202020204" pitchFamily="34" charset="0"/>
              </a:rPr>
              <a:t>as the control hub.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This automated system minimizes manual effort, enhances data integrity, reduces</a:t>
            </a:r>
            <a:r>
              <a:rPr lang="en-US" altLang="en-US" sz="1800" dirty="0">
                <a:solidFill>
                  <a:schemeClr val="tx1"/>
                </a:solidFill>
                <a:latin typeface="Century Gothic" panose="020B0502020202020204" pitchFamily="34" charset="0"/>
              </a:rPr>
              <a:t> </a:t>
            </a:r>
            <a:r>
              <a:rPr kumimoji="0" lang="en-US" altLang="en-US" sz="1800" b="0" i="0" u="none" strike="noStrike" cap="none" normalizeH="0" baseline="0" dirty="0">
                <a:ln>
                  <a:noFill/>
                </a:ln>
                <a:solidFill>
                  <a:schemeClr val="tx1"/>
                </a:solidFill>
                <a:effectLst/>
                <a:latin typeface="Century Gothic" panose="020B0502020202020204" pitchFamily="34" charset="0"/>
              </a:rPr>
              <a:t>fraudulent entries, and offers a scalable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p:nvPr>
        </p:nvSpPr>
        <p:spPr>
          <a:xfrm>
            <a:off x="3877295" y="832742"/>
            <a:ext cx="4437410" cy="71214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3600" b="1" dirty="0">
                <a:solidFill>
                  <a:srgbClr val="C00000"/>
                </a:solidFill>
                <a:latin typeface="Arial"/>
                <a:ea typeface="Arial"/>
                <a:cs typeface="Arial"/>
                <a:sym typeface="Arial"/>
              </a:rPr>
              <a:t>Problem Statement</a:t>
            </a:r>
            <a:endParaRPr sz="3600" b="1" dirty="0">
              <a:solidFill>
                <a:srgbClr val="C00000"/>
              </a:solidFill>
              <a:latin typeface="Arial"/>
              <a:ea typeface="Arial"/>
              <a:cs typeface="Arial"/>
              <a:sym typeface="Arial"/>
            </a:endParaRPr>
          </a:p>
        </p:txBody>
      </p:sp>
      <p:sp>
        <p:nvSpPr>
          <p:cNvPr id="115" name="Google Shape;11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4</a:t>
            </a:fld>
            <a:endParaRPr>
              <a:solidFill>
                <a:schemeClr val="lt1"/>
              </a:solidFill>
            </a:endParaRPr>
          </a:p>
        </p:txBody>
      </p:sp>
      <p:sp>
        <p:nvSpPr>
          <p:cNvPr id="116" name="Google Shape;11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3" name="TextBox 2">
            <a:extLst>
              <a:ext uri="{FF2B5EF4-FFF2-40B4-BE49-F238E27FC236}">
                <a16:creationId xmlns:a16="http://schemas.microsoft.com/office/drawing/2014/main" id="{2463ECEB-F558-0650-C429-C75E78A75A8D}"/>
              </a:ext>
            </a:extLst>
          </p:cNvPr>
          <p:cNvSpPr txBox="1"/>
          <p:nvPr/>
        </p:nvSpPr>
        <p:spPr>
          <a:xfrm>
            <a:off x="1256903" y="1590675"/>
            <a:ext cx="9678193" cy="4183261"/>
          </a:xfrm>
          <a:prstGeom prst="rect">
            <a:avLst/>
          </a:prstGeom>
          <a:noFill/>
        </p:spPr>
        <p:txBody>
          <a:bodyPr wrap="square" rtlCol="0">
            <a:spAutoFit/>
          </a:bodyPr>
          <a:lstStyle/>
          <a:p>
            <a:pPr algn="l">
              <a:lnSpc>
                <a:spcPct val="150000"/>
              </a:lnSpc>
            </a:pPr>
            <a:r>
              <a:rPr lang="en-IN" b="1" i="0" u="none" strike="noStrike" baseline="0" dirty="0">
                <a:latin typeface="Century Gothic" panose="020B0502020202020204" pitchFamily="34" charset="0"/>
              </a:rPr>
              <a:t>List of Objectives: </a:t>
            </a:r>
          </a:p>
          <a:p>
            <a:pPr algn="l">
              <a:lnSpc>
                <a:spcPct val="150000"/>
              </a:lnSpc>
            </a:pPr>
            <a:r>
              <a:rPr lang="en-US" b="0" i="0" u="none" strike="noStrike" baseline="0" dirty="0">
                <a:latin typeface="Century Gothic" panose="020B0502020202020204" pitchFamily="34" charset="0"/>
              </a:rPr>
              <a:t>Automate attendance tracking using RFID cards.</a:t>
            </a:r>
          </a:p>
          <a:p>
            <a:pPr algn="l">
              <a:lnSpc>
                <a:spcPct val="150000"/>
              </a:lnSpc>
            </a:pPr>
            <a:r>
              <a:rPr lang="en-US" b="0" i="0" u="none" strike="noStrike" baseline="0" dirty="0">
                <a:latin typeface="Century Gothic" panose="020B0502020202020204" pitchFamily="34" charset="0"/>
              </a:rPr>
              <a:t>Ensure secure and authorized access.</a:t>
            </a:r>
          </a:p>
          <a:p>
            <a:pPr algn="l">
              <a:lnSpc>
                <a:spcPct val="150000"/>
              </a:lnSpc>
            </a:pPr>
            <a:r>
              <a:rPr lang="en-US" b="0" i="0" u="none" strike="noStrike" baseline="0" dirty="0">
                <a:latin typeface="Century Gothic" panose="020B0502020202020204" pitchFamily="34" charset="0"/>
              </a:rPr>
              <a:t>Display attendance data on an LCD screen.</a:t>
            </a:r>
          </a:p>
          <a:p>
            <a:pPr algn="l">
              <a:lnSpc>
                <a:spcPct val="150000"/>
              </a:lnSpc>
            </a:pPr>
            <a:endParaRPr lang="en-US" sz="500" b="0" i="0" u="none" strike="noStrike" baseline="0" dirty="0">
              <a:latin typeface="Century Gothic" panose="020B0502020202020204" pitchFamily="34" charset="0"/>
            </a:endParaRPr>
          </a:p>
          <a:p>
            <a:pPr algn="l">
              <a:lnSpc>
                <a:spcPct val="150000"/>
              </a:lnSpc>
            </a:pPr>
            <a:r>
              <a:rPr lang="en-IN" b="1" i="0" u="none" strike="noStrike" baseline="0" dirty="0">
                <a:latin typeface="Century Gothic" panose="020B0502020202020204" pitchFamily="34" charset="0"/>
              </a:rPr>
              <a:t>Constraints: </a:t>
            </a:r>
          </a:p>
          <a:p>
            <a:pPr algn="l">
              <a:lnSpc>
                <a:spcPct val="150000"/>
              </a:lnSpc>
            </a:pPr>
            <a:r>
              <a:rPr lang="en-US" b="0" i="0" u="none" strike="noStrike" baseline="0" dirty="0">
                <a:latin typeface="Century Gothic" panose="020B0502020202020204" pitchFamily="34" charset="0"/>
              </a:rPr>
              <a:t>Limited to RFID technology and ESP3266 hardware.</a:t>
            </a:r>
          </a:p>
          <a:p>
            <a:pPr algn="l">
              <a:lnSpc>
                <a:spcPct val="150000"/>
              </a:lnSpc>
            </a:pPr>
            <a:r>
              <a:rPr lang="en-US" b="0" i="0" u="none" strike="noStrike" baseline="0" dirty="0">
                <a:latin typeface="Century Gothic" panose="020B0502020202020204" pitchFamily="34" charset="0"/>
              </a:rPr>
              <a:t>Requires wired connections and power supply.</a:t>
            </a:r>
          </a:p>
          <a:p>
            <a:pPr algn="l">
              <a:lnSpc>
                <a:spcPct val="150000"/>
              </a:lnSpc>
            </a:pPr>
            <a:endParaRPr lang="en-US" sz="500" b="0" i="0" u="none" strike="noStrike" baseline="0" dirty="0">
              <a:latin typeface="Century Gothic" panose="020B0502020202020204" pitchFamily="34" charset="0"/>
            </a:endParaRPr>
          </a:p>
          <a:p>
            <a:pPr algn="l">
              <a:lnSpc>
                <a:spcPct val="150000"/>
              </a:lnSpc>
            </a:pPr>
            <a:r>
              <a:rPr lang="en-IN" b="1" i="0" u="none" strike="noStrike" baseline="0" dirty="0">
                <a:latin typeface="Century Gothic" panose="020B0502020202020204" pitchFamily="34" charset="0"/>
              </a:rPr>
              <a:t>Functions: </a:t>
            </a:r>
          </a:p>
          <a:p>
            <a:pPr algn="l">
              <a:lnSpc>
                <a:spcPct val="150000"/>
              </a:lnSpc>
            </a:pPr>
            <a:r>
              <a:rPr lang="en-IN" b="0" i="0" u="none" strike="noStrike" baseline="0" dirty="0">
                <a:latin typeface="Century Gothic" panose="020B0502020202020204" pitchFamily="34" charset="0"/>
              </a:rPr>
              <a:t>Read RFID card data.</a:t>
            </a:r>
          </a:p>
          <a:p>
            <a:pPr algn="l">
              <a:lnSpc>
                <a:spcPct val="150000"/>
              </a:lnSpc>
            </a:pPr>
            <a:r>
              <a:rPr lang="en-IN" b="0" i="0" u="none" strike="noStrike" baseline="0" dirty="0">
                <a:latin typeface="Century Gothic" panose="020B0502020202020204" pitchFamily="34" charset="0"/>
              </a:rPr>
              <a:t>Validate against pre-stored information.</a:t>
            </a:r>
          </a:p>
          <a:p>
            <a:pPr algn="l">
              <a:lnSpc>
                <a:spcPct val="150000"/>
              </a:lnSpc>
            </a:pPr>
            <a:r>
              <a:rPr lang="en-IN" b="0" i="0" u="none" strike="noStrike" baseline="0" dirty="0">
                <a:latin typeface="Century Gothic" panose="020B0502020202020204" pitchFamily="34" charset="0"/>
              </a:rPr>
              <a:t>Update attendance records.</a:t>
            </a:r>
          </a:p>
          <a:p>
            <a:pPr algn="l">
              <a:lnSpc>
                <a:spcPct val="150000"/>
              </a:lnSpc>
            </a:pPr>
            <a:r>
              <a:rPr lang="en-US" b="0" i="0" u="none" strike="noStrike" baseline="0" dirty="0">
                <a:latin typeface="Century Gothic" panose="020B0502020202020204" pitchFamily="34" charset="0"/>
              </a:rPr>
              <a:t>Provide feedback via buzzer.</a:t>
            </a:r>
          </a:p>
        </p:txBody>
      </p:sp>
      <p:pic>
        <p:nvPicPr>
          <p:cNvPr id="5" name="Picture 4">
            <a:extLst>
              <a:ext uri="{FF2B5EF4-FFF2-40B4-BE49-F238E27FC236}">
                <a16:creationId xmlns:a16="http://schemas.microsoft.com/office/drawing/2014/main" id="{C4992E67-7388-735B-6BC2-AF59D91CE1EF}"/>
              </a:ext>
            </a:extLst>
          </p:cNvPr>
          <p:cNvPicPr>
            <a:picLocks noChangeAspect="1"/>
          </p:cNvPicPr>
          <p:nvPr/>
        </p:nvPicPr>
        <p:blipFill>
          <a:blip r:embed="rId3"/>
          <a:stretch>
            <a:fillRect/>
          </a:stretch>
        </p:blipFill>
        <p:spPr>
          <a:xfrm>
            <a:off x="7232651" y="1859560"/>
            <a:ext cx="3702446" cy="371256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1eec32c6c4d_0_12"/>
          <p:cNvSpPr txBox="1">
            <a:spLocks noGrp="1"/>
          </p:cNvSpPr>
          <p:nvPr>
            <p:ph type="title"/>
          </p:nvPr>
        </p:nvSpPr>
        <p:spPr>
          <a:xfrm>
            <a:off x="2451100" y="855525"/>
            <a:ext cx="7778750" cy="7905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Hardware / Software Requirements</a:t>
            </a:r>
            <a:endParaRPr sz="3600" b="1" dirty="0">
              <a:solidFill>
                <a:srgbClr val="C00000"/>
              </a:solidFill>
              <a:latin typeface="Arial"/>
              <a:ea typeface="Arial"/>
              <a:cs typeface="Arial"/>
              <a:sym typeface="Arial"/>
            </a:endParaRPr>
          </a:p>
        </p:txBody>
      </p:sp>
      <p:sp>
        <p:nvSpPr>
          <p:cNvPr id="154" name="Google Shape;154;g1eec32c6c4d_0_12"/>
          <p:cNvSpPr txBox="1">
            <a:spLocks noGrp="1"/>
          </p:cNvSpPr>
          <p:nvPr>
            <p:ph type="body" idx="1"/>
          </p:nvPr>
        </p:nvSpPr>
        <p:spPr>
          <a:xfrm>
            <a:off x="1327150" y="1651275"/>
            <a:ext cx="9537700" cy="4351200"/>
          </a:xfrm>
          <a:prstGeom prst="rect">
            <a:avLst/>
          </a:prstGeom>
          <a:noFill/>
          <a:ln>
            <a:noFill/>
          </a:ln>
        </p:spPr>
        <p:txBody>
          <a:bodyPr spcFirstLastPara="1" wrap="square" lIns="91425" tIns="45700" rIns="91425" bIns="45700" anchor="t" anchorCtr="0">
            <a:normAutofit/>
          </a:bodyPr>
          <a:lstStyle/>
          <a:p>
            <a:pPr marL="114300" indent="0" algn="l">
              <a:buNone/>
            </a:pPr>
            <a:r>
              <a:rPr lang="en-IN" sz="1400" b="1" i="0" u="none" strike="noStrike" baseline="0" dirty="0">
                <a:latin typeface="Century Gothic" panose="020B0502020202020204" pitchFamily="34" charset="0"/>
              </a:rPr>
              <a:t>Hardware:</a:t>
            </a:r>
          </a:p>
          <a:p>
            <a:r>
              <a:rPr lang="en-US" sz="1400" b="0" i="0" u="none" strike="noStrike" baseline="0" dirty="0">
                <a:latin typeface="Century Gothic" panose="020B0502020202020204" pitchFamily="34" charset="0"/>
              </a:rPr>
              <a:t>ESP3266</a:t>
            </a:r>
          </a:p>
          <a:p>
            <a:r>
              <a:rPr lang="en-IN" sz="1400" b="0" i="0" u="none" strike="noStrike" baseline="0" dirty="0">
                <a:latin typeface="Century Gothic" panose="020B0502020202020204" pitchFamily="34" charset="0"/>
              </a:rPr>
              <a:t>RFID Reader and Tags</a:t>
            </a:r>
          </a:p>
          <a:p>
            <a:r>
              <a:rPr lang="en-IN" sz="1400" b="0" i="0" u="none" strike="noStrike" baseline="0" dirty="0">
                <a:latin typeface="Century Gothic" panose="020B0502020202020204" pitchFamily="34" charset="0"/>
              </a:rPr>
              <a:t>16x2 I2C LCD Display</a:t>
            </a:r>
          </a:p>
          <a:p>
            <a:r>
              <a:rPr lang="en-IN" sz="1400" b="0" i="0" u="none" strike="noStrike" baseline="0" dirty="0">
                <a:latin typeface="Century Gothic" panose="020B0502020202020204" pitchFamily="34" charset="0"/>
              </a:rPr>
              <a:t>Buzzer</a:t>
            </a:r>
          </a:p>
          <a:p>
            <a:r>
              <a:rPr lang="en-US" sz="1400" b="0" i="0" u="none" strike="noStrike" baseline="0" dirty="0">
                <a:latin typeface="Century Gothic" panose="020B0502020202020204" pitchFamily="34" charset="0"/>
              </a:rPr>
              <a:t>Breadboard</a:t>
            </a:r>
          </a:p>
          <a:p>
            <a:r>
              <a:rPr lang="en-IN" sz="1400" b="0" i="0" u="none" strike="noStrike" baseline="0" dirty="0">
                <a:latin typeface="Century Gothic" panose="020B0502020202020204" pitchFamily="34" charset="0"/>
              </a:rPr>
              <a:t>Jumper Wires</a:t>
            </a:r>
          </a:p>
          <a:p>
            <a:pPr marL="114300" indent="0">
              <a:buNone/>
            </a:pPr>
            <a:endParaRPr lang="en-IN" sz="500" b="0" i="0" u="none" strike="noStrike" baseline="0" dirty="0">
              <a:latin typeface="Century Gothic" panose="020B0502020202020204" pitchFamily="34" charset="0"/>
            </a:endParaRPr>
          </a:p>
          <a:p>
            <a:pPr marL="114300" indent="0" algn="l">
              <a:buNone/>
            </a:pPr>
            <a:r>
              <a:rPr lang="en-IN" sz="1400" b="1" i="0" u="none" strike="noStrike" baseline="0" dirty="0">
                <a:latin typeface="Century Gothic" panose="020B0502020202020204" pitchFamily="34" charset="0"/>
              </a:rPr>
              <a:t>Software:</a:t>
            </a:r>
          </a:p>
          <a:p>
            <a:r>
              <a:rPr lang="en-US" sz="1400" b="0" i="0" u="none" strike="noStrike" baseline="0" dirty="0">
                <a:latin typeface="Century Gothic" panose="020B0502020202020204" pitchFamily="34" charset="0"/>
              </a:rPr>
              <a:t>Arduino UNO </a:t>
            </a:r>
            <a:endParaRPr sz="1400" dirty="0">
              <a:latin typeface="Century Gothic" panose="020B0502020202020204" pitchFamily="34" charset="0"/>
            </a:endParaRPr>
          </a:p>
        </p:txBody>
      </p:sp>
      <p:sp>
        <p:nvSpPr>
          <p:cNvPr id="155" name="Google Shape;155;g1eec32c6c4d_0_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
        <p:nvSpPr>
          <p:cNvPr id="156" name="Google Shape;156;g1eec32c6c4d_0_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1eec32c6c4d_0_18"/>
          <p:cNvSpPr txBox="1">
            <a:spLocks noGrp="1"/>
          </p:cNvSpPr>
          <p:nvPr>
            <p:ph type="title"/>
          </p:nvPr>
        </p:nvSpPr>
        <p:spPr>
          <a:xfrm>
            <a:off x="4349750" y="873125"/>
            <a:ext cx="3492500" cy="7524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Timeline Chart </a:t>
            </a:r>
            <a:endParaRPr sz="3600" b="1" dirty="0">
              <a:solidFill>
                <a:srgbClr val="C00000"/>
              </a:solidFill>
              <a:latin typeface="Arial"/>
              <a:ea typeface="Arial"/>
              <a:cs typeface="Arial"/>
              <a:sym typeface="Arial"/>
            </a:endParaRPr>
          </a:p>
        </p:txBody>
      </p:sp>
      <p:sp>
        <p:nvSpPr>
          <p:cNvPr id="123" name="Google Shape;123;g1eec32c6c4d_0_1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
        <p:nvSpPr>
          <p:cNvPr id="124" name="Google Shape;124;g1eec32c6c4d_0_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graphicFrame>
        <p:nvGraphicFramePr>
          <p:cNvPr id="2" name="Table 1">
            <a:extLst>
              <a:ext uri="{FF2B5EF4-FFF2-40B4-BE49-F238E27FC236}">
                <a16:creationId xmlns:a16="http://schemas.microsoft.com/office/drawing/2014/main" id="{AB54055F-8B86-A787-B164-10BE2F59C439}"/>
              </a:ext>
            </a:extLst>
          </p:cNvPr>
          <p:cNvGraphicFramePr>
            <a:graphicFrameLocks noGrp="1"/>
          </p:cNvGraphicFramePr>
          <p:nvPr>
            <p:extLst>
              <p:ext uri="{D42A27DB-BD31-4B8C-83A1-F6EECF244321}">
                <p14:modId xmlns:p14="http://schemas.microsoft.com/office/powerpoint/2010/main" val="1464221469"/>
              </p:ext>
            </p:extLst>
          </p:nvPr>
        </p:nvGraphicFramePr>
        <p:xfrm>
          <a:off x="1471610" y="1625600"/>
          <a:ext cx="9248780" cy="4159250"/>
        </p:xfrm>
        <a:graphic>
          <a:graphicData uri="http://schemas.openxmlformats.org/drawingml/2006/table">
            <a:tbl>
              <a:tblPr firstRow="1" bandRow="1">
                <a:tableStyleId>{2D5ABB26-0587-4C30-8999-92F81FD0307C}</a:tableStyleId>
              </a:tblPr>
              <a:tblGrid>
                <a:gridCol w="924878">
                  <a:extLst>
                    <a:ext uri="{9D8B030D-6E8A-4147-A177-3AD203B41FA5}">
                      <a16:colId xmlns:a16="http://schemas.microsoft.com/office/drawing/2014/main" val="1728426311"/>
                    </a:ext>
                  </a:extLst>
                </a:gridCol>
                <a:gridCol w="924878">
                  <a:extLst>
                    <a:ext uri="{9D8B030D-6E8A-4147-A177-3AD203B41FA5}">
                      <a16:colId xmlns:a16="http://schemas.microsoft.com/office/drawing/2014/main" val="1973822296"/>
                    </a:ext>
                  </a:extLst>
                </a:gridCol>
                <a:gridCol w="924878">
                  <a:extLst>
                    <a:ext uri="{9D8B030D-6E8A-4147-A177-3AD203B41FA5}">
                      <a16:colId xmlns:a16="http://schemas.microsoft.com/office/drawing/2014/main" val="3147400577"/>
                    </a:ext>
                  </a:extLst>
                </a:gridCol>
                <a:gridCol w="924878">
                  <a:extLst>
                    <a:ext uri="{9D8B030D-6E8A-4147-A177-3AD203B41FA5}">
                      <a16:colId xmlns:a16="http://schemas.microsoft.com/office/drawing/2014/main" val="2937732017"/>
                    </a:ext>
                  </a:extLst>
                </a:gridCol>
                <a:gridCol w="924878">
                  <a:extLst>
                    <a:ext uri="{9D8B030D-6E8A-4147-A177-3AD203B41FA5}">
                      <a16:colId xmlns:a16="http://schemas.microsoft.com/office/drawing/2014/main" val="637746347"/>
                    </a:ext>
                  </a:extLst>
                </a:gridCol>
                <a:gridCol w="924878">
                  <a:extLst>
                    <a:ext uri="{9D8B030D-6E8A-4147-A177-3AD203B41FA5}">
                      <a16:colId xmlns:a16="http://schemas.microsoft.com/office/drawing/2014/main" val="3934537164"/>
                    </a:ext>
                  </a:extLst>
                </a:gridCol>
                <a:gridCol w="924878">
                  <a:extLst>
                    <a:ext uri="{9D8B030D-6E8A-4147-A177-3AD203B41FA5}">
                      <a16:colId xmlns:a16="http://schemas.microsoft.com/office/drawing/2014/main" val="3315553013"/>
                    </a:ext>
                  </a:extLst>
                </a:gridCol>
                <a:gridCol w="924878">
                  <a:extLst>
                    <a:ext uri="{9D8B030D-6E8A-4147-A177-3AD203B41FA5}">
                      <a16:colId xmlns:a16="http://schemas.microsoft.com/office/drawing/2014/main" val="1233847583"/>
                    </a:ext>
                  </a:extLst>
                </a:gridCol>
                <a:gridCol w="924878">
                  <a:extLst>
                    <a:ext uri="{9D8B030D-6E8A-4147-A177-3AD203B41FA5}">
                      <a16:colId xmlns:a16="http://schemas.microsoft.com/office/drawing/2014/main" val="475540713"/>
                    </a:ext>
                  </a:extLst>
                </a:gridCol>
                <a:gridCol w="924878">
                  <a:extLst>
                    <a:ext uri="{9D8B030D-6E8A-4147-A177-3AD203B41FA5}">
                      <a16:colId xmlns:a16="http://schemas.microsoft.com/office/drawing/2014/main" val="3675722110"/>
                    </a:ext>
                  </a:extLst>
                </a:gridCol>
              </a:tblGrid>
              <a:tr h="463554">
                <a:tc>
                  <a:txBody>
                    <a:bodyPr/>
                    <a:lstStyle/>
                    <a:p>
                      <a:pPr algn="ctr"/>
                      <a:r>
                        <a:rPr lang="en-US" sz="900" b="1" dirty="0">
                          <a:latin typeface="Century Gothic" panose="020B0502020202020204" pitchFamily="34" charset="0"/>
                        </a:rPr>
                        <a:t>Task</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1</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2 </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3</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4</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5</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6</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7</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8 </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latin typeface="Century Gothic" panose="020B0502020202020204" pitchFamily="34" charset="0"/>
                        </a:rPr>
                        <a:t>Week 9</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0384"/>
                  </a:ext>
                </a:extLst>
              </a:tr>
              <a:tr h="563750">
                <a:tc>
                  <a:txBody>
                    <a:bodyPr/>
                    <a:lstStyle/>
                    <a:p>
                      <a:pPr algn="ctr"/>
                      <a:r>
                        <a:rPr lang="en-US" sz="900" b="1" dirty="0">
                          <a:latin typeface="Century Gothic" panose="020B0502020202020204" pitchFamily="34" charset="0"/>
                        </a:rPr>
                        <a:t>Finalizing Project Idea</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880416"/>
                  </a:ext>
                </a:extLst>
              </a:tr>
              <a:tr h="563750">
                <a:tc>
                  <a:txBody>
                    <a:bodyPr/>
                    <a:lstStyle/>
                    <a:p>
                      <a:pPr algn="ctr"/>
                      <a:r>
                        <a:rPr lang="en-US" sz="900" b="1" dirty="0">
                          <a:latin typeface="Century Gothic" panose="020B0502020202020204" pitchFamily="34" charset="0"/>
                        </a:rPr>
                        <a:t>Research on Various Designs</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630036"/>
                  </a:ext>
                </a:extLst>
              </a:tr>
              <a:tr h="720348">
                <a:tc>
                  <a:txBody>
                    <a:bodyPr/>
                    <a:lstStyle/>
                    <a:p>
                      <a:pPr algn="ctr"/>
                      <a:r>
                        <a:rPr lang="en-US" sz="900" b="1" dirty="0">
                          <a:latin typeface="Century Gothic" panose="020B0502020202020204" pitchFamily="34" charset="0"/>
                        </a:rPr>
                        <a:t>Circuit Design and Procurement</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747095"/>
                  </a:ext>
                </a:extLst>
              </a:tr>
              <a:tr h="563750">
                <a:tc>
                  <a:txBody>
                    <a:bodyPr/>
                    <a:lstStyle/>
                    <a:p>
                      <a:pPr algn="ctr"/>
                      <a:r>
                        <a:rPr lang="en-US" sz="900" b="1" dirty="0">
                          <a:latin typeface="Century Gothic" panose="020B0502020202020204" pitchFamily="34" charset="0"/>
                        </a:rPr>
                        <a:t>Initial Testing of Software</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1893967"/>
                  </a:ext>
                </a:extLst>
              </a:tr>
              <a:tr h="563750">
                <a:tc>
                  <a:txBody>
                    <a:bodyPr/>
                    <a:lstStyle/>
                    <a:p>
                      <a:pPr algn="ctr"/>
                      <a:r>
                        <a:rPr lang="en-US" sz="900" b="1" dirty="0">
                          <a:latin typeface="Century Gothic" panose="020B0502020202020204" pitchFamily="34" charset="0"/>
                        </a:rPr>
                        <a:t>Prototype and Debugging</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4373531"/>
                  </a:ext>
                </a:extLst>
              </a:tr>
              <a:tr h="720348">
                <a:tc>
                  <a:txBody>
                    <a:bodyPr/>
                    <a:lstStyle/>
                    <a:p>
                      <a:pPr algn="ctr"/>
                      <a:r>
                        <a:rPr lang="en-US" sz="900" b="1" dirty="0">
                          <a:latin typeface="Century Gothic" panose="020B0502020202020204" pitchFamily="34" charset="0"/>
                        </a:rPr>
                        <a:t>Documentation and Presentation</a:t>
                      </a:r>
                      <a:endParaRPr lang="en-IN" sz="9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IN" sz="1000" b="1" dirty="0">
                        <a:latin typeface="Century Gothic" panose="020B0502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11185526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
          <p:cNvSpPr txBox="1">
            <a:spLocks noGrp="1"/>
          </p:cNvSpPr>
          <p:nvPr>
            <p:ph type="title"/>
          </p:nvPr>
        </p:nvSpPr>
        <p:spPr>
          <a:xfrm>
            <a:off x="2095500" y="870775"/>
            <a:ext cx="7680300" cy="7580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3600" b="1">
                <a:solidFill>
                  <a:srgbClr val="C00000"/>
                </a:solidFill>
                <a:latin typeface="Arial"/>
                <a:ea typeface="Arial"/>
                <a:cs typeface="Arial"/>
                <a:sym typeface="Arial"/>
              </a:rPr>
              <a:t>Conceptual Designs</a:t>
            </a:r>
            <a:endParaRPr sz="3600" b="1">
              <a:solidFill>
                <a:srgbClr val="C00000"/>
              </a:solidFill>
              <a:latin typeface="Arial"/>
              <a:ea typeface="Arial"/>
              <a:cs typeface="Arial"/>
              <a:sym typeface="Arial"/>
            </a:endParaRPr>
          </a:p>
        </p:txBody>
      </p:sp>
      <p:sp>
        <p:nvSpPr>
          <p:cNvPr id="130" name="Google Shape;130;p4"/>
          <p:cNvSpPr txBox="1">
            <a:spLocks noGrp="1"/>
          </p:cNvSpPr>
          <p:nvPr>
            <p:ph type="body" idx="1"/>
          </p:nvPr>
        </p:nvSpPr>
        <p:spPr>
          <a:xfrm>
            <a:off x="423494" y="1772816"/>
            <a:ext cx="11084765" cy="4032447"/>
          </a:xfrm>
          <a:prstGeom prst="rect">
            <a:avLst/>
          </a:prstGeom>
          <a:noFill/>
          <a:ln>
            <a:noFill/>
          </a:ln>
        </p:spPr>
        <p:txBody>
          <a:bodyPr spcFirstLastPara="1" wrap="square" lIns="91425" tIns="45700" rIns="91425" bIns="45700" anchor="t" anchorCtr="0">
            <a:normAutofit/>
          </a:bodyPr>
          <a:lstStyle/>
          <a:p>
            <a:pPr marL="457200" lvl="0" indent="-457200" algn="just" rtl="0">
              <a:lnSpc>
                <a:spcPct val="150000"/>
              </a:lnSpc>
              <a:spcBef>
                <a:spcPts val="0"/>
              </a:spcBef>
              <a:spcAft>
                <a:spcPts val="0"/>
              </a:spcAft>
              <a:buSzPts val="1946"/>
              <a:buFont typeface="Noto Sans Symbols"/>
              <a:buChar char="⮚"/>
            </a:pPr>
            <a:r>
              <a:rPr lang="en-US" sz="2400" b="1">
                <a:solidFill>
                  <a:srgbClr val="C00000"/>
                </a:solidFill>
                <a:latin typeface="Arial"/>
                <a:ea typeface="Arial"/>
                <a:cs typeface="Arial"/>
                <a:sym typeface="Arial"/>
              </a:rPr>
              <a:t>Rough Sketches / Model of possible solutions – 1 or 2 atleast </a:t>
            </a:r>
            <a:endParaRPr sz="2400">
              <a:latin typeface="Times New Roman"/>
              <a:ea typeface="Times New Roman"/>
              <a:cs typeface="Times New Roman"/>
              <a:sym typeface="Times New Roman"/>
            </a:endParaRPr>
          </a:p>
        </p:txBody>
      </p:sp>
      <p:sp>
        <p:nvSpPr>
          <p:cNvPr id="131" name="Google Shape;1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7</a:t>
            </a:fld>
            <a:endParaRPr>
              <a:solidFill>
                <a:schemeClr val="lt1"/>
              </a:solidFill>
            </a:endParaRPr>
          </a:p>
        </p:txBody>
      </p:sp>
      <p:sp>
        <p:nvSpPr>
          <p:cNvPr id="132" name="Google Shape;13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1559496" y="764704"/>
            <a:ext cx="10515600" cy="75961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latin typeface="Arial"/>
                <a:ea typeface="Arial"/>
                <a:cs typeface="Arial"/>
                <a:sym typeface="Arial"/>
              </a:rPr>
              <a:t>Literature Survey</a:t>
            </a:r>
            <a:endParaRPr>
              <a:latin typeface="Arial"/>
              <a:ea typeface="Arial"/>
              <a:cs typeface="Arial"/>
              <a:sym typeface="Arial"/>
            </a:endParaRPr>
          </a:p>
        </p:txBody>
      </p:sp>
      <p:sp>
        <p:nvSpPr>
          <p:cNvPr id="138" name="Google Shape;138;p5"/>
          <p:cNvSpPr txBox="1">
            <a:spLocks noGrp="1"/>
          </p:cNvSpPr>
          <p:nvPr>
            <p:ph type="body" idx="1"/>
          </p:nvPr>
        </p:nvSpPr>
        <p:spPr>
          <a:xfrm>
            <a:off x="839416" y="1700808"/>
            <a:ext cx="10515600" cy="5052219"/>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Table of papers / Articles </a:t>
            </a:r>
            <a:endParaRPr/>
          </a:p>
          <a:p>
            <a:pPr marL="457200" lvl="0" indent="-228600" algn="l" rtl="0">
              <a:lnSpc>
                <a:spcPct val="90000"/>
              </a:lnSpc>
              <a:spcBef>
                <a:spcPts val="1000"/>
              </a:spcBef>
              <a:spcAft>
                <a:spcPts val="0"/>
              </a:spcAft>
              <a:buClr>
                <a:schemeClr val="dk1"/>
              </a:buClr>
              <a:buSzPts val="1800"/>
              <a:buNone/>
            </a:pPr>
            <a:endParaRPr/>
          </a:p>
        </p:txBody>
      </p:sp>
      <p:sp>
        <p:nvSpPr>
          <p:cNvPr id="139" name="Google Shape;1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graphicFrame>
        <p:nvGraphicFramePr>
          <p:cNvPr id="140" name="Google Shape;140;p5"/>
          <p:cNvGraphicFramePr/>
          <p:nvPr/>
        </p:nvGraphicFramePr>
        <p:xfrm>
          <a:off x="1271464" y="2564904"/>
          <a:ext cx="10297200" cy="731530"/>
        </p:xfrm>
        <a:graphic>
          <a:graphicData uri="http://schemas.openxmlformats.org/drawingml/2006/table">
            <a:tbl>
              <a:tblPr firstRow="1" bandRow="1">
                <a:noFill/>
                <a:tableStyleId>{E4DD06BE-E33E-44DE-BB38-01E6AB116E1E}</a:tableStyleId>
              </a:tblPr>
              <a:tblGrid>
                <a:gridCol w="1716200">
                  <a:extLst>
                    <a:ext uri="{9D8B030D-6E8A-4147-A177-3AD203B41FA5}">
                      <a16:colId xmlns:a16="http://schemas.microsoft.com/office/drawing/2014/main" val="20000"/>
                    </a:ext>
                  </a:extLst>
                </a:gridCol>
                <a:gridCol w="1716200">
                  <a:extLst>
                    <a:ext uri="{9D8B030D-6E8A-4147-A177-3AD203B41FA5}">
                      <a16:colId xmlns:a16="http://schemas.microsoft.com/office/drawing/2014/main" val="20001"/>
                    </a:ext>
                  </a:extLst>
                </a:gridCol>
                <a:gridCol w="1716200">
                  <a:extLst>
                    <a:ext uri="{9D8B030D-6E8A-4147-A177-3AD203B41FA5}">
                      <a16:colId xmlns:a16="http://schemas.microsoft.com/office/drawing/2014/main" val="20002"/>
                    </a:ext>
                  </a:extLst>
                </a:gridCol>
                <a:gridCol w="1716200">
                  <a:extLst>
                    <a:ext uri="{9D8B030D-6E8A-4147-A177-3AD203B41FA5}">
                      <a16:colId xmlns:a16="http://schemas.microsoft.com/office/drawing/2014/main" val="20003"/>
                    </a:ext>
                  </a:extLst>
                </a:gridCol>
                <a:gridCol w="1716200">
                  <a:extLst>
                    <a:ext uri="{9D8B030D-6E8A-4147-A177-3AD203B41FA5}">
                      <a16:colId xmlns:a16="http://schemas.microsoft.com/office/drawing/2014/main" val="20004"/>
                    </a:ext>
                  </a:extLst>
                </a:gridCol>
                <a:gridCol w="17162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None/>
                      </a:pPr>
                      <a:r>
                        <a:rPr lang="en-US" sz="1400" u="none" strike="noStrike" cap="none"/>
                        <a:t>Title with year of Publication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Authors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Methodology/ Algoritham</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Key Results / Findings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Remarks ( Based on your understating)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Link for article</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sp>
        <p:nvSpPr>
          <p:cNvPr id="2" name="Footer Placeholder 1"/>
          <p:cNvSpPr>
            <a:spLocks noGrp="1"/>
          </p:cNvSpPr>
          <p:nvPr>
            <p:ph type="ftr" idx="11"/>
          </p:nvPr>
        </p:nvSpPr>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2095500" y="870775"/>
            <a:ext cx="7680300" cy="7580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3600" b="1">
                <a:solidFill>
                  <a:srgbClr val="C00000"/>
                </a:solidFill>
                <a:latin typeface="Arial"/>
                <a:ea typeface="Arial"/>
                <a:cs typeface="Arial"/>
                <a:sym typeface="Arial"/>
              </a:rPr>
              <a:t>Block Diagram of Project </a:t>
            </a:r>
            <a:endParaRPr sz="3600" b="1">
              <a:solidFill>
                <a:srgbClr val="C00000"/>
              </a:solidFill>
              <a:latin typeface="Arial"/>
              <a:ea typeface="Arial"/>
              <a:cs typeface="Arial"/>
              <a:sym typeface="Arial"/>
            </a:endParaRPr>
          </a:p>
        </p:txBody>
      </p:sp>
      <p:sp>
        <p:nvSpPr>
          <p:cNvPr id="146" name="Google Shape;146;p18"/>
          <p:cNvSpPr txBox="1">
            <a:spLocks noGrp="1"/>
          </p:cNvSpPr>
          <p:nvPr>
            <p:ph type="body" idx="1"/>
          </p:nvPr>
        </p:nvSpPr>
        <p:spPr>
          <a:xfrm>
            <a:off x="423494" y="1772816"/>
            <a:ext cx="11084765" cy="4032447"/>
          </a:xfrm>
          <a:prstGeom prst="rect">
            <a:avLst/>
          </a:prstGeom>
          <a:noFill/>
          <a:ln>
            <a:noFill/>
          </a:ln>
        </p:spPr>
        <p:txBody>
          <a:bodyPr spcFirstLastPara="1" wrap="square" lIns="91425" tIns="45700" rIns="91425" bIns="45700" anchor="t" anchorCtr="0">
            <a:normAutofit/>
          </a:bodyPr>
          <a:lstStyle/>
          <a:p>
            <a:pPr marL="457200" lvl="0" indent="-457200" algn="just" rtl="0">
              <a:lnSpc>
                <a:spcPct val="150000"/>
              </a:lnSpc>
              <a:spcBef>
                <a:spcPts val="0"/>
              </a:spcBef>
              <a:spcAft>
                <a:spcPts val="0"/>
              </a:spcAft>
              <a:buSzPts val="1946"/>
              <a:buFont typeface="Noto Sans Symbols"/>
              <a:buChar char="⮚"/>
            </a:pPr>
            <a:r>
              <a:rPr lang="en-US" sz="2400">
                <a:latin typeface="Times New Roman"/>
                <a:ea typeface="Times New Roman"/>
                <a:cs typeface="Times New Roman"/>
                <a:sym typeface="Times New Roman"/>
              </a:rPr>
              <a:t>Diagram</a:t>
            </a:r>
            <a:endParaRPr/>
          </a:p>
          <a:p>
            <a:pPr marL="457200" lvl="0" indent="-457200" algn="just" rtl="0">
              <a:lnSpc>
                <a:spcPct val="150000"/>
              </a:lnSpc>
              <a:spcBef>
                <a:spcPts val="0"/>
              </a:spcBef>
              <a:spcAft>
                <a:spcPts val="0"/>
              </a:spcAft>
              <a:buSzPts val="1946"/>
              <a:buFont typeface="Noto Sans Symbols"/>
              <a:buChar char="⮚"/>
            </a:pPr>
            <a:r>
              <a:rPr lang="en-US" sz="2400">
                <a:latin typeface="Times New Roman"/>
                <a:ea typeface="Times New Roman"/>
                <a:cs typeface="Times New Roman"/>
                <a:sym typeface="Times New Roman"/>
              </a:rPr>
              <a:t>Add Function / Need of each block </a:t>
            </a:r>
            <a:endParaRPr sz="2400">
              <a:latin typeface="Times New Roman"/>
              <a:ea typeface="Times New Roman"/>
              <a:cs typeface="Times New Roman"/>
              <a:sym typeface="Times New Roman"/>
            </a:endParaRPr>
          </a:p>
        </p:txBody>
      </p:sp>
      <p:sp>
        <p:nvSpPr>
          <p:cNvPr id="147" name="Google Shape;14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lt1"/>
                </a:solidFill>
              </a:rPr>
              <a:t>9</a:t>
            </a:fld>
            <a:endParaRPr>
              <a:solidFill>
                <a:schemeClr val="lt1"/>
              </a:solidFill>
            </a:endParaRPr>
          </a:p>
        </p:txBody>
      </p:sp>
      <p:sp>
        <p:nvSpPr>
          <p:cNvPr id="148" name="Google Shape;14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9"/>
          <p:cNvSpPr txBox="1">
            <a:spLocks noGrp="1"/>
          </p:cNvSpPr>
          <p:nvPr>
            <p:ph type="title"/>
          </p:nvPr>
        </p:nvSpPr>
        <p:spPr>
          <a:xfrm>
            <a:off x="3902075" y="847725"/>
            <a:ext cx="4387850" cy="6826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Project Cost  Sheet </a:t>
            </a:r>
            <a:endParaRPr sz="3600" b="1" dirty="0">
              <a:solidFill>
                <a:srgbClr val="C00000"/>
              </a:solidFill>
              <a:latin typeface="Arial"/>
              <a:ea typeface="Arial"/>
              <a:cs typeface="Arial"/>
              <a:sym typeface="Arial"/>
            </a:endParaRPr>
          </a:p>
        </p:txBody>
      </p:sp>
      <p:sp>
        <p:nvSpPr>
          <p:cNvPr id="163" name="Google Shape;163;p1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
        <p:nvSpPr>
          <p:cNvPr id="164" name="Google Shape;16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graphicFrame>
        <p:nvGraphicFramePr>
          <p:cNvPr id="165" name="Google Shape;165;p19"/>
          <p:cNvGraphicFramePr/>
          <p:nvPr>
            <p:extLst>
              <p:ext uri="{D42A27DB-BD31-4B8C-83A1-F6EECF244321}">
                <p14:modId xmlns:p14="http://schemas.microsoft.com/office/powerpoint/2010/main" val="1509087249"/>
              </p:ext>
            </p:extLst>
          </p:nvPr>
        </p:nvGraphicFramePr>
        <p:xfrm>
          <a:off x="1411324" y="1809130"/>
          <a:ext cx="9369351" cy="3337650"/>
        </p:xfrm>
        <a:graphic>
          <a:graphicData uri="http://schemas.openxmlformats.org/drawingml/2006/table">
            <a:tbl>
              <a:tblPr firstRow="1" bandRow="1">
                <a:noFill/>
                <a:tableStyleId>{18D4982F-BB56-4BF9-BC91-46109F0DE6CF}</a:tableStyleId>
              </a:tblPr>
              <a:tblGrid>
                <a:gridCol w="3123117">
                  <a:extLst>
                    <a:ext uri="{9D8B030D-6E8A-4147-A177-3AD203B41FA5}">
                      <a16:colId xmlns:a16="http://schemas.microsoft.com/office/drawing/2014/main" val="20000"/>
                    </a:ext>
                  </a:extLst>
                </a:gridCol>
                <a:gridCol w="3123117">
                  <a:extLst>
                    <a:ext uri="{9D8B030D-6E8A-4147-A177-3AD203B41FA5}">
                      <a16:colId xmlns:a16="http://schemas.microsoft.com/office/drawing/2014/main" val="20001"/>
                    </a:ext>
                  </a:extLst>
                </a:gridCol>
                <a:gridCol w="3123117">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None/>
                      </a:pPr>
                      <a:r>
                        <a:rPr lang="en-US" sz="1400" u="none" strike="noStrike" cap="none" dirty="0">
                          <a:solidFill>
                            <a:schemeClr val="tx1"/>
                          </a:solidFill>
                          <a:latin typeface="Century Gothic" panose="020B0502020202020204" pitchFamily="34" charset="0"/>
                        </a:rPr>
                        <a:t>Name of  Component </a:t>
                      </a: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a:solidFill>
                            <a:schemeClr val="tx1"/>
                          </a:solidFill>
                          <a:latin typeface="Century Gothic" panose="020B0502020202020204" pitchFamily="34" charset="0"/>
                        </a:rPr>
                        <a:t>Specifications </a:t>
                      </a:r>
                      <a:endParaRPr lang="en-US" sz="1400" u="none" strike="noStrike" cap="none" dirty="0">
                        <a:solidFill>
                          <a:schemeClr val="tx1"/>
                        </a:solidFill>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a:solidFill>
                            <a:schemeClr val="tx1"/>
                          </a:solidFill>
                          <a:latin typeface="Century Gothic" panose="020B0502020202020204" pitchFamily="34" charset="0"/>
                        </a:rPr>
                        <a:t>Approximate cost </a:t>
                      </a:r>
                      <a:endParaRPr lang="en-US" sz="1400" u="none" strike="noStrike" cap="none" dirty="0">
                        <a:solidFill>
                          <a:schemeClr val="tx1"/>
                        </a:solidFill>
                        <a:latin typeface="Century Gothic" panose="020B0502020202020204" pitchFamily="34" charset="0"/>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ESP3266</a:t>
                      </a: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450</a:t>
                      </a:r>
                      <a:endParaRPr lang="en-IN" sz="1400"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RFID Reader</a:t>
                      </a: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rowSpan="2">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130</a:t>
                      </a:r>
                      <a:endParaRPr lang="en-IN" sz="1400" u="none" strike="noStrike" cap="none" dirty="0">
                        <a:latin typeface="Century Gothic" panose="020B0502020202020204" pitchFamily="34" charset="0"/>
                      </a:endParaRPr>
                    </a:p>
                  </a:txBody>
                  <a:tcPr marL="91450" marR="91450" marT="45725" marB="45725" anchor="ctr"/>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None/>
                      </a:pPr>
                      <a:r>
                        <a:rPr lang="en-US" sz="1400" u="none" strike="noStrike" cap="none">
                          <a:latin typeface="Century Gothic" panose="020B0502020202020204" pitchFamily="34" charset="0"/>
                        </a:rPr>
                        <a:t>RFID Tags</a:t>
                      </a:r>
                      <a:endParaRPr lang="en-US"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vMerge="1">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None/>
                      </a:pPr>
                      <a:r>
                        <a:rPr lang="en-US" sz="1400" u="none" strike="noStrike" cap="none">
                          <a:latin typeface="Century Gothic" panose="020B0502020202020204" pitchFamily="34" charset="0"/>
                        </a:rPr>
                        <a:t>16 x 2 C LCD Display</a:t>
                      </a:r>
                      <a:endParaRPr lang="en-US"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250</a:t>
                      </a:r>
                      <a:endParaRPr lang="en-IN" sz="1400"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2198014210"/>
                  </a:ext>
                </a:extLst>
              </a:tr>
              <a:tr h="370850">
                <a:tc>
                  <a:txBody>
                    <a:bodyPr/>
                    <a:lstStyle/>
                    <a:p>
                      <a:pPr marL="0" marR="0" lvl="0" indent="0" algn="ctr" rtl="0">
                        <a:lnSpc>
                          <a:spcPct val="100000"/>
                        </a:lnSpc>
                        <a:spcBef>
                          <a:spcPts val="0"/>
                        </a:spcBef>
                        <a:spcAft>
                          <a:spcPts val="0"/>
                        </a:spcAft>
                        <a:buNone/>
                      </a:pPr>
                      <a:r>
                        <a:rPr lang="en-US" sz="1400" u="none" strike="noStrike" cap="none">
                          <a:latin typeface="Century Gothic" panose="020B0502020202020204" pitchFamily="34" charset="0"/>
                        </a:rPr>
                        <a:t>Buzzer</a:t>
                      </a:r>
                      <a:endParaRPr lang="en-US"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20</a:t>
                      </a:r>
                      <a:endParaRPr lang="en-IN" sz="1400"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3756410762"/>
                  </a:ext>
                </a:extLst>
              </a:tr>
              <a:tr h="370850">
                <a:tc>
                  <a:txBody>
                    <a:bodyPr/>
                    <a:lstStyle/>
                    <a:p>
                      <a:pPr marL="0" marR="0" lvl="0" indent="0" algn="ctr" rtl="0">
                        <a:lnSpc>
                          <a:spcPct val="100000"/>
                        </a:lnSpc>
                        <a:spcBef>
                          <a:spcPts val="0"/>
                        </a:spcBef>
                        <a:spcAft>
                          <a:spcPts val="0"/>
                        </a:spcAft>
                        <a:buNone/>
                      </a:pPr>
                      <a:r>
                        <a:rPr lang="en-US" sz="1400" u="none" strike="noStrike" cap="none">
                          <a:latin typeface="Century Gothic" panose="020B0502020202020204" pitchFamily="34" charset="0"/>
                        </a:rPr>
                        <a:t>Breadboard</a:t>
                      </a:r>
                      <a:endParaRPr lang="en-US"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80</a:t>
                      </a:r>
                      <a:endParaRPr lang="en-IN" sz="1400"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2836790299"/>
                  </a:ext>
                </a:extLst>
              </a:tr>
              <a:tr h="370850">
                <a:tc>
                  <a:txBody>
                    <a:bodyPr/>
                    <a:lstStyle/>
                    <a:p>
                      <a:pPr marL="0" marR="0" lvl="0" indent="0" algn="ctr" rtl="0">
                        <a:lnSpc>
                          <a:spcPct val="100000"/>
                        </a:lnSpc>
                        <a:spcBef>
                          <a:spcPts val="0"/>
                        </a:spcBef>
                        <a:spcAft>
                          <a:spcPts val="0"/>
                        </a:spcAft>
                        <a:buNone/>
                      </a:pPr>
                      <a:r>
                        <a:rPr lang="en-US" sz="1400" u="none" strike="noStrike" cap="none">
                          <a:latin typeface="Century Gothic" panose="020B0502020202020204" pitchFamily="34" charset="0"/>
                        </a:rPr>
                        <a:t>Jumper Wires</a:t>
                      </a:r>
                      <a:endParaRPr lang="en-US"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dirty="0">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u="none" strike="noStrike" cap="none" dirty="0">
                          <a:latin typeface="Century Gothic" panose="020B0502020202020204" pitchFamily="34" charset="0"/>
                        </a:rPr>
                        <a:t>80</a:t>
                      </a:r>
                      <a:endParaRPr lang="en-IN" sz="1400"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2199309520"/>
                  </a:ext>
                </a:extLst>
              </a:tr>
              <a:tr h="370850">
                <a:tc>
                  <a:txBody>
                    <a:bodyPr/>
                    <a:lstStyle/>
                    <a:p>
                      <a:pPr marL="0" marR="0" lvl="0" indent="0" algn="ctr" rtl="0">
                        <a:lnSpc>
                          <a:spcPct val="100000"/>
                        </a:lnSpc>
                        <a:spcBef>
                          <a:spcPts val="0"/>
                        </a:spcBef>
                        <a:spcAft>
                          <a:spcPts val="0"/>
                        </a:spcAft>
                        <a:buNone/>
                      </a:pPr>
                      <a:r>
                        <a:rPr lang="en-US" sz="1400" b="1" u="none" strike="noStrike" cap="none" dirty="0">
                          <a:latin typeface="Century Gothic" panose="020B0502020202020204" pitchFamily="34" charset="0"/>
                        </a:rPr>
                        <a:t>Total</a:t>
                      </a:r>
                    </a:p>
                  </a:txBody>
                  <a:tcPr marL="91450" marR="91450" marT="45725" marB="45725"/>
                </a:tc>
                <a:tc>
                  <a:txBody>
                    <a:bodyPr/>
                    <a:lstStyle/>
                    <a:p>
                      <a:pPr marL="0" marR="0" lvl="0" indent="0" algn="ctr" rtl="0">
                        <a:lnSpc>
                          <a:spcPct val="100000"/>
                        </a:lnSpc>
                        <a:spcBef>
                          <a:spcPts val="0"/>
                        </a:spcBef>
                        <a:spcAft>
                          <a:spcPts val="0"/>
                        </a:spcAft>
                        <a:buNone/>
                      </a:pPr>
                      <a:endParaRPr lang="en-IN" sz="1400" u="none" strike="noStrike" cap="none">
                        <a:latin typeface="Century Gothic" panose="020B0502020202020204" pitchFamily="34" charset="0"/>
                      </a:endParaRPr>
                    </a:p>
                  </a:txBody>
                  <a:tcPr marL="91450" marR="91450" marT="45725" marB="45725"/>
                </a:tc>
                <a:tc>
                  <a:txBody>
                    <a:bodyPr/>
                    <a:lstStyle/>
                    <a:p>
                      <a:pPr marL="0" marR="0" lvl="0" indent="0" algn="ctr" rtl="0">
                        <a:lnSpc>
                          <a:spcPct val="100000"/>
                        </a:lnSpc>
                        <a:spcBef>
                          <a:spcPts val="0"/>
                        </a:spcBef>
                        <a:spcAft>
                          <a:spcPts val="0"/>
                        </a:spcAft>
                        <a:buNone/>
                      </a:pPr>
                      <a:r>
                        <a:rPr lang="en-US" sz="1400" b="1" u="none" strike="noStrike" cap="none" dirty="0">
                          <a:latin typeface="Century Gothic" panose="020B0502020202020204" pitchFamily="34" charset="0"/>
                        </a:rPr>
                        <a:t>1010</a:t>
                      </a:r>
                      <a:endParaRPr lang="en-IN" sz="1400" b="1" u="none" strike="noStrike" cap="none" dirty="0">
                        <a:latin typeface="Century Gothic" panose="020B0502020202020204" pitchFamily="34" charset="0"/>
                      </a:endParaRPr>
                    </a:p>
                  </a:txBody>
                  <a:tcPr marL="91450" marR="91450" marT="45725" marB="45725"/>
                </a:tc>
                <a:extLst>
                  <a:ext uri="{0D108BD9-81ED-4DB2-BD59-A6C34878D82A}">
                    <a16:rowId xmlns:a16="http://schemas.microsoft.com/office/drawing/2014/main" val="167728437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0"/>
          <p:cNvSpPr txBox="1">
            <a:spLocks noGrp="1"/>
          </p:cNvSpPr>
          <p:nvPr>
            <p:ph type="title"/>
          </p:nvPr>
        </p:nvSpPr>
        <p:spPr>
          <a:xfrm>
            <a:off x="1717675" y="868225"/>
            <a:ext cx="8756650" cy="7778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Proposed Circuit / Connection Diagram </a:t>
            </a:r>
            <a:endParaRPr sz="3600" b="1" dirty="0">
              <a:solidFill>
                <a:srgbClr val="C00000"/>
              </a:solidFill>
              <a:latin typeface="Arial"/>
              <a:ea typeface="Arial"/>
              <a:cs typeface="Arial"/>
              <a:sym typeface="Arial"/>
            </a:endParaRPr>
          </a:p>
        </p:txBody>
      </p:sp>
      <p:sp>
        <p:nvSpPr>
          <p:cNvPr id="172" name="Google Shape;172;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
        <p:nvSpPr>
          <p:cNvPr id="173" name="Google Shape;17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pic>
        <p:nvPicPr>
          <p:cNvPr id="3" name="Picture 2">
            <a:extLst>
              <a:ext uri="{FF2B5EF4-FFF2-40B4-BE49-F238E27FC236}">
                <a16:creationId xmlns:a16="http://schemas.microsoft.com/office/drawing/2014/main" id="{C7E0E3D0-6344-E153-7BBD-C6A890201F7F}"/>
              </a:ext>
            </a:extLst>
          </p:cNvPr>
          <p:cNvPicPr>
            <a:picLocks noChangeAspect="1"/>
          </p:cNvPicPr>
          <p:nvPr/>
        </p:nvPicPr>
        <p:blipFill>
          <a:blip r:embed="rId3"/>
          <a:stretch>
            <a:fillRect/>
          </a:stretch>
        </p:blipFill>
        <p:spPr>
          <a:xfrm>
            <a:off x="3501359" y="1646100"/>
            <a:ext cx="5189281" cy="403655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600" b="1">
                <a:solidFill>
                  <a:srgbClr val="C00000"/>
                </a:solidFill>
                <a:latin typeface="Arial"/>
                <a:ea typeface="Arial"/>
                <a:cs typeface="Arial"/>
                <a:sym typeface="Arial"/>
              </a:rPr>
              <a:t>Project Status </a:t>
            </a:r>
            <a:endParaRPr sz="3600" b="1">
              <a:solidFill>
                <a:srgbClr val="C00000"/>
              </a:solidFill>
              <a:latin typeface="Arial"/>
              <a:ea typeface="Arial"/>
              <a:cs typeface="Arial"/>
              <a:sym typeface="Arial"/>
            </a:endParaRPr>
          </a:p>
        </p:txBody>
      </p:sp>
      <p:sp>
        <p:nvSpPr>
          <p:cNvPr id="179" name="Google Shape;179;p2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r>
              <a:rPr lang="en-US"/>
              <a:t>Work Completed till Date </a:t>
            </a:r>
            <a:endParaRPr/>
          </a:p>
          <a:p>
            <a:pPr marL="0" lvl="0" indent="0" algn="l" rtl="0">
              <a:lnSpc>
                <a:spcPct val="90000"/>
              </a:lnSpc>
              <a:spcBef>
                <a:spcPts val="1000"/>
              </a:spcBef>
              <a:spcAft>
                <a:spcPts val="0"/>
              </a:spcAft>
              <a:buSzPts val="1800"/>
              <a:buNone/>
            </a:pPr>
            <a:endParaRPr/>
          </a:p>
          <a:p>
            <a:pPr marL="0" lvl="0" indent="0" algn="l" rtl="0">
              <a:lnSpc>
                <a:spcPct val="90000"/>
              </a:lnSpc>
              <a:spcBef>
                <a:spcPts val="1000"/>
              </a:spcBef>
              <a:spcAft>
                <a:spcPts val="0"/>
              </a:spcAft>
              <a:buSzPts val="1800"/>
              <a:buNone/>
            </a:pPr>
            <a:endParaRPr/>
          </a:p>
          <a:p>
            <a:pPr marL="0" lvl="0" indent="0" algn="l" rtl="0">
              <a:lnSpc>
                <a:spcPct val="90000"/>
              </a:lnSpc>
              <a:spcBef>
                <a:spcPts val="1000"/>
              </a:spcBef>
              <a:spcAft>
                <a:spcPts val="0"/>
              </a:spcAft>
              <a:buSzPts val="1800"/>
              <a:buNone/>
            </a:pPr>
            <a:endParaRPr/>
          </a:p>
          <a:p>
            <a:pPr marL="0" lvl="0" indent="0" algn="l" rtl="0">
              <a:lnSpc>
                <a:spcPct val="90000"/>
              </a:lnSpc>
              <a:spcBef>
                <a:spcPts val="1000"/>
              </a:spcBef>
              <a:spcAft>
                <a:spcPts val="0"/>
              </a:spcAft>
              <a:buSzPts val="1800"/>
              <a:buNone/>
            </a:pPr>
            <a:r>
              <a:rPr lang="en-US"/>
              <a:t>Work To be completed</a:t>
            </a:r>
            <a:endParaRPr/>
          </a:p>
        </p:txBody>
      </p:sp>
      <p:sp>
        <p:nvSpPr>
          <p:cNvPr id="180" name="Google Shape;180;p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
        <p:nvSpPr>
          <p:cNvPr id="181" name="Google Shape;18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2"/>
          <p:cNvSpPr txBox="1">
            <a:spLocks noGrp="1"/>
          </p:cNvSpPr>
          <p:nvPr>
            <p:ph type="title"/>
          </p:nvPr>
        </p:nvSpPr>
        <p:spPr>
          <a:xfrm>
            <a:off x="838200" y="365125"/>
            <a:ext cx="10515600" cy="90363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Results </a:t>
            </a:r>
            <a:endParaRPr sz="3600" b="1" dirty="0">
              <a:solidFill>
                <a:srgbClr val="C00000"/>
              </a:solidFill>
              <a:latin typeface="Arial"/>
              <a:ea typeface="Arial"/>
              <a:cs typeface="Arial"/>
              <a:sym typeface="Arial"/>
            </a:endParaRPr>
          </a:p>
        </p:txBody>
      </p:sp>
      <p:sp>
        <p:nvSpPr>
          <p:cNvPr id="187" name="Google Shape;187;p22"/>
          <p:cNvSpPr txBox="1">
            <a:spLocks noGrp="1"/>
          </p:cNvSpPr>
          <p:nvPr>
            <p:ph type="body" idx="1"/>
          </p:nvPr>
        </p:nvSpPr>
        <p:spPr>
          <a:xfrm>
            <a:off x="838200" y="1340768"/>
            <a:ext cx="10515600" cy="48360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r>
              <a:rPr lang="en-US" dirty="0">
                <a:latin typeface="Fira Sans"/>
                <a:ea typeface="Fira Sans"/>
                <a:cs typeface="Fira Sans"/>
                <a:sym typeface="Fira Sans"/>
              </a:rPr>
              <a:t>Add photographs / Video link of your model</a:t>
            </a:r>
            <a:endParaRPr dirty="0">
              <a:latin typeface="Fira Sans"/>
              <a:ea typeface="Fira Sans"/>
              <a:cs typeface="Fira Sans"/>
              <a:sym typeface="Fira Sans"/>
            </a:endParaRPr>
          </a:p>
        </p:txBody>
      </p:sp>
      <p:sp>
        <p:nvSpPr>
          <p:cNvPr id="188" name="Google Shape;188;p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
        <p:nvSpPr>
          <p:cNvPr id="189" name="Google Shape;18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a:spLocks noGrp="1"/>
          </p:cNvSpPr>
          <p:nvPr>
            <p:ph type="title"/>
          </p:nvPr>
        </p:nvSpPr>
        <p:spPr>
          <a:xfrm>
            <a:off x="838200" y="365125"/>
            <a:ext cx="10515600" cy="90363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600" b="1" dirty="0">
                <a:solidFill>
                  <a:srgbClr val="C00000"/>
                </a:solidFill>
                <a:latin typeface="Arial"/>
                <a:ea typeface="Arial"/>
                <a:cs typeface="Arial"/>
                <a:sym typeface="Arial"/>
              </a:rPr>
              <a:t>Results </a:t>
            </a:r>
            <a:endParaRPr sz="3600" b="1" dirty="0">
              <a:solidFill>
                <a:srgbClr val="C00000"/>
              </a:solidFill>
              <a:latin typeface="Arial"/>
              <a:ea typeface="Arial"/>
              <a:cs typeface="Arial"/>
              <a:sym typeface="Arial"/>
            </a:endParaRPr>
          </a:p>
        </p:txBody>
      </p:sp>
      <p:sp>
        <p:nvSpPr>
          <p:cNvPr id="195" name="Google Shape;195;p23"/>
          <p:cNvSpPr txBox="1">
            <a:spLocks noGrp="1"/>
          </p:cNvSpPr>
          <p:nvPr>
            <p:ph type="body" idx="1"/>
          </p:nvPr>
        </p:nvSpPr>
        <p:spPr>
          <a:xfrm>
            <a:off x="838200" y="1340768"/>
            <a:ext cx="10515600" cy="48360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r>
              <a:rPr lang="en-US">
                <a:latin typeface="Fira Sans"/>
                <a:ea typeface="Fira Sans"/>
                <a:cs typeface="Fira Sans"/>
                <a:sym typeface="Fira Sans"/>
              </a:rPr>
              <a:t>Additional results / Observations/ Limitations  </a:t>
            </a:r>
            <a:endParaRPr>
              <a:latin typeface="Fira Sans"/>
              <a:ea typeface="Fira Sans"/>
              <a:cs typeface="Fira Sans"/>
              <a:sym typeface="Fira Sans"/>
            </a:endParaRPr>
          </a:p>
        </p:txBody>
      </p:sp>
      <p:sp>
        <p:nvSpPr>
          <p:cNvPr id="196" name="Google Shape;196;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
        <p:nvSpPr>
          <p:cNvPr id="197" name="Google Shape;19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838200" y="365125"/>
            <a:ext cx="10515600" cy="83162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b="1" dirty="0">
                <a:solidFill>
                  <a:srgbClr val="C00000"/>
                </a:solidFill>
                <a:latin typeface="Arial"/>
                <a:ea typeface="Arial"/>
                <a:cs typeface="Arial"/>
                <a:sym typeface="Arial"/>
              </a:rPr>
              <a:t>Results</a:t>
            </a:r>
            <a:endParaRPr b="1" dirty="0">
              <a:solidFill>
                <a:srgbClr val="C00000"/>
              </a:solidFill>
              <a:latin typeface="Arial"/>
              <a:ea typeface="Arial"/>
              <a:cs typeface="Arial"/>
              <a:sym typeface="Arial"/>
            </a:endParaRPr>
          </a:p>
        </p:txBody>
      </p:sp>
      <p:sp>
        <p:nvSpPr>
          <p:cNvPr id="203" name="Google Shape;203;p24"/>
          <p:cNvSpPr txBox="1">
            <a:spLocks noGrp="1"/>
          </p:cNvSpPr>
          <p:nvPr>
            <p:ph type="body" idx="1"/>
          </p:nvPr>
        </p:nvSpPr>
        <p:spPr>
          <a:xfrm>
            <a:off x="838200" y="1340768"/>
            <a:ext cx="10515600" cy="48360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dirty="0"/>
          </a:p>
        </p:txBody>
      </p:sp>
      <p:sp>
        <p:nvSpPr>
          <p:cNvPr id="204" name="Google Shape;204;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graphicFrame>
        <p:nvGraphicFramePr>
          <p:cNvPr id="205" name="Google Shape;205;p24"/>
          <p:cNvGraphicFramePr/>
          <p:nvPr/>
        </p:nvGraphicFramePr>
        <p:xfrm>
          <a:off x="1127448" y="2060848"/>
          <a:ext cx="9433050" cy="1686590"/>
        </p:xfrm>
        <a:graphic>
          <a:graphicData uri="http://schemas.openxmlformats.org/drawingml/2006/table">
            <a:tbl>
              <a:tblPr firstRow="1" bandRow="1">
                <a:noFill/>
                <a:tableStyleId>{E4DD06BE-E33E-44DE-BB38-01E6AB116E1E}</a:tableStyleId>
              </a:tblPr>
              <a:tblGrid>
                <a:gridCol w="3144350">
                  <a:extLst>
                    <a:ext uri="{9D8B030D-6E8A-4147-A177-3AD203B41FA5}">
                      <a16:colId xmlns:a16="http://schemas.microsoft.com/office/drawing/2014/main" val="20000"/>
                    </a:ext>
                  </a:extLst>
                </a:gridCol>
                <a:gridCol w="3144350">
                  <a:extLst>
                    <a:ext uri="{9D8B030D-6E8A-4147-A177-3AD203B41FA5}">
                      <a16:colId xmlns:a16="http://schemas.microsoft.com/office/drawing/2014/main" val="20001"/>
                    </a:ext>
                  </a:extLst>
                </a:gridCol>
                <a:gridCol w="314435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None/>
                      </a:pPr>
                      <a:r>
                        <a:rPr lang="en-US" sz="1400" u="none" strike="noStrike" cap="none"/>
                        <a:t>Objective  / Function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Achieved  / Not Achived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Remarks ( If Achived  range or accuracy . </a:t>
                      </a:r>
                      <a:endParaRPr/>
                    </a:p>
                    <a:p>
                      <a:pPr marL="0" marR="0" lvl="0" indent="0" algn="l" rtl="0">
                        <a:lnSpc>
                          <a:spcPct val="100000"/>
                        </a:lnSpc>
                        <a:spcBef>
                          <a:spcPts val="0"/>
                        </a:spcBef>
                        <a:spcAft>
                          <a:spcPts val="0"/>
                        </a:spcAft>
                        <a:buNone/>
                      </a:pPr>
                      <a:r>
                        <a:rPr lang="en-US" sz="1400" u="none" strike="noStrike" cap="none"/>
                        <a:t>If not achived  , justify probable reason</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2" name="Footer Placeholder 1"/>
          <p:cNvSpPr>
            <a:spLocks noGrp="1"/>
          </p:cNvSpPr>
          <p:nvPr>
            <p:ph type="ftr" idx="11"/>
          </p:nvPr>
        </p:nvSpPr>
        <p:spPr/>
        <p:txBody>
          <a:bodyPr/>
          <a:lstStyle/>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1eec32c6c4d_0_6"/>
          <p:cNvSpPr txBox="1">
            <a:spLocks noGrp="1"/>
          </p:cNvSpPr>
          <p:nvPr>
            <p:ph type="title"/>
          </p:nvPr>
        </p:nvSpPr>
        <p:spPr>
          <a:xfrm>
            <a:off x="4724400" y="860425"/>
            <a:ext cx="2743200" cy="68897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50000"/>
              <a:buNone/>
            </a:pPr>
            <a:r>
              <a:rPr lang="en-US" sz="4000" b="1" dirty="0">
                <a:solidFill>
                  <a:srgbClr val="C00000"/>
                </a:solidFill>
                <a:latin typeface="Arial"/>
                <a:ea typeface="Arial"/>
                <a:cs typeface="Arial"/>
                <a:sym typeface="Arial"/>
              </a:rPr>
              <a:t>References</a:t>
            </a:r>
            <a:r>
              <a:rPr lang="en-US" sz="6000" b="1" dirty="0"/>
              <a:t> </a:t>
            </a:r>
            <a:endParaRPr sz="6000" b="1" dirty="0"/>
          </a:p>
        </p:txBody>
      </p:sp>
      <p:sp>
        <p:nvSpPr>
          <p:cNvPr id="211" name="Google Shape;211;g1eec32c6c4d_0_6"/>
          <p:cNvSpPr txBox="1">
            <a:spLocks noGrp="1"/>
          </p:cNvSpPr>
          <p:nvPr>
            <p:ph type="body" idx="1"/>
          </p:nvPr>
        </p:nvSpPr>
        <p:spPr>
          <a:xfrm>
            <a:off x="1385094" y="1612901"/>
            <a:ext cx="9421812" cy="4184650"/>
          </a:xfrm>
          <a:prstGeom prst="rect">
            <a:avLst/>
          </a:prstGeom>
          <a:noFill/>
          <a:ln>
            <a:noFill/>
          </a:ln>
        </p:spPr>
        <p:txBody>
          <a:bodyPr spcFirstLastPara="1" wrap="square" lIns="91425" tIns="45700" rIns="91425" bIns="45700" anchor="t" anchorCtr="0">
            <a:normAutofit/>
          </a:bodyPr>
          <a:lstStyle/>
          <a:p>
            <a:r>
              <a:rPr lang="en-IN" sz="1800" b="0" i="0" u="none" strike="noStrike" baseline="0" dirty="0">
                <a:solidFill>
                  <a:srgbClr val="0563C2"/>
                </a:solidFill>
                <a:latin typeface="Century Gothic" panose="020B0502020202020204" pitchFamily="34" charset="0"/>
              </a:rPr>
              <a:t>http://circuitdigest.com/tags/rfid</a:t>
            </a:r>
          </a:p>
          <a:p>
            <a:r>
              <a:rPr lang="en-IN" sz="1800" b="0" i="0" u="none" strike="noStrike" baseline="0" dirty="0">
                <a:solidFill>
                  <a:srgbClr val="0563C2"/>
                </a:solidFill>
                <a:latin typeface="Century Gothic" panose="020B0502020202020204" pitchFamily="34" charset="0"/>
              </a:rPr>
              <a:t>http://circuitdigest.com/microcontroller-projects/rfid-based-attendance-system</a:t>
            </a:r>
            <a:endParaRPr sz="1800" dirty="0">
              <a:latin typeface="Century Gothic" panose="020B0502020202020204" pitchFamily="34" charset="0"/>
              <a:ea typeface="Fira Sans"/>
              <a:cs typeface="Fira Sans"/>
              <a:sym typeface="Fira Sans"/>
            </a:endParaRPr>
          </a:p>
        </p:txBody>
      </p:sp>
      <p:sp>
        <p:nvSpPr>
          <p:cNvPr id="212" name="Google Shape;212;g1eec32c6c4d_0_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
        <p:nvSpPr>
          <p:cNvPr id="213" name="Google Shape;213;g1eec32c6c4d_0_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487</Words>
  <Application>Microsoft Office PowerPoint</Application>
  <PresentationFormat>Widescreen</PresentationFormat>
  <Paragraphs>132</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Noto Sans Symbols</vt:lpstr>
      <vt:lpstr>Century Gothic</vt:lpstr>
      <vt:lpstr>Arial</vt:lpstr>
      <vt:lpstr>Times New Roman</vt:lpstr>
      <vt:lpstr>Fira Sans</vt:lpstr>
      <vt:lpstr>Office Theme</vt:lpstr>
      <vt:lpstr>PBL – Project </vt:lpstr>
      <vt:lpstr>Theme chosen for Project </vt:lpstr>
      <vt:lpstr>Need Statement</vt:lpstr>
      <vt:lpstr>Problem Statement</vt:lpstr>
      <vt:lpstr>Hardware / Software Requirements</vt:lpstr>
      <vt:lpstr>Timeline Chart </vt:lpstr>
      <vt:lpstr>Conceptual Designs</vt:lpstr>
      <vt:lpstr>Literature Survey</vt:lpstr>
      <vt:lpstr>Block Diagram of Project </vt:lpstr>
      <vt:lpstr>Project Cost  Sheet </vt:lpstr>
      <vt:lpstr>Proposed Circuit / Connection Diagram </vt:lpstr>
      <vt:lpstr>Project Status </vt:lpstr>
      <vt:lpstr>Results </vt:lpstr>
      <vt:lpstr>Results </vt:lpstr>
      <vt:lpstr>Results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PBL – Project </dc:title>
  <dc:creator>Windows User</dc:creator>
  <cp:lastModifiedBy>Neal Wadekar</cp:lastModifiedBy>
  <cp:revision>11</cp:revision>
  <dcterms:created xsi:type="dcterms:W3CDTF">2020-08-02T13:20:06Z</dcterms:created>
  <dcterms:modified xsi:type="dcterms:W3CDTF">2025-03-22T11:02:06Z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0x0101006791A877936F4F4895848517DF90D692</vt:lpwstr>
  </property>
</Properties>
</file>