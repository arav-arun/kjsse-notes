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EB Garamon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EBGaramond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-italic.fntdata"/><Relationship Id="rId6" Type="http://schemas.openxmlformats.org/officeDocument/2006/relationships/slide" Target="slides/slide1.xml"/><Relationship Id="rId18" Type="http://schemas.openxmlformats.org/officeDocument/2006/relationships/font" Target="fonts/EBGaramo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d45ea766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d45ea766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d45ea766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d45ea766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f0dfd761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f0dfd761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f0dfd761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f0dfd761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f0dfd761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f0dfd761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d45ea766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d45ea766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sciencedirect.com/topics/agricultural-and-biological-sciences/high-fructose-corn-syrup" TargetMode="External"/><Relationship Id="rId4" Type="http://schemas.openxmlformats.org/officeDocument/2006/relationships/hyperlink" Target="https://www.britannica.com/science/amyla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1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rgbClr val="000000"/>
                </a:solidFill>
                <a:highlight>
                  <a:schemeClr val="lt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Amylase</a:t>
            </a:r>
            <a:endParaRPr sz="9600">
              <a:solidFill>
                <a:srgbClr val="000000"/>
              </a:solidFill>
              <a:highlight>
                <a:schemeClr val="lt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95225"/>
            <a:ext cx="8520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-GB" sz="1587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Amylase</a:t>
            </a:r>
            <a:r>
              <a:rPr lang="en-GB" sz="1587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is a enzyme class used in industrial biotechnology. Its role is hydrolysing starch – long chains of glucose – into simpler sugars such as maltose and glucose. This action of Amylase important, particularly as raw corn starch is insoluble and unusable by humans.</a:t>
            </a:r>
            <a:endParaRPr sz="1587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950"/>
          </a:p>
        </p:txBody>
      </p:sp>
      <p:sp>
        <p:nvSpPr>
          <p:cNvPr id="56" name="Google Shape;56;p13"/>
          <p:cNvSpPr/>
          <p:nvPr/>
        </p:nvSpPr>
        <p:spPr>
          <a:xfrm>
            <a:off x="4598950" y="3123050"/>
            <a:ext cx="3504000" cy="176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Industrial Significance</a:t>
            </a:r>
            <a:endParaRPr b="1" sz="1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This process is a vital first step in numerous food and beverage productions, particularly for sweeteners.</a:t>
            </a:r>
            <a:endParaRPr sz="1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877850" y="3123050"/>
            <a:ext cx="3504000" cy="176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Starch Hydrolysis</a:t>
            </a:r>
            <a:endParaRPr b="1" sz="1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Amylase efficiently breaks down polysaccharide starch molecules, making them digestible and sweet.</a:t>
            </a:r>
            <a:endParaRPr sz="1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8350" y="103875"/>
            <a:ext cx="28440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Kushagra Srivastava 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 - COMPS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Roll no. - D-42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522">
                <a:latin typeface="Playfair Display"/>
                <a:ea typeface="Playfair Display"/>
                <a:cs typeface="Playfair Display"/>
                <a:sym typeface="Playfair Display"/>
              </a:rPr>
              <a:t>High-Fructose Corn Syrup</a:t>
            </a:r>
            <a:endParaRPr b="1" sz="2522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High-Fructose Corn Syrup (HFCS)</a:t>
            </a: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is a clear, sweet liquid sweetener derived from corn starch. It serves as an economic and versatile sugar substitute in a wide array of industrial food products.</a:t>
            </a: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Its cost-effectiveness compared to traditional cane sugar has solidified its widespread use across the global food industry, making it an indispensable ingredient for many manufacturers.</a:t>
            </a:r>
            <a:endParaRPr sz="17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Key Industrial Applications:</a:t>
            </a:r>
            <a:endParaRPr b="1" sz="17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Sweetening </a:t>
            </a: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soft drinks</a:t>
            </a: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and </a:t>
            </a: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fruit juices</a:t>
            </a:r>
            <a:endParaRPr b="1" sz="17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Used in various </a:t>
            </a: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confectionery items</a:t>
            </a: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and </a:t>
            </a: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baked goods</a:t>
            </a:r>
            <a:endParaRPr b="1" sz="17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Enhances </a:t>
            </a: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flavour profiles</a:t>
            </a: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and maintains </a:t>
            </a: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product moisture</a:t>
            </a:r>
            <a:endParaRPr b="1" sz="17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Significantly extends the </a:t>
            </a:r>
            <a:r>
              <a:rPr b="1"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shelf-life</a:t>
            </a:r>
            <a:r>
              <a:rPr lang="en-GB" sz="17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of jams and preserves</a:t>
            </a:r>
            <a:endParaRPr sz="17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57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100">
                <a:latin typeface="Playfair Display"/>
                <a:ea typeface="Playfair Display"/>
                <a:cs typeface="Playfair Display"/>
                <a:sym typeface="Playfair Display"/>
              </a:rPr>
              <a:t>High-Fructose Corn Syrup Production</a:t>
            </a:r>
            <a:endParaRPr sz="36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31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EB Garamond"/>
                <a:ea typeface="EB Garamond"/>
                <a:cs typeface="EB Garamond"/>
                <a:sym typeface="EB Garamond"/>
              </a:rPr>
              <a:t>The industrial production of High-Fructose Corn Syrup (HFCS) relies on a sequential enzymatic process involving </a:t>
            </a:r>
            <a:r>
              <a:rPr b="1" lang="en-GB" sz="1587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α-Amylase</a:t>
            </a:r>
            <a:r>
              <a:rPr lang="en-GB">
                <a:latin typeface="EB Garamond"/>
                <a:ea typeface="EB Garamond"/>
                <a:cs typeface="EB Garamond"/>
                <a:sym typeface="EB Garamond"/>
              </a:rPr>
              <a:t>, </a:t>
            </a:r>
            <a:r>
              <a:rPr b="1" lang="en-GB">
                <a:latin typeface="EB Garamond"/>
                <a:ea typeface="EB Garamond"/>
                <a:cs typeface="EB Garamond"/>
                <a:sym typeface="EB Garamond"/>
              </a:rPr>
              <a:t>glucoamylase </a:t>
            </a:r>
            <a:r>
              <a:rPr lang="en-GB">
                <a:latin typeface="EB Garamond"/>
                <a:ea typeface="EB Garamond"/>
                <a:cs typeface="EB Garamond"/>
                <a:sym typeface="EB Garamond"/>
              </a:rPr>
              <a:t>and </a:t>
            </a:r>
            <a:r>
              <a:rPr b="1" lang="en-GB">
                <a:latin typeface="EB Garamond"/>
                <a:ea typeface="EB Garamond"/>
                <a:cs typeface="EB Garamond"/>
                <a:sym typeface="EB Garamond"/>
              </a:rPr>
              <a:t>glucose isomerase </a:t>
            </a:r>
            <a:r>
              <a:rPr lang="en-GB">
                <a:latin typeface="EB Garamond"/>
                <a:ea typeface="EB Garamond"/>
                <a:cs typeface="EB Garamond"/>
                <a:sym typeface="EB Garamond"/>
              </a:rPr>
              <a:t>transforming corn starch into a versatile sweetener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24625" y="2727025"/>
            <a:ext cx="2555700" cy="15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Liquefaction</a:t>
            </a:r>
            <a:endParaRPr b="1" sz="1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Cornstarch</a:t>
            </a:r>
            <a:r>
              <a:rPr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slurry is treated with </a:t>
            </a:r>
            <a:r>
              <a:rPr b="1"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α-Amylase</a:t>
            </a:r>
            <a:r>
              <a:rPr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at approximately 105 °C and a pH of around 6.0. This initial step breaks the long starch chains into shorter dextrins.More randomly</a:t>
            </a:r>
            <a:endParaRPr b="1"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255750" y="2727025"/>
            <a:ext cx="2632500" cy="15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Saccharification</a:t>
            </a:r>
            <a:endParaRPr b="1" sz="1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dextrins are then further broken down by </a:t>
            </a:r>
            <a:r>
              <a:rPr b="1"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glucoamylase</a:t>
            </a:r>
            <a:r>
              <a:rPr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into almost exclusively glucose, converting the dextrin slurry efficiently into a glucose-rich syrup.</a:t>
            </a:r>
            <a:endParaRPr b="1"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6163675" y="2727025"/>
            <a:ext cx="2632500" cy="15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Isomerisation</a:t>
            </a:r>
            <a:endParaRPr b="1" sz="1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Finally, the </a:t>
            </a:r>
            <a:r>
              <a:rPr b="1"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glucose isomerase</a:t>
            </a:r>
            <a:r>
              <a:rPr lang="en-GB" sz="1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enzyme converts a portion of the glucose into fructose, making various HFCS products (e.g., HFCS-42, HFCS-55) depending on the fructose concentration </a:t>
            </a:r>
            <a:endParaRPr b="1" sz="1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14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latin typeface="Playfair Display"/>
                <a:ea typeface="Playfair Display"/>
                <a:cs typeface="Playfair Display"/>
                <a:sym typeface="Playfair Display"/>
              </a:rPr>
              <a:t>What Software Would I Build for an HFCS Plant?</a:t>
            </a:r>
            <a:endParaRPr b="1" sz="3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52900" y="1655625"/>
            <a:ext cx="8638200" cy="32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1) Process Monitoring Software</a:t>
            </a:r>
            <a:endParaRPr b="1" sz="2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93750" y="2403300"/>
            <a:ext cx="8356500" cy="27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Tracks </a:t>
            </a:r>
            <a:r>
              <a:rPr b="1"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temperature, pH, and flow</a:t>
            </a: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during 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starch → glucose → fructose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steps.</a:t>
            </a:r>
            <a:br>
              <a:rPr lang="en-GB" sz="2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Sends alerts if values go out of range.</a:t>
            </a:r>
            <a:endParaRPr sz="27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14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latin typeface="Playfair Display"/>
                <a:ea typeface="Playfair Display"/>
                <a:cs typeface="Playfair Display"/>
                <a:sym typeface="Playfair Display"/>
              </a:rPr>
              <a:t>What Software Would I Build for an HFCS Plant?</a:t>
            </a:r>
            <a:endParaRPr b="1" sz="3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52900" y="1655625"/>
            <a:ext cx="8638200" cy="32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b="1" lang="en-GB" sz="2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b="1" lang="en-GB" sz="2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 Inventory and Supply Tracking</a:t>
            </a:r>
            <a:endParaRPr b="1" sz="2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393750" y="2395750"/>
            <a:ext cx="8356500" cy="27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Keeps count of </a:t>
            </a:r>
            <a:r>
              <a:rPr b="1"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corn starch, enzymes, and packaging</a:t>
            </a: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.</a:t>
            </a:r>
            <a:b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Helps reorder supplies before they run out.</a:t>
            </a: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14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latin typeface="Playfair Display"/>
                <a:ea typeface="Playfair Display"/>
                <a:cs typeface="Playfair Display"/>
                <a:sym typeface="Playfair Display"/>
              </a:rPr>
              <a:t>What Software Would I Build for an HFCS Plant?</a:t>
            </a:r>
            <a:endParaRPr b="1" sz="3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252900" y="1655625"/>
            <a:ext cx="8638200" cy="32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b="1" lang="en-GB" sz="2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3) Maintenance Reminder</a:t>
            </a:r>
            <a:endParaRPr sz="2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393750" y="2395750"/>
            <a:ext cx="8356500" cy="27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10620000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Notifies staff when </a:t>
            </a:r>
            <a:r>
              <a:rPr b="1"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machines need cleaning or servicing</a:t>
            </a: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.</a:t>
            </a:r>
            <a:b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</a:pPr>
            <a:r>
              <a:rPr lang="en-GB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Reduces unexpected breakdowns.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7019">
                <a:latin typeface="Playfair Display"/>
                <a:ea typeface="Playfair Display"/>
                <a:cs typeface="Playfair Display"/>
                <a:sym typeface="Playfair Display"/>
              </a:rPr>
              <a:t>References:</a:t>
            </a:r>
            <a:endParaRPr b="1" sz="7019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2135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EB Garamond"/>
                <a:ea typeface="EB Garamond"/>
                <a:cs typeface="EB Garamond"/>
                <a:sym typeface="EB Garamond"/>
              </a:rPr>
              <a:t>Process of HFCS production and usage: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https://www.sciencedirect.com/topics/agricultural-and-biological-sciences/high-fructose-corn-syrup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EB Garamond"/>
                <a:ea typeface="EB Garamond"/>
                <a:cs typeface="EB Garamond"/>
                <a:sym typeface="EB Garamond"/>
              </a:rPr>
              <a:t>Amylase Information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https://www.britannica.com/science/amylase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