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p:cViewPr>
        <p:scale>
          <a:sx n="100" d="100"/>
          <a:sy n="100" d="100"/>
        </p:scale>
        <p:origin x="-7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9/14/2025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9/14/2025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ink.springer.com/book/10.1007/978-1-4899-8077-9" TargetMode="External"/><Relationship Id="rId2" Type="http://schemas.openxmlformats.org/officeDocument/2006/relationships/hyperlink" Target="https://www.cargill.com/image/1432078643308/hero-isoclear-crust.jpg?v=1482279167000" TargetMode="External"/><Relationship Id="rId1" Type="http://schemas.openxmlformats.org/officeDocument/2006/relationships/slideLayout" Target="../slideLayouts/slideLayout2.xml"/><Relationship Id="rId5" Type="http://schemas.openxmlformats.org/officeDocument/2006/relationships/hyperlink" Target="https://www.starchprojectsolution.com/uploads/1805/2-1P505161FHV.jpg" TargetMode="External"/><Relationship Id="rId4" Type="http://schemas.openxmlformats.org/officeDocument/2006/relationships/hyperlink" Target="https://academicjournals.org/article/article1380113250_Parker%2520et%2520al.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C2248-0A0E-7BEC-E20B-1A3F0D43C89B}"/>
              </a:ext>
            </a:extLst>
          </p:cNvPr>
          <p:cNvSpPr>
            <a:spLocks noGrp="1"/>
          </p:cNvSpPr>
          <p:nvPr>
            <p:ph type="ctrTitle"/>
          </p:nvPr>
        </p:nvSpPr>
        <p:spPr/>
        <p:txBody>
          <a:bodyPr>
            <a:normAutofit/>
          </a:bodyPr>
          <a:lstStyle/>
          <a:p>
            <a:pPr algn="ctr"/>
            <a:r>
              <a:rPr lang="en-IN" sz="6000" dirty="0"/>
              <a:t>BIOMOLECULES AND ENZYMES </a:t>
            </a:r>
          </a:p>
        </p:txBody>
      </p:sp>
      <p:sp>
        <p:nvSpPr>
          <p:cNvPr id="5" name="Subtitle 4">
            <a:extLst>
              <a:ext uri="{FF2B5EF4-FFF2-40B4-BE49-F238E27FC236}">
                <a16:creationId xmlns:a16="http://schemas.microsoft.com/office/drawing/2014/main" id="{1EF75B9F-623E-1FCE-4B47-77113B3DBCBA}"/>
              </a:ext>
            </a:extLst>
          </p:cNvPr>
          <p:cNvSpPr>
            <a:spLocks noGrp="1"/>
          </p:cNvSpPr>
          <p:nvPr>
            <p:ph type="subTitle" idx="1"/>
          </p:nvPr>
        </p:nvSpPr>
        <p:spPr/>
        <p:txBody>
          <a:bodyPr>
            <a:noAutofit/>
          </a:bodyPr>
          <a:lstStyle/>
          <a:p>
            <a:pPr algn="r"/>
            <a:r>
              <a:rPr lang="en-IN" sz="1600" dirty="0"/>
              <a:t>By – jagu </a:t>
            </a:r>
            <a:r>
              <a:rPr lang="en-IN" sz="1600" dirty="0" err="1"/>
              <a:t>baldwin</a:t>
            </a:r>
            <a:r>
              <a:rPr lang="en-IN" sz="1600" dirty="0"/>
              <a:t> </a:t>
            </a:r>
            <a:r>
              <a:rPr lang="en-IN" sz="1600" dirty="0" err="1"/>
              <a:t>yash</a:t>
            </a:r>
            <a:endParaRPr lang="en-IN" sz="1600" dirty="0"/>
          </a:p>
          <a:p>
            <a:pPr algn="r"/>
            <a:r>
              <a:rPr lang="en-IN" sz="1600" dirty="0"/>
              <a:t>Division – d</a:t>
            </a:r>
          </a:p>
          <a:p>
            <a:pPr algn="r"/>
            <a:r>
              <a:rPr lang="en-IN" sz="1600" dirty="0"/>
              <a:t>Roll number :  70</a:t>
            </a:r>
          </a:p>
          <a:p>
            <a:pPr algn="r"/>
            <a:r>
              <a:rPr lang="en-IN" sz="1600" dirty="0"/>
              <a:t>(resubmission)  </a:t>
            </a:r>
          </a:p>
        </p:txBody>
      </p:sp>
    </p:spTree>
    <p:extLst>
      <p:ext uri="{BB962C8B-B14F-4D97-AF65-F5344CB8AC3E}">
        <p14:creationId xmlns:p14="http://schemas.microsoft.com/office/powerpoint/2010/main" val="64883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49DCC-FA8E-BA5A-FFA5-FECE85F9B183}"/>
              </a:ext>
            </a:extLst>
          </p:cNvPr>
          <p:cNvSpPr>
            <a:spLocks noGrp="1"/>
          </p:cNvSpPr>
          <p:nvPr>
            <p:ph type="title"/>
          </p:nvPr>
        </p:nvSpPr>
        <p:spPr/>
        <p:txBody>
          <a:bodyPr/>
          <a:lstStyle/>
          <a:p>
            <a:pPr algn="ctr"/>
            <a:r>
              <a:rPr lang="en-US" dirty="0"/>
              <a:t> </a:t>
            </a:r>
            <a:r>
              <a:rPr lang="en-US" b="1" dirty="0"/>
              <a:t>Introduction to Enzyme and Product</a:t>
            </a:r>
            <a:endParaRPr lang="en-IN" b="1" dirty="0"/>
          </a:p>
        </p:txBody>
      </p:sp>
      <p:sp>
        <p:nvSpPr>
          <p:cNvPr id="3" name="Content Placeholder 2">
            <a:extLst>
              <a:ext uri="{FF2B5EF4-FFF2-40B4-BE49-F238E27FC236}">
                <a16:creationId xmlns:a16="http://schemas.microsoft.com/office/drawing/2014/main" id="{36C471BC-2DF0-CE1F-818A-629681654037}"/>
              </a:ext>
            </a:extLst>
          </p:cNvPr>
          <p:cNvSpPr>
            <a:spLocks noGrp="1"/>
          </p:cNvSpPr>
          <p:nvPr>
            <p:ph idx="1"/>
          </p:nvPr>
        </p:nvSpPr>
        <p:spPr>
          <a:xfrm>
            <a:off x="1451579" y="2015732"/>
            <a:ext cx="5652533" cy="3861540"/>
          </a:xfrm>
        </p:spPr>
        <p:txBody>
          <a:bodyPr>
            <a:normAutofit fontScale="92500" lnSpcReduction="20000"/>
          </a:bodyPr>
          <a:lstStyle/>
          <a:p>
            <a:pPr marL="0" indent="0">
              <a:buNone/>
            </a:pPr>
            <a:r>
              <a:rPr lang="en-US" b="1" dirty="0"/>
              <a:t>Selected Enzyme:  Alpha-Amylase  </a:t>
            </a:r>
          </a:p>
          <a:p>
            <a:pPr marL="0" indent="0">
              <a:buNone/>
            </a:pPr>
            <a:r>
              <a:rPr lang="en-US" b="1" dirty="0"/>
              <a:t>Selected Product</a:t>
            </a:r>
            <a:r>
              <a:rPr lang="en-US" dirty="0"/>
              <a:t>: High Fructose Corn Syrup (HFCS)  </a:t>
            </a:r>
          </a:p>
          <a:p>
            <a:pPr marL="0" indent="0">
              <a:buNone/>
            </a:pPr>
            <a:r>
              <a:rPr lang="en-US" b="1" dirty="0"/>
              <a:t>Company Example</a:t>
            </a:r>
            <a:r>
              <a:rPr lang="en-US" dirty="0"/>
              <a:t>: Cargill, a major producer of sweeteners, uses alpha-amylase in their starch hydrolysis process to manufacture HFCS from corn.  </a:t>
            </a:r>
          </a:p>
          <a:p>
            <a:pPr marL="0" indent="0">
              <a:buNone/>
            </a:pPr>
            <a:r>
              <a:rPr lang="en-US" dirty="0"/>
              <a:t> </a:t>
            </a:r>
            <a:r>
              <a:rPr lang="en-US" b="1" dirty="0"/>
              <a:t>Details of the Product</a:t>
            </a:r>
            <a:r>
              <a:rPr lang="en-US" dirty="0"/>
              <a:t>: HFCS is a liquid sweetener derived from corn starch, primarily composed of glucose and fructose (e.g., HFCS-55 contains about 55% fructose). It is colorless, viscous, and widely used as a substitute for sucrose in processed foods due to its sweetness and cost-effectiveness. </a:t>
            </a:r>
            <a:endParaRPr lang="en-IN" dirty="0"/>
          </a:p>
        </p:txBody>
      </p:sp>
      <p:pic>
        <p:nvPicPr>
          <p:cNvPr id="2050" name="Picture 2" descr="Hill Country Fare Light Corn Syrup">
            <a:extLst>
              <a:ext uri="{FF2B5EF4-FFF2-40B4-BE49-F238E27FC236}">
                <a16:creationId xmlns:a16="http://schemas.microsoft.com/office/drawing/2014/main" id="{3B55C22A-2D86-6080-E90A-35F8DCD070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0216" y="2276872"/>
            <a:ext cx="3212976" cy="3212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1944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E8B27-9F5B-AAA6-321C-6EABC5E57E9E}"/>
              </a:ext>
            </a:extLst>
          </p:cNvPr>
          <p:cNvSpPr>
            <a:spLocks noGrp="1"/>
          </p:cNvSpPr>
          <p:nvPr>
            <p:ph type="title"/>
          </p:nvPr>
        </p:nvSpPr>
        <p:spPr/>
        <p:txBody>
          <a:bodyPr/>
          <a:lstStyle/>
          <a:p>
            <a:pPr algn="ctr"/>
            <a:r>
              <a:rPr lang="en-US" b="1" dirty="0"/>
              <a:t>Role of the Enzyme and Process Conditions</a:t>
            </a:r>
            <a:endParaRPr lang="en-IN" b="1" dirty="0"/>
          </a:p>
        </p:txBody>
      </p:sp>
      <p:sp>
        <p:nvSpPr>
          <p:cNvPr id="3" name="Content Placeholder 2">
            <a:extLst>
              <a:ext uri="{FF2B5EF4-FFF2-40B4-BE49-F238E27FC236}">
                <a16:creationId xmlns:a16="http://schemas.microsoft.com/office/drawing/2014/main" id="{6D6D27B3-DB27-B416-D1FB-C2B84EA12DEF}"/>
              </a:ext>
            </a:extLst>
          </p:cNvPr>
          <p:cNvSpPr>
            <a:spLocks noGrp="1"/>
          </p:cNvSpPr>
          <p:nvPr>
            <p:ph idx="1"/>
          </p:nvPr>
        </p:nvSpPr>
        <p:spPr/>
        <p:txBody>
          <a:bodyPr>
            <a:normAutofit fontScale="85000" lnSpcReduction="20000"/>
          </a:bodyPr>
          <a:lstStyle/>
          <a:p>
            <a:r>
              <a:rPr lang="en-US" b="1" dirty="0"/>
              <a:t>Role of the Enzyme</a:t>
            </a:r>
            <a:r>
              <a:rPr lang="en-US" dirty="0"/>
              <a:t>:  Alpha-amylase plays a critical role in the liquefaction step of HFCS production by catalyzing the hydrolysis of starch into shorter-chain </a:t>
            </a:r>
            <a:r>
              <a:rPr lang="en-US" dirty="0" err="1"/>
              <a:t>dextrins</a:t>
            </a:r>
            <a:r>
              <a:rPr lang="en-US" dirty="0"/>
              <a:t> and oligosaccharides, breaking down the complex starch molecules from corn into simpler forms that can be further processed into glucose and then fructose.  </a:t>
            </a:r>
          </a:p>
          <a:p>
            <a:r>
              <a:rPr lang="en-US" b="1" dirty="0"/>
              <a:t>Process Description</a:t>
            </a:r>
            <a:r>
              <a:rPr lang="en-US" dirty="0"/>
              <a:t>: In Cargill's production, corn starch is first milled and formed into a slurry. Alpha-amylase is added to this slurry to liquefy the starch. The mixture is heated, and the enzyme breaks down the starch chains. This liquefied starch is then subjected to further enzymatic treatments (e.g., with glucoamylase and glucose isomerase) to produce HFCS.  </a:t>
            </a:r>
          </a:p>
          <a:p>
            <a:r>
              <a:rPr lang="en-US" b="1" dirty="0"/>
              <a:t>Process Conditions</a:t>
            </a:r>
            <a:r>
              <a:rPr lang="en-US" dirty="0"/>
              <a:t>:  The liquefaction step occurs at a temperature of 95-105°C and a pH of 6.0-6.5, conditions under which thermostable alpha-amylase is effective and stable. The process typically takes place in large industrial tanks with controlled heating and agitation to ensure uniform enzyme activity.</a:t>
            </a:r>
          </a:p>
          <a:p>
            <a:endParaRPr lang="en-IN" dirty="0"/>
          </a:p>
        </p:txBody>
      </p:sp>
    </p:spTree>
    <p:extLst>
      <p:ext uri="{BB962C8B-B14F-4D97-AF65-F5344CB8AC3E}">
        <p14:creationId xmlns:p14="http://schemas.microsoft.com/office/powerpoint/2010/main" val="393580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A3FF-8B72-9D4E-9B93-1145C900EFF1}"/>
              </a:ext>
            </a:extLst>
          </p:cNvPr>
          <p:cNvSpPr>
            <a:spLocks noGrp="1"/>
          </p:cNvSpPr>
          <p:nvPr>
            <p:ph type="title"/>
          </p:nvPr>
        </p:nvSpPr>
        <p:spPr/>
        <p:txBody>
          <a:bodyPr/>
          <a:lstStyle/>
          <a:p>
            <a:pPr algn="ctr"/>
            <a:r>
              <a:rPr lang="en-US" b="1" dirty="0"/>
              <a:t>Industrial Applications and My Role</a:t>
            </a:r>
            <a:endParaRPr lang="en-IN" b="1" dirty="0"/>
          </a:p>
        </p:txBody>
      </p:sp>
      <p:sp>
        <p:nvSpPr>
          <p:cNvPr id="3" name="Content Placeholder 2">
            <a:extLst>
              <a:ext uri="{FF2B5EF4-FFF2-40B4-BE49-F238E27FC236}">
                <a16:creationId xmlns:a16="http://schemas.microsoft.com/office/drawing/2014/main" id="{15D66760-056A-7FCF-FBE9-C5CAE8905E1F}"/>
              </a:ext>
            </a:extLst>
          </p:cNvPr>
          <p:cNvSpPr>
            <a:spLocks noGrp="1"/>
          </p:cNvSpPr>
          <p:nvPr>
            <p:ph idx="1"/>
          </p:nvPr>
        </p:nvSpPr>
        <p:spPr>
          <a:xfrm>
            <a:off x="1451579" y="2015732"/>
            <a:ext cx="5652533" cy="3450613"/>
          </a:xfrm>
        </p:spPr>
        <p:txBody>
          <a:bodyPr>
            <a:normAutofit fontScale="92500" lnSpcReduction="10000"/>
          </a:bodyPr>
          <a:lstStyle/>
          <a:p>
            <a:r>
              <a:rPr lang="en-US" b="1" dirty="0"/>
              <a:t>Industrial Applications</a:t>
            </a:r>
            <a:r>
              <a:rPr lang="en-US" dirty="0"/>
              <a:t>:  HFCS is primarily used in the food and beverage industry, such as in soft drinks, baked goods, and condiments, where it serves as a sweetener.  </a:t>
            </a:r>
          </a:p>
          <a:p>
            <a:r>
              <a:rPr lang="en-US" b="1" dirty="0"/>
              <a:t>My Role Based on Branch</a:t>
            </a:r>
            <a:r>
              <a:rPr lang="en-US" dirty="0"/>
              <a:t>:  As a Computer Engineer, I can contribute by developing automation software for monitoring and optimizing enzyme reaction parameters in real-time during HFCS production, enhancing efficiency through data analysis and predictive modeling.</a:t>
            </a:r>
          </a:p>
          <a:p>
            <a:endParaRPr lang="en-IN" dirty="0"/>
          </a:p>
        </p:txBody>
      </p:sp>
      <p:pic>
        <p:nvPicPr>
          <p:cNvPr id="1028" name="Picture 4" descr="How is HFCS high fructose corn syrup produced ?_FAQ">
            <a:extLst>
              <a:ext uri="{FF2B5EF4-FFF2-40B4-BE49-F238E27FC236}">
                <a16:creationId xmlns:a16="http://schemas.microsoft.com/office/drawing/2014/main" id="{50C26FF5-B4EE-5406-9D28-10F3B01934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2144" y="2420888"/>
            <a:ext cx="4013826" cy="2580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059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62EB-0903-A2E0-7339-37CD96CFBAFE}"/>
              </a:ext>
            </a:extLst>
          </p:cNvPr>
          <p:cNvSpPr>
            <a:spLocks noGrp="1"/>
          </p:cNvSpPr>
          <p:nvPr>
            <p:ph type="title"/>
          </p:nvPr>
        </p:nvSpPr>
        <p:spPr/>
        <p:txBody>
          <a:bodyPr/>
          <a:lstStyle/>
          <a:p>
            <a:pPr algn="ctr"/>
            <a:r>
              <a:rPr lang="en-IN" b="1" dirty="0"/>
              <a:t>Reference Slide</a:t>
            </a:r>
          </a:p>
        </p:txBody>
      </p:sp>
      <p:sp>
        <p:nvSpPr>
          <p:cNvPr id="3" name="Content Placeholder 2">
            <a:extLst>
              <a:ext uri="{FF2B5EF4-FFF2-40B4-BE49-F238E27FC236}">
                <a16:creationId xmlns:a16="http://schemas.microsoft.com/office/drawing/2014/main" id="{204D9F9A-91DF-CD13-3C92-8B8B36B9973D}"/>
              </a:ext>
            </a:extLst>
          </p:cNvPr>
          <p:cNvSpPr>
            <a:spLocks noGrp="1"/>
          </p:cNvSpPr>
          <p:nvPr>
            <p:ph idx="1"/>
          </p:nvPr>
        </p:nvSpPr>
        <p:spPr/>
        <p:txBody>
          <a:bodyPr>
            <a:normAutofit/>
          </a:bodyPr>
          <a:lstStyle/>
          <a:p>
            <a:pPr marL="0" indent="0">
              <a:buNone/>
            </a:pPr>
            <a:r>
              <a:rPr lang="en-IN" dirty="0">
                <a:hlinkClick r:id="rId2"/>
              </a:rPr>
              <a:t>https://images.heb.com/is/image/HEBGrocery/000125576-1</a:t>
            </a:r>
          </a:p>
          <a:p>
            <a:pPr marL="0" indent="0">
              <a:buNone/>
            </a:pPr>
            <a:r>
              <a:rPr lang="en-IN" dirty="0">
                <a:hlinkClick r:id="rId2"/>
              </a:rPr>
              <a:t>https://www.cargill.com/image/1432078643308/hero-isoclear-crust.jpg?v=1482279167000</a:t>
            </a:r>
            <a:endParaRPr lang="en-IN" dirty="0"/>
          </a:p>
          <a:p>
            <a:pPr marL="0" indent="0">
              <a:buNone/>
            </a:pPr>
            <a:r>
              <a:rPr lang="en-IN" dirty="0">
                <a:hlinkClick r:id="rId3"/>
              </a:rPr>
              <a:t>https://link.springer.com/book/10.1007/978-1-4899-8077-9</a:t>
            </a:r>
            <a:endParaRPr lang="en-IN" dirty="0"/>
          </a:p>
          <a:p>
            <a:pPr marL="0" indent="0">
              <a:buNone/>
            </a:pPr>
            <a:r>
              <a:rPr lang="en-IN" dirty="0">
                <a:hlinkClick r:id="rId4"/>
              </a:rPr>
              <a:t>https://academicjournals.org/article/article1380113250_Parker%2520et%2520al.pdf</a:t>
            </a:r>
            <a:endParaRPr lang="en-IN" dirty="0"/>
          </a:p>
          <a:p>
            <a:pPr marL="0" indent="0">
              <a:buNone/>
            </a:pPr>
            <a:r>
              <a:rPr lang="en-IN" dirty="0">
                <a:hlinkClick r:id="rId5"/>
              </a:rPr>
              <a:t>https://www.starchprojectsolution.com/uploads/1805/2-1P505161FHV.jpg</a:t>
            </a:r>
            <a:endParaRPr lang="en-IN" dirty="0"/>
          </a:p>
          <a:p>
            <a:pPr marL="0" indent="0">
              <a:buNone/>
            </a:pPr>
            <a:r>
              <a:rPr lang="en-IN" dirty="0"/>
              <a:t>NCERT CHEMISTRY</a:t>
            </a:r>
          </a:p>
          <a:p>
            <a:pPr>
              <a:buFontTx/>
              <a:buChar char="-"/>
            </a:pPr>
            <a:endParaRPr lang="en-IN" dirty="0"/>
          </a:p>
          <a:p>
            <a:pPr>
              <a:buFontTx/>
              <a:buChar char="-"/>
            </a:pPr>
            <a:endParaRPr lang="en-IN" dirty="0"/>
          </a:p>
        </p:txBody>
      </p:sp>
    </p:spTree>
    <p:extLst>
      <p:ext uri="{BB962C8B-B14F-4D97-AF65-F5344CB8AC3E}">
        <p14:creationId xmlns:p14="http://schemas.microsoft.com/office/powerpoint/2010/main" val="284030027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49</TotalTime>
  <Words>453</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Gill Sans MT</vt:lpstr>
      <vt:lpstr>Gallery</vt:lpstr>
      <vt:lpstr>BIOMOLECULES AND ENZYMES </vt:lpstr>
      <vt:lpstr> Introduction to Enzyme and Product</vt:lpstr>
      <vt:lpstr>Role of the Enzyme and Process Conditions</vt:lpstr>
      <vt:lpstr>Industrial Applications and My Role</vt:lpstr>
      <vt:lpstr>Reference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solomon raju jagu</dc:creator>
  <cp:lastModifiedBy>solomon raju jagu</cp:lastModifiedBy>
  <cp:revision>1</cp:revision>
  <dcterms:created xsi:type="dcterms:W3CDTF">2025-09-14T07:30:26Z</dcterms:created>
  <dcterms:modified xsi:type="dcterms:W3CDTF">2025-09-14T08:19:32Z</dcterms:modified>
</cp:coreProperties>
</file>