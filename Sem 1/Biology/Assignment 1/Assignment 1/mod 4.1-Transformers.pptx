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6" r:id="rId12"/>
    <p:sldId id="268" r:id="rId13"/>
    <p:sldId id="28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4" r:id="rId25"/>
    <p:sldId id="279" r:id="rId26"/>
    <p:sldId id="280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94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4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96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5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62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42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6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6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8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3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8E5D5-8CF2-439C-8109-6869D9C9839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5C5E2-F5AF-4A4B-A9BD-27509E568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9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4.1-Transformers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645024"/>
            <a:ext cx="8928992" cy="1944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830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Transformer</a:t>
            </a:r>
            <a:endParaRPr lang="en-IN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94013"/>
            <a:ext cx="8229600" cy="3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2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8229600" cy="1722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816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Transformer Core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transformer core is made of </a:t>
            </a:r>
            <a:r>
              <a:rPr lang="en-US" b="1" dirty="0" smtClean="0"/>
              <a:t>thin steel laminations</a:t>
            </a:r>
            <a:r>
              <a:rPr lang="en-US" dirty="0" smtClean="0"/>
              <a:t> stacked together.</a:t>
            </a:r>
          </a:p>
          <a:p>
            <a:r>
              <a:rPr lang="en-US" dirty="0" smtClean="0"/>
              <a:t>Laminations are coated with varnish/oxide to provide insulation.</a:t>
            </a:r>
          </a:p>
          <a:p>
            <a:r>
              <a:rPr lang="en-US" dirty="0" smtClean="0"/>
              <a:t>Limits the flow of </a:t>
            </a:r>
            <a:r>
              <a:rPr lang="en-US" b="1" dirty="0" smtClean="0"/>
              <a:t>eddy currents</a:t>
            </a:r>
            <a:r>
              <a:rPr lang="en-US" dirty="0" smtClean="0"/>
              <a:t>, reducing eddy-current losses.</a:t>
            </a:r>
          </a:p>
          <a:p>
            <a:r>
              <a:rPr lang="en-US" dirty="0" smtClean="0"/>
              <a:t>Uses </a:t>
            </a:r>
            <a:r>
              <a:rPr lang="en-US" b="1" dirty="0" smtClean="0"/>
              <a:t>high-grade silicon steel</a:t>
            </a:r>
            <a:r>
              <a:rPr lang="en-US" dirty="0" smtClean="0"/>
              <a:t> to minimize hysteresis loss.</a:t>
            </a:r>
          </a:p>
          <a:p>
            <a:r>
              <a:rPr lang="en-US" dirty="0" smtClean="0"/>
              <a:t>Provides a </a:t>
            </a:r>
            <a:r>
              <a:rPr lang="en-US" b="1" dirty="0" smtClean="0"/>
              <a:t>continuous magnetic path</a:t>
            </a:r>
            <a:r>
              <a:rPr lang="en-US" dirty="0" smtClean="0"/>
              <a:t> for efficient flux flow.</a:t>
            </a:r>
          </a:p>
          <a:p>
            <a:r>
              <a:rPr lang="en-US" dirty="0" smtClean="0"/>
              <a:t>Common shapes: </a:t>
            </a:r>
            <a:r>
              <a:rPr lang="en-US" b="1" dirty="0" smtClean="0"/>
              <a:t>E-I core</a:t>
            </a:r>
            <a:r>
              <a:rPr lang="en-US" dirty="0" smtClean="0"/>
              <a:t> and </a:t>
            </a:r>
            <a:r>
              <a:rPr lang="en-US" b="1" dirty="0" smtClean="0"/>
              <a:t>U-I core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Laminated design improves efficiency and reduces heating.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24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Generally, air-core transformers </a:t>
            </a:r>
            <a:r>
              <a:rPr lang="en-IN" dirty="0" smtClean="0"/>
              <a:t>are </a:t>
            </a:r>
            <a:r>
              <a:rPr lang="en-US" dirty="0" smtClean="0"/>
              <a:t>used </a:t>
            </a:r>
            <a:r>
              <a:rPr lang="en-US" dirty="0"/>
              <a:t>when the voltage source has a high frequency (above 20 kHz).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Iron-core transformers are </a:t>
            </a:r>
            <a:r>
              <a:rPr lang="en-US" dirty="0"/>
              <a:t>usually used when the source frequency is low (below 20 kHz).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59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Transformer Windings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transformer has </a:t>
            </a:r>
            <a:r>
              <a:rPr lang="en-US" sz="2800" b="1" dirty="0" smtClean="0"/>
              <a:t>two windings</a:t>
            </a:r>
            <a:r>
              <a:rPr lang="en-US" sz="2800" dirty="0" smtClean="0"/>
              <a:t>:</a:t>
            </a:r>
            <a:br>
              <a:rPr lang="en-US" sz="2800" dirty="0" smtClean="0"/>
            </a:br>
            <a:r>
              <a:rPr lang="en-US" sz="2800" dirty="0" smtClean="0"/>
              <a:t>     Primary winding – receives electrical input</a:t>
            </a:r>
            <a:br>
              <a:rPr lang="en-US" sz="2800" dirty="0" smtClean="0"/>
            </a:br>
            <a:r>
              <a:rPr lang="en-US" sz="2800" dirty="0" smtClean="0"/>
              <a:t>     Secondary winding – delivers output to the load</a:t>
            </a:r>
          </a:p>
          <a:p>
            <a:r>
              <a:rPr lang="en-US" sz="2800" dirty="0" smtClean="0"/>
              <a:t>Both windings are made of </a:t>
            </a:r>
            <a:r>
              <a:rPr lang="en-US" sz="2800" b="1" dirty="0" smtClean="0"/>
              <a:t>insulated copper wire</a:t>
            </a:r>
            <a:r>
              <a:rPr lang="en-US" sz="2800" dirty="0" smtClean="0"/>
              <a:t> (round wire or copper strip).</a:t>
            </a:r>
          </a:p>
          <a:p>
            <a:r>
              <a:rPr lang="en-US" sz="2800" dirty="0" smtClean="0"/>
              <a:t>Windings are placed on the </a:t>
            </a:r>
            <a:r>
              <a:rPr lang="en-US" sz="2800" b="1" dirty="0" smtClean="0"/>
              <a:t>limbs of the core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Insulated from each other and the core 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44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Leakage Flux &amp; Winding Arrangement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1048"/>
          </a:xfrm>
        </p:spPr>
        <p:txBody>
          <a:bodyPr>
            <a:normAutofit/>
          </a:bodyPr>
          <a:lstStyle/>
          <a:p>
            <a:r>
              <a:rPr lang="en-US" sz="2600" dirty="0" smtClean="0"/>
              <a:t>If windings are placed on separate limbs, </a:t>
            </a:r>
            <a:r>
              <a:rPr lang="en-US" sz="2600" b="1" dirty="0" smtClean="0"/>
              <a:t>not all flux links</a:t>
            </a:r>
            <a:r>
              <a:rPr lang="en-US" sz="2600" dirty="0" smtClean="0"/>
              <a:t> the secondary.</a:t>
            </a:r>
          </a:p>
          <a:p>
            <a:r>
              <a:rPr lang="en-US" sz="2600" dirty="0" smtClean="0"/>
              <a:t>The flux that escapes through air is called </a:t>
            </a:r>
            <a:r>
              <a:rPr lang="en-US" sz="2600" b="1" dirty="0" smtClean="0"/>
              <a:t>leakage flux</a:t>
            </a:r>
            <a:r>
              <a:rPr lang="en-US" sz="2600" dirty="0" smtClean="0"/>
              <a:t>.</a:t>
            </a:r>
          </a:p>
          <a:p>
            <a:r>
              <a:rPr lang="en-US" sz="2600" b="1" dirty="0" smtClean="0"/>
              <a:t>More leakage flux → poorer transformer performance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In practical transformers, </a:t>
            </a:r>
            <a:r>
              <a:rPr lang="en-US" sz="2600" b="1" dirty="0" smtClean="0"/>
              <a:t>primary and secondary windings are placed on the same limb</a:t>
            </a:r>
            <a:r>
              <a:rPr lang="en-US" sz="2600" dirty="0" smtClean="0"/>
              <a:t> to reduce leakage flux and improve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82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Working principle:-How Flux is Produced in a Transformer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25144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When AC voltage is applied to the </a:t>
            </a:r>
            <a:r>
              <a:rPr lang="en-US" sz="3100" b="1" dirty="0" smtClean="0"/>
              <a:t>primary winding</a:t>
            </a:r>
            <a:r>
              <a:rPr lang="en-US" sz="3100" dirty="0" smtClean="0"/>
              <a:t>, AC current flows through it.</a:t>
            </a:r>
          </a:p>
          <a:p>
            <a:r>
              <a:rPr lang="en-US" sz="3100" dirty="0" smtClean="0"/>
              <a:t>This AC current produces a </a:t>
            </a:r>
            <a:r>
              <a:rPr lang="en-US" sz="3100" b="1" dirty="0" smtClean="0"/>
              <a:t>changing magnetic flux</a:t>
            </a:r>
            <a:r>
              <a:rPr lang="en-US" sz="3100" dirty="0" smtClean="0"/>
              <a:t> in the core.</a:t>
            </a:r>
          </a:p>
          <a:p>
            <a:r>
              <a:rPr lang="en-US" sz="3100" dirty="0" smtClean="0"/>
              <a:t>The production of magnetic flux by current is based on </a:t>
            </a:r>
            <a:r>
              <a:rPr lang="en-US" sz="3100" b="1" dirty="0" smtClean="0"/>
              <a:t>Ampere’s Law</a:t>
            </a:r>
            <a:r>
              <a:rPr lang="en-US" sz="3100" dirty="0" smtClean="0"/>
              <a:t>.</a:t>
            </a:r>
          </a:p>
          <a:p>
            <a:r>
              <a:rPr lang="en-US" sz="3100" dirty="0" smtClean="0"/>
              <a:t>According to </a:t>
            </a:r>
            <a:r>
              <a:rPr lang="en-US" sz="3100" b="1" dirty="0" smtClean="0"/>
              <a:t>Faraday’s Law</a:t>
            </a:r>
            <a:r>
              <a:rPr lang="en-US" sz="3100" dirty="0" smtClean="0"/>
              <a:t>, a changing magnetic flux induces an emf.</a:t>
            </a:r>
          </a:p>
          <a:p>
            <a:r>
              <a:rPr lang="en-US" sz="3100" dirty="0" smtClean="0"/>
              <a:t>Therefore, the changing flux in the primary winding induces an emf </a:t>
            </a:r>
            <a:r>
              <a:rPr lang="en-US" sz="3100" b="1" dirty="0" smtClean="0"/>
              <a:t>e₁</a:t>
            </a:r>
            <a:r>
              <a:rPr lang="en-US" sz="3100" dirty="0" smtClean="0"/>
              <a:t> in the primary coil.</a:t>
            </a:r>
          </a:p>
          <a:p>
            <a:endParaRPr lang="en-US" sz="3100" dirty="0" smtClean="0"/>
          </a:p>
          <a:p>
            <a:r>
              <a:rPr lang="en-US" sz="3100" dirty="0" smtClean="0"/>
              <a:t>Simple sequence:</a:t>
            </a:r>
            <a:br>
              <a:rPr lang="en-US" sz="3100" dirty="0" smtClean="0"/>
            </a:br>
            <a:r>
              <a:rPr lang="en-US" sz="3100" b="1" dirty="0" smtClean="0"/>
              <a:t>AC Voltage → AC Current → Changing Flux → Induced emf (e₁)</a:t>
            </a:r>
            <a:endParaRPr lang="en-US" sz="31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81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principle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2816"/>
            <a:ext cx="843528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1622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Diagram to Explain Working Principle(Representation of a transformer)</a:t>
            </a:r>
            <a:endParaRPr lang="en-IN" sz="28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20" y="2662864"/>
            <a:ext cx="8125959" cy="240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5547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Transformer working principle..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2816"/>
            <a:ext cx="8579296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20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548680"/>
            <a:ext cx="4176464" cy="81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8640960" cy="149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02624"/>
            <a:ext cx="8925247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387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EMF Equation</a:t>
            </a:r>
            <a:endParaRPr lang="en-IN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57659"/>
            <a:ext cx="8229600" cy="3011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7529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648875"/>
            <a:ext cx="856793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6382641" cy="10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3568" y="2780928"/>
            <a:ext cx="7200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Iron Loss</a:t>
            </a:r>
            <a:endParaRPr lang="en-US" dirty="0"/>
          </a:p>
          <a:p>
            <a:r>
              <a:rPr lang="en-US" dirty="0"/>
              <a:t>Iron loss happens inside the </a:t>
            </a:r>
            <a:r>
              <a:rPr lang="en-US" b="1" dirty="0"/>
              <a:t>iron core</a:t>
            </a:r>
            <a:r>
              <a:rPr lang="en-US" dirty="0"/>
              <a:t> of a transformer.</a:t>
            </a:r>
          </a:p>
          <a:p>
            <a:r>
              <a:rPr lang="en-US" dirty="0"/>
              <a:t>It occurs because the </a:t>
            </a:r>
            <a:r>
              <a:rPr lang="en-US" b="1" dirty="0"/>
              <a:t>magnetic flux keeps reversing</a:t>
            </a:r>
            <a:r>
              <a:rPr lang="en-US" dirty="0"/>
              <a:t> many times per second.</a:t>
            </a:r>
          </a:p>
          <a:p>
            <a:r>
              <a:rPr lang="en-US" dirty="0"/>
              <a:t>The flux in the core stays </a:t>
            </a:r>
            <a:r>
              <a:rPr lang="en-US" b="1" dirty="0"/>
              <a:t>almost constant</a:t>
            </a:r>
            <a:r>
              <a:rPr lang="en-US" dirty="0"/>
              <a:t>, whether the load is small or large.</a:t>
            </a:r>
          </a:p>
          <a:p>
            <a:r>
              <a:rPr lang="en-US" dirty="0"/>
              <a:t>So, iron loss is also </a:t>
            </a:r>
            <a:r>
              <a:rPr lang="en-US" b="1" dirty="0"/>
              <a:t>almost constant</a:t>
            </a:r>
            <a:r>
              <a:rPr lang="en-US" dirty="0"/>
              <a:t> from no-load to full load.</a:t>
            </a:r>
          </a:p>
          <a:p>
            <a:r>
              <a:rPr lang="en-US" dirty="0"/>
              <a:t>At no-load, the primary current is very small, so copper loss is almost zero.</a:t>
            </a:r>
          </a:p>
          <a:p>
            <a:r>
              <a:rPr lang="en-US" dirty="0"/>
              <a:t>Therefore, the losses at no-load are mainly </a:t>
            </a:r>
            <a:r>
              <a:rPr lang="en-US" b="1" dirty="0"/>
              <a:t>iron losses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143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15045"/>
            <a:ext cx="8229600" cy="429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6734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Hysteresis Loss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Hysteresis loss </a:t>
            </a:r>
            <a:r>
              <a:rPr lang="en-US" dirty="0" smtClean="0"/>
              <a:t>depends </a:t>
            </a:r>
            <a:r>
              <a:rPr lang="en-US" dirty="0"/>
              <a:t>on the following factors</a:t>
            </a:r>
            <a:r>
              <a:rPr lang="en-US" dirty="0" smtClean="0"/>
              <a:t>:-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56992"/>
            <a:ext cx="8650287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86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Eddy current Loss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Eddy Current Loss depends on the following factors:-</a:t>
            </a: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16" y="2924944"/>
            <a:ext cx="8831949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56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Copper Loss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36912"/>
            <a:ext cx="8229600" cy="2232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435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3" y="260648"/>
            <a:ext cx="8715011" cy="1123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4528"/>
            <a:ext cx="8229600" cy="299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649763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42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6672"/>
            <a:ext cx="6468378" cy="60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352928" cy="3904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325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69660"/>
            <a:ext cx="8229600" cy="338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413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6754168" cy="150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26568"/>
            <a:ext cx="663098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61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4" y="620688"/>
            <a:ext cx="8736880" cy="2174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4944"/>
            <a:ext cx="8947389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5904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Equivalent diagram of an Ideal Transformer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575" y="2696206"/>
            <a:ext cx="5372850" cy="233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8243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Equivalent diagram of a Practical Transformer</a:t>
            </a:r>
            <a:endParaRPr lang="en-IN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8072"/>
            <a:ext cx="5772956" cy="2448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933056"/>
            <a:ext cx="7078663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660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48880"/>
            <a:ext cx="871296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0625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229600" cy="27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942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400</Words>
  <Application>Microsoft Office PowerPoint</Application>
  <PresentationFormat>On-screen Show (4:3)</PresentationFormat>
  <Paragraphs>49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4.1-Transformers</vt:lpstr>
      <vt:lpstr>Transformer</vt:lpstr>
      <vt:lpstr>PowerPoint Presentation</vt:lpstr>
      <vt:lpstr>Transformer Core</vt:lpstr>
      <vt:lpstr>PowerPoint Presentation</vt:lpstr>
      <vt:lpstr>Transformer Windings</vt:lpstr>
      <vt:lpstr>Leakage Flux &amp; Winding Arrangement</vt:lpstr>
      <vt:lpstr>Working principle:-How Flux is Produced in a Transformer</vt:lpstr>
      <vt:lpstr>Working principle</vt:lpstr>
      <vt:lpstr>Diagram to Explain Working Principle(Representation of a transformer)</vt:lpstr>
      <vt:lpstr>Transformer working principle..</vt:lpstr>
      <vt:lpstr>PowerPoint Presentation</vt:lpstr>
      <vt:lpstr>EMF Equation</vt:lpstr>
      <vt:lpstr>PowerPoint Presentation</vt:lpstr>
      <vt:lpstr>PowerPoint Presentation</vt:lpstr>
      <vt:lpstr>Hysteresis Loss</vt:lpstr>
      <vt:lpstr>Eddy current Loss</vt:lpstr>
      <vt:lpstr>Copper Loss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Equivalent diagram of an Ideal Transformer</vt:lpstr>
      <vt:lpstr>Equivalent diagram of a Practical Transformer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4.1-Transformers</dc:title>
  <dc:creator>REHNA A SALAM</dc:creator>
  <cp:lastModifiedBy>REHNA A SALAM</cp:lastModifiedBy>
  <cp:revision>24</cp:revision>
  <dcterms:created xsi:type="dcterms:W3CDTF">2025-11-14T05:22:45Z</dcterms:created>
  <dcterms:modified xsi:type="dcterms:W3CDTF">2025-11-18T02:21:55Z</dcterms:modified>
</cp:coreProperties>
</file>