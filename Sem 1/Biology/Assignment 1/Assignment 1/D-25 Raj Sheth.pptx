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Nunito"/>
      <p:regular r:id="rId13"/>
      <p:bold r:id="rId14"/>
      <p:italic r:id="rId15"/>
      <p:boldItalic r:id="rId16"/>
    </p:embeddedFont>
    <p:embeddedFont>
      <p:font typeface="Maven Pro"/>
      <p:regular r:id="rId17"/>
      <p:bold r:id="rId18"/>
    </p:embeddedFont>
    <p:embeddedFont>
      <p:font typeface="Maven Pro Medium"/>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Medium-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italic.fntdata"/><Relationship Id="rId14" Type="http://schemas.openxmlformats.org/officeDocument/2006/relationships/font" Target="fonts/Nunito-bold.fntdata"/><Relationship Id="rId17" Type="http://schemas.openxmlformats.org/officeDocument/2006/relationships/font" Target="fonts/MavenPro-regular.fntdata"/><Relationship Id="rId16" Type="http://schemas.openxmlformats.org/officeDocument/2006/relationships/font" Target="fonts/Nunito-boldItalic.fntdata"/><Relationship Id="rId5" Type="http://schemas.openxmlformats.org/officeDocument/2006/relationships/notesMaster" Target="notesMasters/notesMaster1.xml"/><Relationship Id="rId19" Type="http://schemas.openxmlformats.org/officeDocument/2006/relationships/font" Target="fonts/MavenProMedium-regular.fntdata"/><Relationship Id="rId6" Type="http://schemas.openxmlformats.org/officeDocument/2006/relationships/slide" Target="slides/slide1.xml"/><Relationship Id="rId18" Type="http://schemas.openxmlformats.org/officeDocument/2006/relationships/font" Target="fonts/MavenPr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16901dbf9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816901dbf9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16901dbf9_0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16901dbf9_0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16901dbf9_1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16901dbf9_1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16901dbf9_1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16901dbf9_1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16901dbf9_0_9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16901dbf9_0_9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816901dbf9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816901dbf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pubmed.ncbi.nlm.nih.gov/30370868/" TargetMode="External"/><Relationship Id="rId4" Type="http://schemas.openxmlformats.org/officeDocument/2006/relationships/hyperlink" Target="https://byjus.com/neet/lipase-enzyme/#:~:text=%E2%80%9CLipase%20is%20an%20enzyme%20that,functions%20of%20the%20different%20lipases" TargetMode="External"/><Relationship Id="rId5" Type="http://schemas.openxmlformats.org/officeDocument/2006/relationships/hyperlink" Target="https://infinitabiotech.com/blog/lipase-enzym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824000" y="504575"/>
            <a:ext cx="7747200" cy="2067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GB" u="sng">
                <a:latin typeface="Maven Pro"/>
                <a:ea typeface="Maven Pro"/>
                <a:cs typeface="Maven Pro"/>
                <a:sym typeface="Maven Pro"/>
              </a:rPr>
              <a:t>Enzymatic Processes in Industrial Production &amp; its Application</a:t>
            </a:r>
            <a:endParaRPr b="1" u="sng">
              <a:latin typeface="Maven Pro"/>
              <a:ea typeface="Maven Pro"/>
              <a:cs typeface="Maven Pro"/>
              <a:sym typeface="Maven Pro"/>
            </a:endParaRPr>
          </a:p>
          <a:p>
            <a:pPr indent="0" lvl="0" marL="0" rtl="0" algn="ctr">
              <a:spcBef>
                <a:spcPts val="0"/>
              </a:spcBef>
              <a:spcAft>
                <a:spcPts val="0"/>
              </a:spcAft>
              <a:buNone/>
            </a:pPr>
            <a:r>
              <a:t/>
            </a:r>
            <a:endParaRPr b="1">
              <a:latin typeface="Maven Pro"/>
              <a:ea typeface="Maven Pro"/>
              <a:cs typeface="Maven Pro"/>
              <a:sym typeface="Maven Pro"/>
            </a:endParaRPr>
          </a:p>
          <a:p>
            <a:pPr indent="0" lvl="0" marL="0" rtl="0" algn="ctr">
              <a:spcBef>
                <a:spcPts val="0"/>
              </a:spcBef>
              <a:spcAft>
                <a:spcPts val="0"/>
              </a:spcAft>
              <a:buNone/>
            </a:pPr>
            <a:r>
              <a:t/>
            </a:r>
            <a:endParaRPr/>
          </a:p>
        </p:txBody>
      </p:sp>
      <p:sp>
        <p:nvSpPr>
          <p:cNvPr id="129" name="Google Shape;129;p13"/>
          <p:cNvSpPr txBox="1"/>
          <p:nvPr>
            <p:ph idx="1" type="subTitle"/>
          </p:nvPr>
        </p:nvSpPr>
        <p:spPr>
          <a:xfrm>
            <a:off x="824000" y="3049125"/>
            <a:ext cx="4255500" cy="156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latin typeface="Maven Pro"/>
                <a:ea typeface="Maven Pro"/>
                <a:cs typeface="Maven Pro"/>
                <a:sym typeface="Maven Pro"/>
              </a:rPr>
              <a:t>                </a:t>
            </a:r>
            <a:r>
              <a:rPr b="1" lang="en-GB" sz="1800">
                <a:latin typeface="Maven Pro"/>
                <a:ea typeface="Maven Pro"/>
                <a:cs typeface="Maven Pro"/>
                <a:sym typeface="Maven Pro"/>
              </a:rPr>
              <a:t>Name : Raj Sheth.</a:t>
            </a:r>
            <a:endParaRPr b="1" sz="1800">
              <a:latin typeface="Maven Pro"/>
              <a:ea typeface="Maven Pro"/>
              <a:cs typeface="Maven Pro"/>
              <a:sym typeface="Maven Pro"/>
            </a:endParaRPr>
          </a:p>
          <a:p>
            <a:pPr indent="0" lvl="0" marL="0" rtl="0" algn="l">
              <a:spcBef>
                <a:spcPts val="0"/>
              </a:spcBef>
              <a:spcAft>
                <a:spcPts val="0"/>
              </a:spcAft>
              <a:buNone/>
            </a:pPr>
            <a:r>
              <a:rPr b="1" lang="en-GB" sz="1800">
                <a:latin typeface="Maven Pro"/>
                <a:ea typeface="Maven Pro"/>
                <a:cs typeface="Maven Pro"/>
                <a:sym typeface="Maven Pro"/>
              </a:rPr>
              <a:t>                Sec : Comps</a:t>
            </a:r>
            <a:endParaRPr b="1" sz="1800">
              <a:latin typeface="Maven Pro"/>
              <a:ea typeface="Maven Pro"/>
              <a:cs typeface="Maven Pro"/>
              <a:sym typeface="Maven Pro"/>
            </a:endParaRPr>
          </a:p>
          <a:p>
            <a:pPr indent="0" lvl="0" marL="0" rtl="0" algn="l">
              <a:spcBef>
                <a:spcPts val="0"/>
              </a:spcBef>
              <a:spcAft>
                <a:spcPts val="0"/>
              </a:spcAft>
              <a:buNone/>
            </a:pPr>
            <a:r>
              <a:rPr b="1" lang="en-GB" sz="1800">
                <a:latin typeface="Maven Pro"/>
                <a:ea typeface="Maven Pro"/>
                <a:cs typeface="Maven Pro"/>
                <a:sym typeface="Maven Pro"/>
              </a:rPr>
              <a:t>                D-25</a:t>
            </a:r>
            <a:endParaRPr b="1" sz="1800">
              <a:latin typeface="Maven Pro"/>
              <a:ea typeface="Maven Pro"/>
              <a:cs typeface="Maven Pro"/>
              <a:sym typeface="Maven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33" name="Shape 133"/>
        <p:cNvGrpSpPr/>
        <p:nvPr/>
      </p:nvGrpSpPr>
      <p:grpSpPr>
        <a:xfrm>
          <a:off x="0" y="0"/>
          <a:ext cx="0" cy="0"/>
          <a:chOff x="0" y="0"/>
          <a:chExt cx="0" cy="0"/>
        </a:xfrm>
      </p:grpSpPr>
      <p:sp>
        <p:nvSpPr>
          <p:cNvPr id="134" name="Google Shape;134;p14"/>
          <p:cNvSpPr txBox="1"/>
          <p:nvPr>
            <p:ph type="ctrTitle"/>
          </p:nvPr>
        </p:nvSpPr>
        <p:spPr>
          <a:xfrm>
            <a:off x="824000" y="221825"/>
            <a:ext cx="6801000" cy="1054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latin typeface="Maven Pro"/>
                <a:ea typeface="Maven Pro"/>
                <a:cs typeface="Maven Pro"/>
                <a:sym typeface="Maven Pro"/>
              </a:rPr>
              <a:t> </a:t>
            </a:r>
            <a:r>
              <a:rPr b="1" lang="en-GB">
                <a:latin typeface="Maven Pro"/>
                <a:ea typeface="Maven Pro"/>
                <a:cs typeface="Maven Pro"/>
                <a:sym typeface="Maven Pro"/>
              </a:rPr>
              <a:t>  </a:t>
            </a:r>
            <a:r>
              <a:rPr b="1" lang="en-GB" u="sng">
                <a:latin typeface="Maven Pro"/>
                <a:ea typeface="Maven Pro"/>
                <a:cs typeface="Maven Pro"/>
                <a:sym typeface="Maven Pro"/>
              </a:rPr>
              <a:t> Lipase</a:t>
            </a:r>
            <a:endParaRPr b="1" u="sng">
              <a:latin typeface="Maven Pro"/>
              <a:ea typeface="Maven Pro"/>
              <a:cs typeface="Maven Pro"/>
              <a:sym typeface="Maven Pro"/>
            </a:endParaRPr>
          </a:p>
        </p:txBody>
      </p:sp>
      <p:sp>
        <p:nvSpPr>
          <p:cNvPr id="135" name="Google Shape;135;p14"/>
          <p:cNvSpPr txBox="1"/>
          <p:nvPr>
            <p:ph idx="1" type="subTitle"/>
          </p:nvPr>
        </p:nvSpPr>
        <p:spPr>
          <a:xfrm>
            <a:off x="824000" y="1276625"/>
            <a:ext cx="7801500" cy="354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Maven Pro Medium"/>
                <a:ea typeface="Maven Pro Medium"/>
                <a:cs typeface="Maven Pro Medium"/>
                <a:sym typeface="Maven Pro Medium"/>
              </a:rPr>
              <a:t>Lipase enzyme is a naturally occurring enzyme found in the stomach and pancreatic juice that digests fats and lipids, helping to maintain correct gallbladder function. These are present in animals, plants and as well as from several microorganisms and are sufficiently stable. These are considered as nature's catalysts, but commercially, only microbial lipases are being used significantly. In most of the living organisms, lipase enzymes are essential for digestion and transportation of lipids. In most living organisms, the lipase enzyme plays a crucial role in the digestion and transportation of lipids (fats and oils). Since lipase breaks down fat into smaller pieces, it is quite possible that lipase supplements might help in digestion. That’s the reason why many people use lipase as a medicine.</a:t>
            </a:r>
            <a:endParaRPr>
              <a:latin typeface="Maven Pro Medium"/>
              <a:ea typeface="Maven Pro Medium"/>
              <a:cs typeface="Maven Pro Medium"/>
              <a:sym typeface="Maven Pro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3127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840" u="sng">
                <a:latin typeface="Maven Pro"/>
                <a:ea typeface="Maven Pro"/>
                <a:cs typeface="Maven Pro"/>
                <a:sym typeface="Maven Pro"/>
              </a:rPr>
              <a:t>I</a:t>
            </a:r>
            <a:r>
              <a:rPr b="1" lang="en-GB" sz="2840" u="sng">
                <a:latin typeface="Maven Pro"/>
                <a:ea typeface="Maven Pro"/>
                <a:cs typeface="Maven Pro"/>
                <a:sym typeface="Maven Pro"/>
              </a:rPr>
              <a:t>NDUSTRY APPLICATIONS</a:t>
            </a:r>
            <a:endParaRPr b="1" sz="2840" u="sng">
              <a:latin typeface="Maven Pro"/>
              <a:ea typeface="Maven Pro"/>
              <a:cs typeface="Maven Pro"/>
              <a:sym typeface="Maven Pro"/>
            </a:endParaRPr>
          </a:p>
        </p:txBody>
      </p:sp>
      <p:sp>
        <p:nvSpPr>
          <p:cNvPr id="141" name="Google Shape;141;p15"/>
          <p:cNvSpPr txBox="1"/>
          <p:nvPr>
            <p:ph idx="1" type="body"/>
          </p:nvPr>
        </p:nvSpPr>
        <p:spPr>
          <a:xfrm>
            <a:off x="819150" y="1080825"/>
            <a:ext cx="4979100" cy="3357900"/>
          </a:xfrm>
          <a:prstGeom prst="rect">
            <a:avLst/>
          </a:prstGeom>
        </p:spPr>
        <p:txBody>
          <a:bodyPr anchorCtr="0" anchor="t" bIns="91425" lIns="91425" spcFirstLastPara="1" rIns="91425" wrap="square" tIns="91425">
            <a:normAutofit fontScale="25000" lnSpcReduction="20000"/>
          </a:bodyPr>
          <a:lstStyle/>
          <a:p>
            <a:pPr indent="-309473" lvl="0" marL="457200" rtl="0" algn="l">
              <a:spcBef>
                <a:spcPts val="0"/>
              </a:spcBef>
              <a:spcAft>
                <a:spcPts val="0"/>
              </a:spcAft>
              <a:buClr>
                <a:schemeClr val="lt1"/>
              </a:buClr>
              <a:buSzPct val="100000"/>
              <a:buFont typeface="Maven Pro"/>
              <a:buChar char="●"/>
            </a:pPr>
            <a:r>
              <a:rPr b="1" lang="en-GB" sz="5094" u="sng">
                <a:solidFill>
                  <a:schemeClr val="lt1"/>
                </a:solidFill>
                <a:latin typeface="Maven Pro"/>
                <a:ea typeface="Maven Pro"/>
                <a:cs typeface="Maven Pro"/>
                <a:sym typeface="Maven Pro"/>
              </a:rPr>
              <a:t>Lipase in the food industry </a:t>
            </a:r>
            <a:endParaRPr b="1" sz="5094" u="sng">
              <a:solidFill>
                <a:schemeClr val="lt1"/>
              </a:solidFill>
              <a:latin typeface="Maven Pro"/>
              <a:ea typeface="Maven Pro"/>
              <a:cs typeface="Maven Pro"/>
              <a:sym typeface="Maven Pro"/>
            </a:endParaRPr>
          </a:p>
          <a:p>
            <a:pPr indent="0" lvl="0" marL="0" rtl="0" algn="l">
              <a:spcBef>
                <a:spcPts val="1200"/>
              </a:spcBef>
              <a:spcAft>
                <a:spcPts val="0"/>
              </a:spcAft>
              <a:buNone/>
            </a:pPr>
            <a:r>
              <a:rPr lang="en-GB" sz="5094">
                <a:solidFill>
                  <a:schemeClr val="lt1"/>
                </a:solidFill>
                <a:latin typeface="Maven Pro"/>
                <a:ea typeface="Maven Pro"/>
                <a:cs typeface="Maven Pro"/>
                <a:sym typeface="Maven Pro"/>
              </a:rPr>
              <a:t>Commercial lipases are used in the food industry for adding flavour to dairy products and processing other food containing fats. They can also enhance the characteristic flavour of     cheese by acting on the milk fats to produce free fatty acids after hydrolysis. </a:t>
            </a:r>
            <a:endParaRPr sz="5094">
              <a:solidFill>
                <a:schemeClr val="lt1"/>
              </a:solidFill>
              <a:latin typeface="Maven Pro"/>
              <a:ea typeface="Maven Pro"/>
              <a:cs typeface="Maven Pro"/>
              <a:sym typeface="Maven Pro"/>
            </a:endParaRPr>
          </a:p>
          <a:p>
            <a:pPr indent="0" lvl="0" marL="0" rtl="0" algn="l">
              <a:spcBef>
                <a:spcPts val="1200"/>
              </a:spcBef>
              <a:spcAft>
                <a:spcPts val="0"/>
              </a:spcAft>
              <a:buNone/>
            </a:pPr>
            <a:r>
              <a:t/>
            </a:r>
            <a:endParaRPr sz="3615">
              <a:solidFill>
                <a:schemeClr val="lt1"/>
              </a:solidFill>
              <a:latin typeface="Maven Pro"/>
              <a:ea typeface="Maven Pro"/>
              <a:cs typeface="Maven Pro"/>
              <a:sym typeface="Maven Pro"/>
            </a:endParaRPr>
          </a:p>
          <a:p>
            <a:pPr indent="-307377" lvl="0" marL="457200" rtl="0" algn="l">
              <a:spcBef>
                <a:spcPts val="1200"/>
              </a:spcBef>
              <a:spcAft>
                <a:spcPts val="0"/>
              </a:spcAft>
              <a:buClr>
                <a:schemeClr val="lt1"/>
              </a:buClr>
              <a:buSzPct val="100000"/>
              <a:buFont typeface="Maven Pro"/>
              <a:buChar char="●"/>
            </a:pPr>
            <a:r>
              <a:rPr b="1" lang="en-GB" sz="4962" u="sng">
                <a:solidFill>
                  <a:schemeClr val="lt1"/>
                </a:solidFill>
                <a:latin typeface="Maven Pro"/>
                <a:ea typeface="Maven Pro"/>
                <a:cs typeface="Maven Pro"/>
                <a:sym typeface="Maven Pro"/>
              </a:rPr>
              <a:t>Lipase in the cosmetic industry </a:t>
            </a:r>
            <a:endParaRPr b="1" sz="4962" u="sng">
              <a:solidFill>
                <a:schemeClr val="lt1"/>
              </a:solidFill>
              <a:latin typeface="Maven Pro"/>
              <a:ea typeface="Maven Pro"/>
              <a:cs typeface="Maven Pro"/>
              <a:sym typeface="Maven Pro"/>
            </a:endParaRPr>
          </a:p>
          <a:p>
            <a:pPr indent="0" lvl="0" marL="0" rtl="0" algn="l">
              <a:spcBef>
                <a:spcPts val="1200"/>
              </a:spcBef>
              <a:spcAft>
                <a:spcPts val="0"/>
              </a:spcAft>
              <a:buNone/>
            </a:pPr>
            <a:r>
              <a:rPr lang="en-GB" sz="4962">
                <a:solidFill>
                  <a:schemeClr val="lt1"/>
                </a:solidFill>
                <a:latin typeface="Maven Pro"/>
                <a:ea typeface="Maven Pro"/>
                <a:cs typeface="Maven Pro"/>
                <a:sym typeface="Maven Pro"/>
              </a:rPr>
              <a:t>Presently, lipase is known to be an essential enzyme for biotechnological applications. In the cosmetic industry, this enzyme functions as an active ingredient in the cosmetic formulation and biocatalysts in synthesising specific cosmetic chemicals.</a:t>
            </a:r>
            <a:endParaRPr sz="4962">
              <a:solidFill>
                <a:schemeClr val="lt1"/>
              </a:solidFill>
              <a:latin typeface="Maven Pro"/>
              <a:ea typeface="Maven Pro"/>
              <a:cs typeface="Maven Pro"/>
              <a:sym typeface="Maven Pro"/>
            </a:endParaRPr>
          </a:p>
          <a:p>
            <a:pPr indent="0" lvl="0" marL="0" rtl="0" algn="l">
              <a:lnSpc>
                <a:spcPct val="115000"/>
              </a:lnSpc>
              <a:spcBef>
                <a:spcPts val="1200"/>
              </a:spcBef>
              <a:spcAft>
                <a:spcPts val="0"/>
              </a:spcAft>
              <a:buNone/>
            </a:pPr>
            <a:r>
              <a:t/>
            </a:r>
            <a:endParaRPr sz="1200">
              <a:solidFill>
                <a:schemeClr val="lt1"/>
              </a:solidFill>
              <a:highlight>
                <a:srgbClr val="FFFFFF"/>
              </a:highlight>
              <a:latin typeface="Arial"/>
              <a:ea typeface="Arial"/>
              <a:cs typeface="Arial"/>
              <a:sym typeface="Arial"/>
            </a:endParaRPr>
          </a:p>
          <a:p>
            <a:pPr indent="0" lvl="0" marL="457200" rtl="0" algn="l">
              <a:spcBef>
                <a:spcPts val="1200"/>
              </a:spcBef>
              <a:spcAft>
                <a:spcPts val="0"/>
              </a:spcAft>
              <a:buNone/>
            </a:pPr>
            <a:r>
              <a:t/>
            </a:r>
            <a:endParaRPr sz="1800">
              <a:latin typeface="Maven Pro"/>
              <a:ea typeface="Maven Pro"/>
              <a:cs typeface="Maven Pro"/>
              <a:sym typeface="Maven Pro"/>
            </a:endParaRPr>
          </a:p>
          <a:p>
            <a:pPr indent="0" lvl="0" marL="457200" rtl="0" algn="l">
              <a:spcBef>
                <a:spcPts val="1200"/>
              </a:spcBef>
              <a:spcAft>
                <a:spcPts val="1200"/>
              </a:spcAft>
              <a:buNone/>
            </a:pPr>
            <a:r>
              <a:t/>
            </a:r>
            <a:endParaRPr sz="1800">
              <a:latin typeface="Maven Pro"/>
              <a:ea typeface="Maven Pro"/>
              <a:cs typeface="Maven Pro"/>
              <a:sym typeface="Maven Pro"/>
            </a:endParaRPr>
          </a:p>
        </p:txBody>
      </p:sp>
      <p:sp>
        <p:nvSpPr>
          <p:cNvPr id="142" name="Google Shape;142;p15"/>
          <p:cNvSpPr txBox="1"/>
          <p:nvPr/>
        </p:nvSpPr>
        <p:spPr>
          <a:xfrm>
            <a:off x="4960825" y="1526750"/>
            <a:ext cx="4206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143" name="Google Shape;143;p15"/>
          <p:cNvSpPr txBox="1"/>
          <p:nvPr>
            <p:ph idx="2" type="body"/>
          </p:nvPr>
        </p:nvSpPr>
        <p:spPr>
          <a:xfrm>
            <a:off x="5885125" y="1080900"/>
            <a:ext cx="2439600" cy="3131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4" name="Google Shape;144;p15"/>
          <p:cNvPicPr preferRelativeResize="0"/>
          <p:nvPr/>
        </p:nvPicPr>
        <p:blipFill>
          <a:blip r:embed="rId3">
            <a:alphaModFix/>
          </a:blip>
          <a:stretch>
            <a:fillRect/>
          </a:stretch>
        </p:blipFill>
        <p:spPr>
          <a:xfrm>
            <a:off x="5613250" y="1026525"/>
            <a:ext cx="3197025" cy="3314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ph type="ctrTitle"/>
          </p:nvPr>
        </p:nvSpPr>
        <p:spPr>
          <a:xfrm>
            <a:off x="1687675" y="319700"/>
            <a:ext cx="6187500" cy="115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GB" sz="2820" u="sng">
                <a:latin typeface="Maven Pro"/>
                <a:ea typeface="Maven Pro"/>
                <a:cs typeface="Maven Pro"/>
                <a:sym typeface="Maven Pro"/>
              </a:rPr>
              <a:t>How Lipase Contributes to production in Food Industry</a:t>
            </a:r>
            <a:endParaRPr b="1" sz="2820" u="sng">
              <a:latin typeface="Maven Pro"/>
              <a:ea typeface="Maven Pro"/>
              <a:cs typeface="Maven Pro"/>
              <a:sym typeface="Maven Pro"/>
            </a:endParaRPr>
          </a:p>
        </p:txBody>
      </p:sp>
      <p:sp>
        <p:nvSpPr>
          <p:cNvPr id="150" name="Google Shape;150;p16"/>
          <p:cNvSpPr txBox="1"/>
          <p:nvPr>
            <p:ph idx="1" type="subTitle"/>
          </p:nvPr>
        </p:nvSpPr>
        <p:spPr>
          <a:xfrm>
            <a:off x="404525" y="1396250"/>
            <a:ext cx="5970000" cy="30558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Char char="●"/>
            </a:pPr>
            <a:r>
              <a:rPr b="1" lang="en-GB" u="sng">
                <a:latin typeface="Maven Pro"/>
                <a:ea typeface="Maven Pro"/>
                <a:cs typeface="Maven Pro"/>
                <a:sym typeface="Maven Pro"/>
              </a:rPr>
              <a:t>Flavor Development</a:t>
            </a:r>
            <a:r>
              <a:rPr lang="en-GB">
                <a:latin typeface="Maven Pro"/>
                <a:ea typeface="Maven Pro"/>
                <a:cs typeface="Maven Pro"/>
                <a:sym typeface="Maven Pro"/>
              </a:rPr>
              <a:t>: In the dairy and baking sectors, lipases enhance or create aromatic notes in products like cheese, butter, and bread. </a:t>
            </a:r>
            <a:endParaRPr>
              <a:latin typeface="Maven Pro"/>
              <a:ea typeface="Maven Pro"/>
              <a:cs typeface="Maven Pro"/>
              <a:sym typeface="Maven Pro"/>
            </a:endParaRPr>
          </a:p>
          <a:p>
            <a:pPr indent="-330200" lvl="0" marL="457200" rtl="0" algn="l">
              <a:spcBef>
                <a:spcPts val="0"/>
              </a:spcBef>
              <a:spcAft>
                <a:spcPts val="0"/>
              </a:spcAft>
              <a:buSzPts val="1600"/>
              <a:buChar char="●"/>
            </a:pPr>
            <a:r>
              <a:rPr b="1" lang="en-GB" u="sng">
                <a:latin typeface="Maven Pro"/>
                <a:ea typeface="Maven Pro"/>
                <a:cs typeface="Maven Pro"/>
                <a:sym typeface="Maven Pro"/>
              </a:rPr>
              <a:t>Emulsification</a:t>
            </a:r>
            <a:r>
              <a:rPr lang="en-GB">
                <a:latin typeface="Maven Pro"/>
                <a:ea typeface="Maven Pro"/>
                <a:cs typeface="Maven Pro"/>
                <a:sym typeface="Maven Pro"/>
              </a:rPr>
              <a:t>: They improve the emulsifying properties of egg yolk lipids, leading to better texture and stability. </a:t>
            </a:r>
            <a:endParaRPr>
              <a:latin typeface="Maven Pro"/>
              <a:ea typeface="Maven Pro"/>
              <a:cs typeface="Maven Pro"/>
              <a:sym typeface="Maven Pro"/>
            </a:endParaRPr>
          </a:p>
          <a:p>
            <a:pPr indent="-330200" lvl="0" marL="457200" rtl="0" algn="l">
              <a:spcBef>
                <a:spcPts val="0"/>
              </a:spcBef>
              <a:spcAft>
                <a:spcPts val="0"/>
              </a:spcAft>
              <a:buSzPts val="1600"/>
              <a:buChar char="●"/>
            </a:pPr>
            <a:r>
              <a:rPr b="1" lang="en-GB" u="sng">
                <a:latin typeface="Maven Pro"/>
                <a:ea typeface="Maven Pro"/>
                <a:cs typeface="Maven Pro"/>
                <a:sym typeface="Maven Pro"/>
              </a:rPr>
              <a:t>Functional Ingredients</a:t>
            </a:r>
            <a:r>
              <a:rPr lang="en-GB">
                <a:latin typeface="Maven Pro"/>
                <a:ea typeface="Maven Pro"/>
                <a:cs typeface="Maven Pro"/>
                <a:sym typeface="Maven Pro"/>
              </a:rPr>
              <a:t>: Lipases help in creating new functional ingredients like cocoa butter or human milk fat equivalents by modifying fats and oils. </a:t>
            </a:r>
            <a:endParaRPr>
              <a:latin typeface="Maven Pro"/>
              <a:ea typeface="Maven Pro"/>
              <a:cs typeface="Maven Pro"/>
              <a:sym typeface="Maven Pro"/>
            </a:endParaRPr>
          </a:p>
          <a:p>
            <a:pPr indent="-330200" lvl="0" marL="457200" rtl="0" algn="l">
              <a:spcBef>
                <a:spcPts val="0"/>
              </a:spcBef>
              <a:spcAft>
                <a:spcPts val="0"/>
              </a:spcAft>
              <a:buSzPts val="1600"/>
              <a:buChar char="●"/>
            </a:pPr>
            <a:r>
              <a:rPr b="1" lang="en-GB" u="sng">
                <a:latin typeface="Maven Pro"/>
                <a:ea typeface="Maven Pro"/>
                <a:cs typeface="Maven Pro"/>
                <a:sym typeface="Maven Pro"/>
              </a:rPr>
              <a:t>Modified Oils</a:t>
            </a:r>
            <a:r>
              <a:rPr lang="en-GB">
                <a:latin typeface="Maven Pro"/>
                <a:ea typeface="Maven Pro"/>
                <a:cs typeface="Maven Pro"/>
                <a:sym typeface="Maven Pro"/>
              </a:rPr>
              <a:t>: They can modify vegetable oils to create fats with properties similar to human milk fat, suitable for infant formulas.</a:t>
            </a:r>
            <a:endParaRPr>
              <a:latin typeface="Maven Pro"/>
              <a:ea typeface="Maven Pro"/>
              <a:cs typeface="Maven Pro"/>
              <a:sym typeface="Maven Pro"/>
            </a:endParaRPr>
          </a:p>
          <a:p>
            <a:pPr indent="0" lvl="0" marL="457200" rtl="0" algn="l">
              <a:spcBef>
                <a:spcPts val="0"/>
              </a:spcBef>
              <a:spcAft>
                <a:spcPts val="0"/>
              </a:spcAft>
              <a:buNone/>
            </a:pPr>
            <a:r>
              <a:t/>
            </a:r>
            <a:endParaRPr>
              <a:latin typeface="Maven Pro"/>
              <a:ea typeface="Maven Pro"/>
              <a:cs typeface="Maven Pro"/>
              <a:sym typeface="Maven Pro"/>
            </a:endParaRPr>
          </a:p>
        </p:txBody>
      </p:sp>
      <p:pic>
        <p:nvPicPr>
          <p:cNvPr id="151" name="Google Shape;151;p16"/>
          <p:cNvPicPr preferRelativeResize="0"/>
          <p:nvPr/>
        </p:nvPicPr>
        <p:blipFill>
          <a:blip r:embed="rId3">
            <a:alphaModFix/>
          </a:blip>
          <a:stretch>
            <a:fillRect/>
          </a:stretch>
        </p:blipFill>
        <p:spPr>
          <a:xfrm>
            <a:off x="6374525" y="1472300"/>
            <a:ext cx="2327025" cy="2327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ctrTitle"/>
          </p:nvPr>
        </p:nvSpPr>
        <p:spPr>
          <a:xfrm>
            <a:off x="1858700" y="471950"/>
            <a:ext cx="5361300" cy="967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GB" u="sng">
                <a:latin typeface="Maven Pro"/>
                <a:ea typeface="Maven Pro"/>
                <a:cs typeface="Maven Pro"/>
                <a:sym typeface="Maven Pro"/>
              </a:rPr>
              <a:t>Role as an Engineering student</a:t>
            </a:r>
            <a:endParaRPr b="1" u="sng">
              <a:latin typeface="Maven Pro"/>
              <a:ea typeface="Maven Pro"/>
              <a:cs typeface="Maven Pro"/>
              <a:sym typeface="Maven Pro"/>
            </a:endParaRPr>
          </a:p>
        </p:txBody>
      </p:sp>
      <p:sp>
        <p:nvSpPr>
          <p:cNvPr id="157" name="Google Shape;157;p17"/>
          <p:cNvSpPr txBox="1"/>
          <p:nvPr>
            <p:ph idx="1" type="subTitle"/>
          </p:nvPr>
        </p:nvSpPr>
        <p:spPr>
          <a:xfrm>
            <a:off x="586550" y="1700725"/>
            <a:ext cx="8123100" cy="163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Maven Pro"/>
                <a:ea typeface="Maven Pro"/>
                <a:cs typeface="Maven Pro"/>
                <a:sym typeface="Maven Pro"/>
              </a:rPr>
              <a:t>As a computer engineering student , I can help the food industry by not directly working with lipase in the lab, but by designing software, simulations, automation, AI models, and IoT systems that make lipase applications cheaper, faster, and more reliable. </a:t>
            </a:r>
            <a:endParaRPr>
              <a:latin typeface="Maven Pro"/>
              <a:ea typeface="Maven Pro"/>
              <a:cs typeface="Maven Pro"/>
              <a:sym typeface="Maven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ctrTitle"/>
          </p:nvPr>
        </p:nvSpPr>
        <p:spPr>
          <a:xfrm>
            <a:off x="824000" y="167475"/>
            <a:ext cx="7083600" cy="100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u="sng">
                <a:latin typeface="Maven Pro"/>
                <a:ea typeface="Maven Pro"/>
                <a:cs typeface="Maven Pro"/>
                <a:sym typeface="Maven Pro"/>
              </a:rPr>
              <a:t>References</a:t>
            </a:r>
            <a:endParaRPr b="1" u="sng">
              <a:latin typeface="Maven Pro"/>
              <a:ea typeface="Maven Pro"/>
              <a:cs typeface="Maven Pro"/>
              <a:sym typeface="Maven Pro"/>
            </a:endParaRPr>
          </a:p>
        </p:txBody>
      </p:sp>
      <p:sp>
        <p:nvSpPr>
          <p:cNvPr id="163" name="Google Shape;163;p18"/>
          <p:cNvSpPr txBox="1"/>
          <p:nvPr>
            <p:ph idx="1" type="subTitle"/>
          </p:nvPr>
        </p:nvSpPr>
        <p:spPr>
          <a:xfrm>
            <a:off x="824000" y="1026525"/>
            <a:ext cx="7964400" cy="379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u="sng">
                <a:solidFill>
                  <a:schemeClr val="hlink"/>
                </a:solidFill>
                <a:latin typeface="Maven Pro"/>
                <a:ea typeface="Maven Pro"/>
                <a:cs typeface="Maven Pro"/>
                <a:sym typeface="Maven Pro"/>
                <a:hlinkClick r:id="rId3"/>
              </a:rPr>
              <a:t>https://pubmed.ncbi.nlm.nih.gov/30370868/</a:t>
            </a:r>
            <a:endParaRPr>
              <a:latin typeface="Maven Pro"/>
              <a:ea typeface="Maven Pro"/>
              <a:cs typeface="Maven Pro"/>
              <a:sym typeface="Maven Pro"/>
            </a:endParaRPr>
          </a:p>
          <a:p>
            <a:pPr indent="0" lvl="0" marL="0" rtl="0" algn="ctr">
              <a:spcBef>
                <a:spcPts val="0"/>
              </a:spcBef>
              <a:spcAft>
                <a:spcPts val="0"/>
              </a:spcAft>
              <a:buNone/>
            </a:pPr>
            <a:r>
              <a:t/>
            </a:r>
            <a:endParaRPr>
              <a:latin typeface="Maven Pro"/>
              <a:ea typeface="Maven Pro"/>
              <a:cs typeface="Maven Pro"/>
              <a:sym typeface="Maven Pro"/>
            </a:endParaRPr>
          </a:p>
          <a:p>
            <a:pPr indent="0" lvl="0" marL="0" rtl="0" algn="ctr">
              <a:spcBef>
                <a:spcPts val="0"/>
              </a:spcBef>
              <a:spcAft>
                <a:spcPts val="0"/>
              </a:spcAft>
              <a:buNone/>
            </a:pPr>
            <a:r>
              <a:rPr lang="en-GB" u="sng">
                <a:solidFill>
                  <a:schemeClr val="accent5"/>
                </a:solidFill>
                <a:latin typeface="Maven Pro"/>
                <a:ea typeface="Maven Pro"/>
                <a:cs typeface="Maven Pro"/>
                <a:sym typeface="Maven Pro"/>
                <a:hlinkClick r:id="rId4">
                  <a:extLst>
                    <a:ext uri="{A12FA001-AC4F-418D-AE19-62706E023703}">
                      <ahyp:hlinkClr val="tx"/>
                    </a:ext>
                  </a:extLst>
                </a:hlinkClick>
              </a:rPr>
              <a:t>https://byjus.com/neet/lipase-enzyme/#:~:text=%E2%80%9CLipase%20is%20an%2\0enzyme%20that,functions%20of%20the%20different%20lipases</a:t>
            </a:r>
            <a:r>
              <a:rPr lang="en-GB">
                <a:latin typeface="Maven Pro"/>
                <a:ea typeface="Maven Pro"/>
                <a:cs typeface="Maven Pro"/>
                <a:sym typeface="Maven Pro"/>
              </a:rPr>
              <a:t>.</a:t>
            </a:r>
            <a:endParaRPr>
              <a:latin typeface="Maven Pro"/>
              <a:ea typeface="Maven Pro"/>
              <a:cs typeface="Maven Pro"/>
              <a:sym typeface="Maven Pro"/>
            </a:endParaRPr>
          </a:p>
          <a:p>
            <a:pPr indent="0" lvl="0" marL="0" rtl="0" algn="ctr">
              <a:spcBef>
                <a:spcPts val="0"/>
              </a:spcBef>
              <a:spcAft>
                <a:spcPts val="0"/>
              </a:spcAft>
              <a:buNone/>
            </a:pPr>
            <a:r>
              <a:t/>
            </a:r>
            <a:endParaRPr>
              <a:latin typeface="Maven Pro"/>
              <a:ea typeface="Maven Pro"/>
              <a:cs typeface="Maven Pro"/>
              <a:sym typeface="Maven Pro"/>
            </a:endParaRPr>
          </a:p>
          <a:p>
            <a:pPr indent="0" lvl="0" marL="0" rtl="0" algn="l">
              <a:spcBef>
                <a:spcPts val="0"/>
              </a:spcBef>
              <a:spcAft>
                <a:spcPts val="0"/>
              </a:spcAft>
              <a:buNone/>
            </a:pPr>
            <a:r>
              <a:rPr lang="en-GB" u="sng">
                <a:solidFill>
                  <a:schemeClr val="hlink"/>
                </a:solidFill>
                <a:latin typeface="Maven Pro"/>
                <a:ea typeface="Maven Pro"/>
                <a:cs typeface="Maven Pro"/>
                <a:sym typeface="Maven Pro"/>
                <a:hlinkClick r:id="rId5"/>
              </a:rPr>
              <a:t>https://infinitabiotech.com/blog/lipase-enzyme/</a:t>
            </a:r>
            <a:endParaRPr>
              <a:latin typeface="Maven Pro"/>
              <a:ea typeface="Maven Pro"/>
              <a:cs typeface="Maven Pro"/>
              <a:sym typeface="Maven Pro"/>
            </a:endParaRPr>
          </a:p>
          <a:p>
            <a:pPr indent="0" lvl="0" marL="0" rtl="0" algn="l">
              <a:spcBef>
                <a:spcPts val="0"/>
              </a:spcBef>
              <a:spcAft>
                <a:spcPts val="0"/>
              </a:spcAft>
              <a:buNone/>
            </a:pPr>
            <a:r>
              <a:t/>
            </a:r>
            <a:endParaRPr>
              <a:latin typeface="Maven Pro"/>
              <a:ea typeface="Maven Pro"/>
              <a:cs typeface="Maven Pro"/>
              <a:sym typeface="Maven Pro"/>
            </a:endParaRPr>
          </a:p>
          <a:p>
            <a:pPr indent="0" lvl="0" marL="0" rtl="0" algn="l">
              <a:spcBef>
                <a:spcPts val="0"/>
              </a:spcBef>
              <a:spcAft>
                <a:spcPts val="0"/>
              </a:spcAft>
              <a:buNone/>
            </a:pPr>
            <a:r>
              <a:t/>
            </a:r>
            <a:endParaRPr>
              <a:latin typeface="Maven Pro"/>
              <a:ea typeface="Maven Pro"/>
              <a:cs typeface="Maven Pro"/>
              <a:sym typeface="Maven Pro"/>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4000"/>
              <a:t>Thank You</a:t>
            </a:r>
            <a:endParaRPr sz="4000"/>
          </a:p>
        </p:txBody>
      </p:sp>
      <p:sp>
        <p:nvSpPr>
          <p:cNvPr id="169" name="Google Shape;169;p19"/>
          <p:cNvSpPr txBox="1"/>
          <p:nvPr>
            <p:ph idx="1" type="subTitle"/>
          </p:nvPr>
        </p:nvSpPr>
        <p:spPr>
          <a:xfrm>
            <a:off x="824000" y="3596300"/>
            <a:ext cx="3747900" cy="69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