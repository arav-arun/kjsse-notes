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773490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85696837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5020420"/>
      </p:ext>
    </p:extLst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763439"/>
            <a:ext cx="7192913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03664566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12618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76450"/>
            <a:ext cx="3642631" cy="362267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8037" y="2076451"/>
            <a:ext cx="3642631" cy="3622672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50500432"/>
      </p:ext>
    </p:extLst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xmlns="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85346" y="1734507"/>
            <a:ext cx="37719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xmlns="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78768" y="1734507"/>
            <a:ext cx="37719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4510" y="1855153"/>
            <a:ext cx="3573573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4510" y="2702104"/>
            <a:ext cx="3573573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2374" y="1855153"/>
            <a:ext cx="3584687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2376" y="2702104"/>
            <a:ext cx="3584686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1326569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2018785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14658522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1"/>
            <a:ext cx="4808943" cy="50800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673351"/>
            <a:ext cx="2780167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7822026"/>
      </p:ext>
    </p:extLst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xmlns="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70249" y="609600"/>
            <a:ext cx="2688125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763702"/>
            <a:ext cx="4280924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763702"/>
            <a:ext cx="2456813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5273" y="2679700"/>
            <a:ext cx="3441071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9623832"/>
      </p:ext>
    </p:extLst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xmlns="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0413" y="547807"/>
            <a:ext cx="760634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695010"/>
            <a:ext cx="738401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247728"/>
            <a:ext cx="776532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9909237"/>
      </p:ext>
    </p:extLst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27192570"/>
      </p:ext>
    </p:extLst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23F0D53-0705-41B7-8554-09D21E7807F9}"/>
              </a:ext>
            </a:extLst>
          </p:cNvPr>
          <p:cNvSpPr txBox="1"/>
          <p:nvPr/>
        </p:nvSpPr>
        <p:spPr>
          <a:xfrm>
            <a:off x="742950" y="88479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7F647CD-0F1A-4BB3-89E0-A74F1E1B098D}"/>
              </a:ext>
            </a:extLst>
          </p:cNvPr>
          <p:cNvSpPr txBox="1"/>
          <p:nvPr/>
        </p:nvSpPr>
        <p:spPr>
          <a:xfrm>
            <a:off x="7878537" y="29282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153686266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36018056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768112"/>
            <a:ext cx="2475738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768112"/>
            <a:ext cx="2475738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768111"/>
            <a:ext cx="2475738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29148880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xmlns="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73472" y="1818215"/>
            <a:ext cx="2504979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xmlns="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02850" y="1818215"/>
            <a:ext cx="2504979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xmlns="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952038" y="1818215"/>
            <a:ext cx="2504979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572443"/>
            <a:ext cx="2475738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4572442"/>
            <a:ext cx="2475738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572442"/>
            <a:ext cx="2475738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25734466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4059253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26808883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76450"/>
            <a:ext cx="776532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60007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AD8CB88-2CFF-4FB4-9D05-82BF23C32C8E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6000750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6000750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521F2F3-F6EF-4212-8EEE-686678473C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10146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ransition>
    <p:fade thruBlk="1"/>
  </p:transition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878818119319188" TargetMode="External"/><Relationship Id="rId2" Type="http://schemas.openxmlformats.org/officeDocument/2006/relationships/hyperlink" Target="https://en.wikipedia.org/wiki/Invertas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769541"/>
            <a:ext cx="8229600" cy="1049859"/>
          </a:xfrm>
        </p:spPr>
        <p:txBody>
          <a:bodyPr/>
          <a:lstStyle/>
          <a:p>
            <a:r>
              <a:rPr lang="en-US" dirty="0" smtClean="0"/>
              <a:t>ENZYME:-INVERTASE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3276600"/>
            <a:ext cx="7080026" cy="1049867"/>
          </a:xfrm>
        </p:spPr>
        <p:txBody>
          <a:bodyPr/>
          <a:lstStyle/>
          <a:p>
            <a:r>
              <a:rPr lang="en-US" dirty="0" smtClean="0"/>
              <a:t>An </a:t>
            </a:r>
            <a:r>
              <a:rPr lang="en-US" sz="3200" dirty="0" smtClean="0"/>
              <a:t>Industrially</a:t>
            </a:r>
            <a:r>
              <a:rPr lang="en-US" dirty="0" smtClean="0"/>
              <a:t> Important Enzyme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5334000"/>
            <a:ext cx="708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pitchFamily="49" charset="0"/>
              </a:rPr>
              <a:t>PRESENTATION BY-MEET </a:t>
            </a:r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pitchFamily="49" charset="0"/>
              </a:rPr>
              <a:t>THACKER</a:t>
            </a:r>
          </a:p>
          <a:p>
            <a:pPr algn="ctr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pitchFamily="49" charset="0"/>
              </a:rPr>
              <a:t>DIV:D</a:t>
            </a:r>
          </a:p>
          <a:p>
            <a:pPr algn="ctr"/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pitchFamily="49" charset="0"/>
              </a:rPr>
              <a:t>ROLL NO.46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" pitchFamily="49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81000"/>
            <a:ext cx="7765322" cy="1295400"/>
          </a:xfrm>
        </p:spPr>
        <p:txBody>
          <a:bodyPr>
            <a:normAutofit/>
          </a:bodyPr>
          <a:lstStyle/>
          <a:p>
            <a:r>
              <a:rPr lang="en-US" sz="3200" dirty="0" err="1" smtClean="0"/>
              <a:t>Invertase</a:t>
            </a:r>
            <a:r>
              <a:rPr lang="en-US" sz="3200" dirty="0" smtClean="0"/>
              <a:t>=An Enzyme That Breaks Down Sucrose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65322" cy="3714749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Sucrose         Glucose + Fructose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Sucrose is a single disaccharide molecule made of glucose and fructose linked together by a </a:t>
            </a:r>
            <a:r>
              <a:rPr lang="en-US" dirty="0" err="1" smtClean="0">
                <a:solidFill>
                  <a:schemeClr val="tx1"/>
                </a:solidFill>
              </a:rPr>
              <a:t>glycosidic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bond.When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invertase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acts,it</a:t>
            </a:r>
            <a:r>
              <a:rPr lang="en-US" dirty="0" smtClean="0">
                <a:solidFill>
                  <a:schemeClr val="tx1"/>
                </a:solidFill>
              </a:rPr>
              <a:t> breaks this </a:t>
            </a:r>
            <a:r>
              <a:rPr lang="en-US" dirty="0" err="1" smtClean="0">
                <a:solidFill>
                  <a:schemeClr val="tx1"/>
                </a:solidFill>
              </a:rPr>
              <a:t>glycosidic</a:t>
            </a:r>
            <a:r>
              <a:rPr lang="en-US" dirty="0" smtClean="0">
                <a:solidFill>
                  <a:schemeClr val="tx1"/>
                </a:solidFill>
              </a:rPr>
              <a:t> bond.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After the break down to glucose and fructose the mixture of this  two forms the important thing that is </a:t>
            </a:r>
            <a:r>
              <a:rPr lang="en-US" b="1" u="sng" dirty="0" smtClean="0">
                <a:solidFill>
                  <a:schemeClr val="tx1"/>
                </a:solidFill>
              </a:rPr>
              <a:t>INVERT SUGAR.</a:t>
            </a:r>
            <a:endParaRPr lang="en-US" dirty="0" smtClean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057400" y="22860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atGPT Image Sep 14, 2025, 10_48_19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0"/>
            <a:ext cx="9144000" cy="2286000"/>
          </a:xfrm>
          <a:prstGeom prst="rect">
            <a:avLst/>
          </a:prstGeom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INVERT SUGAR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800" dirty="0" smtClean="0"/>
              <a:t>It is sweeter than sucrose(because fructose is very sweet).</a:t>
            </a:r>
          </a:p>
          <a:p>
            <a:r>
              <a:rPr lang="en-US" sz="2800" dirty="0" smtClean="0"/>
              <a:t>More soluble in water and more soluble than sucrose.</a:t>
            </a:r>
          </a:p>
          <a:p>
            <a:r>
              <a:rPr lang="en-US" sz="2800" dirty="0" smtClean="0"/>
              <a:t>Helps prevent crystallization of sugar.</a:t>
            </a:r>
          </a:p>
          <a:p>
            <a:r>
              <a:rPr lang="en-US" sz="2800" dirty="0" err="1" smtClean="0"/>
              <a:t>Invertase</a:t>
            </a:r>
            <a:r>
              <a:rPr lang="en-US" sz="2800" dirty="0" smtClean="0"/>
              <a:t> Works Best At pH(4.5-5.5),Moderate Temperature(50-60*C),And High Sucrose Concentration-These Conditions  Are Usually Maintained In The Food Industry For Maximum Production Of Invert Sugar. </a:t>
            </a:r>
            <a:endParaRPr lang="en-US" sz="2800" dirty="0"/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SOURCES OF INVERTASE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sz="3200" dirty="0" smtClean="0"/>
              <a:t>Produced Naturally By Yeast</a:t>
            </a:r>
          </a:p>
          <a:p>
            <a:r>
              <a:rPr lang="en-US" sz="3200" dirty="0" smtClean="0"/>
              <a:t>Some Insects Like Honeybees Produce </a:t>
            </a:r>
            <a:r>
              <a:rPr lang="en-US" sz="3200" dirty="0" err="1" smtClean="0"/>
              <a:t>Invertase</a:t>
            </a:r>
            <a:r>
              <a:rPr lang="en-US" sz="3200" dirty="0" smtClean="0"/>
              <a:t> In Their Saliva</a:t>
            </a:r>
          </a:p>
          <a:p>
            <a:r>
              <a:rPr lang="en-US" sz="3200" dirty="0" smtClean="0"/>
              <a:t>Fungi Produces </a:t>
            </a:r>
            <a:r>
              <a:rPr lang="en-US" sz="3200" dirty="0" err="1" smtClean="0"/>
              <a:t>Invertase</a:t>
            </a:r>
            <a:r>
              <a:rPr lang="en-US" sz="3200" dirty="0" smtClean="0"/>
              <a:t> On large Scale</a:t>
            </a:r>
          </a:p>
          <a:p>
            <a:endParaRPr lang="en-US" sz="3200" dirty="0" smtClean="0"/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INDUSTRIAL ROLE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828800"/>
            <a:ext cx="7765322" cy="4648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800" b="1" dirty="0" smtClean="0">
              <a:latin typeface="Courier" pitchFamily="49" charset="0"/>
            </a:endParaRPr>
          </a:p>
          <a:p>
            <a:r>
              <a:rPr lang="en-US" sz="1800" b="1" dirty="0" smtClean="0">
                <a:latin typeface="Courier" pitchFamily="49" charset="0"/>
              </a:rPr>
              <a:t>Industrial Role:</a:t>
            </a:r>
          </a:p>
          <a:p>
            <a:endParaRPr lang="en-US" sz="1800" b="1" dirty="0" smtClean="0">
              <a:latin typeface="Courier" pitchFamily="49" charset="0"/>
            </a:endParaRPr>
          </a:p>
          <a:p>
            <a:r>
              <a:rPr lang="en-US" sz="1800" b="1" dirty="0" smtClean="0">
                <a:latin typeface="Courier" pitchFamily="49" charset="0"/>
              </a:rPr>
              <a:t>*Confectionery Industry: </a:t>
            </a:r>
            <a:r>
              <a:rPr lang="en-US" sz="1800" b="1" dirty="0" err="1" smtClean="0">
                <a:latin typeface="Courier" pitchFamily="49" charset="0"/>
              </a:rPr>
              <a:t>Invertase</a:t>
            </a:r>
            <a:r>
              <a:rPr lang="en-US" sz="1800" b="1" dirty="0" smtClean="0">
                <a:latin typeface="Courier" pitchFamily="49" charset="0"/>
              </a:rPr>
              <a:t> is widely used in making soft-centered chocolates and candies. The enzyme converts sucrose inside the chocolate coating into invert sugar, which keeps the center soft and creamy.</a:t>
            </a:r>
          </a:p>
          <a:p>
            <a:r>
              <a:rPr lang="en-US" sz="1800" b="1" dirty="0" smtClean="0">
                <a:latin typeface="Courier" pitchFamily="49" charset="0"/>
              </a:rPr>
              <a:t>Food &amp; Beverage </a:t>
            </a:r>
            <a:r>
              <a:rPr lang="en-US" sz="1800" b="1" dirty="0" err="1" smtClean="0">
                <a:latin typeface="Courier" pitchFamily="49" charset="0"/>
              </a:rPr>
              <a:t>Industry:It</a:t>
            </a:r>
            <a:r>
              <a:rPr lang="en-US" sz="1800" b="1" dirty="0" smtClean="0">
                <a:latin typeface="Courier" pitchFamily="49" charset="0"/>
              </a:rPr>
              <a:t> helps improve sweetness, prevent crystallization in syrups, and extend shelf life of baked goods.</a:t>
            </a:r>
          </a:p>
          <a:p>
            <a:r>
              <a:rPr lang="en-US" sz="1800" b="1" dirty="0" smtClean="0">
                <a:latin typeface="Courier" pitchFamily="49" charset="0"/>
              </a:rPr>
              <a:t>Pharmaceuticals: Sometimes used in syrups to improve solubility and sweetness.</a:t>
            </a:r>
          </a:p>
          <a:p>
            <a:pPr>
              <a:buNone/>
            </a:pPr>
            <a:endParaRPr lang="en-US" sz="1800" b="1" dirty="0" smtClean="0">
              <a:latin typeface="Courier" pitchFamily="49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would I do to make this industry more efficient?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According to my research in the industry bioreactors are used grow yeast that produces </a:t>
            </a:r>
            <a:r>
              <a:rPr lang="en-US" dirty="0" err="1" smtClean="0"/>
              <a:t>invertase</a:t>
            </a:r>
            <a:r>
              <a:rPr lang="en-US" dirty="0" smtClean="0"/>
              <a:t>, so here we can build a software which keeps an eye on the bio-reactor and notify that the process in the bio-reactor is complete.</a:t>
            </a:r>
          </a:p>
          <a:p>
            <a:r>
              <a:rPr lang="en-US" dirty="0" smtClean="0"/>
              <a:t>Another thing is  agitators and aerators which maintain mixing of glucose and sucrose and oxygen </a:t>
            </a:r>
            <a:r>
              <a:rPr lang="en-US" dirty="0" err="1" smtClean="0"/>
              <a:t>supply.Here</a:t>
            </a:r>
            <a:r>
              <a:rPr lang="en-US" dirty="0" smtClean="0"/>
              <a:t> we can build an automation </a:t>
            </a:r>
            <a:r>
              <a:rPr lang="en-US" dirty="0" err="1" smtClean="0"/>
              <a:t>thyrough</a:t>
            </a:r>
            <a:r>
              <a:rPr lang="en-US" dirty="0" smtClean="0"/>
              <a:t> sensors and a software which analysis the oxygen levels and mixing and  do it more efficiently than a </a:t>
            </a:r>
            <a:r>
              <a:rPr lang="en-US" dirty="0" err="1" smtClean="0"/>
              <a:t>human,which</a:t>
            </a:r>
            <a:r>
              <a:rPr lang="en-US" dirty="0" smtClean="0"/>
              <a:t> finally leads to quality production.</a:t>
            </a:r>
          </a:p>
          <a:p>
            <a:endParaRPr lang="en-US" dirty="0"/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51250" indent="-514350">
              <a:buNone/>
            </a:pPr>
            <a:r>
              <a:rPr lang="en-US" sz="2800" dirty="0" smtClean="0">
                <a:latin typeface="Courier" pitchFamily="49" charset="0"/>
              </a:rPr>
              <a:t>WIKIPEDIA</a:t>
            </a:r>
          </a:p>
          <a:p>
            <a:pPr>
              <a:buNone/>
            </a:pPr>
            <a:r>
              <a:rPr lang="en-US" sz="2800" dirty="0" smtClean="0">
                <a:latin typeface="Courier" pitchFamily="49" charset="0"/>
                <a:hlinkClick r:id="rId2"/>
              </a:rPr>
              <a:t>https://en.wikipedia.org/wiki/Invertase</a:t>
            </a:r>
            <a:endParaRPr lang="en-US" sz="2800" dirty="0" smtClean="0">
              <a:latin typeface="Courier" pitchFamily="49" charset="0"/>
            </a:endParaRPr>
          </a:p>
          <a:p>
            <a:pPr>
              <a:buNone/>
            </a:pPr>
            <a:r>
              <a:rPr lang="en-US" sz="2800" dirty="0" smtClean="0">
                <a:latin typeface="Courier" pitchFamily="49" charset="0"/>
              </a:rPr>
              <a:t>SCIENCEDIRECT</a:t>
            </a:r>
          </a:p>
          <a:p>
            <a:pPr>
              <a:buNone/>
            </a:pPr>
            <a:r>
              <a:rPr lang="en-US" sz="2800" dirty="0" smtClean="0">
                <a:latin typeface="Courier" pitchFamily="49" charset="0"/>
                <a:hlinkClick r:id="rId3"/>
              </a:rPr>
              <a:t>https://www.sciencedirect.com/science/article/abs/pii/S1878818119319188</a:t>
            </a:r>
            <a:r>
              <a:rPr lang="en-US" sz="2800" dirty="0" smtClean="0">
                <a:latin typeface="Courier" pitchFamily="49" charset="0"/>
              </a:rPr>
              <a:t> </a:t>
            </a:r>
          </a:p>
          <a:p>
            <a:pPr marL="551250" indent="-514350">
              <a:buNone/>
            </a:pPr>
            <a:endParaRPr lang="en-US" sz="2800" dirty="0">
              <a:latin typeface="Courier" pitchFamily="49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4600" y="2819401"/>
            <a:ext cx="5936068" cy="144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smtClean="0">
                <a:latin typeface="Courier" pitchFamily="49" charset="0"/>
              </a:rPr>
              <a:t>THANK YOU</a:t>
            </a:r>
            <a:endParaRPr lang="en-US" sz="5400" dirty="0">
              <a:latin typeface="Courier" pitchFamily="49" charset="0"/>
            </a:endParaRPr>
          </a:p>
        </p:txBody>
      </p:sp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3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Slate">
      <a:majorFont>
        <a:latin typeface="Bodoni MT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ateVTI" id="{35C4A07C-0176-4A32-9BCB-B016516853F0}" vid="{9B70D35C-BCA8-4715-BB49-8BE54A7FC0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974</TotalTime>
  <Words>330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Theme3</vt:lpstr>
      <vt:lpstr>ENZYME:-INVERTASE</vt:lpstr>
      <vt:lpstr>Invertase=An Enzyme That Breaks Down Sucrose</vt:lpstr>
      <vt:lpstr>INVERT SUGAR</vt:lpstr>
      <vt:lpstr>SOURCES OF INVERTASE</vt:lpstr>
      <vt:lpstr>INDUSTRIAL ROLE</vt:lpstr>
      <vt:lpstr>What would I do to make this industry more efficient?</vt:lpstr>
      <vt:lpstr>REFERENCES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ENZYME:-INVERTASE</dc:title>
  <dc:creator>Hi</dc:creator>
  <cp:lastModifiedBy>Hi</cp:lastModifiedBy>
  <cp:revision>2</cp:revision>
  <dcterms:created xsi:type="dcterms:W3CDTF">2025-09-10T16:01:14Z</dcterms:created>
  <dcterms:modified xsi:type="dcterms:W3CDTF">2025-09-14T05:42:59Z</dcterms:modified>
</cp:coreProperties>
</file>