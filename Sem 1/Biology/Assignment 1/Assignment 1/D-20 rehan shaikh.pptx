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11"/>
  </p:handoutMasterIdLst>
  <p:sldIdLst>
    <p:sldId id="325" r:id="rId3"/>
    <p:sldId id="326" r:id="rId4"/>
    <p:sldId id="257" r:id="rId5"/>
    <p:sldId id="261" r:id="rId6"/>
    <p:sldId id="341" r:id="rId7"/>
    <p:sldId id="263" r:id="rId9"/>
    <p:sldId id="3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C89EF96-8CEA-46FF-86C4-4CE0E760980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0" autoAdjust="0"/>
  </p:normalViewPr>
  <p:slideViewPr>
    <p:cSldViewPr snapToGrid="0" showGuides="1">
      <p:cViewPr varScale="1">
        <p:scale>
          <a:sx n="103" d="100"/>
          <a:sy n="103" d="100"/>
        </p:scale>
        <p:origin x="852" y="10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microsoft.com/office/2018/10/relationships/authors" Target="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/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</a:fld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</a:fld>
            <a:endParaRPr 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3" hasCustomPrompt="1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mpbio.com/us/carbonic-anhydrase?srsltid=AfmBOopaCen3q9wYGx1ZJHMvaj6f7rZewvlwQSz9-PbbyiKHDjoYYlSy" TargetMode="External"/><Relationship Id="rId8" Type="http://schemas.openxmlformats.org/officeDocument/2006/relationships/hyperlink" Target="https://www.britannica.com/science/carbonic-anhydrase" TargetMode="External"/><Relationship Id="rId7" Type="http://schemas.openxmlformats.org/officeDocument/2006/relationships/hyperlink" Target="https://pdb101.rcsb.org/motm/49" TargetMode="External"/><Relationship Id="rId6" Type="http://schemas.openxmlformats.org/officeDocument/2006/relationships/hyperlink" Target="https://www.sciencedirect.com/science/article/pii/S0163725896001982" TargetMode="External"/><Relationship Id="rId5" Type="http://schemas.openxmlformats.org/officeDocument/2006/relationships/hyperlink" Target="https://pmc.ncbi.nlm.nih.gov/articles/PMC6695913/" TargetMode="External"/><Relationship Id="rId4" Type="http://schemas.openxmlformats.org/officeDocument/2006/relationships/hyperlink" Target="https://www.sciencedirect.com/topics/medicine-and-dentistry/carbonic-anhydrase" TargetMode="External"/><Relationship Id="rId3" Type="http://schemas.openxmlformats.org/officeDocument/2006/relationships/hyperlink" Target="https://letstalkscience.ca/sites/default/files/2021-01/Robot_thinking.jpg" TargetMode="External"/><Relationship Id="rId2" Type="http://schemas.openxmlformats.org/officeDocument/2006/relationships/hyperlink" Target="https://images.ctfassets.net/grb5fvwhwnyo/5jKbpb2iWQhnSGXeY4KRwg/3d56c7fe5e96e75d19fbfad95c5f0229/card-premiumization-in-beverage-industry.jpg" TargetMode="External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en.wikipedia.org/wiki/Carbonic_anhydra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>
                <a:latin typeface="Arial Rounded MT Bold" panose="020F0704030504030204" charset="0"/>
                <a:cs typeface="Arial Rounded MT Bold" panose="020F0704030504030204" charset="0"/>
              </a:rPr>
              <a:t>Carbonic anhydrase</a:t>
            </a:r>
            <a:endParaRPr lang="en-US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452188" y="6064178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800" dirty="0">
                <a:latin typeface="Artifakt Element Light" panose="020B0303050000020004" charset="0"/>
                <a:cs typeface="Artifakt Element Light" panose="020B0303050000020004" charset="0"/>
              </a:rPr>
              <a:t>Rehan shaikh d-20</a:t>
            </a:r>
            <a:endParaRPr lang="en-US" sz="1800" dirty="0">
              <a:latin typeface="Artifakt Element Light" panose="020B0303050000020004" charset="0"/>
              <a:cs typeface="Artifakt Element Light" panose="020B03030500000200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470" y="1097280"/>
            <a:ext cx="4114800" cy="498255"/>
          </a:xfrm>
        </p:spPr>
        <p:txBody>
          <a:bodyPr/>
          <a:lstStyle/>
          <a:p>
            <a:r>
              <a:rPr lang="en-US" dirty="0">
                <a:latin typeface="Arial Black" panose="020B0A04020102020204" charset="0"/>
                <a:cs typeface="Arial Black" panose="020B0A04020102020204" charset="0"/>
              </a:rPr>
              <a:t>Lyases class</a:t>
            </a:r>
            <a:r>
              <a:rPr lang="en-US" dirty="0">
                <a:latin typeface="Arial Black" panose="020B0A04020102020204" charset="0"/>
                <a:cs typeface="Arial Black" panose="020B0A04020102020204" charset="0"/>
              </a:rPr>
              <a:t> </a:t>
            </a:r>
            <a:endParaRPr 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17" y="2308108"/>
            <a:ext cx="4114800" cy="265176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800" dirty="0">
                <a:latin typeface="Segoe UI Symbol" panose="020B0502040204020203" charset="0"/>
                <a:cs typeface="Segoe UI Symbol" panose="020B0502040204020203" charset="0"/>
              </a:rPr>
              <a:t>Lyases are a class of enzymes (EC 4) that catalyze the breaking of chemical bonds in substrates, other than by hydrolysis or oxidation</a:t>
            </a:r>
            <a:endParaRPr lang="en-US" sz="1800" dirty="0">
              <a:latin typeface="Segoe UI Symbol" panose="020B0502040204020203" charset="0"/>
              <a:cs typeface="Segoe UI Symbol" panose="020B0502040204020203" charset="0"/>
            </a:endParaRPr>
          </a:p>
          <a:p>
            <a:r>
              <a:rPr lang="en-US" altLang="en-US" sz="1800" dirty="0">
                <a:latin typeface="Segoe UI Symbol" panose="020B0502040204020203" charset="0"/>
                <a:cs typeface="Segoe UI Symbol" panose="020B0502040204020203" charset="0"/>
              </a:rPr>
              <a:t>They play a key role in metabolic pathways, such as the citric acid cycle and amino acid metabolism.</a:t>
            </a:r>
            <a:endParaRPr lang="en-US" altLang="en-US" sz="1800" dirty="0">
              <a:latin typeface="Segoe UI Symbol" panose="020B0502040204020203" charset="0"/>
              <a:cs typeface="Segoe UI Symbol" panose="020B0502040204020203" charset="0"/>
            </a:endParaRPr>
          </a:p>
          <a:p>
            <a:pPr marL="0" indent="0">
              <a:buNone/>
            </a:pPr>
            <a:endParaRPr lang="en-US" sz="1800" dirty="0">
              <a:latin typeface="Segoe UI Symbol" panose="020B0502040204020203" charset="0"/>
              <a:cs typeface="Segoe UI Symbol" panose="020B0502040204020203" charset="0"/>
            </a:endParaRPr>
          </a:p>
        </p:txBody>
      </p:sp>
      <p:pic>
        <p:nvPicPr>
          <p:cNvPr id="1028" name="Picture 4" descr="Lyase - an overview | ScienceDirect Topics"/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" b="1476"/>
          <a:stretch>
            <a:fillRect/>
          </a:stretch>
        </p:blipFill>
        <p:spPr bwMode="auto">
          <a:xfrm>
            <a:off x="6919595" y="748665"/>
            <a:ext cx="4616450" cy="311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15535" y="3790950"/>
            <a:ext cx="4814570" cy="2175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56158"/>
            <a:ext cx="10241280" cy="2286000"/>
          </a:xfrm>
          <a:noFill/>
        </p:spPr>
        <p:txBody>
          <a:bodyPr anchor="b" anchorCtr="0"/>
          <a:lstStyle/>
          <a:p>
            <a:r>
              <a:rPr lang="en-US" dirty="0">
                <a:latin typeface="Arial Rounded MT Bold" panose="020F0704030504030204" charset="0"/>
                <a:cs typeface="Arial Rounded MT Bold" panose="020F0704030504030204" charset="0"/>
              </a:rPr>
              <a:t>Carbonic anhydrase</a:t>
            </a:r>
            <a:endParaRPr lang="en-US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2640" y="3469408"/>
            <a:ext cx="8046720" cy="1393247"/>
          </a:xfrm>
          <a:noFill/>
        </p:spPr>
        <p:txBody>
          <a:bodyPr>
            <a:normAutofit fontScale="80000"/>
          </a:bodyPr>
          <a:lstStyle/>
          <a:p>
            <a:r>
              <a:rPr lang="en-IN" dirty="0">
                <a:latin typeface="Artifakt Element Light" panose="020B0303050000020004" charset="0"/>
                <a:cs typeface="Artifakt Element Light" panose="020B0303050000020004" charset="0"/>
              </a:rPr>
              <a:t>Carbonic anhydrase is a zinc-containing enzyme of the </a:t>
            </a:r>
            <a:r>
              <a:rPr lang="en-IN" b="1" i="1" dirty="0">
                <a:solidFill>
                  <a:srgbClr val="C00000"/>
                </a:solidFill>
                <a:latin typeface="Artifakt Element Light" panose="020B0303050000020004" charset="0"/>
                <a:cs typeface="Artifakt Element Light" panose="020B0303050000020004" charset="0"/>
              </a:rPr>
              <a:t>lyase class</a:t>
            </a:r>
            <a:r>
              <a:rPr lang="en-IN" dirty="0">
                <a:latin typeface="Artifakt Element Light" panose="020B0303050000020004" charset="0"/>
                <a:cs typeface="Artifakt Element Light" panose="020B0303050000020004" charset="0"/>
              </a:rPr>
              <a:t> (EC 4.2.1.1) that </a:t>
            </a:r>
            <a:r>
              <a:rPr lang="en-IN" dirty="0" err="1">
                <a:latin typeface="Artifakt Element Light" panose="020B0303050000020004" charset="0"/>
                <a:cs typeface="Artifakt Element Light" panose="020B0303050000020004" charset="0"/>
              </a:rPr>
              <a:t>catalyzes</a:t>
            </a:r>
            <a:r>
              <a:rPr lang="en-IN" dirty="0">
                <a:latin typeface="Artifakt Element Light" panose="020B0303050000020004" charset="0"/>
                <a:cs typeface="Artifakt Element Light" panose="020B0303050000020004" charset="0"/>
              </a:rPr>
              <a:t> the reversible hydration of </a:t>
            </a:r>
            <a:r>
              <a:rPr lang="en-IN" b="1" dirty="0">
                <a:latin typeface="Artifakt Element Light" panose="020B0303050000020004" charset="0"/>
                <a:cs typeface="Artifakt Element Light" panose="020B0303050000020004" charset="0"/>
              </a:rPr>
              <a:t>carbon dioxide to carbonic acid</a:t>
            </a:r>
            <a:r>
              <a:rPr lang="en-IN" dirty="0">
                <a:latin typeface="Artifakt Element Light" panose="020B0303050000020004" charset="0"/>
                <a:cs typeface="Artifakt Element Light" panose="020B0303050000020004" charset="0"/>
              </a:rPr>
              <a:t>. It plays a crucial role in physiological processes such as respiration, CO₂ transport, and pH regulation.</a:t>
            </a:r>
            <a:endParaRPr lang="en-US" dirty="0">
              <a:latin typeface="Artifakt Element Light" panose="020B0303050000020004" charset="0"/>
              <a:cs typeface="Artifakt Element Light" panose="020B0303050000020004" charset="0"/>
            </a:endParaRPr>
          </a:p>
        </p:txBody>
      </p:sp>
      <p:pic>
        <p:nvPicPr>
          <p:cNvPr id="2050" name="Picture 2" descr="Opthalmic Carbonic Anhydrase Inhibitors | Pharmacology Education Projec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127" y="5164841"/>
            <a:ext cx="5013745" cy="135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202851" y="6308886"/>
            <a:ext cx="35443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Corbel Light" panose="020B0303020204020204" pitchFamily="34" charset="0"/>
              </a:rPr>
              <a:t>https://www.pharmacologyeducation.org/sites/default/files/Carb_anhydrase_reaction.jpg</a:t>
            </a:r>
            <a:endParaRPr lang="en-IN" sz="1050" dirty="0">
              <a:latin typeface="Corbel Light" panose="020B03030202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731520"/>
          </a:xfrm>
          <a:noFill/>
        </p:spPr>
        <p:txBody>
          <a:bodyPr/>
          <a:lstStyle/>
          <a:p>
            <a:r>
              <a:rPr lang="en-US" dirty="0"/>
              <a:t>functions</a:t>
            </a:r>
            <a:endParaRPr lang="en-US" dirty="0"/>
          </a:p>
        </p:txBody>
      </p:sp>
      <p:pic>
        <p:nvPicPr>
          <p:cNvPr id="16" name="Picture Placeholder 15" descr="Pipette over three glass jars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1149159" y="1828800"/>
            <a:ext cx="3200400" cy="3200400"/>
          </a:xfr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22196" y="2320647"/>
            <a:ext cx="7023101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Carbonic anhydrase is widely present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red blood cells, kidneys, and various tissues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It helps in maintaining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blood pH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 by rapidly converting CO₂ into bicarbonate and vice versa.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The enzyme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highly efficient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, capable of catalyzing millions of reactions per second.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In medicine, its inhibitors are used to treat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glaucoma, epilepsy, and fluid retention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Industrially, it is applied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carbon capture technologies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CO₂ management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Light" panose="020B0303050000020004" charset="0"/>
                <a:cs typeface="Artifakt Element Light" panose="020B0303050000020004" charset="0"/>
              </a:rPr>
              <a:t> processes.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4622" y="1194835"/>
            <a:ext cx="10358286" cy="1077686"/>
          </a:xfrm>
        </p:spPr>
        <p:txBody>
          <a:bodyPr/>
          <a:lstStyle/>
          <a:p>
            <a:r>
              <a:rPr lang="en-IN" dirty="0">
                <a:latin typeface="Arial Rounded MT Bold" panose="020F0704030504030204" charset="0"/>
                <a:cs typeface="Arial Rounded MT Bold" panose="020F0704030504030204" charset="0"/>
              </a:rPr>
              <a:t>Industrial applications</a:t>
            </a:r>
            <a:endParaRPr lang="en-IN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4099" name="Picture 3" descr="Home - Lincoln Pharmaceutical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686" y="2535348"/>
            <a:ext cx="2892457" cy="17359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5" descr="What is carbon capture and storage, and how does it work?"/>
          <p:cNvSpPr>
            <a:spLocks noChangeAspect="1" noChangeArrowheads="1"/>
          </p:cNvSpPr>
          <p:nvPr/>
        </p:nvSpPr>
        <p:spPr bwMode="auto">
          <a:xfrm>
            <a:off x="5943600" y="3276600"/>
            <a:ext cx="2341984" cy="234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4105" name="Picture 9" descr="What Is Premiumization in the Beverage Industry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009" y="4711931"/>
            <a:ext cx="3058015" cy="17359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6"/>
          <p:cNvSpPr txBox="1"/>
          <p:nvPr/>
        </p:nvSpPr>
        <p:spPr>
          <a:xfrm>
            <a:off x="636270" y="2535555"/>
            <a:ext cx="79775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-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Beverage Industry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– Improves efficiency in 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carbonating drinks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and controlling CO₂ levels in beverages.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-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Biocatalysis &amp; Biosensors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– Used in 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CO₂ sensors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and enzyme-based systems for monitoring or chemical processes.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-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Environmental Engineering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– Helps in 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CO₂ sequestration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and conversion into stable forms like bicarbonates or carbonates.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Light" panose="020B0303050000020004" charset="0"/>
              <a:cs typeface="Artifakt Element Light" panose="020B03030500000200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-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Pharmaceutical Applications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– Although indirect, engineered carbonic anhydrases are explored in drug delivery and 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medical devices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related to CO₂/bicarbonate balance.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-1205865" y="5062220"/>
            <a:ext cx="73018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828800" marR="0" lvl="4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-</a:t>
            </a:r>
            <a:r>
              <a:rPr lang="en-US" altLang="en-US" b="1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Carbon Capture &amp; Storage (CCS)</a:t>
            </a:r>
            <a:r>
              <a:rPr lang="en-US" altLang="en-US" dirty="0">
                <a:ln>
                  <a:noFill/>
                </a:ln>
                <a:effectLst/>
                <a:latin typeface="Artifakt Element Light" panose="020B0303050000020004" charset="0"/>
                <a:cs typeface="Artifakt Element Light" panose="020B0303050000020004" charset="0"/>
                <a:sym typeface="+mn-ea"/>
              </a:rPr>
              <a:t> – Speeds up the absorption of CO₂ from industrial flue gases into solutions, helping reduce greenhouse gas emissions.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-740612"/>
            <a:ext cx="7136550" cy="1828800"/>
          </a:xfrm>
          <a:noFill/>
        </p:spPr>
        <p:txBody>
          <a:bodyPr/>
          <a:lstStyle/>
          <a:p>
            <a:r>
              <a:rPr lang="en-US" altLang="en-US" dirty="0">
                <a:latin typeface="Arial Rounded MT Bold" panose="020F0704030504030204" charset="0"/>
                <a:cs typeface="Arial Rounded MT Bold" panose="020F0704030504030204" charset="0"/>
              </a:rPr>
              <a:t>From the standpoint of an engineer</a:t>
            </a:r>
            <a:endParaRPr lang="en-US" altLang="en-US" dirty="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165" y="2241538"/>
            <a:ext cx="5029199" cy="494522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Develop software to </a:t>
            </a:r>
            <a:r>
              <a:rPr lang="en-US" sz="1400" b="1" dirty="0">
                <a:latin typeface="Artifakt Element Light" panose="020B0303050000020004" charset="0"/>
                <a:cs typeface="Artifakt Element Light" panose="020B0303050000020004" charset="0"/>
              </a:rPr>
              <a:t>simulate carbonic anhydrase kinetics</a:t>
            </a:r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, helping chemical/biochemical engineers optimize CO₂ capture systems.</a:t>
            </a:r>
            <a:r>
              <a:rPr lang="en-US" sz="1400" b="1" dirty="0">
                <a:latin typeface="Artifakt Element Light" panose="020B0303050000020004" charset="0"/>
                <a:cs typeface="Artifakt Element Light" panose="020B0303050000020004" charset="0"/>
              </a:rPr>
              <a:t> Visualize reaction dynamics</a:t>
            </a:r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 under various industrial conditions to guide process design.</a:t>
            </a:r>
            <a:endParaRPr lang="en-US" sz="1400" dirty="0">
              <a:latin typeface="Artifakt Element Light" panose="020B0303050000020004" charset="0"/>
              <a:cs typeface="Artifakt Element Light" panose="020B0303050000020004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4445086" y="5808293"/>
            <a:ext cx="5278887" cy="58311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4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Use </a:t>
            </a:r>
            <a:r>
              <a:rPr lang="en-US" sz="1400" b="1" dirty="0">
                <a:latin typeface="Artifakt Element Light" panose="020B0303050000020004" charset="0"/>
                <a:cs typeface="Artifakt Element Light" panose="020B0303050000020004" charset="0"/>
              </a:rPr>
              <a:t>machine learning</a:t>
            </a:r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 to predict enzyme behavior under different industrial conditions, improving efficiency and </a:t>
            </a:r>
            <a:r>
              <a:rPr lang="en-US" sz="1400" dirty="0" err="1">
                <a:latin typeface="Artifakt Element Light" panose="020B0303050000020004" charset="0"/>
                <a:cs typeface="Artifakt Element Light" panose="020B0303050000020004" charset="0"/>
              </a:rPr>
              <a:t>stability.</a:t>
            </a:r>
            <a:r>
              <a:rPr lang="en-US" sz="1400" b="1" dirty="0" err="1">
                <a:latin typeface="Artifakt Element Light" panose="020B0303050000020004" charset="0"/>
                <a:cs typeface="Artifakt Element Light" panose="020B0303050000020004" charset="0"/>
              </a:rPr>
              <a:t>Analyze</a:t>
            </a:r>
            <a:r>
              <a:rPr lang="en-US" sz="1400" b="1" dirty="0">
                <a:latin typeface="Artifakt Element Light" panose="020B0303050000020004" charset="0"/>
                <a:cs typeface="Artifakt Element Light" panose="020B0303050000020004" charset="0"/>
              </a:rPr>
              <a:t> large datasets</a:t>
            </a:r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 from experiments to identify patterns and optimize enzyme performance</a:t>
            </a:r>
            <a:endParaRPr lang="en-US" sz="1400" dirty="0">
              <a:latin typeface="Artifakt Element Light" panose="020B0303050000020004" charset="0"/>
              <a:cs typeface="Artifakt Element Light" panose="020B0303050000020004" charset="0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3263222" y="4160421"/>
            <a:ext cx="5029199" cy="494522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4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Develop </a:t>
            </a:r>
            <a:r>
              <a:rPr lang="en-US" sz="1400" b="1" dirty="0">
                <a:latin typeface="Artifakt Element Light" panose="020B0303050000020004" charset="0"/>
                <a:cs typeface="Artifakt Element Light" panose="020B0303050000020004" charset="0"/>
              </a:rPr>
              <a:t>computational tools</a:t>
            </a:r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 for enzyme design, mutation analysis, and predicting the effects of changes on activity and stability.</a:t>
            </a:r>
            <a:r>
              <a:rPr lang="en-US" sz="1400" b="1" dirty="0">
                <a:latin typeface="Artifakt Element Light" panose="020B0303050000020004" charset="0"/>
                <a:cs typeface="Artifakt Element Light" panose="020B0303050000020004" charset="0"/>
              </a:rPr>
              <a:t> Collaborate with molecular biologists</a:t>
            </a:r>
            <a:r>
              <a:rPr lang="en-US" sz="1400" dirty="0">
                <a:latin typeface="Artifakt Element Light" panose="020B0303050000020004" charset="0"/>
                <a:cs typeface="Artifakt Element Light" panose="020B0303050000020004" charset="0"/>
              </a:rPr>
              <a:t> to suggest modifications that enhance industrial performance.</a:t>
            </a:r>
            <a:endParaRPr lang="en-US" sz="1400" dirty="0">
              <a:latin typeface="Artifakt Element Light" panose="020B0303050000020004" charset="0"/>
              <a:cs typeface="Artifakt Element Light" panose="020B0303050000020004" charset="0"/>
            </a:endParaRPr>
          </a:p>
          <a:p>
            <a:endParaRPr lang="en-US" sz="1100" dirty="0">
              <a:latin typeface="Artifakt Element Light" panose="020B0303050000020004" charset="0"/>
              <a:cs typeface="Artifakt Element Light" panose="020B0303050000020004" charset="0"/>
            </a:endParaRPr>
          </a:p>
        </p:txBody>
      </p:sp>
      <p:pic>
        <p:nvPicPr>
          <p:cNvPr id="5122" name="Picture 2" descr="Introduction to molecular modeling in drug discovery - Schröding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8" y="1385075"/>
            <a:ext cx="2884186" cy="1488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AI Revolutionizing Data Analytics: The Future! | Colaber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992" y="2862954"/>
            <a:ext cx="2863104" cy="17178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hat is Machine Learning? - Let's Talk Sci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081" y="4654943"/>
            <a:ext cx="2190965" cy="20824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266" y="1988353"/>
            <a:ext cx="7891832" cy="4431108"/>
          </a:xfrm>
        </p:spPr>
        <p:txBody>
          <a:bodyPr>
            <a:normAutofit/>
          </a:bodyPr>
          <a:lstStyle/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1"/>
              </a:rPr>
              <a:t>https://en.wikipedia.org/wiki/Carbonic_anhydrase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2"/>
              </a:rPr>
              <a:t>https://images.ctfassets.net/grb5fvwhwnyo/5jKbpb2iWQhnSGXeY4KRwg/3d56c7fe5e96e75d19fbfad95c5f0229/card-premiumization-in-beverage-industry.jpg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3"/>
              </a:rPr>
              <a:t>https://letstalkscience.ca/sites/default/files/2021-01/Robot_thinking.jpg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4"/>
              </a:rPr>
              <a:t>https://www.sciencedirect.com/topics/medicine-and-dentistry/carbonic-anhydrase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5"/>
              </a:rPr>
              <a:t>https://pmc.ncbi.nlm.nih.gov/articles/PMC6695913/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6"/>
              </a:rPr>
              <a:t>https://www.sciencedirect.com/science/article/pii/S0163725896001982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7"/>
              </a:rPr>
              <a:t>https://pdb101.rcsb.org/motm/49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8"/>
              </a:rPr>
              <a:t>https://www.britannica.com/science/carbonic-anhydrase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r>
              <a:rPr lang="en-IN" sz="1200" dirty="0">
                <a:latin typeface="HP Simplified" panose="020B0604020204020204" charset="0"/>
                <a:cs typeface="HP Simplified" panose="020B0604020204020204" charset="0"/>
                <a:hlinkClick r:id="rId9"/>
              </a:rPr>
              <a:t>https://www.mpbio.com/us/carbonic-anhydrase?srsltid=AfmBOopaCen3q9wYGx1ZJHMvaj6f7rZewvlwQSz9-PbbyiKHDjoYYlSy</a:t>
            </a:r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  <a:p>
            <a:endParaRPr lang="en-IN" sz="1200" dirty="0">
              <a:latin typeface="HP Simplified" panose="020B0604020204020204" charset="0"/>
              <a:cs typeface="HP Simplified" panose="020B0604020204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/>
</ds:datastoreItem>
</file>

<file path=customXml/itemProps2.xml><?xml version="1.0" encoding="utf-8"?>
<ds:datastoreItem xmlns:ds="http://schemas.openxmlformats.org/officeDocument/2006/customXml" ds:itemID="{B881D8D6-8849-400B-8BC9-21D401C7DD06}">
  <ds:schemaRefs/>
</ds:datastoreItem>
</file>

<file path=customXml/itemProps3.xml><?xml version="1.0" encoding="utf-8"?>
<ds:datastoreItem xmlns:ds="http://schemas.openxmlformats.org/officeDocument/2006/customXml" ds:itemID="{DF8397A0-8C35-4EEE-8E61-47C914415B5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{6340DC5B-3045-48B8-9E12-DB1C2B64E590}tf67061901_win32</Template>
  <TotalTime>0</TotalTime>
  <Words>3117</Words>
  <Application>WPS Presentation</Application>
  <PresentationFormat>Widescreen</PresentationFormat>
  <Paragraphs>55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8" baseType="lpstr">
      <vt:lpstr>Arial</vt:lpstr>
      <vt:lpstr>SimSun</vt:lpstr>
      <vt:lpstr>Wingdings</vt:lpstr>
      <vt:lpstr>Posterama</vt:lpstr>
      <vt:lpstr>AmdtSymbols</vt:lpstr>
      <vt:lpstr>Courier New</vt:lpstr>
      <vt:lpstr>Arial Rounded MT Bold</vt:lpstr>
      <vt:lpstr>Artifakt Element Light</vt:lpstr>
      <vt:lpstr>Segoe UI Symbol</vt:lpstr>
      <vt:lpstr>Corbel Light</vt:lpstr>
      <vt:lpstr>HP Simplified</vt:lpstr>
      <vt:lpstr>Daytona Condensed Light</vt:lpstr>
      <vt:lpstr>AMGDT</vt:lpstr>
      <vt:lpstr>Microsoft YaHei</vt:lpstr>
      <vt:lpstr>Arial Unicode MS</vt:lpstr>
      <vt:lpstr>Calibri</vt:lpstr>
      <vt:lpstr>Agency FB</vt:lpstr>
      <vt:lpstr>Algerian</vt:lpstr>
      <vt:lpstr>Arial Black</vt:lpstr>
      <vt:lpstr>Arial Narrow</vt:lpstr>
      <vt:lpstr>Custom</vt:lpstr>
      <vt:lpstr>Carbonic anhydrase</vt:lpstr>
      <vt:lpstr>Lyases class </vt:lpstr>
      <vt:lpstr>Carbonic anhydrase</vt:lpstr>
      <vt:lpstr>functions</vt:lpstr>
      <vt:lpstr>Industrial applications</vt:lpstr>
      <vt:lpstr>From the standpoint of an engineer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Rijawana Shaikh</dc:creator>
  <cp:lastModifiedBy>Rehan Shaikh</cp:lastModifiedBy>
  <cp:revision>3</cp:revision>
  <dcterms:created xsi:type="dcterms:W3CDTF">2025-09-20T11:27:00Z</dcterms:created>
  <dcterms:modified xsi:type="dcterms:W3CDTF">2025-09-20T15:39:21Z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335074C06EB54233A9415D9A6FA83799_12</vt:lpwstr>
  </property>
  <property fmtid="{D5CDD505-2E9C-101B-9397-08002B2CF9AE}" pid="5" name="KSOProductBuildVer">
    <vt:lpwstr>1033-12.2.0.22549</vt:lpwstr>
  </property>
</Properties>
</file>