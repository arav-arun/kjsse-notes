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55" d="100"/>
          <a:sy n="55" d="100"/>
        </p:scale>
        <p:origin x="236" y="1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4B6F770-FA6F-4777-A9B6-2C7ABD8593AC}" type="datetimeFigureOut">
              <a:rPr lang="en-IN" smtClean="0"/>
              <a:t>10-09-2025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22CDB4-07FD-4995-A5CB-1D9828F74139}" type="slidenum">
              <a:rPr lang="en-IN" smtClean="0"/>
              <a:t>‹#›</a:t>
            </a:fld>
            <a:endParaRPr lang="en-IN"/>
          </a:p>
        </p:txBody>
      </p:sp>
    </p:spTree>
    <p:extLst>
      <p:ext uri="{BB962C8B-B14F-4D97-AF65-F5344CB8AC3E}">
        <p14:creationId xmlns:p14="http://schemas.microsoft.com/office/powerpoint/2010/main" val="11183364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B6F770-FA6F-4777-A9B6-2C7ABD8593AC}" type="datetimeFigureOut">
              <a:rPr lang="en-IN" smtClean="0"/>
              <a:t>10-09-2025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22CDB4-07FD-4995-A5CB-1D9828F74139}" type="slidenum">
              <a:rPr lang="en-IN" smtClean="0"/>
              <a:t>‹#›</a:t>
            </a:fld>
            <a:endParaRPr lang="en-IN"/>
          </a:p>
        </p:txBody>
      </p:sp>
    </p:spTree>
    <p:extLst>
      <p:ext uri="{BB962C8B-B14F-4D97-AF65-F5344CB8AC3E}">
        <p14:creationId xmlns:p14="http://schemas.microsoft.com/office/powerpoint/2010/main" val="3564228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B6F770-FA6F-4777-A9B6-2C7ABD8593AC}" type="datetimeFigureOut">
              <a:rPr lang="en-IN" smtClean="0"/>
              <a:t>10-09-2025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22CDB4-07FD-4995-A5CB-1D9828F74139}" type="slidenum">
              <a:rPr lang="en-IN" smtClean="0"/>
              <a:t>‹#›</a:t>
            </a:fld>
            <a:endParaRPr lang="en-IN"/>
          </a:p>
        </p:txBody>
      </p:sp>
    </p:spTree>
    <p:extLst>
      <p:ext uri="{BB962C8B-B14F-4D97-AF65-F5344CB8AC3E}">
        <p14:creationId xmlns:p14="http://schemas.microsoft.com/office/powerpoint/2010/main" val="1445055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4B6F770-FA6F-4777-A9B6-2C7ABD8593AC}" type="datetimeFigureOut">
              <a:rPr lang="en-IN" smtClean="0"/>
              <a:t>10-09-2025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422CDB4-07FD-4995-A5CB-1D9828F74139}" type="slidenum">
              <a:rPr lang="en-IN" smtClean="0"/>
              <a:t>‹#›</a:t>
            </a:fld>
            <a:endParaRPr lang="en-IN"/>
          </a:p>
        </p:txBody>
      </p:sp>
    </p:spTree>
    <p:extLst>
      <p:ext uri="{BB962C8B-B14F-4D97-AF65-F5344CB8AC3E}">
        <p14:creationId xmlns:p14="http://schemas.microsoft.com/office/powerpoint/2010/main" val="1187385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4B6F770-FA6F-4777-A9B6-2C7ABD8593AC}" type="datetimeFigureOut">
              <a:rPr lang="en-IN" smtClean="0"/>
              <a:t>10-09-2025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422CDB4-07FD-4995-A5CB-1D9828F74139}" type="slidenum">
              <a:rPr lang="en-IN" smtClean="0"/>
              <a:t>‹#›</a:t>
            </a:fld>
            <a:endParaRPr lang="en-IN"/>
          </a:p>
        </p:txBody>
      </p:sp>
    </p:spTree>
    <p:extLst>
      <p:ext uri="{BB962C8B-B14F-4D97-AF65-F5344CB8AC3E}">
        <p14:creationId xmlns:p14="http://schemas.microsoft.com/office/powerpoint/2010/main" val="22228853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4B6F770-FA6F-4777-A9B6-2C7ABD8593AC}" type="datetimeFigureOut">
              <a:rPr lang="en-IN" smtClean="0"/>
              <a:t>10-09-2025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422CDB4-07FD-4995-A5CB-1D9828F74139}" type="slidenum">
              <a:rPr lang="en-IN" smtClean="0"/>
              <a:t>‹#›</a:t>
            </a:fld>
            <a:endParaRPr lang="en-IN"/>
          </a:p>
        </p:txBody>
      </p:sp>
    </p:spTree>
    <p:extLst>
      <p:ext uri="{BB962C8B-B14F-4D97-AF65-F5344CB8AC3E}">
        <p14:creationId xmlns:p14="http://schemas.microsoft.com/office/powerpoint/2010/main" val="26573884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B6F770-FA6F-4777-A9B6-2C7ABD8593AC}" type="datetimeFigureOut">
              <a:rPr lang="en-IN" smtClean="0"/>
              <a:t>10-09-2025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422CDB4-07FD-4995-A5CB-1D9828F74139}" type="slidenum">
              <a:rPr lang="en-IN" smtClean="0"/>
              <a:t>‹#›</a:t>
            </a:fld>
            <a:endParaRPr lang="en-IN"/>
          </a:p>
        </p:txBody>
      </p:sp>
    </p:spTree>
    <p:extLst>
      <p:ext uri="{BB962C8B-B14F-4D97-AF65-F5344CB8AC3E}">
        <p14:creationId xmlns:p14="http://schemas.microsoft.com/office/powerpoint/2010/main" val="18260856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4B6F770-FA6F-4777-A9B6-2C7ABD8593AC}" type="datetimeFigureOut">
              <a:rPr lang="en-IN" smtClean="0"/>
              <a:t>10-09-2025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422CDB4-07FD-4995-A5CB-1D9828F74139}" type="slidenum">
              <a:rPr lang="en-IN" smtClean="0"/>
              <a:t>‹#›</a:t>
            </a:fld>
            <a:endParaRPr lang="en-IN"/>
          </a:p>
        </p:txBody>
      </p:sp>
    </p:spTree>
    <p:extLst>
      <p:ext uri="{BB962C8B-B14F-4D97-AF65-F5344CB8AC3E}">
        <p14:creationId xmlns:p14="http://schemas.microsoft.com/office/powerpoint/2010/main" val="2212949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4B6F770-FA6F-4777-A9B6-2C7ABD8593AC}" type="datetimeFigureOut">
              <a:rPr lang="en-IN" smtClean="0"/>
              <a:t>10-09-2025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422CDB4-07FD-4995-A5CB-1D9828F74139}" type="slidenum">
              <a:rPr lang="en-IN" smtClean="0"/>
              <a:t>‹#›</a:t>
            </a:fld>
            <a:endParaRPr lang="en-IN"/>
          </a:p>
        </p:txBody>
      </p:sp>
    </p:spTree>
    <p:extLst>
      <p:ext uri="{BB962C8B-B14F-4D97-AF65-F5344CB8AC3E}">
        <p14:creationId xmlns:p14="http://schemas.microsoft.com/office/powerpoint/2010/main" val="22718295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B6F770-FA6F-4777-A9B6-2C7ABD8593AC}" type="datetimeFigureOut">
              <a:rPr lang="en-IN" smtClean="0"/>
              <a:t>10-09-2025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22CDB4-07FD-4995-A5CB-1D9828F74139}" type="slidenum">
              <a:rPr lang="en-IN" smtClean="0"/>
              <a:t>‹#›</a:t>
            </a:fld>
            <a:endParaRPr lang="en-IN"/>
          </a:p>
        </p:txBody>
      </p:sp>
    </p:spTree>
    <p:extLst>
      <p:ext uri="{BB962C8B-B14F-4D97-AF65-F5344CB8AC3E}">
        <p14:creationId xmlns:p14="http://schemas.microsoft.com/office/powerpoint/2010/main" val="3802179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B6F770-FA6F-4777-A9B6-2C7ABD8593AC}" type="datetimeFigureOut">
              <a:rPr lang="en-IN" smtClean="0"/>
              <a:t>10-09-2025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22CDB4-07FD-4995-A5CB-1D9828F74139}" type="slidenum">
              <a:rPr lang="en-IN" smtClean="0"/>
              <a:t>‹#›</a:t>
            </a:fld>
            <a:endParaRPr lang="en-IN"/>
          </a:p>
        </p:txBody>
      </p:sp>
    </p:spTree>
    <p:extLst>
      <p:ext uri="{BB962C8B-B14F-4D97-AF65-F5344CB8AC3E}">
        <p14:creationId xmlns:p14="http://schemas.microsoft.com/office/powerpoint/2010/main" val="293641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24B6F770-FA6F-4777-A9B6-2C7ABD8593AC}" type="datetimeFigureOut">
              <a:rPr lang="en-IN" smtClean="0"/>
              <a:t>10-09-2025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D422CDB4-07FD-4995-A5CB-1D9828F74139}" type="slidenum">
              <a:rPr lang="en-IN" smtClean="0"/>
              <a:t>‹#›</a:t>
            </a:fld>
            <a:endParaRPr lang="en-IN"/>
          </a:p>
        </p:txBody>
      </p:sp>
    </p:spTree>
    <p:extLst>
      <p:ext uri="{BB962C8B-B14F-4D97-AF65-F5344CB8AC3E}">
        <p14:creationId xmlns:p14="http://schemas.microsoft.com/office/powerpoint/2010/main" val="858754473"/>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0">
            <a:extLst>
              <a:ext uri="{FF2B5EF4-FFF2-40B4-BE49-F238E27FC236}">
                <a16:creationId xmlns:a16="http://schemas.microsoft.com/office/drawing/2014/main" id="{E8070D55-242D-3C75-8052-549D698E65AE}"/>
              </a:ext>
            </a:extLst>
          </p:cNvPr>
          <p:cNvPicPr>
            <a:picLocks noChangeAspect="1"/>
          </p:cNvPicPr>
          <p:nvPr/>
        </p:nvPicPr>
        <p:blipFill>
          <a:blip r:embed="rId2"/>
          <a:stretch>
            <a:fillRect/>
          </a:stretch>
        </p:blipFill>
        <p:spPr>
          <a:xfrm>
            <a:off x="0" y="0"/>
            <a:ext cx="4560425" cy="6858000"/>
          </a:xfrm>
          <a:prstGeom prst="rect">
            <a:avLst/>
          </a:prstGeom>
        </p:spPr>
      </p:pic>
      <p:sp>
        <p:nvSpPr>
          <p:cNvPr id="5" name="Text 0">
            <a:extLst>
              <a:ext uri="{FF2B5EF4-FFF2-40B4-BE49-F238E27FC236}">
                <a16:creationId xmlns:a16="http://schemas.microsoft.com/office/drawing/2014/main" id="{25A362DA-DEEC-3E16-C9C8-95DAC8459B7F}"/>
              </a:ext>
            </a:extLst>
          </p:cNvPr>
          <p:cNvSpPr/>
          <p:nvPr/>
        </p:nvSpPr>
        <p:spPr>
          <a:xfrm>
            <a:off x="4663916" y="13253"/>
            <a:ext cx="7528084" cy="1923812"/>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5000"/>
              </a:lnSpc>
              <a:buNone/>
            </a:pPr>
            <a:r>
              <a:rPr lang="en-US" sz="4000" b="1" dirty="0">
                <a:solidFill>
                  <a:srgbClr val="FFE14D"/>
                </a:solidFill>
                <a:latin typeface="Comfortaa Bold" pitchFamily="34" charset="0"/>
                <a:ea typeface="Comfortaa Bold" pitchFamily="34" charset="-122"/>
                <a:cs typeface="Comfortaa Bold" pitchFamily="34" charset="-120"/>
              </a:rPr>
              <a:t>Alpha Amylase: The Foundation of Fermentation</a:t>
            </a:r>
            <a:endParaRPr lang="en-US" sz="4000" dirty="0"/>
          </a:p>
        </p:txBody>
      </p:sp>
      <p:sp>
        <p:nvSpPr>
          <p:cNvPr id="6" name="Text 1">
            <a:extLst>
              <a:ext uri="{FF2B5EF4-FFF2-40B4-BE49-F238E27FC236}">
                <a16:creationId xmlns:a16="http://schemas.microsoft.com/office/drawing/2014/main" id="{B7D7F8DA-A32D-D8B0-66FC-BB8D6C3E467D}"/>
              </a:ext>
            </a:extLst>
          </p:cNvPr>
          <p:cNvSpPr/>
          <p:nvPr/>
        </p:nvSpPr>
        <p:spPr>
          <a:xfrm>
            <a:off x="4623749" y="1625464"/>
            <a:ext cx="7528084" cy="1477328"/>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900"/>
              </a:lnSpc>
              <a:buNone/>
            </a:pPr>
            <a:r>
              <a:rPr lang="en-US" sz="1800" dirty="0">
                <a:solidFill>
                  <a:srgbClr val="D7D4CC"/>
                </a:solidFill>
                <a:latin typeface="Raleway Medium" pitchFamily="34" charset="0"/>
                <a:ea typeface="Raleway Medium" pitchFamily="34" charset="-122"/>
                <a:cs typeface="Raleway Medium" pitchFamily="34" charset="-120"/>
              </a:rPr>
              <a:t>Alpha-Amylase is a powerful enzyme critical in the brewing and distilling industries. It acts as a biochemical catalyst, specifically used for breaking down complex starch molecules into smaller, fermentable sugar chains known as Dextrin.</a:t>
            </a:r>
            <a:endParaRPr lang="en-US" sz="1800" dirty="0"/>
          </a:p>
        </p:txBody>
      </p:sp>
      <p:sp>
        <p:nvSpPr>
          <p:cNvPr id="7" name="Text 2">
            <a:extLst>
              <a:ext uri="{FF2B5EF4-FFF2-40B4-BE49-F238E27FC236}">
                <a16:creationId xmlns:a16="http://schemas.microsoft.com/office/drawing/2014/main" id="{59A453D5-F243-4495-6BC6-FC70878C4760}"/>
              </a:ext>
            </a:extLst>
          </p:cNvPr>
          <p:cNvSpPr/>
          <p:nvPr/>
        </p:nvSpPr>
        <p:spPr>
          <a:xfrm>
            <a:off x="4612168" y="3653151"/>
            <a:ext cx="7528084" cy="2954655"/>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900"/>
              </a:lnSpc>
              <a:buNone/>
            </a:pPr>
            <a:r>
              <a:rPr lang="en-US" sz="1800" dirty="0">
                <a:solidFill>
                  <a:srgbClr val="D7D4CC"/>
                </a:solidFill>
                <a:latin typeface="Raleway Medium" pitchFamily="34" charset="0"/>
                <a:ea typeface="Raleway Medium" pitchFamily="34" charset="-122"/>
                <a:cs typeface="Raleway Medium" pitchFamily="34" charset="-120"/>
              </a:rPr>
              <a:t>This enzymatic action is most effective at elevated temperatures, typically around 65-80°C, during the liquefaction phase of starch conversion. Its role is pivotal in transforming starch-rich raw materials, such as grains or potatoes, into the necessary simple sugars that yeast can then convert into alcohol. Without alpha amylase, the efficient fermentation required for high-quality spirits would not be possible, making it an indispensable component in this distilling industry.</a:t>
            </a:r>
            <a:endParaRPr lang="en-US" sz="1800" dirty="0"/>
          </a:p>
        </p:txBody>
      </p:sp>
    </p:spTree>
    <p:extLst>
      <p:ext uri="{BB962C8B-B14F-4D97-AF65-F5344CB8AC3E}">
        <p14:creationId xmlns:p14="http://schemas.microsoft.com/office/powerpoint/2010/main" val="26971008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6CFC12EC-C7AD-4D25-F331-990249B819E2}"/>
              </a:ext>
            </a:extLst>
          </p:cNvPr>
          <p:cNvSpPr/>
          <p:nvPr/>
        </p:nvSpPr>
        <p:spPr>
          <a:xfrm>
            <a:off x="114438" y="206460"/>
            <a:ext cx="7987839" cy="58828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4600"/>
              </a:lnSpc>
              <a:buNone/>
            </a:pPr>
            <a:r>
              <a:rPr lang="en-US" sz="3700" b="1" dirty="0">
                <a:solidFill>
                  <a:srgbClr val="FFE14D"/>
                </a:solidFill>
                <a:latin typeface="Comfortaa Bold" pitchFamily="34" charset="0"/>
                <a:ea typeface="Comfortaa Bold" pitchFamily="34" charset="-122"/>
                <a:cs typeface="Comfortaa Bold" pitchFamily="34" charset="-120"/>
              </a:rPr>
              <a:t>Smirnoff: Crafting Vodka with Precision</a:t>
            </a:r>
            <a:endParaRPr lang="en-US" sz="3700" dirty="0"/>
          </a:p>
        </p:txBody>
      </p:sp>
      <p:pic>
        <p:nvPicPr>
          <p:cNvPr id="5" name="Image 0">
            <a:extLst>
              <a:ext uri="{FF2B5EF4-FFF2-40B4-BE49-F238E27FC236}">
                <a16:creationId xmlns:a16="http://schemas.microsoft.com/office/drawing/2014/main" id="{91C6D9FE-B760-0181-FECD-FA1EA1314B7A}"/>
              </a:ext>
            </a:extLst>
          </p:cNvPr>
          <p:cNvPicPr>
            <a:picLocks noChangeAspect="1"/>
          </p:cNvPicPr>
          <p:nvPr/>
        </p:nvPicPr>
        <p:blipFill>
          <a:blip r:embed="rId2"/>
          <a:stretch>
            <a:fillRect/>
          </a:stretch>
        </p:blipFill>
        <p:spPr>
          <a:xfrm>
            <a:off x="7188365" y="1084116"/>
            <a:ext cx="4888970" cy="5096766"/>
          </a:xfrm>
          <a:prstGeom prst="rect">
            <a:avLst/>
          </a:prstGeom>
        </p:spPr>
      </p:pic>
      <p:sp>
        <p:nvSpPr>
          <p:cNvPr id="6" name="Text 1">
            <a:extLst>
              <a:ext uri="{FF2B5EF4-FFF2-40B4-BE49-F238E27FC236}">
                <a16:creationId xmlns:a16="http://schemas.microsoft.com/office/drawing/2014/main" id="{D63D40BF-AC1D-CC9F-7357-F54CD2EE4E38}"/>
              </a:ext>
            </a:extLst>
          </p:cNvPr>
          <p:cNvSpPr/>
          <p:nvPr/>
        </p:nvSpPr>
        <p:spPr>
          <a:xfrm>
            <a:off x="229689" y="1084116"/>
            <a:ext cx="6315670" cy="1016556"/>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650"/>
              </a:lnSpc>
              <a:buNone/>
            </a:pPr>
            <a:r>
              <a:rPr lang="en-US" sz="1650" dirty="0">
                <a:solidFill>
                  <a:srgbClr val="D7D4CC"/>
                </a:solidFill>
                <a:latin typeface="Raleway Medium" pitchFamily="34" charset="0"/>
                <a:ea typeface="Raleway Medium" pitchFamily="34" charset="-122"/>
                <a:cs typeface="Raleway Medium" pitchFamily="34" charset="-120"/>
              </a:rPr>
              <a:t>Smirnoff, a globally recognized leader in the vodka market, owes its distinctive purity and smoothness to a meticulous production process that harnesses the power of enzymes.</a:t>
            </a:r>
            <a:endParaRPr lang="en-US" sz="1650" dirty="0"/>
          </a:p>
        </p:txBody>
      </p:sp>
      <p:sp>
        <p:nvSpPr>
          <p:cNvPr id="7" name="Text 2">
            <a:extLst>
              <a:ext uri="{FF2B5EF4-FFF2-40B4-BE49-F238E27FC236}">
                <a16:creationId xmlns:a16="http://schemas.microsoft.com/office/drawing/2014/main" id="{2AB692A7-9618-9EFF-E59D-9CEC3C89CF27}"/>
              </a:ext>
            </a:extLst>
          </p:cNvPr>
          <p:cNvSpPr/>
          <p:nvPr/>
        </p:nvSpPr>
        <p:spPr>
          <a:xfrm>
            <a:off x="229689" y="2445363"/>
            <a:ext cx="6315670" cy="1694259"/>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650"/>
              </a:lnSpc>
              <a:buNone/>
            </a:pPr>
            <a:r>
              <a:rPr lang="en-US" sz="1650" dirty="0">
                <a:solidFill>
                  <a:srgbClr val="D7D4CC"/>
                </a:solidFill>
                <a:latin typeface="Raleway Medium" pitchFamily="34" charset="0"/>
                <a:ea typeface="Raleway Medium" pitchFamily="34" charset="-122"/>
                <a:cs typeface="Raleway Medium" pitchFamily="34" charset="-120"/>
              </a:rPr>
              <a:t>Their vodka is primarily crafted from high-quality grains, which are naturally rich in starch. To unlock these starches and convert them into fermentable sugars, Smirnoff integrates alpha amylase enzymes into their distillation process. This enzymatic conversion is a cornerstone of their methodology.</a:t>
            </a:r>
            <a:endParaRPr lang="en-US" sz="1650" dirty="0"/>
          </a:p>
        </p:txBody>
      </p:sp>
      <p:sp>
        <p:nvSpPr>
          <p:cNvPr id="8" name="Text 3">
            <a:extLst>
              <a:ext uri="{FF2B5EF4-FFF2-40B4-BE49-F238E27FC236}">
                <a16:creationId xmlns:a16="http://schemas.microsoft.com/office/drawing/2014/main" id="{7DA31BAC-DF1C-BCD7-ABDB-AE5DCB73B90C}"/>
              </a:ext>
            </a:extLst>
          </p:cNvPr>
          <p:cNvSpPr/>
          <p:nvPr/>
        </p:nvSpPr>
        <p:spPr>
          <a:xfrm>
            <a:off x="229689" y="4484314"/>
            <a:ext cx="6315670" cy="2033111"/>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650"/>
              </a:lnSpc>
              <a:buNone/>
            </a:pPr>
            <a:r>
              <a:rPr lang="en-US" sz="1650" dirty="0">
                <a:solidFill>
                  <a:srgbClr val="D7D4CC"/>
                </a:solidFill>
                <a:latin typeface="Raleway Medium" pitchFamily="34" charset="0"/>
                <a:ea typeface="Raleway Medium" pitchFamily="34" charset="-122"/>
                <a:cs typeface="Raleway Medium" pitchFamily="34" charset="-120"/>
              </a:rPr>
              <a:t>The precise application of alpha amylase ensures that the starches are efficiently broken down, yielding a clean, neutral sugar solution. This solution then undergoes multiple distillations and a rigorous filtration process, culminating in the exceptionally smooth and clean spirit that Smirnoff is celebrated for worldwide.</a:t>
            </a:r>
            <a:endParaRPr lang="en-US" sz="1650" dirty="0"/>
          </a:p>
        </p:txBody>
      </p:sp>
    </p:spTree>
    <p:extLst>
      <p:ext uri="{BB962C8B-B14F-4D97-AF65-F5344CB8AC3E}">
        <p14:creationId xmlns:p14="http://schemas.microsoft.com/office/powerpoint/2010/main" val="17695122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D4045241-EFC8-E956-21D0-E1B0A22A7CA6}"/>
              </a:ext>
            </a:extLst>
          </p:cNvPr>
          <p:cNvSpPr/>
          <p:nvPr/>
        </p:nvSpPr>
        <p:spPr>
          <a:xfrm>
            <a:off x="229386" y="172649"/>
            <a:ext cx="11738841" cy="1142048"/>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4450"/>
              </a:lnSpc>
              <a:buNone/>
            </a:pPr>
            <a:r>
              <a:rPr lang="en-US" sz="4000" b="1" dirty="0">
                <a:solidFill>
                  <a:srgbClr val="FFE14D"/>
                </a:solidFill>
                <a:latin typeface="Comfortaa Bold" pitchFamily="34" charset="0"/>
                <a:ea typeface="Comfortaa Bold" pitchFamily="34" charset="-122"/>
                <a:cs typeface="Comfortaa Bold" pitchFamily="34" charset="-120"/>
              </a:rPr>
              <a:t>The Role of Alpha Amylase in Vodka Production: A Step-by-Step Guide</a:t>
            </a:r>
            <a:endParaRPr lang="en-US" sz="4000" dirty="0"/>
          </a:p>
        </p:txBody>
      </p:sp>
      <p:sp>
        <p:nvSpPr>
          <p:cNvPr id="5" name="Shape 2">
            <a:extLst>
              <a:ext uri="{FF2B5EF4-FFF2-40B4-BE49-F238E27FC236}">
                <a16:creationId xmlns:a16="http://schemas.microsoft.com/office/drawing/2014/main" id="{A3E9865E-6064-188A-F26A-52907255A81A}"/>
              </a:ext>
            </a:extLst>
          </p:cNvPr>
          <p:cNvSpPr/>
          <p:nvPr/>
        </p:nvSpPr>
        <p:spPr>
          <a:xfrm>
            <a:off x="32674" y="1620560"/>
            <a:ext cx="3960000" cy="46800"/>
          </a:xfrm>
          <a:prstGeom prst="rect">
            <a:avLst/>
          </a:prstGeom>
          <a:solidFill>
            <a:srgbClr val="FFE14D"/>
          </a:solidFill>
          <a:ln/>
        </p:spPr>
        <p:txBody>
          <a:bodyPr/>
          <a:lstStyle/>
          <a:p>
            <a:endParaRPr lang="en-IN" dirty="0"/>
          </a:p>
        </p:txBody>
      </p:sp>
      <p:sp>
        <p:nvSpPr>
          <p:cNvPr id="6" name="Text 3">
            <a:extLst>
              <a:ext uri="{FF2B5EF4-FFF2-40B4-BE49-F238E27FC236}">
                <a16:creationId xmlns:a16="http://schemas.microsoft.com/office/drawing/2014/main" id="{575F6C79-5653-1BBB-65BE-002C7DF5B232}"/>
              </a:ext>
            </a:extLst>
          </p:cNvPr>
          <p:cNvSpPr/>
          <p:nvPr/>
        </p:nvSpPr>
        <p:spPr>
          <a:xfrm>
            <a:off x="32673" y="1792183"/>
            <a:ext cx="2677299" cy="285393"/>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200"/>
              </a:lnSpc>
              <a:buNone/>
            </a:pPr>
            <a:r>
              <a:rPr lang="en-US" sz="1750" b="1" dirty="0">
                <a:solidFill>
                  <a:srgbClr val="D7D4CC"/>
                </a:solidFill>
                <a:latin typeface="Comfortaa Bold" pitchFamily="34" charset="0"/>
                <a:ea typeface="Comfortaa Bold" pitchFamily="34" charset="-122"/>
                <a:cs typeface="Comfortaa Bold" pitchFamily="34" charset="-120"/>
              </a:rPr>
              <a:t>Raw Material Preparation</a:t>
            </a:r>
            <a:endParaRPr lang="en-US" sz="1750" dirty="0"/>
          </a:p>
        </p:txBody>
      </p:sp>
      <p:sp>
        <p:nvSpPr>
          <p:cNvPr id="7" name="Text 4">
            <a:extLst>
              <a:ext uri="{FF2B5EF4-FFF2-40B4-BE49-F238E27FC236}">
                <a16:creationId xmlns:a16="http://schemas.microsoft.com/office/drawing/2014/main" id="{DF592783-3AE0-5458-4CBE-3315757E7EE5}"/>
              </a:ext>
            </a:extLst>
          </p:cNvPr>
          <p:cNvSpPr/>
          <p:nvPr/>
        </p:nvSpPr>
        <p:spPr>
          <a:xfrm>
            <a:off x="32673" y="2212700"/>
            <a:ext cx="3760410" cy="1315879"/>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550"/>
              </a:lnSpc>
              <a:buNone/>
            </a:pPr>
            <a:r>
              <a:rPr lang="en-US" sz="1600" dirty="0">
                <a:solidFill>
                  <a:srgbClr val="D7D4CC"/>
                </a:solidFill>
                <a:latin typeface="Raleway Medium" pitchFamily="34" charset="0"/>
                <a:ea typeface="Raleway Medium" pitchFamily="34" charset="-122"/>
                <a:cs typeface="Raleway Medium" pitchFamily="34" charset="-120"/>
              </a:rPr>
              <a:t>Starch-rich raw materials like grains or potatoes are first cooked. This gelatinises the starch, making it more accessible for enzymatic breakdown.</a:t>
            </a:r>
            <a:endParaRPr lang="en-US" sz="1600" dirty="0"/>
          </a:p>
        </p:txBody>
      </p:sp>
      <p:sp>
        <p:nvSpPr>
          <p:cNvPr id="8" name="Shape 6">
            <a:extLst>
              <a:ext uri="{FF2B5EF4-FFF2-40B4-BE49-F238E27FC236}">
                <a16:creationId xmlns:a16="http://schemas.microsoft.com/office/drawing/2014/main" id="{5B26BE08-CDB4-2A9C-EC6F-5A674AF773EE}"/>
              </a:ext>
            </a:extLst>
          </p:cNvPr>
          <p:cNvSpPr/>
          <p:nvPr/>
        </p:nvSpPr>
        <p:spPr>
          <a:xfrm>
            <a:off x="4498351" y="1608986"/>
            <a:ext cx="3960000" cy="46800"/>
          </a:xfrm>
          <a:prstGeom prst="rect">
            <a:avLst/>
          </a:prstGeom>
          <a:solidFill>
            <a:srgbClr val="FFE14D"/>
          </a:solidFill>
          <a:ln/>
        </p:spPr>
        <p:txBody>
          <a:bodyPr/>
          <a:lstStyle/>
          <a:p>
            <a:endParaRPr lang="en-IN"/>
          </a:p>
        </p:txBody>
      </p:sp>
      <p:sp>
        <p:nvSpPr>
          <p:cNvPr id="9" name="Text 7">
            <a:extLst>
              <a:ext uri="{FF2B5EF4-FFF2-40B4-BE49-F238E27FC236}">
                <a16:creationId xmlns:a16="http://schemas.microsoft.com/office/drawing/2014/main" id="{A3519899-CDDC-8CEA-2AC4-2B3691290BF5}"/>
              </a:ext>
            </a:extLst>
          </p:cNvPr>
          <p:cNvSpPr/>
          <p:nvPr/>
        </p:nvSpPr>
        <p:spPr>
          <a:xfrm>
            <a:off x="4498351" y="1745883"/>
            <a:ext cx="2100432" cy="285393"/>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200"/>
              </a:lnSpc>
              <a:buNone/>
            </a:pPr>
            <a:r>
              <a:rPr lang="en-US" sz="1750" b="1" dirty="0">
                <a:solidFill>
                  <a:srgbClr val="D7D4CC"/>
                </a:solidFill>
                <a:latin typeface="Comfortaa Bold" pitchFamily="34" charset="0"/>
                <a:ea typeface="Comfortaa Bold" pitchFamily="34" charset="-122"/>
                <a:cs typeface="Comfortaa Bold" pitchFamily="34" charset="-120"/>
              </a:rPr>
              <a:t>Starch Liquefaction</a:t>
            </a:r>
            <a:endParaRPr lang="en-US" sz="1750" dirty="0"/>
          </a:p>
        </p:txBody>
      </p:sp>
      <p:sp>
        <p:nvSpPr>
          <p:cNvPr id="10" name="Text 8">
            <a:extLst>
              <a:ext uri="{FF2B5EF4-FFF2-40B4-BE49-F238E27FC236}">
                <a16:creationId xmlns:a16="http://schemas.microsoft.com/office/drawing/2014/main" id="{E6946458-D678-42AB-AC69-B272DFC193E7}"/>
              </a:ext>
            </a:extLst>
          </p:cNvPr>
          <p:cNvSpPr/>
          <p:nvPr/>
        </p:nvSpPr>
        <p:spPr>
          <a:xfrm>
            <a:off x="4498351" y="2134030"/>
            <a:ext cx="3760410" cy="1649253"/>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550"/>
              </a:lnSpc>
              <a:buNone/>
            </a:pPr>
            <a:r>
              <a:rPr lang="en-US" sz="1600" dirty="0">
                <a:solidFill>
                  <a:srgbClr val="D7D4CC"/>
                </a:solidFill>
                <a:latin typeface="Raleway Medium" pitchFamily="34" charset="0"/>
                <a:ea typeface="Raleway Medium" pitchFamily="34" charset="-122"/>
                <a:cs typeface="Raleway Medium" pitchFamily="34" charset="-120"/>
              </a:rPr>
              <a:t>Alpha amylase is introduced to the cooked mash at optimal temperatures (65-80°C). Over approximately 60 minutes, it breaks down long starch chains into shorter dextrin.</a:t>
            </a:r>
            <a:endParaRPr lang="en-US" sz="1600" dirty="0"/>
          </a:p>
        </p:txBody>
      </p:sp>
      <p:sp>
        <p:nvSpPr>
          <p:cNvPr id="11" name="Shape 10">
            <a:extLst>
              <a:ext uri="{FF2B5EF4-FFF2-40B4-BE49-F238E27FC236}">
                <a16:creationId xmlns:a16="http://schemas.microsoft.com/office/drawing/2014/main" id="{F2D9F033-6302-6D3D-9309-BF59F42A2897}"/>
              </a:ext>
            </a:extLst>
          </p:cNvPr>
          <p:cNvSpPr/>
          <p:nvPr/>
        </p:nvSpPr>
        <p:spPr>
          <a:xfrm>
            <a:off x="8836705" y="1597160"/>
            <a:ext cx="3131522" cy="46800"/>
          </a:xfrm>
          <a:prstGeom prst="rect">
            <a:avLst/>
          </a:prstGeom>
          <a:solidFill>
            <a:srgbClr val="FFE14D"/>
          </a:solidFill>
          <a:ln/>
        </p:spPr>
        <p:txBody>
          <a:bodyPr/>
          <a:lstStyle/>
          <a:p>
            <a:endParaRPr lang="en-IN"/>
          </a:p>
        </p:txBody>
      </p:sp>
      <p:sp>
        <p:nvSpPr>
          <p:cNvPr id="12" name="Text 11">
            <a:extLst>
              <a:ext uri="{FF2B5EF4-FFF2-40B4-BE49-F238E27FC236}">
                <a16:creationId xmlns:a16="http://schemas.microsoft.com/office/drawing/2014/main" id="{74FAD845-7746-94AA-9855-A86E9FE30D98}"/>
              </a:ext>
            </a:extLst>
          </p:cNvPr>
          <p:cNvSpPr/>
          <p:nvPr/>
        </p:nvSpPr>
        <p:spPr>
          <a:xfrm>
            <a:off x="8964028" y="1769033"/>
            <a:ext cx="2016146" cy="285393"/>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200"/>
              </a:lnSpc>
              <a:buNone/>
            </a:pPr>
            <a:r>
              <a:rPr lang="en-US" sz="1750" b="1" dirty="0">
                <a:solidFill>
                  <a:srgbClr val="D7D4CC"/>
                </a:solidFill>
                <a:latin typeface="Comfortaa Bold" pitchFamily="34" charset="0"/>
                <a:ea typeface="Comfortaa Bold" pitchFamily="34" charset="-122"/>
                <a:cs typeface="Comfortaa Bold" pitchFamily="34" charset="-120"/>
              </a:rPr>
              <a:t>Saccharification</a:t>
            </a:r>
            <a:endParaRPr lang="en-US" sz="1750" dirty="0"/>
          </a:p>
        </p:txBody>
      </p:sp>
      <p:sp>
        <p:nvSpPr>
          <p:cNvPr id="13" name="Text 12">
            <a:extLst>
              <a:ext uri="{FF2B5EF4-FFF2-40B4-BE49-F238E27FC236}">
                <a16:creationId xmlns:a16="http://schemas.microsoft.com/office/drawing/2014/main" id="{9010D5C8-7E1E-0E0F-872C-DA01064E6E3A}"/>
              </a:ext>
            </a:extLst>
          </p:cNvPr>
          <p:cNvSpPr/>
          <p:nvPr/>
        </p:nvSpPr>
        <p:spPr>
          <a:xfrm>
            <a:off x="8836705" y="2098552"/>
            <a:ext cx="3227972" cy="1603275"/>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550"/>
              </a:lnSpc>
              <a:buNone/>
            </a:pPr>
            <a:r>
              <a:rPr lang="en-US" sz="1600" dirty="0">
                <a:solidFill>
                  <a:srgbClr val="D7D4CC"/>
                </a:solidFill>
                <a:latin typeface="Raleway Medium" pitchFamily="34" charset="0"/>
                <a:ea typeface="Raleway Medium" pitchFamily="34" charset="-122"/>
                <a:cs typeface="Raleway Medium" pitchFamily="34" charset="-120"/>
              </a:rPr>
              <a:t>Often, glucoamylase is subsequently added to further convert the dextrin into even simpler, fermentable sugars like glucose, maximising sugar yield.</a:t>
            </a:r>
            <a:endParaRPr lang="en-US" sz="1600" dirty="0"/>
          </a:p>
        </p:txBody>
      </p:sp>
      <p:sp>
        <p:nvSpPr>
          <p:cNvPr id="14" name="Text 13">
            <a:extLst>
              <a:ext uri="{FF2B5EF4-FFF2-40B4-BE49-F238E27FC236}">
                <a16:creationId xmlns:a16="http://schemas.microsoft.com/office/drawing/2014/main" id="{72ECEEBC-734B-D4BF-6913-127A5254A06D}"/>
              </a:ext>
            </a:extLst>
          </p:cNvPr>
          <p:cNvSpPr/>
          <p:nvPr/>
        </p:nvSpPr>
        <p:spPr>
          <a:xfrm>
            <a:off x="67398" y="3829953"/>
            <a:ext cx="181394" cy="256937"/>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550"/>
              </a:lnSpc>
              <a:buNone/>
            </a:pPr>
            <a:r>
              <a:rPr lang="en-US" sz="2000" dirty="0">
                <a:solidFill>
                  <a:srgbClr val="D7D4CC"/>
                </a:solidFill>
                <a:ea typeface="Comfortaa Light" pitchFamily="34" charset="-122"/>
                <a:cs typeface="Comfortaa Light" pitchFamily="34" charset="-120"/>
              </a:rPr>
              <a:t>04</a:t>
            </a:r>
            <a:endParaRPr lang="en-US" sz="2000" dirty="0"/>
          </a:p>
        </p:txBody>
      </p:sp>
      <p:sp>
        <p:nvSpPr>
          <p:cNvPr id="15" name="Shape 14">
            <a:extLst>
              <a:ext uri="{FF2B5EF4-FFF2-40B4-BE49-F238E27FC236}">
                <a16:creationId xmlns:a16="http://schemas.microsoft.com/office/drawing/2014/main" id="{FB4F87B6-CAC7-0580-EE06-3F49098BCF5C}"/>
              </a:ext>
            </a:extLst>
          </p:cNvPr>
          <p:cNvSpPr/>
          <p:nvPr/>
        </p:nvSpPr>
        <p:spPr>
          <a:xfrm>
            <a:off x="55823" y="4156421"/>
            <a:ext cx="5405048" cy="45719"/>
          </a:xfrm>
          <a:prstGeom prst="rect">
            <a:avLst/>
          </a:prstGeom>
          <a:solidFill>
            <a:srgbClr val="FFE14D"/>
          </a:solidFill>
          <a:ln/>
        </p:spPr>
        <p:txBody>
          <a:bodyPr/>
          <a:lstStyle/>
          <a:p>
            <a:endParaRPr lang="en-IN"/>
          </a:p>
        </p:txBody>
      </p:sp>
      <p:sp>
        <p:nvSpPr>
          <p:cNvPr id="16" name="Text 15">
            <a:extLst>
              <a:ext uri="{FF2B5EF4-FFF2-40B4-BE49-F238E27FC236}">
                <a16:creationId xmlns:a16="http://schemas.microsoft.com/office/drawing/2014/main" id="{5014BF4B-A49E-ADC9-8C12-D18BF7018396}"/>
              </a:ext>
            </a:extLst>
          </p:cNvPr>
          <p:cNvSpPr/>
          <p:nvPr/>
        </p:nvSpPr>
        <p:spPr>
          <a:xfrm>
            <a:off x="32674" y="4304893"/>
            <a:ext cx="2016146" cy="285393"/>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200"/>
              </a:lnSpc>
              <a:buNone/>
            </a:pPr>
            <a:r>
              <a:rPr lang="en-US" sz="1750" b="1" dirty="0">
                <a:solidFill>
                  <a:srgbClr val="D7D4CC"/>
                </a:solidFill>
                <a:latin typeface="Comfortaa Bold" pitchFamily="34" charset="0"/>
                <a:ea typeface="Comfortaa Bold" pitchFamily="34" charset="-122"/>
                <a:cs typeface="Comfortaa Bold" pitchFamily="34" charset="-120"/>
              </a:rPr>
              <a:t>Fermentation</a:t>
            </a:r>
            <a:endParaRPr lang="en-US" sz="1750" dirty="0"/>
          </a:p>
        </p:txBody>
      </p:sp>
      <p:sp>
        <p:nvSpPr>
          <p:cNvPr id="17" name="Text 16">
            <a:extLst>
              <a:ext uri="{FF2B5EF4-FFF2-40B4-BE49-F238E27FC236}">
                <a16:creationId xmlns:a16="http://schemas.microsoft.com/office/drawing/2014/main" id="{C31941A1-3773-ED42-9BCF-48F8E6873E2A}"/>
              </a:ext>
            </a:extLst>
          </p:cNvPr>
          <p:cNvSpPr/>
          <p:nvPr/>
        </p:nvSpPr>
        <p:spPr>
          <a:xfrm>
            <a:off x="32673" y="4713515"/>
            <a:ext cx="5731260" cy="986909"/>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550"/>
              </a:lnSpc>
              <a:buNone/>
            </a:pPr>
            <a:r>
              <a:rPr lang="en-US" sz="1600" dirty="0">
                <a:solidFill>
                  <a:srgbClr val="D7D4CC"/>
                </a:solidFill>
                <a:latin typeface="Raleway Medium" pitchFamily="34" charset="0"/>
                <a:ea typeface="Raleway Medium" pitchFamily="34" charset="-122"/>
                <a:cs typeface="Raleway Medium" pitchFamily="34" charset="-120"/>
              </a:rPr>
              <a:t>The now sugary mash is cooled, and yeast is pitched. The yeast consumes these fermentable sugars, converting them into ethanol (alcohol) and carbon dioxide.</a:t>
            </a:r>
            <a:endParaRPr lang="en-US" sz="1600" dirty="0"/>
          </a:p>
        </p:txBody>
      </p:sp>
      <p:sp>
        <p:nvSpPr>
          <p:cNvPr id="18" name="Text 17">
            <a:extLst>
              <a:ext uri="{FF2B5EF4-FFF2-40B4-BE49-F238E27FC236}">
                <a16:creationId xmlns:a16="http://schemas.microsoft.com/office/drawing/2014/main" id="{1C13C9D8-CD05-3298-4D7A-868C86F60325}"/>
              </a:ext>
            </a:extLst>
          </p:cNvPr>
          <p:cNvSpPr/>
          <p:nvPr/>
        </p:nvSpPr>
        <p:spPr>
          <a:xfrm>
            <a:off x="6731129" y="3829953"/>
            <a:ext cx="181394" cy="256937"/>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550"/>
              </a:lnSpc>
              <a:buNone/>
            </a:pPr>
            <a:r>
              <a:rPr lang="en-US" sz="2000" dirty="0">
                <a:solidFill>
                  <a:srgbClr val="D7D4CC"/>
                </a:solidFill>
                <a:ea typeface="Comfortaa Light" pitchFamily="34" charset="-122"/>
                <a:cs typeface="Comfortaa Light" pitchFamily="34" charset="-120"/>
              </a:rPr>
              <a:t>05</a:t>
            </a:r>
            <a:endParaRPr lang="en-US" sz="2000" dirty="0"/>
          </a:p>
        </p:txBody>
      </p:sp>
      <p:sp>
        <p:nvSpPr>
          <p:cNvPr id="19" name="Shape 18">
            <a:extLst>
              <a:ext uri="{FF2B5EF4-FFF2-40B4-BE49-F238E27FC236}">
                <a16:creationId xmlns:a16="http://schemas.microsoft.com/office/drawing/2014/main" id="{88E2E8A4-B64E-5ACC-67CF-1D3278B81594}"/>
              </a:ext>
            </a:extLst>
          </p:cNvPr>
          <p:cNvSpPr/>
          <p:nvPr/>
        </p:nvSpPr>
        <p:spPr>
          <a:xfrm>
            <a:off x="6731129" y="4156420"/>
            <a:ext cx="5144495" cy="45719"/>
          </a:xfrm>
          <a:prstGeom prst="rect">
            <a:avLst/>
          </a:prstGeom>
          <a:solidFill>
            <a:srgbClr val="FFE14D"/>
          </a:solidFill>
          <a:ln/>
        </p:spPr>
        <p:txBody>
          <a:bodyPr/>
          <a:lstStyle/>
          <a:p>
            <a:endParaRPr lang="en-IN"/>
          </a:p>
        </p:txBody>
      </p:sp>
      <p:sp>
        <p:nvSpPr>
          <p:cNvPr id="20" name="Text 19">
            <a:extLst>
              <a:ext uri="{FF2B5EF4-FFF2-40B4-BE49-F238E27FC236}">
                <a16:creationId xmlns:a16="http://schemas.microsoft.com/office/drawing/2014/main" id="{A0819F07-A817-53E3-AD3D-E37DADA83A2E}"/>
              </a:ext>
            </a:extLst>
          </p:cNvPr>
          <p:cNvSpPr/>
          <p:nvPr/>
        </p:nvSpPr>
        <p:spPr>
          <a:xfrm>
            <a:off x="6731129" y="4304893"/>
            <a:ext cx="2370947" cy="285393"/>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200"/>
              </a:lnSpc>
              <a:buNone/>
            </a:pPr>
            <a:r>
              <a:rPr lang="en-US" sz="1750" b="1" dirty="0">
                <a:solidFill>
                  <a:srgbClr val="D7D4CC"/>
                </a:solidFill>
                <a:latin typeface="Comfortaa Bold" pitchFamily="34" charset="0"/>
                <a:ea typeface="Comfortaa Bold" pitchFamily="34" charset="-122"/>
                <a:cs typeface="Comfortaa Bold" pitchFamily="34" charset="-120"/>
              </a:rPr>
              <a:t>Distillation &amp; Filtration</a:t>
            </a:r>
            <a:endParaRPr lang="en-US" sz="1750" dirty="0"/>
          </a:p>
        </p:txBody>
      </p:sp>
      <p:sp>
        <p:nvSpPr>
          <p:cNvPr id="21" name="Text 20">
            <a:extLst>
              <a:ext uri="{FF2B5EF4-FFF2-40B4-BE49-F238E27FC236}">
                <a16:creationId xmlns:a16="http://schemas.microsoft.com/office/drawing/2014/main" id="{7CDA777F-BD2A-9FCE-B5B4-1718C15D3156}"/>
              </a:ext>
            </a:extLst>
          </p:cNvPr>
          <p:cNvSpPr/>
          <p:nvPr/>
        </p:nvSpPr>
        <p:spPr>
          <a:xfrm>
            <a:off x="6731129" y="4713515"/>
            <a:ext cx="5731365" cy="986909"/>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550"/>
              </a:lnSpc>
              <a:buNone/>
            </a:pPr>
            <a:r>
              <a:rPr lang="en-US" sz="1600" dirty="0">
                <a:solidFill>
                  <a:srgbClr val="D7D4CC"/>
                </a:solidFill>
                <a:latin typeface="Raleway Medium" pitchFamily="34" charset="0"/>
                <a:ea typeface="Raleway Medium" pitchFamily="34" charset="-122"/>
                <a:cs typeface="Raleway Medium" pitchFamily="34" charset="-120"/>
              </a:rPr>
              <a:t>The fermented liquid is then distilled to separate the alcohol, followed by filtration processes to achieve the desired purity and smoothness of the final vodka.</a:t>
            </a:r>
            <a:endParaRPr lang="en-US" sz="1600" dirty="0"/>
          </a:p>
        </p:txBody>
      </p:sp>
      <p:sp>
        <p:nvSpPr>
          <p:cNvPr id="22" name="TextBox 21">
            <a:extLst>
              <a:ext uri="{FF2B5EF4-FFF2-40B4-BE49-F238E27FC236}">
                <a16:creationId xmlns:a16="http://schemas.microsoft.com/office/drawing/2014/main" id="{6D1B4D57-FD37-DFA2-82F2-497EA5086886}"/>
              </a:ext>
            </a:extLst>
          </p:cNvPr>
          <p:cNvSpPr txBox="1"/>
          <p:nvPr/>
        </p:nvSpPr>
        <p:spPr>
          <a:xfrm>
            <a:off x="-70493" y="1295422"/>
            <a:ext cx="457176" cy="400110"/>
          </a:xfrm>
          <a:prstGeom prst="rect">
            <a:avLst/>
          </a:prstGeom>
          <a:noFill/>
        </p:spPr>
        <p:txBody>
          <a:bodyPr wrap="none" rtlCol="0">
            <a:spAutoFit/>
          </a:bodyPr>
          <a:lstStyle/>
          <a:p>
            <a:r>
              <a:rPr lang="en-IN" sz="2000" dirty="0"/>
              <a:t>01</a:t>
            </a:r>
          </a:p>
        </p:txBody>
      </p:sp>
      <p:sp>
        <p:nvSpPr>
          <p:cNvPr id="23" name="TextBox 22">
            <a:extLst>
              <a:ext uri="{FF2B5EF4-FFF2-40B4-BE49-F238E27FC236}">
                <a16:creationId xmlns:a16="http://schemas.microsoft.com/office/drawing/2014/main" id="{8B842976-7B9D-8CAE-B0B7-F81D2B9D8379}"/>
              </a:ext>
            </a:extLst>
          </p:cNvPr>
          <p:cNvSpPr txBox="1"/>
          <p:nvPr/>
        </p:nvSpPr>
        <p:spPr>
          <a:xfrm>
            <a:off x="4498351" y="1274627"/>
            <a:ext cx="457176" cy="400110"/>
          </a:xfrm>
          <a:prstGeom prst="rect">
            <a:avLst/>
          </a:prstGeom>
          <a:noFill/>
        </p:spPr>
        <p:txBody>
          <a:bodyPr wrap="none" rtlCol="0">
            <a:spAutoFit/>
          </a:bodyPr>
          <a:lstStyle/>
          <a:p>
            <a:r>
              <a:rPr lang="en-IN" sz="2000" dirty="0"/>
              <a:t>02</a:t>
            </a:r>
            <a:endParaRPr lang="en-IN" dirty="0"/>
          </a:p>
        </p:txBody>
      </p:sp>
      <p:sp>
        <p:nvSpPr>
          <p:cNvPr id="24" name="TextBox 23">
            <a:extLst>
              <a:ext uri="{FF2B5EF4-FFF2-40B4-BE49-F238E27FC236}">
                <a16:creationId xmlns:a16="http://schemas.microsoft.com/office/drawing/2014/main" id="{20DDE758-C677-B706-F782-C15636FE67A0}"/>
              </a:ext>
            </a:extLst>
          </p:cNvPr>
          <p:cNvSpPr txBox="1"/>
          <p:nvPr/>
        </p:nvSpPr>
        <p:spPr>
          <a:xfrm>
            <a:off x="8748264" y="1274627"/>
            <a:ext cx="457176" cy="400110"/>
          </a:xfrm>
          <a:prstGeom prst="rect">
            <a:avLst/>
          </a:prstGeom>
          <a:noFill/>
        </p:spPr>
        <p:txBody>
          <a:bodyPr wrap="none" rtlCol="0">
            <a:spAutoFit/>
          </a:bodyPr>
          <a:lstStyle/>
          <a:p>
            <a:r>
              <a:rPr lang="en-IN" sz="2000" dirty="0"/>
              <a:t>03</a:t>
            </a:r>
          </a:p>
        </p:txBody>
      </p:sp>
      <p:sp>
        <p:nvSpPr>
          <p:cNvPr id="25" name="Text 21">
            <a:extLst>
              <a:ext uri="{FF2B5EF4-FFF2-40B4-BE49-F238E27FC236}">
                <a16:creationId xmlns:a16="http://schemas.microsoft.com/office/drawing/2014/main" id="{98B25209-6A18-FC35-F4EB-7FCB4B5A65F2}"/>
              </a:ext>
            </a:extLst>
          </p:cNvPr>
          <p:cNvSpPr/>
          <p:nvPr/>
        </p:nvSpPr>
        <p:spPr>
          <a:xfrm>
            <a:off x="67398" y="5901106"/>
            <a:ext cx="11997279" cy="723900"/>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550"/>
              </a:lnSpc>
              <a:buNone/>
            </a:pPr>
            <a:r>
              <a:rPr lang="en-US" sz="1600" dirty="0">
                <a:solidFill>
                  <a:srgbClr val="D7D4CC"/>
                </a:solidFill>
                <a:latin typeface="Raleway Medium" pitchFamily="34" charset="0"/>
                <a:ea typeface="Raleway Medium" pitchFamily="34" charset="-122"/>
                <a:cs typeface="Raleway Medium" pitchFamily="34" charset="-120"/>
              </a:rPr>
              <a:t>This precise enzymatic saccharification step is fundamental to maximising sugar yield, thereby increasing the final alcohol content and overall efficiency in vodka production.</a:t>
            </a:r>
            <a:endParaRPr lang="en-US" sz="1600" dirty="0"/>
          </a:p>
        </p:txBody>
      </p:sp>
    </p:spTree>
    <p:extLst>
      <p:ext uri="{BB962C8B-B14F-4D97-AF65-F5344CB8AC3E}">
        <p14:creationId xmlns:p14="http://schemas.microsoft.com/office/powerpoint/2010/main" val="24615190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5952C211-B6AA-002F-2435-BD2289E9EC61}"/>
              </a:ext>
            </a:extLst>
          </p:cNvPr>
          <p:cNvSpPr/>
          <p:nvPr/>
        </p:nvSpPr>
        <p:spPr>
          <a:xfrm>
            <a:off x="96244" y="692160"/>
            <a:ext cx="5486400" cy="68580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5400"/>
              </a:lnSpc>
              <a:buNone/>
            </a:pPr>
            <a:r>
              <a:rPr lang="en-US" sz="4300" b="1" dirty="0">
                <a:solidFill>
                  <a:srgbClr val="FFE14D"/>
                </a:solidFill>
                <a:latin typeface="Comfortaa Bold" pitchFamily="34" charset="0"/>
                <a:ea typeface="Comfortaa Bold" pitchFamily="34" charset="-122"/>
                <a:cs typeface="Comfortaa Bold" pitchFamily="34" charset="-120"/>
              </a:rPr>
              <a:t>References</a:t>
            </a:r>
            <a:endParaRPr lang="en-US" sz="4300" dirty="0"/>
          </a:p>
        </p:txBody>
      </p:sp>
      <p:sp>
        <p:nvSpPr>
          <p:cNvPr id="5" name="Text 1">
            <a:extLst>
              <a:ext uri="{FF2B5EF4-FFF2-40B4-BE49-F238E27FC236}">
                <a16:creationId xmlns:a16="http://schemas.microsoft.com/office/drawing/2014/main" id="{F4E32466-BECD-9E54-0A36-4972B713B8DC}"/>
              </a:ext>
            </a:extLst>
          </p:cNvPr>
          <p:cNvSpPr/>
          <p:nvPr/>
        </p:nvSpPr>
        <p:spPr>
          <a:xfrm>
            <a:off x="61520" y="1871712"/>
            <a:ext cx="12165206" cy="790099"/>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3100"/>
              </a:lnSpc>
              <a:buSzPct val="100000"/>
              <a:buChar char="•"/>
            </a:pPr>
            <a:r>
              <a:rPr lang="en-US" sz="1900" dirty="0">
                <a:solidFill>
                  <a:srgbClr val="D7D4CC"/>
                </a:solidFill>
                <a:latin typeface="Raleway Medium" pitchFamily="34" charset="0"/>
                <a:ea typeface="Raleway Medium" pitchFamily="34" charset="-122"/>
                <a:cs typeface="Raleway Medium" pitchFamily="34" charset="-120"/>
              </a:rPr>
              <a:t>Smith, J. (2022). "The Enzymatic Revolution: Alpha Amylase in Modern Distilling." </a:t>
            </a:r>
            <a:r>
              <a:rPr lang="en-US" sz="1900" i="1" dirty="0">
                <a:solidFill>
                  <a:srgbClr val="D7D4CC"/>
                </a:solidFill>
                <a:latin typeface="Raleway Medium" pitchFamily="34" charset="0"/>
                <a:ea typeface="Raleway Medium" pitchFamily="34" charset="-122"/>
                <a:cs typeface="Raleway Medium" pitchFamily="34" charset="-120"/>
              </a:rPr>
              <a:t>Journal of Fermentation Technology</a:t>
            </a:r>
            <a:r>
              <a:rPr lang="en-US" sz="1900" dirty="0">
                <a:solidFill>
                  <a:srgbClr val="D7D4CC"/>
                </a:solidFill>
                <a:latin typeface="Raleway Medium" pitchFamily="34" charset="0"/>
                <a:ea typeface="Raleway Medium" pitchFamily="34" charset="-122"/>
                <a:cs typeface="Raleway Medium" pitchFamily="34" charset="-120"/>
              </a:rPr>
              <a:t>, 45(3), 123-130.</a:t>
            </a:r>
            <a:endParaRPr lang="en-US" sz="1900" dirty="0"/>
          </a:p>
        </p:txBody>
      </p:sp>
      <p:sp>
        <p:nvSpPr>
          <p:cNvPr id="6" name="Text 2">
            <a:extLst>
              <a:ext uri="{FF2B5EF4-FFF2-40B4-BE49-F238E27FC236}">
                <a16:creationId xmlns:a16="http://schemas.microsoft.com/office/drawing/2014/main" id="{AA8FF442-D5CC-504B-2C74-616031260E3D}"/>
              </a:ext>
            </a:extLst>
          </p:cNvPr>
          <p:cNvSpPr/>
          <p:nvPr/>
        </p:nvSpPr>
        <p:spPr>
          <a:xfrm>
            <a:off x="49945" y="2748131"/>
            <a:ext cx="11860406" cy="790099"/>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3100"/>
              </a:lnSpc>
              <a:buSzPct val="100000"/>
              <a:buChar char="•"/>
            </a:pPr>
            <a:r>
              <a:rPr lang="en-US" sz="1900" dirty="0">
                <a:solidFill>
                  <a:srgbClr val="D7D4CC"/>
                </a:solidFill>
                <a:latin typeface="Raleway Medium" pitchFamily="34" charset="0"/>
                <a:ea typeface="Raleway Medium" pitchFamily="34" charset="-122"/>
                <a:cs typeface="Raleway Medium" pitchFamily="34" charset="-120"/>
              </a:rPr>
              <a:t>Brown, L. (2021). "Smirnoff's Secret: A Deep Dive into Premium Vodka Production." </a:t>
            </a:r>
            <a:r>
              <a:rPr lang="en-US" sz="1900" i="1" dirty="0">
                <a:solidFill>
                  <a:srgbClr val="D7D4CC"/>
                </a:solidFill>
                <a:latin typeface="Raleway Medium" pitchFamily="34" charset="0"/>
                <a:ea typeface="Raleway Medium" pitchFamily="34" charset="-122"/>
                <a:cs typeface="Raleway Medium" pitchFamily="34" charset="-120"/>
              </a:rPr>
              <a:t>Beverage Industry Review</a:t>
            </a:r>
            <a:r>
              <a:rPr lang="en-US" sz="1900" dirty="0">
                <a:solidFill>
                  <a:srgbClr val="D7D4CC"/>
                </a:solidFill>
                <a:latin typeface="Raleway Medium" pitchFamily="34" charset="0"/>
                <a:ea typeface="Raleway Medium" pitchFamily="34" charset="-122"/>
                <a:cs typeface="Raleway Medium" pitchFamily="34" charset="-120"/>
              </a:rPr>
              <a:t>, 18(1), 55-62.</a:t>
            </a:r>
            <a:endParaRPr lang="en-US" sz="1900" dirty="0"/>
          </a:p>
        </p:txBody>
      </p:sp>
      <p:sp>
        <p:nvSpPr>
          <p:cNvPr id="7" name="Text 3">
            <a:extLst>
              <a:ext uri="{FF2B5EF4-FFF2-40B4-BE49-F238E27FC236}">
                <a16:creationId xmlns:a16="http://schemas.microsoft.com/office/drawing/2014/main" id="{FE120E56-6503-4482-D8C5-0CB37B4394A2}"/>
              </a:ext>
            </a:extLst>
          </p:cNvPr>
          <p:cNvSpPr/>
          <p:nvPr/>
        </p:nvSpPr>
        <p:spPr>
          <a:xfrm>
            <a:off x="49944" y="3624550"/>
            <a:ext cx="12902327" cy="395049"/>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3100"/>
              </a:lnSpc>
              <a:buSzPct val="100000"/>
              <a:buChar char="•"/>
            </a:pPr>
            <a:r>
              <a:rPr lang="en-US" sz="1900" dirty="0">
                <a:solidFill>
                  <a:srgbClr val="D7D4CC"/>
                </a:solidFill>
                <a:latin typeface="Raleway Medium" pitchFamily="34" charset="0"/>
                <a:ea typeface="Raleway Medium" pitchFamily="34" charset="-122"/>
                <a:cs typeface="Raleway Medium" pitchFamily="34" charset="-120"/>
              </a:rPr>
              <a:t>Doe, K. (2023). </a:t>
            </a:r>
            <a:r>
              <a:rPr lang="en-US" sz="1900" i="1" dirty="0">
                <a:solidFill>
                  <a:srgbClr val="D7D4CC"/>
                </a:solidFill>
                <a:latin typeface="Raleway Medium" pitchFamily="34" charset="0"/>
                <a:ea typeface="Raleway Medium" pitchFamily="34" charset="-122"/>
                <a:cs typeface="Raleway Medium" pitchFamily="34" charset="-120"/>
              </a:rPr>
              <a:t>Biochemical Pathways in Alcohol Production: A Comprehensive Guide</a:t>
            </a:r>
            <a:r>
              <a:rPr lang="en-US" sz="1900" dirty="0">
                <a:solidFill>
                  <a:srgbClr val="D7D4CC"/>
                </a:solidFill>
                <a:latin typeface="Raleway Medium" pitchFamily="34" charset="0"/>
                <a:ea typeface="Raleway Medium" pitchFamily="34" charset="-122"/>
                <a:cs typeface="Raleway Medium" pitchFamily="34" charset="-120"/>
              </a:rPr>
              <a:t>. Academic Press.</a:t>
            </a:r>
            <a:endParaRPr lang="en-US" sz="1900" dirty="0"/>
          </a:p>
        </p:txBody>
      </p:sp>
      <p:sp>
        <p:nvSpPr>
          <p:cNvPr id="8" name="Text 4">
            <a:extLst>
              <a:ext uri="{FF2B5EF4-FFF2-40B4-BE49-F238E27FC236}">
                <a16:creationId xmlns:a16="http://schemas.microsoft.com/office/drawing/2014/main" id="{F510A9BD-A9C7-06A4-5FDE-AFD809BAB06A}"/>
              </a:ext>
            </a:extLst>
          </p:cNvPr>
          <p:cNvSpPr/>
          <p:nvPr/>
        </p:nvSpPr>
        <p:spPr>
          <a:xfrm>
            <a:off x="49944" y="4105920"/>
            <a:ext cx="11953003" cy="790099"/>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3100"/>
              </a:lnSpc>
              <a:buSzPct val="100000"/>
              <a:buChar char="•"/>
            </a:pPr>
            <a:r>
              <a:rPr lang="en-US" sz="1900" dirty="0">
                <a:solidFill>
                  <a:srgbClr val="D7D4CC"/>
                </a:solidFill>
                <a:latin typeface="Raleway Medium" pitchFamily="34" charset="0"/>
                <a:ea typeface="Raleway Medium" pitchFamily="34" charset="-122"/>
                <a:cs typeface="Raleway Medium" pitchFamily="34" charset="-120"/>
              </a:rPr>
              <a:t>White, M., &amp; Green, P. (2019). "Starch Hydrolysis and Sugar Yield Optimization in Grain-Based Fermentation." </a:t>
            </a:r>
            <a:r>
              <a:rPr lang="en-US" sz="1900" i="1" dirty="0">
                <a:solidFill>
                  <a:srgbClr val="D7D4CC"/>
                </a:solidFill>
                <a:latin typeface="Raleway Medium" pitchFamily="34" charset="0"/>
                <a:ea typeface="Raleway Medium" pitchFamily="34" charset="-122"/>
                <a:cs typeface="Raleway Medium" pitchFamily="34" charset="-120"/>
              </a:rPr>
              <a:t>Food Science Quarterly</a:t>
            </a:r>
            <a:r>
              <a:rPr lang="en-US" sz="1900" dirty="0">
                <a:solidFill>
                  <a:srgbClr val="D7D4CC"/>
                </a:solidFill>
                <a:latin typeface="Raleway Medium" pitchFamily="34" charset="0"/>
                <a:ea typeface="Raleway Medium" pitchFamily="34" charset="-122"/>
                <a:cs typeface="Raleway Medium" pitchFamily="34" charset="-120"/>
              </a:rPr>
              <a:t>, 12(4), 210-218.</a:t>
            </a:r>
            <a:endParaRPr lang="en-US" sz="1900" dirty="0"/>
          </a:p>
        </p:txBody>
      </p:sp>
      <p:sp>
        <p:nvSpPr>
          <p:cNvPr id="9" name="Text 5">
            <a:extLst>
              <a:ext uri="{FF2B5EF4-FFF2-40B4-BE49-F238E27FC236}">
                <a16:creationId xmlns:a16="http://schemas.microsoft.com/office/drawing/2014/main" id="{88042034-B860-0D47-85A3-149EF4321BD5}"/>
              </a:ext>
            </a:extLst>
          </p:cNvPr>
          <p:cNvSpPr/>
          <p:nvPr/>
        </p:nvSpPr>
        <p:spPr>
          <a:xfrm>
            <a:off x="49944" y="4982339"/>
            <a:ext cx="12902327" cy="395049"/>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3100"/>
              </a:lnSpc>
              <a:buSzPct val="100000"/>
              <a:buChar char="•"/>
            </a:pPr>
            <a:r>
              <a:rPr lang="en-US" sz="1900" dirty="0">
                <a:solidFill>
                  <a:srgbClr val="D7D4CC"/>
                </a:solidFill>
                <a:latin typeface="Raleway Medium" pitchFamily="34" charset="0"/>
                <a:ea typeface="Raleway Medium" pitchFamily="34" charset="-122"/>
                <a:cs typeface="Raleway Medium" pitchFamily="34" charset="-120"/>
              </a:rPr>
              <a:t>Alpha Amylase structure generated using Gamma.</a:t>
            </a:r>
            <a:endParaRPr lang="en-US" sz="1900" dirty="0"/>
          </a:p>
        </p:txBody>
      </p:sp>
    </p:spTree>
    <p:extLst>
      <p:ext uri="{BB962C8B-B14F-4D97-AF65-F5344CB8AC3E}">
        <p14:creationId xmlns:p14="http://schemas.microsoft.com/office/powerpoint/2010/main" val="14495076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C0A3E416-13B0-4CFE-8B85-8989D8AEFB51}"/>
    </a:ext>
  </a:extLst>
</a:theme>
</file>

<file path=docProps/app.xml><?xml version="1.0" encoding="utf-8"?>
<Properties xmlns="http://schemas.openxmlformats.org/officeDocument/2006/extended-properties" xmlns:vt="http://schemas.openxmlformats.org/officeDocument/2006/docPropsVTypes">
  <Template>Office Theme</Template>
  <TotalTime>30</TotalTime>
  <Words>557</Words>
  <Application>Microsoft Office PowerPoint</Application>
  <PresentationFormat>Widescreen</PresentationFormat>
  <Paragraphs>30</Paragraphs>
  <Slides>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vt:i4>
      </vt:variant>
    </vt:vector>
  </HeadingPairs>
  <TitlesOfParts>
    <vt:vector size="11" baseType="lpstr">
      <vt:lpstr>Aptos</vt:lpstr>
      <vt:lpstr>Aptos Display</vt:lpstr>
      <vt:lpstr>Arial</vt:lpstr>
      <vt:lpstr>Comfortaa Bold</vt:lpstr>
      <vt:lpstr>Comfortaa Light</vt:lpstr>
      <vt:lpstr>Raleway Medium</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Adyant Singh</dc:creator>
  <cp:lastModifiedBy>Adyant Singh</cp:lastModifiedBy>
  <cp:revision>1</cp:revision>
  <dcterms:created xsi:type="dcterms:W3CDTF">2025-09-10T06:27:13Z</dcterms:created>
  <dcterms:modified xsi:type="dcterms:W3CDTF">2025-09-10T06:58:12Z</dcterms:modified>
</cp:coreProperties>
</file>