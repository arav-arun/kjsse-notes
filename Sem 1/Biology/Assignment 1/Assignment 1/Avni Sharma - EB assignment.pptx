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D4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668"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2C18DE-AC6A-48CB-A0F7-3B37C4E7A4E4}" type="doc">
      <dgm:prSet loTypeId="urn:microsoft.com/office/officeart/2011/layout/HexagonRadial" loCatId="officeonline" qsTypeId="urn:microsoft.com/office/officeart/2005/8/quickstyle/simple1" qsCatId="simple" csTypeId="urn:microsoft.com/office/officeart/2005/8/colors/accent1_1" csCatId="accent1" phldr="1"/>
      <dgm:spPr/>
      <dgm:t>
        <a:bodyPr/>
        <a:lstStyle/>
        <a:p>
          <a:endParaRPr lang="en-IN"/>
        </a:p>
      </dgm:t>
    </dgm:pt>
    <dgm:pt modelId="{D35CD6F2-A2E4-4A12-92D5-59E081ABED02}">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Fruit Juice Production</a:t>
          </a:r>
        </a:p>
      </dgm:t>
    </dgm:pt>
    <dgm:pt modelId="{216F4F99-4149-4306-B8FE-A7B26552BBAE}" type="parTrans" cxnId="{AB1F7908-0FDE-4F99-A975-0777D8230DBF}">
      <dgm:prSet/>
      <dgm:spPr/>
      <dgm:t>
        <a:bodyPr/>
        <a:lstStyle/>
        <a:p>
          <a:endParaRPr lang="en-IN"/>
        </a:p>
      </dgm:t>
    </dgm:pt>
    <dgm:pt modelId="{9807887C-143D-49FB-9DFA-97403D381C5C}" type="sibTrans" cxnId="{AB1F7908-0FDE-4F99-A975-0777D8230DBF}">
      <dgm:prSet/>
      <dgm:spPr/>
      <dgm:t>
        <a:bodyPr/>
        <a:lstStyle/>
        <a:p>
          <a:endParaRPr lang="en-IN"/>
        </a:p>
      </dgm:t>
    </dgm:pt>
    <dgm:pt modelId="{7B956FDF-7C57-4B62-81BC-E2575999157A}">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Fresh Fruit</a:t>
          </a:r>
        </a:p>
      </dgm:t>
    </dgm:pt>
    <dgm:pt modelId="{4289BDA5-55B0-440A-85B4-DE33B7F52770}" type="parTrans" cxnId="{3B36A533-ACB8-4E19-968E-A72AB2D8465F}">
      <dgm:prSet/>
      <dgm:spPr/>
      <dgm:t>
        <a:bodyPr/>
        <a:lstStyle/>
        <a:p>
          <a:endParaRPr lang="en-IN"/>
        </a:p>
      </dgm:t>
    </dgm:pt>
    <dgm:pt modelId="{64413AB9-2F5D-4E6B-85FC-4CE3D1949823}" type="sibTrans" cxnId="{3B36A533-ACB8-4E19-968E-A72AB2D8465F}">
      <dgm:prSet/>
      <dgm:spPr/>
      <dgm:t>
        <a:bodyPr/>
        <a:lstStyle/>
        <a:p>
          <a:endParaRPr lang="en-IN"/>
        </a:p>
      </dgm:t>
    </dgm:pt>
    <dgm:pt modelId="{EF69561E-D157-472D-A138-6E96AB1E07C8}">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Crushing / Pulping</a:t>
          </a:r>
        </a:p>
      </dgm:t>
    </dgm:pt>
    <dgm:pt modelId="{F35BADF8-7950-4488-93B7-C77627448F6B}" type="parTrans" cxnId="{F593D9DD-DF6C-4ACE-A6DF-E95A1E07CC59}">
      <dgm:prSet/>
      <dgm:spPr/>
      <dgm:t>
        <a:bodyPr/>
        <a:lstStyle/>
        <a:p>
          <a:endParaRPr lang="en-IN"/>
        </a:p>
      </dgm:t>
    </dgm:pt>
    <dgm:pt modelId="{46DDB1E5-D348-49B7-940D-D2B24650E991}" type="sibTrans" cxnId="{F593D9DD-DF6C-4ACE-A6DF-E95A1E07CC59}">
      <dgm:prSet/>
      <dgm:spPr/>
      <dgm:t>
        <a:bodyPr/>
        <a:lstStyle/>
        <a:p>
          <a:endParaRPr lang="en-IN"/>
        </a:p>
      </dgm:t>
    </dgm:pt>
    <dgm:pt modelId="{E2BE4F21-2B6E-4960-9656-71C8F508E5D9}">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Enzyme (Pectinase)</a:t>
          </a:r>
          <a:endParaRPr lang="en-IN" dirty="0"/>
        </a:p>
      </dgm:t>
    </dgm:pt>
    <dgm:pt modelId="{36BC1266-0F00-490A-98FA-DFA93F6AC17D}" type="parTrans" cxnId="{34586126-C4D3-4D21-B11D-BA467EBE1F0C}">
      <dgm:prSet/>
      <dgm:spPr/>
      <dgm:t>
        <a:bodyPr/>
        <a:lstStyle/>
        <a:p>
          <a:endParaRPr lang="en-IN"/>
        </a:p>
      </dgm:t>
    </dgm:pt>
    <dgm:pt modelId="{4D13D215-1C3E-47DA-8635-8688935D25FA}" type="sibTrans" cxnId="{34586126-C4D3-4D21-B11D-BA467EBE1F0C}">
      <dgm:prSet/>
      <dgm:spPr/>
      <dgm:t>
        <a:bodyPr/>
        <a:lstStyle/>
        <a:p>
          <a:endParaRPr lang="en-IN"/>
        </a:p>
      </dgm:t>
    </dgm:pt>
    <dgm:pt modelId="{BBE15910-8A5E-4826-88EB-3F6121460006}">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Juice Extraction</a:t>
          </a:r>
          <a:endParaRPr lang="en-IN" dirty="0"/>
        </a:p>
      </dgm:t>
    </dgm:pt>
    <dgm:pt modelId="{2359371D-CC37-4EBA-A33A-01F411803589}" type="parTrans" cxnId="{B1425ED3-AEE6-431A-9729-82B68B9D0A37}">
      <dgm:prSet/>
      <dgm:spPr/>
      <dgm:t>
        <a:bodyPr/>
        <a:lstStyle/>
        <a:p>
          <a:endParaRPr lang="en-IN"/>
        </a:p>
      </dgm:t>
    </dgm:pt>
    <dgm:pt modelId="{B2B640A4-BD1B-45B2-9CFD-2AC4053EC4CF}" type="sibTrans" cxnId="{B1425ED3-AEE6-431A-9729-82B68B9D0A37}">
      <dgm:prSet/>
      <dgm:spPr/>
      <dgm:t>
        <a:bodyPr/>
        <a:lstStyle/>
        <a:p>
          <a:endParaRPr lang="en-IN"/>
        </a:p>
      </dgm:t>
    </dgm:pt>
    <dgm:pt modelId="{4392CABE-9DD4-4BBF-AA00-82FCF6E12E52}">
      <dgm:prSet phldrT="[Text]" phldr="1"/>
      <dgm:spPr/>
      <dgm:t>
        <a:bodyPr/>
        <a:lstStyle/>
        <a:p>
          <a:endParaRPr lang="en-IN"/>
        </a:p>
      </dgm:t>
    </dgm:pt>
    <dgm:pt modelId="{49C553AC-F225-4CB6-A73E-7D0959323805}" type="parTrans" cxnId="{8F313CF3-C793-4C50-B803-0E17A6E5A16B}">
      <dgm:prSet/>
      <dgm:spPr/>
      <dgm:t>
        <a:bodyPr/>
        <a:lstStyle/>
        <a:p>
          <a:endParaRPr lang="en-IN"/>
        </a:p>
      </dgm:t>
    </dgm:pt>
    <dgm:pt modelId="{5A4F412B-7999-4B6C-92B6-B952E3FAA76E}" type="sibTrans" cxnId="{8F313CF3-C793-4C50-B803-0E17A6E5A16B}">
      <dgm:prSet/>
      <dgm:spPr/>
      <dgm:t>
        <a:bodyPr/>
        <a:lstStyle/>
        <a:p>
          <a:endParaRPr lang="en-IN"/>
        </a:p>
      </dgm:t>
    </dgm:pt>
    <dgm:pt modelId="{F50968CB-3F38-4E6F-8C42-E6953B576D1E}">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Adjusting Optimum Conditions</a:t>
          </a:r>
        </a:p>
      </dgm:t>
    </dgm:pt>
    <dgm:pt modelId="{526D7D02-E9EB-43EE-BE57-B165881A3D57}" type="parTrans" cxnId="{21951213-7FF2-4D3C-B1FE-93A7CAD393A6}">
      <dgm:prSet/>
      <dgm:spPr/>
      <dgm:t>
        <a:bodyPr/>
        <a:lstStyle/>
        <a:p>
          <a:endParaRPr lang="en-IN"/>
        </a:p>
      </dgm:t>
    </dgm:pt>
    <dgm:pt modelId="{45E3A828-7C9F-4AC0-A5AD-B880040B6423}" type="sibTrans" cxnId="{21951213-7FF2-4D3C-B1FE-93A7CAD393A6}">
      <dgm:prSet/>
      <dgm:spPr/>
      <dgm:t>
        <a:bodyPr/>
        <a:lstStyle/>
        <a:p>
          <a:endParaRPr lang="en-IN"/>
        </a:p>
      </dgm:t>
    </dgm:pt>
    <dgm:pt modelId="{6C193EF6-8D43-4309-ADB7-0487F6E28894}">
      <dgm:prSet phldrT="[Text]"/>
      <dgm:spPr>
        <a:scene3d>
          <a:camera prst="orthographicFront"/>
          <a:lightRig rig="threePt" dir="t"/>
        </a:scene3d>
        <a:sp3d>
          <a:bevelT w="114300" prst="artDeco"/>
        </a:sp3d>
      </dgm:spPr>
      <dgm:t>
        <a:bodyPr/>
        <a:lstStyle/>
        <a:p>
          <a:r>
            <a:rPr lang="en-IN" b="1" dirty="0">
              <a:latin typeface="Mongolian Baiti" panose="03000500000000000000" pitchFamily="66" charset="0"/>
              <a:cs typeface="Mongolian Baiti" panose="03000500000000000000" pitchFamily="66" charset="0"/>
            </a:rPr>
            <a:t>Clarification</a:t>
          </a:r>
        </a:p>
      </dgm:t>
    </dgm:pt>
    <dgm:pt modelId="{0E28D5A3-2B64-456A-BA9F-29C7347DECA5}" type="parTrans" cxnId="{F90E15E1-CBC8-4372-B6BA-8817C0229E1F}">
      <dgm:prSet/>
      <dgm:spPr/>
      <dgm:t>
        <a:bodyPr/>
        <a:lstStyle/>
        <a:p>
          <a:endParaRPr lang="en-IN"/>
        </a:p>
      </dgm:t>
    </dgm:pt>
    <dgm:pt modelId="{28C176BB-53B2-40CC-9C97-CC64EECBB815}" type="sibTrans" cxnId="{F90E15E1-CBC8-4372-B6BA-8817C0229E1F}">
      <dgm:prSet/>
      <dgm:spPr/>
      <dgm:t>
        <a:bodyPr/>
        <a:lstStyle/>
        <a:p>
          <a:endParaRPr lang="en-IN"/>
        </a:p>
      </dgm:t>
    </dgm:pt>
    <dgm:pt modelId="{2DA40016-3C45-40C2-91A5-77F7588E89A3}" type="pres">
      <dgm:prSet presAssocID="{672C18DE-AC6A-48CB-A0F7-3B37C4E7A4E4}" presName="Name0" presStyleCnt="0">
        <dgm:presLayoutVars>
          <dgm:chMax val="1"/>
          <dgm:chPref val="1"/>
          <dgm:dir/>
          <dgm:animOne val="branch"/>
          <dgm:animLvl val="lvl"/>
        </dgm:presLayoutVars>
      </dgm:prSet>
      <dgm:spPr/>
    </dgm:pt>
    <dgm:pt modelId="{A953C6E3-29C5-43AF-B477-F58251EB46A9}" type="pres">
      <dgm:prSet presAssocID="{D35CD6F2-A2E4-4A12-92D5-59E081ABED02}" presName="Parent" presStyleLbl="node0" presStyleIdx="0" presStyleCnt="1">
        <dgm:presLayoutVars>
          <dgm:chMax val="6"/>
          <dgm:chPref val="6"/>
        </dgm:presLayoutVars>
      </dgm:prSet>
      <dgm:spPr/>
    </dgm:pt>
    <dgm:pt modelId="{44F60B38-67A1-46D0-A50D-A166F15933AF}" type="pres">
      <dgm:prSet presAssocID="{7B956FDF-7C57-4B62-81BC-E2575999157A}" presName="Accent1" presStyleCnt="0"/>
      <dgm:spPr>
        <a:scene3d>
          <a:camera prst="orthographicFront"/>
          <a:lightRig rig="threePt" dir="t"/>
        </a:scene3d>
        <a:sp3d>
          <a:bevelT w="114300" prst="artDeco"/>
        </a:sp3d>
      </dgm:spPr>
    </dgm:pt>
    <dgm:pt modelId="{EA881969-4DB8-489D-8114-E4EC1EDF83BF}" type="pres">
      <dgm:prSet presAssocID="{7B956FDF-7C57-4B62-81BC-E2575999157A}" presName="Accent" presStyleLbl="bgShp" presStyleIdx="0" presStyleCnt="6"/>
      <dgm:spPr>
        <a:scene3d>
          <a:camera prst="orthographicFront"/>
          <a:lightRig rig="threePt" dir="t"/>
        </a:scene3d>
        <a:sp3d>
          <a:bevelT w="114300" prst="artDeco"/>
        </a:sp3d>
      </dgm:spPr>
    </dgm:pt>
    <dgm:pt modelId="{09AAAFBC-83A8-4A05-AB05-9722A608FE4D}" type="pres">
      <dgm:prSet presAssocID="{7B956FDF-7C57-4B62-81BC-E2575999157A}" presName="Child1" presStyleLbl="node1" presStyleIdx="0" presStyleCnt="6">
        <dgm:presLayoutVars>
          <dgm:chMax val="0"/>
          <dgm:chPref val="0"/>
          <dgm:bulletEnabled val="1"/>
        </dgm:presLayoutVars>
      </dgm:prSet>
      <dgm:spPr/>
    </dgm:pt>
    <dgm:pt modelId="{3D0641F7-A467-4C65-9CD1-3A7F4083B2AC}" type="pres">
      <dgm:prSet presAssocID="{EF69561E-D157-472D-A138-6E96AB1E07C8}" presName="Accent2" presStyleCnt="0"/>
      <dgm:spPr>
        <a:scene3d>
          <a:camera prst="orthographicFront"/>
          <a:lightRig rig="threePt" dir="t"/>
        </a:scene3d>
        <a:sp3d>
          <a:bevelT w="114300" prst="artDeco"/>
        </a:sp3d>
      </dgm:spPr>
    </dgm:pt>
    <dgm:pt modelId="{BE65CC38-9F2C-47C9-B0D9-48569136D735}" type="pres">
      <dgm:prSet presAssocID="{EF69561E-D157-472D-A138-6E96AB1E07C8}" presName="Accent" presStyleLbl="bgShp" presStyleIdx="1" presStyleCnt="6"/>
      <dgm:spPr>
        <a:scene3d>
          <a:camera prst="orthographicFront"/>
          <a:lightRig rig="threePt" dir="t"/>
        </a:scene3d>
        <a:sp3d>
          <a:bevelT w="114300" prst="artDeco"/>
        </a:sp3d>
      </dgm:spPr>
    </dgm:pt>
    <dgm:pt modelId="{5748D4DE-F888-45CD-9504-4B3C16E5F945}" type="pres">
      <dgm:prSet presAssocID="{EF69561E-D157-472D-A138-6E96AB1E07C8}" presName="Child2" presStyleLbl="node1" presStyleIdx="1" presStyleCnt="6">
        <dgm:presLayoutVars>
          <dgm:chMax val="0"/>
          <dgm:chPref val="0"/>
          <dgm:bulletEnabled val="1"/>
        </dgm:presLayoutVars>
      </dgm:prSet>
      <dgm:spPr/>
    </dgm:pt>
    <dgm:pt modelId="{36EBBC53-B638-49A8-A986-2AD30960530F}" type="pres">
      <dgm:prSet presAssocID="{F50968CB-3F38-4E6F-8C42-E6953B576D1E}" presName="Accent3" presStyleCnt="0"/>
      <dgm:spPr>
        <a:scene3d>
          <a:camera prst="orthographicFront"/>
          <a:lightRig rig="threePt" dir="t"/>
        </a:scene3d>
        <a:sp3d>
          <a:bevelT w="114300" prst="artDeco"/>
        </a:sp3d>
      </dgm:spPr>
    </dgm:pt>
    <dgm:pt modelId="{6C174CD7-2F75-4A5F-8F18-0371CE22CC5C}" type="pres">
      <dgm:prSet presAssocID="{F50968CB-3F38-4E6F-8C42-E6953B576D1E}" presName="Accent" presStyleLbl="bgShp" presStyleIdx="2" presStyleCnt="6"/>
      <dgm:spPr>
        <a:scene3d>
          <a:camera prst="orthographicFront"/>
          <a:lightRig rig="threePt" dir="t"/>
        </a:scene3d>
        <a:sp3d>
          <a:bevelT w="114300" prst="artDeco"/>
        </a:sp3d>
      </dgm:spPr>
    </dgm:pt>
    <dgm:pt modelId="{43D44F10-A0D9-4438-9ED3-0087976D5193}" type="pres">
      <dgm:prSet presAssocID="{F50968CB-3F38-4E6F-8C42-E6953B576D1E}" presName="Child3" presStyleLbl="node1" presStyleIdx="2" presStyleCnt="6">
        <dgm:presLayoutVars>
          <dgm:chMax val="0"/>
          <dgm:chPref val="0"/>
          <dgm:bulletEnabled val="1"/>
        </dgm:presLayoutVars>
      </dgm:prSet>
      <dgm:spPr/>
    </dgm:pt>
    <dgm:pt modelId="{66053960-3C66-4890-8D8B-332FE91A4A82}" type="pres">
      <dgm:prSet presAssocID="{E2BE4F21-2B6E-4960-9656-71C8F508E5D9}" presName="Accent4" presStyleCnt="0"/>
      <dgm:spPr>
        <a:scene3d>
          <a:camera prst="orthographicFront"/>
          <a:lightRig rig="threePt" dir="t"/>
        </a:scene3d>
        <a:sp3d>
          <a:bevelT w="114300" prst="artDeco"/>
        </a:sp3d>
      </dgm:spPr>
    </dgm:pt>
    <dgm:pt modelId="{46E06558-632F-49CE-97BC-1FF6A6910AAA}" type="pres">
      <dgm:prSet presAssocID="{E2BE4F21-2B6E-4960-9656-71C8F508E5D9}" presName="Accent" presStyleLbl="bgShp" presStyleIdx="3" presStyleCnt="6"/>
      <dgm:spPr>
        <a:scene3d>
          <a:camera prst="orthographicFront"/>
          <a:lightRig rig="threePt" dir="t"/>
        </a:scene3d>
        <a:sp3d>
          <a:bevelT w="114300" prst="artDeco"/>
        </a:sp3d>
      </dgm:spPr>
    </dgm:pt>
    <dgm:pt modelId="{3BF77ADF-CDEB-45A2-9B2E-3DAD94FCC83B}" type="pres">
      <dgm:prSet presAssocID="{E2BE4F21-2B6E-4960-9656-71C8F508E5D9}" presName="Child4" presStyleLbl="node1" presStyleIdx="3" presStyleCnt="6">
        <dgm:presLayoutVars>
          <dgm:chMax val="0"/>
          <dgm:chPref val="0"/>
          <dgm:bulletEnabled val="1"/>
        </dgm:presLayoutVars>
      </dgm:prSet>
      <dgm:spPr/>
    </dgm:pt>
    <dgm:pt modelId="{0896E5D2-D327-4D81-9932-6645D39583CF}" type="pres">
      <dgm:prSet presAssocID="{BBE15910-8A5E-4826-88EB-3F6121460006}" presName="Accent5" presStyleCnt="0"/>
      <dgm:spPr>
        <a:scene3d>
          <a:camera prst="orthographicFront"/>
          <a:lightRig rig="threePt" dir="t"/>
        </a:scene3d>
        <a:sp3d>
          <a:bevelT w="114300" prst="artDeco"/>
        </a:sp3d>
      </dgm:spPr>
    </dgm:pt>
    <dgm:pt modelId="{81E044B1-27CA-47D7-8E03-FD384455EC6D}" type="pres">
      <dgm:prSet presAssocID="{BBE15910-8A5E-4826-88EB-3F6121460006}" presName="Accent" presStyleLbl="bgShp" presStyleIdx="4" presStyleCnt="6"/>
      <dgm:spPr>
        <a:scene3d>
          <a:camera prst="orthographicFront"/>
          <a:lightRig rig="threePt" dir="t"/>
        </a:scene3d>
        <a:sp3d>
          <a:bevelT w="114300" prst="artDeco"/>
        </a:sp3d>
      </dgm:spPr>
    </dgm:pt>
    <dgm:pt modelId="{7BA31E82-EC2C-42B9-957D-92F6582839C1}" type="pres">
      <dgm:prSet presAssocID="{BBE15910-8A5E-4826-88EB-3F6121460006}" presName="Child5" presStyleLbl="node1" presStyleIdx="4" presStyleCnt="6">
        <dgm:presLayoutVars>
          <dgm:chMax val="0"/>
          <dgm:chPref val="0"/>
          <dgm:bulletEnabled val="1"/>
        </dgm:presLayoutVars>
      </dgm:prSet>
      <dgm:spPr/>
    </dgm:pt>
    <dgm:pt modelId="{2E5A08DC-175B-4621-92A8-40395F04B456}" type="pres">
      <dgm:prSet presAssocID="{6C193EF6-8D43-4309-ADB7-0487F6E28894}" presName="Accent6" presStyleCnt="0"/>
      <dgm:spPr>
        <a:scene3d>
          <a:camera prst="orthographicFront"/>
          <a:lightRig rig="threePt" dir="t"/>
        </a:scene3d>
        <a:sp3d>
          <a:bevelT w="114300" prst="artDeco"/>
        </a:sp3d>
      </dgm:spPr>
    </dgm:pt>
    <dgm:pt modelId="{88800B9B-B21C-4EEB-B407-F8AFC502AE32}" type="pres">
      <dgm:prSet presAssocID="{6C193EF6-8D43-4309-ADB7-0487F6E28894}" presName="Accent" presStyleLbl="bgShp" presStyleIdx="5" presStyleCnt="6"/>
      <dgm:spPr>
        <a:scene3d>
          <a:camera prst="orthographicFront"/>
          <a:lightRig rig="threePt" dir="t"/>
        </a:scene3d>
        <a:sp3d>
          <a:bevelT w="114300" prst="artDeco"/>
        </a:sp3d>
      </dgm:spPr>
    </dgm:pt>
    <dgm:pt modelId="{A09EE83B-83D7-4462-9B84-8F7CB4F54DCE}" type="pres">
      <dgm:prSet presAssocID="{6C193EF6-8D43-4309-ADB7-0487F6E28894}" presName="Child6" presStyleLbl="node1" presStyleIdx="5" presStyleCnt="6">
        <dgm:presLayoutVars>
          <dgm:chMax val="0"/>
          <dgm:chPref val="0"/>
          <dgm:bulletEnabled val="1"/>
        </dgm:presLayoutVars>
      </dgm:prSet>
      <dgm:spPr/>
    </dgm:pt>
  </dgm:ptLst>
  <dgm:cxnLst>
    <dgm:cxn modelId="{AB1F7908-0FDE-4F99-A975-0777D8230DBF}" srcId="{672C18DE-AC6A-48CB-A0F7-3B37C4E7A4E4}" destId="{D35CD6F2-A2E4-4A12-92D5-59E081ABED02}" srcOrd="0" destOrd="0" parTransId="{216F4F99-4149-4306-B8FE-A7B26552BBAE}" sibTransId="{9807887C-143D-49FB-9DFA-97403D381C5C}"/>
    <dgm:cxn modelId="{21951213-7FF2-4D3C-B1FE-93A7CAD393A6}" srcId="{D35CD6F2-A2E4-4A12-92D5-59E081ABED02}" destId="{F50968CB-3F38-4E6F-8C42-E6953B576D1E}" srcOrd="2" destOrd="0" parTransId="{526D7D02-E9EB-43EE-BE57-B165881A3D57}" sibTransId="{45E3A828-7C9F-4AC0-A5AD-B880040B6423}"/>
    <dgm:cxn modelId="{34586126-C4D3-4D21-B11D-BA467EBE1F0C}" srcId="{D35CD6F2-A2E4-4A12-92D5-59E081ABED02}" destId="{E2BE4F21-2B6E-4960-9656-71C8F508E5D9}" srcOrd="3" destOrd="0" parTransId="{36BC1266-0F00-490A-98FA-DFA93F6AC17D}" sibTransId="{4D13D215-1C3E-47DA-8635-8688935D25FA}"/>
    <dgm:cxn modelId="{3B36A533-ACB8-4E19-968E-A72AB2D8465F}" srcId="{D35CD6F2-A2E4-4A12-92D5-59E081ABED02}" destId="{7B956FDF-7C57-4B62-81BC-E2575999157A}" srcOrd="0" destOrd="0" parTransId="{4289BDA5-55B0-440A-85B4-DE33B7F52770}" sibTransId="{64413AB9-2F5D-4E6B-85FC-4CE3D1949823}"/>
    <dgm:cxn modelId="{D01CD535-3ABF-491C-9741-688B572EFB0E}" type="presOf" srcId="{F50968CB-3F38-4E6F-8C42-E6953B576D1E}" destId="{43D44F10-A0D9-4438-9ED3-0087976D5193}" srcOrd="0" destOrd="0" presId="urn:microsoft.com/office/officeart/2011/layout/HexagonRadial"/>
    <dgm:cxn modelId="{71803E3A-BBE1-465A-8195-2572EBCB2D66}" type="presOf" srcId="{EF69561E-D157-472D-A138-6E96AB1E07C8}" destId="{5748D4DE-F888-45CD-9504-4B3C16E5F945}" srcOrd="0" destOrd="0" presId="urn:microsoft.com/office/officeart/2011/layout/HexagonRadial"/>
    <dgm:cxn modelId="{988A205F-5793-4E44-A766-5D4F3366B518}" type="presOf" srcId="{7B956FDF-7C57-4B62-81BC-E2575999157A}" destId="{09AAAFBC-83A8-4A05-AB05-9722A608FE4D}" srcOrd="0" destOrd="0" presId="urn:microsoft.com/office/officeart/2011/layout/HexagonRadial"/>
    <dgm:cxn modelId="{7A945A67-07C9-4F0A-B9F6-72317D1912CD}" type="presOf" srcId="{6C193EF6-8D43-4309-ADB7-0487F6E28894}" destId="{A09EE83B-83D7-4462-9B84-8F7CB4F54DCE}" srcOrd="0" destOrd="0" presId="urn:microsoft.com/office/officeart/2011/layout/HexagonRadial"/>
    <dgm:cxn modelId="{F4E2314B-7AC8-49AC-AB04-CB3224B95B51}" type="presOf" srcId="{D35CD6F2-A2E4-4A12-92D5-59E081ABED02}" destId="{A953C6E3-29C5-43AF-B477-F58251EB46A9}" srcOrd="0" destOrd="0" presId="urn:microsoft.com/office/officeart/2011/layout/HexagonRadial"/>
    <dgm:cxn modelId="{F3897458-2674-4423-9274-03CAFAA72B11}" type="presOf" srcId="{672C18DE-AC6A-48CB-A0F7-3B37C4E7A4E4}" destId="{2DA40016-3C45-40C2-91A5-77F7588E89A3}" srcOrd="0" destOrd="0" presId="urn:microsoft.com/office/officeart/2011/layout/HexagonRadial"/>
    <dgm:cxn modelId="{234D115A-D908-4B92-B9F2-3C61940C8975}" type="presOf" srcId="{BBE15910-8A5E-4826-88EB-3F6121460006}" destId="{7BA31E82-EC2C-42B9-957D-92F6582839C1}" srcOrd="0" destOrd="0" presId="urn:microsoft.com/office/officeart/2011/layout/HexagonRadial"/>
    <dgm:cxn modelId="{2C9F4E97-C846-4B55-926F-3286091B757E}" type="presOf" srcId="{E2BE4F21-2B6E-4960-9656-71C8F508E5D9}" destId="{3BF77ADF-CDEB-45A2-9B2E-3DAD94FCC83B}" srcOrd="0" destOrd="0" presId="urn:microsoft.com/office/officeart/2011/layout/HexagonRadial"/>
    <dgm:cxn modelId="{B1425ED3-AEE6-431A-9729-82B68B9D0A37}" srcId="{D35CD6F2-A2E4-4A12-92D5-59E081ABED02}" destId="{BBE15910-8A5E-4826-88EB-3F6121460006}" srcOrd="4" destOrd="0" parTransId="{2359371D-CC37-4EBA-A33A-01F411803589}" sibTransId="{B2B640A4-BD1B-45B2-9CFD-2AC4053EC4CF}"/>
    <dgm:cxn modelId="{F593D9DD-DF6C-4ACE-A6DF-E95A1E07CC59}" srcId="{D35CD6F2-A2E4-4A12-92D5-59E081ABED02}" destId="{EF69561E-D157-472D-A138-6E96AB1E07C8}" srcOrd="1" destOrd="0" parTransId="{F35BADF8-7950-4488-93B7-C77627448F6B}" sibTransId="{46DDB1E5-D348-49B7-940D-D2B24650E991}"/>
    <dgm:cxn modelId="{F90E15E1-CBC8-4372-B6BA-8817C0229E1F}" srcId="{D35CD6F2-A2E4-4A12-92D5-59E081ABED02}" destId="{6C193EF6-8D43-4309-ADB7-0487F6E28894}" srcOrd="5" destOrd="0" parTransId="{0E28D5A3-2B64-456A-BA9F-29C7347DECA5}" sibTransId="{28C176BB-53B2-40CC-9C97-CC64EECBB815}"/>
    <dgm:cxn modelId="{8F313CF3-C793-4C50-B803-0E17A6E5A16B}" srcId="{D35CD6F2-A2E4-4A12-92D5-59E081ABED02}" destId="{4392CABE-9DD4-4BBF-AA00-82FCF6E12E52}" srcOrd="6" destOrd="0" parTransId="{49C553AC-F225-4CB6-A73E-7D0959323805}" sibTransId="{5A4F412B-7999-4B6C-92B6-B952E3FAA76E}"/>
    <dgm:cxn modelId="{03C6F3C9-0595-406A-9180-2D46F5CADACB}" type="presParOf" srcId="{2DA40016-3C45-40C2-91A5-77F7588E89A3}" destId="{A953C6E3-29C5-43AF-B477-F58251EB46A9}" srcOrd="0" destOrd="0" presId="urn:microsoft.com/office/officeart/2011/layout/HexagonRadial"/>
    <dgm:cxn modelId="{9CA157AB-D969-433B-B5F5-F207567EE76D}" type="presParOf" srcId="{2DA40016-3C45-40C2-91A5-77F7588E89A3}" destId="{44F60B38-67A1-46D0-A50D-A166F15933AF}" srcOrd="1" destOrd="0" presId="urn:microsoft.com/office/officeart/2011/layout/HexagonRadial"/>
    <dgm:cxn modelId="{BE2987E6-B7BC-44F0-98D4-14D1D025F5FC}" type="presParOf" srcId="{44F60B38-67A1-46D0-A50D-A166F15933AF}" destId="{EA881969-4DB8-489D-8114-E4EC1EDF83BF}" srcOrd="0" destOrd="0" presId="urn:microsoft.com/office/officeart/2011/layout/HexagonRadial"/>
    <dgm:cxn modelId="{B0DC31B5-210A-4FDC-8DBE-F1AE3F102AE0}" type="presParOf" srcId="{2DA40016-3C45-40C2-91A5-77F7588E89A3}" destId="{09AAAFBC-83A8-4A05-AB05-9722A608FE4D}" srcOrd="2" destOrd="0" presId="urn:microsoft.com/office/officeart/2011/layout/HexagonRadial"/>
    <dgm:cxn modelId="{14C5EFF5-452C-4CCB-8F84-E87C2B0C9C7C}" type="presParOf" srcId="{2DA40016-3C45-40C2-91A5-77F7588E89A3}" destId="{3D0641F7-A467-4C65-9CD1-3A7F4083B2AC}" srcOrd="3" destOrd="0" presId="urn:microsoft.com/office/officeart/2011/layout/HexagonRadial"/>
    <dgm:cxn modelId="{079F9155-7E8F-4A52-934F-C80D69AD2E47}" type="presParOf" srcId="{3D0641F7-A467-4C65-9CD1-3A7F4083B2AC}" destId="{BE65CC38-9F2C-47C9-B0D9-48569136D735}" srcOrd="0" destOrd="0" presId="urn:microsoft.com/office/officeart/2011/layout/HexagonRadial"/>
    <dgm:cxn modelId="{1AA713BE-5290-475D-91E9-6CF4D5368AD7}" type="presParOf" srcId="{2DA40016-3C45-40C2-91A5-77F7588E89A3}" destId="{5748D4DE-F888-45CD-9504-4B3C16E5F945}" srcOrd="4" destOrd="0" presId="urn:microsoft.com/office/officeart/2011/layout/HexagonRadial"/>
    <dgm:cxn modelId="{4BF06604-4D30-4B52-AA6D-FCC1912829EF}" type="presParOf" srcId="{2DA40016-3C45-40C2-91A5-77F7588E89A3}" destId="{36EBBC53-B638-49A8-A986-2AD30960530F}" srcOrd="5" destOrd="0" presId="urn:microsoft.com/office/officeart/2011/layout/HexagonRadial"/>
    <dgm:cxn modelId="{02A0A104-284B-4433-BFDA-67F0D3DFE854}" type="presParOf" srcId="{36EBBC53-B638-49A8-A986-2AD30960530F}" destId="{6C174CD7-2F75-4A5F-8F18-0371CE22CC5C}" srcOrd="0" destOrd="0" presId="urn:microsoft.com/office/officeart/2011/layout/HexagonRadial"/>
    <dgm:cxn modelId="{B9D7E80D-4EB5-4C07-B5C6-CA7481107C89}" type="presParOf" srcId="{2DA40016-3C45-40C2-91A5-77F7588E89A3}" destId="{43D44F10-A0D9-4438-9ED3-0087976D5193}" srcOrd="6" destOrd="0" presId="urn:microsoft.com/office/officeart/2011/layout/HexagonRadial"/>
    <dgm:cxn modelId="{948E65DF-AC4D-4D45-9713-ED57F576B3D6}" type="presParOf" srcId="{2DA40016-3C45-40C2-91A5-77F7588E89A3}" destId="{66053960-3C66-4890-8D8B-332FE91A4A82}" srcOrd="7" destOrd="0" presId="urn:microsoft.com/office/officeart/2011/layout/HexagonRadial"/>
    <dgm:cxn modelId="{DA3B85DC-1CCA-4FBF-84CC-3B273D18055B}" type="presParOf" srcId="{66053960-3C66-4890-8D8B-332FE91A4A82}" destId="{46E06558-632F-49CE-97BC-1FF6A6910AAA}" srcOrd="0" destOrd="0" presId="urn:microsoft.com/office/officeart/2011/layout/HexagonRadial"/>
    <dgm:cxn modelId="{47CD4DB3-0740-49FC-8E9E-2788397F8016}" type="presParOf" srcId="{2DA40016-3C45-40C2-91A5-77F7588E89A3}" destId="{3BF77ADF-CDEB-45A2-9B2E-3DAD94FCC83B}" srcOrd="8" destOrd="0" presId="urn:microsoft.com/office/officeart/2011/layout/HexagonRadial"/>
    <dgm:cxn modelId="{CD0B35A1-4407-4B44-8B58-CE96FF563816}" type="presParOf" srcId="{2DA40016-3C45-40C2-91A5-77F7588E89A3}" destId="{0896E5D2-D327-4D81-9932-6645D39583CF}" srcOrd="9" destOrd="0" presId="urn:microsoft.com/office/officeart/2011/layout/HexagonRadial"/>
    <dgm:cxn modelId="{F29854A7-A94A-400E-B632-BCCC30A78F87}" type="presParOf" srcId="{0896E5D2-D327-4D81-9932-6645D39583CF}" destId="{81E044B1-27CA-47D7-8E03-FD384455EC6D}" srcOrd="0" destOrd="0" presId="urn:microsoft.com/office/officeart/2011/layout/HexagonRadial"/>
    <dgm:cxn modelId="{6CC1F898-EF13-46EF-A77C-F7048928F105}" type="presParOf" srcId="{2DA40016-3C45-40C2-91A5-77F7588E89A3}" destId="{7BA31E82-EC2C-42B9-957D-92F6582839C1}" srcOrd="10" destOrd="0" presId="urn:microsoft.com/office/officeart/2011/layout/HexagonRadial"/>
    <dgm:cxn modelId="{2044F9B1-0B73-4C04-833D-2F43C5C0D461}" type="presParOf" srcId="{2DA40016-3C45-40C2-91A5-77F7588E89A3}" destId="{2E5A08DC-175B-4621-92A8-40395F04B456}" srcOrd="11" destOrd="0" presId="urn:microsoft.com/office/officeart/2011/layout/HexagonRadial"/>
    <dgm:cxn modelId="{D1F2A998-A1CE-402B-B00D-9B90B68E8E9F}" type="presParOf" srcId="{2E5A08DC-175B-4621-92A8-40395F04B456}" destId="{88800B9B-B21C-4EEB-B407-F8AFC502AE32}" srcOrd="0" destOrd="0" presId="urn:microsoft.com/office/officeart/2011/layout/HexagonRadial"/>
    <dgm:cxn modelId="{73F568DE-872C-4070-9F1C-6C0586930005}" type="presParOf" srcId="{2DA40016-3C45-40C2-91A5-77F7588E89A3}" destId="{A09EE83B-83D7-4462-9B84-8F7CB4F54DCE}"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53C6E3-29C5-43AF-B477-F58251EB46A9}">
      <dsp:nvSpPr>
        <dsp:cNvPr id="0" name=""/>
        <dsp:cNvSpPr/>
      </dsp:nvSpPr>
      <dsp:spPr>
        <a:xfrm>
          <a:off x="3940902" y="2021194"/>
          <a:ext cx="2569026" cy="2222311"/>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Fruit Juice Production</a:t>
          </a:r>
        </a:p>
      </dsp:txBody>
      <dsp:txXfrm>
        <a:off x="4366626" y="2389462"/>
        <a:ext cx="1717578" cy="1485775"/>
      </dsp:txXfrm>
    </dsp:sp>
    <dsp:sp modelId="{BE65CC38-9F2C-47C9-B0D9-48569136D735}">
      <dsp:nvSpPr>
        <dsp:cNvPr id="0" name=""/>
        <dsp:cNvSpPr/>
      </dsp:nvSpPr>
      <dsp:spPr>
        <a:xfrm>
          <a:off x="5549607" y="957968"/>
          <a:ext cx="969286" cy="835168"/>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threePt" dir="t"/>
        </a:scene3d>
        <a:sp3d>
          <a:bevelT w="114300" prst="artDeco"/>
        </a:sp3d>
      </dsp:spPr>
      <dsp:style>
        <a:lnRef idx="0">
          <a:scrgbClr r="0" g="0" b="0"/>
        </a:lnRef>
        <a:fillRef idx="1">
          <a:scrgbClr r="0" g="0" b="0"/>
        </a:fillRef>
        <a:effectRef idx="0">
          <a:scrgbClr r="0" g="0" b="0"/>
        </a:effectRef>
        <a:fontRef idx="minor"/>
      </dsp:style>
    </dsp:sp>
    <dsp:sp modelId="{09AAAFBC-83A8-4A05-AB05-9722A608FE4D}">
      <dsp:nvSpPr>
        <dsp:cNvPr id="0" name=""/>
        <dsp:cNvSpPr/>
      </dsp:nvSpPr>
      <dsp:spPr>
        <a:xfrm>
          <a:off x="4177547" y="0"/>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Fresh Fruit</a:t>
          </a:r>
        </a:p>
      </dsp:txBody>
      <dsp:txXfrm>
        <a:off x="4526440" y="301833"/>
        <a:ext cx="1407512" cy="1217664"/>
      </dsp:txXfrm>
    </dsp:sp>
    <dsp:sp modelId="{6C174CD7-2F75-4A5F-8F18-0371CE22CC5C}">
      <dsp:nvSpPr>
        <dsp:cNvPr id="0" name=""/>
        <dsp:cNvSpPr/>
      </dsp:nvSpPr>
      <dsp:spPr>
        <a:xfrm>
          <a:off x="6680839" y="2519288"/>
          <a:ext cx="969286" cy="835168"/>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threePt" dir="t"/>
        </a:scene3d>
        <a:sp3d>
          <a:bevelT w="114300" prst="artDeco"/>
        </a:sp3d>
      </dsp:spPr>
      <dsp:style>
        <a:lnRef idx="0">
          <a:scrgbClr r="0" g="0" b="0"/>
        </a:lnRef>
        <a:fillRef idx="1">
          <a:scrgbClr r="0" g="0" b="0"/>
        </a:fillRef>
        <a:effectRef idx="0">
          <a:scrgbClr r="0" g="0" b="0"/>
        </a:effectRef>
        <a:fontRef idx="minor"/>
      </dsp:style>
    </dsp:sp>
    <dsp:sp modelId="{5748D4DE-F888-45CD-9504-4B3C16E5F945}">
      <dsp:nvSpPr>
        <dsp:cNvPr id="0" name=""/>
        <dsp:cNvSpPr/>
      </dsp:nvSpPr>
      <dsp:spPr>
        <a:xfrm>
          <a:off x="6108350" y="1120240"/>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Crushing / Pulping</a:t>
          </a:r>
        </a:p>
      </dsp:txBody>
      <dsp:txXfrm>
        <a:off x="6457243" y="1422073"/>
        <a:ext cx="1407512" cy="1217664"/>
      </dsp:txXfrm>
    </dsp:sp>
    <dsp:sp modelId="{46E06558-632F-49CE-97BC-1FF6A6910AAA}">
      <dsp:nvSpPr>
        <dsp:cNvPr id="0" name=""/>
        <dsp:cNvSpPr/>
      </dsp:nvSpPr>
      <dsp:spPr>
        <a:xfrm>
          <a:off x="5895012" y="4281725"/>
          <a:ext cx="969286" cy="835168"/>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threePt" dir="t"/>
        </a:scene3d>
        <a:sp3d>
          <a:bevelT w="114300" prst="artDeco"/>
        </a:sp3d>
      </dsp:spPr>
      <dsp:style>
        <a:lnRef idx="0">
          <a:scrgbClr r="0" g="0" b="0"/>
        </a:lnRef>
        <a:fillRef idx="1">
          <a:scrgbClr r="0" g="0" b="0"/>
        </a:fillRef>
        <a:effectRef idx="0">
          <a:scrgbClr r="0" g="0" b="0"/>
        </a:effectRef>
        <a:fontRef idx="minor"/>
      </dsp:style>
    </dsp:sp>
    <dsp:sp modelId="{43D44F10-A0D9-4438-9ED3-0087976D5193}">
      <dsp:nvSpPr>
        <dsp:cNvPr id="0" name=""/>
        <dsp:cNvSpPr/>
      </dsp:nvSpPr>
      <dsp:spPr>
        <a:xfrm>
          <a:off x="6108350" y="3322503"/>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Adjusting Optimum Conditions</a:t>
          </a:r>
        </a:p>
      </dsp:txBody>
      <dsp:txXfrm>
        <a:off x="6457243" y="3624336"/>
        <a:ext cx="1407512" cy="1217664"/>
      </dsp:txXfrm>
    </dsp:sp>
    <dsp:sp modelId="{81E044B1-27CA-47D7-8E03-FD384455EC6D}">
      <dsp:nvSpPr>
        <dsp:cNvPr id="0" name=""/>
        <dsp:cNvSpPr/>
      </dsp:nvSpPr>
      <dsp:spPr>
        <a:xfrm>
          <a:off x="3945683" y="4464672"/>
          <a:ext cx="969286" cy="835168"/>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threePt" dir="t"/>
        </a:scene3d>
        <a:sp3d>
          <a:bevelT w="114300" prst="artDeco"/>
        </a:sp3d>
      </dsp:spPr>
      <dsp:style>
        <a:lnRef idx="0">
          <a:scrgbClr r="0" g="0" b="0"/>
        </a:lnRef>
        <a:fillRef idx="1">
          <a:scrgbClr r="0" g="0" b="0"/>
        </a:fillRef>
        <a:effectRef idx="0">
          <a:scrgbClr r="0" g="0" b="0"/>
        </a:effectRef>
        <a:fontRef idx="minor"/>
      </dsp:style>
    </dsp:sp>
    <dsp:sp modelId="{3BF77ADF-CDEB-45A2-9B2E-3DAD94FCC83B}">
      <dsp:nvSpPr>
        <dsp:cNvPr id="0" name=""/>
        <dsp:cNvSpPr/>
      </dsp:nvSpPr>
      <dsp:spPr>
        <a:xfrm>
          <a:off x="4177547" y="4443997"/>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Enzyme (Pectinase)</a:t>
          </a:r>
          <a:endParaRPr lang="en-IN" sz="2100" kern="1200" dirty="0"/>
        </a:p>
      </dsp:txBody>
      <dsp:txXfrm>
        <a:off x="4526440" y="4745830"/>
        <a:ext cx="1407512" cy="1217664"/>
      </dsp:txXfrm>
    </dsp:sp>
    <dsp:sp modelId="{88800B9B-B21C-4EEB-B407-F8AFC502AE32}">
      <dsp:nvSpPr>
        <dsp:cNvPr id="0" name=""/>
        <dsp:cNvSpPr/>
      </dsp:nvSpPr>
      <dsp:spPr>
        <a:xfrm>
          <a:off x="2795926" y="2903979"/>
          <a:ext cx="969286" cy="835168"/>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threePt" dir="t"/>
        </a:scene3d>
        <a:sp3d>
          <a:bevelT w="114300" prst="artDeco"/>
        </a:sp3d>
      </dsp:spPr>
      <dsp:style>
        <a:lnRef idx="0">
          <a:scrgbClr r="0" g="0" b="0"/>
        </a:lnRef>
        <a:fillRef idx="1">
          <a:scrgbClr r="0" g="0" b="0"/>
        </a:fillRef>
        <a:effectRef idx="0">
          <a:scrgbClr r="0" g="0" b="0"/>
        </a:effectRef>
        <a:fontRef idx="minor"/>
      </dsp:style>
    </dsp:sp>
    <dsp:sp modelId="{7BA31E82-EC2C-42B9-957D-92F6582839C1}">
      <dsp:nvSpPr>
        <dsp:cNvPr id="0" name=""/>
        <dsp:cNvSpPr/>
      </dsp:nvSpPr>
      <dsp:spPr>
        <a:xfrm>
          <a:off x="2237780" y="3323756"/>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Juice Extraction</a:t>
          </a:r>
          <a:endParaRPr lang="en-IN" sz="2100" kern="1200" dirty="0"/>
        </a:p>
      </dsp:txBody>
      <dsp:txXfrm>
        <a:off x="2586673" y="3625589"/>
        <a:ext cx="1407512" cy="1217664"/>
      </dsp:txXfrm>
    </dsp:sp>
    <dsp:sp modelId="{A09EE83B-83D7-4462-9B84-8F7CB4F54DCE}">
      <dsp:nvSpPr>
        <dsp:cNvPr id="0" name=""/>
        <dsp:cNvSpPr/>
      </dsp:nvSpPr>
      <dsp:spPr>
        <a:xfrm>
          <a:off x="2237780" y="1117734"/>
          <a:ext cx="2105298" cy="1821330"/>
        </a:xfrm>
        <a:prstGeom prst="hexagon">
          <a:avLst>
            <a:gd name="adj" fmla="val 28570"/>
            <a:gd name="vf" fmla="val 11547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a:scene3d>
          <a:camera prst="orthographicFront"/>
          <a:lightRig rig="threePt" dir="t"/>
        </a:scene3d>
        <a:sp3d>
          <a:bevelT w="114300" prst="artDeco"/>
        </a:sp3d>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Mongolian Baiti" panose="03000500000000000000" pitchFamily="66" charset="0"/>
              <a:cs typeface="Mongolian Baiti" panose="03000500000000000000" pitchFamily="66" charset="0"/>
            </a:rPr>
            <a:t>Clarification</a:t>
          </a:r>
        </a:p>
      </dsp:txBody>
      <dsp:txXfrm>
        <a:off x="2586673" y="1419567"/>
        <a:ext cx="1407512" cy="1217664"/>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05C75-0E12-94B7-6600-DE0EE392FE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DD83AE-A528-484E-D5E7-CB56A333BB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B13F44-C2C7-583F-2869-E9E111CDDA92}"/>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8E7B02E6-03E8-B6AA-90D5-CD8EB4C867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944998-CDFC-0202-28DC-60BF1BF810DB}"/>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945829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0A2F-A535-D8A3-7731-EE851BD233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E4457E-1532-8369-37A4-5ADCA81847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92183A-4B38-DC28-6B3F-4A5A026A5C2F}"/>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6D12B732-3E65-27F8-E589-833B928B5F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8CBA35-84B0-2F39-7C3E-04A24058DAC2}"/>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2082537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7ACA1-D996-36B2-13BA-6772EF3661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6CCD55-7B96-E24C-9ED6-AFE1FF6277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62F948-27C8-21EB-7101-951F8A8B9AF8}"/>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240AAB1D-0144-9E3D-92B7-B402F97B1F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2BCFF6-C928-F732-0B24-E9F55A0EA022}"/>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3151329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86D9-05FB-9CD9-4C08-39EFDACE77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10E2E5-37B4-5B6B-3482-60E75CBAA5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7AA93D-2617-4B8D-62B1-2519040FDC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E4CFD09-C79C-0BB5-AE48-BAB7F4B83A38}"/>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6" name="Footer Placeholder 5">
            <a:extLst>
              <a:ext uri="{FF2B5EF4-FFF2-40B4-BE49-F238E27FC236}">
                <a16:creationId xmlns:a16="http://schemas.microsoft.com/office/drawing/2014/main" id="{33F8B707-028C-1FC0-DFFF-21A5E777F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C7FCFC-8B75-5041-C9CA-B9ECFA8B2F07}"/>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2134697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8A43-8AAC-022E-87C9-1A46240ED01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68ADAE-91F0-C2A1-5C1D-F8849172B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213A28-F020-9205-3A8E-8F0A14E58F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E9C982-DE42-2AF0-B677-01F0CA79A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4272B0-0A83-6D12-51DD-8A2F16C423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0F6142-57C4-2FBC-21BE-D3FBABCC68A4}"/>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8" name="Footer Placeholder 7">
            <a:extLst>
              <a:ext uri="{FF2B5EF4-FFF2-40B4-BE49-F238E27FC236}">
                <a16:creationId xmlns:a16="http://schemas.microsoft.com/office/drawing/2014/main" id="{E71C63F6-72BA-B731-A9F2-601C8F39C3B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539FB31-D120-2E53-371F-411735B180E5}"/>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3524280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7A02-B594-9C8C-B4CD-987C4216DB4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1B0311-4BFA-46C5-C2AD-D4F1039D2D00}"/>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4" name="Footer Placeholder 3">
            <a:extLst>
              <a:ext uri="{FF2B5EF4-FFF2-40B4-BE49-F238E27FC236}">
                <a16:creationId xmlns:a16="http://schemas.microsoft.com/office/drawing/2014/main" id="{567AB254-2019-36BF-4B0C-19A86A5D1D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A4BC28-35BA-7D24-8EA6-9611F3F56983}"/>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4053594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B8B0A3-083E-F24C-348D-17FD0154F68A}"/>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3" name="Footer Placeholder 2">
            <a:extLst>
              <a:ext uri="{FF2B5EF4-FFF2-40B4-BE49-F238E27FC236}">
                <a16:creationId xmlns:a16="http://schemas.microsoft.com/office/drawing/2014/main" id="{ABEBC1C6-1C89-CB97-C3D8-58BC4EBC007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F33DAD-BC6F-7898-5034-36BFAD2C9841}"/>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3052843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DBA73-AECA-0B19-D2C5-0F7081B749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F2CEF0-5412-F05D-E307-83682F3AFC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76D503-49CC-F3FC-A4BF-FF70259011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1FDA6A-29AF-3CF0-12DE-821830E2C302}"/>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6" name="Footer Placeholder 5">
            <a:extLst>
              <a:ext uri="{FF2B5EF4-FFF2-40B4-BE49-F238E27FC236}">
                <a16:creationId xmlns:a16="http://schemas.microsoft.com/office/drawing/2014/main" id="{1B1CC827-ED90-6722-389B-D1C7A8E03D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D554DF-574C-ADB8-D48F-D3CFD5365FA9}"/>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1962538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466A-E9A3-D630-EC30-911B83511F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8EE19F-6F1D-F8DF-B04F-1575F151C4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D47370-53FF-8234-F920-919965E61C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406ED8-1EF0-CEEC-0CD9-7E644B4647D8}"/>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6" name="Footer Placeholder 5">
            <a:extLst>
              <a:ext uri="{FF2B5EF4-FFF2-40B4-BE49-F238E27FC236}">
                <a16:creationId xmlns:a16="http://schemas.microsoft.com/office/drawing/2014/main" id="{5FD1D90B-15A5-66E8-373A-82BE3D8896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3B6442-23C9-B7BE-3420-AD71600B69D4}"/>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300209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1C12B-7998-8A71-1CB8-B747A46952B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53D5F2-5F3A-CCB4-135A-3E59E02D8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7A48EC-F419-CF7A-D01C-39B36C0B9F7C}"/>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DDE938BB-FDD4-9ED3-FEC3-483E4BE5FC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D9F240-56AC-BA00-7D7F-0C882A13287F}"/>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341717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082CAD-80D7-3D19-2C2D-543E91A76B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EB580A-EA1A-AFCE-F3B6-C7FB980A45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2F4D2E-2CE1-C157-E844-6A1A4EF13331}"/>
              </a:ext>
            </a:extLst>
          </p:cNvPr>
          <p:cNvSpPr>
            <a:spLocks noGrp="1"/>
          </p:cNvSpPr>
          <p:nvPr>
            <p:ph type="dt" sz="half" idx="10"/>
          </p:nvPr>
        </p:nvSpPr>
        <p:spPr/>
        <p:txBody>
          <a:body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A32F507F-255E-749A-A1C2-B0C6CE658E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39438C-68E2-0A9B-0EE6-94E26CAA15F1}"/>
              </a:ext>
            </a:extLst>
          </p:cNvPr>
          <p:cNvSpPr>
            <a:spLocks noGrp="1"/>
          </p:cNvSpPr>
          <p:nvPr>
            <p:ph type="sldNum" sz="quarter" idx="12"/>
          </p:nvPr>
        </p:nvSpPr>
        <p:spPr/>
        <p:txBody>
          <a:bodyPr/>
          <a:lstStyle/>
          <a:p>
            <a:fld id="{5193FFB4-0AB1-4B75-9F14-82CEE895D4CF}" type="slidenum">
              <a:rPr lang="en-IN" smtClean="0"/>
              <a:t>‹#›</a:t>
            </a:fld>
            <a:endParaRPr lang="en-IN"/>
          </a:p>
        </p:txBody>
      </p:sp>
    </p:spTree>
    <p:extLst>
      <p:ext uri="{BB962C8B-B14F-4D97-AF65-F5344CB8AC3E}">
        <p14:creationId xmlns:p14="http://schemas.microsoft.com/office/powerpoint/2010/main" val="84625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FAE58A-2BBC-AFF4-EA78-F58DBE23D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0DDF91-6679-9385-4DB4-BB1694F150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51C9C2-98B2-5C6B-B61D-4F31A067EB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D65E0F-F514-4E79-9FC8-1EEE77DA73B4}" type="datetimeFigureOut">
              <a:rPr lang="en-IN" smtClean="0"/>
              <a:t>20-09-2025</a:t>
            </a:fld>
            <a:endParaRPr lang="en-IN"/>
          </a:p>
        </p:txBody>
      </p:sp>
      <p:sp>
        <p:nvSpPr>
          <p:cNvPr id="5" name="Footer Placeholder 4">
            <a:extLst>
              <a:ext uri="{FF2B5EF4-FFF2-40B4-BE49-F238E27FC236}">
                <a16:creationId xmlns:a16="http://schemas.microsoft.com/office/drawing/2014/main" id="{37BBB117-B37E-EF1D-EEA2-76CACEAE7B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FEDC93-8EA3-CC37-5EDC-063D3A8CE9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93FFB4-0AB1-4B75-9F14-82CEE895D4CF}" type="slidenum">
              <a:rPr lang="en-IN" smtClean="0"/>
              <a:t>‹#›</a:t>
            </a:fld>
            <a:endParaRPr lang="en-IN"/>
          </a:p>
        </p:txBody>
      </p:sp>
    </p:spTree>
    <p:extLst>
      <p:ext uri="{BB962C8B-B14F-4D97-AF65-F5344CB8AC3E}">
        <p14:creationId xmlns:p14="http://schemas.microsoft.com/office/powerpoint/2010/main" val="1280757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hyperlink" Target="http://clipart-library.com/images/8c65B5bzi.jpg" TargetMode="External"/><Relationship Id="rId3" Type="http://schemas.openxmlformats.org/officeDocument/2006/relationships/hyperlink" Target="https://en.wikipedia.org/wiki/Pectinase" TargetMode="External"/><Relationship Id="rId7" Type="http://schemas.openxmlformats.org/officeDocument/2006/relationships/hyperlink" Target="https://blogger.googleusercontent.com/img/b/R29vZ2xl/AVvXsEhs4RMjRWMFXeLVFCJVX6F8yPsM2y_FnSqdUXeSCvr1lBzC6D2KGtPTBu3wxyaZtZu1QowkrjhmsLYYj7jPoaJpSNNn3MJCyajoAIVJHI4z025ETyFNsqyU9mhbFpIPDiUlmW3pLSpeGDg2/s376/juice+after+clarifying.jpg"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www.shutterstock.com/image-photo/fruit-juices-important-component-human-260nw-2371676815.jpg" TargetMode="External"/><Relationship Id="rId5" Type="http://schemas.openxmlformats.org/officeDocument/2006/relationships/hyperlink" Target="https://sparetailer.com/wp-content/uploads/2018/02/EnzymeHero-scaled.jpg" TargetMode="External"/><Relationship Id="rId4" Type="http://schemas.openxmlformats.org/officeDocument/2006/relationships/hyperlink" Target="https://foodsafety.institute/food-biotechnology/pectinase-enzymes-sources-properties-uses/"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48010AA-C606-9B56-6EB0-6EE6BF87D18C}"/>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7067"/>
          <a:stretch>
            <a:fillRect/>
          </a:stretch>
        </p:blipFill>
        <p:spPr bwMode="auto">
          <a:xfrm>
            <a:off x="-1" y="0"/>
            <a:ext cx="12191999" cy="692200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DB534B-52B6-981A-4A3C-D601654F6586}"/>
              </a:ext>
            </a:extLst>
          </p:cNvPr>
          <p:cNvSpPr txBox="1"/>
          <p:nvPr/>
        </p:nvSpPr>
        <p:spPr>
          <a:xfrm>
            <a:off x="595882" y="2109075"/>
            <a:ext cx="11000232" cy="1754326"/>
          </a:xfrm>
          <a:prstGeom prst="rect">
            <a:avLst/>
          </a:prstGeom>
          <a:noFill/>
        </p:spPr>
        <p:txBody>
          <a:bodyPr wrap="square" rtlCol="0">
            <a:spAutoFit/>
          </a:bodyPr>
          <a:lstStyle/>
          <a:p>
            <a:pPr algn="ctr"/>
            <a:r>
              <a:rPr lang="en-US" sz="5400" b="1" spc="300" dirty="0">
                <a:solidFill>
                  <a:srgbClr val="002060"/>
                </a:solidFill>
                <a:effectLst>
                  <a:outerShdw blurRad="38100" dist="38100" dir="2700000" algn="tl">
                    <a:srgbClr val="000000">
                      <a:alpha val="43137"/>
                    </a:srgbClr>
                  </a:outerShdw>
                </a:effectLst>
                <a:latin typeface="Mongolian Baiti" panose="03000500000000000000" pitchFamily="66" charset="0"/>
                <a:ea typeface="Microsoft Yi Baiti" panose="03000500000000000000" pitchFamily="66" charset="0"/>
                <a:cs typeface="Mongolian Baiti" panose="03000500000000000000" pitchFamily="66" charset="0"/>
              </a:rPr>
              <a:t>Enzymatic Processes in Industrial Production &amp; its Application</a:t>
            </a:r>
            <a:endParaRPr lang="en-IN" sz="5400" b="1" spc="300" dirty="0">
              <a:solidFill>
                <a:srgbClr val="002060"/>
              </a:solidFill>
              <a:effectLst>
                <a:outerShdw blurRad="38100" dist="38100" dir="2700000" algn="tl">
                  <a:srgbClr val="000000">
                    <a:alpha val="43137"/>
                  </a:srgbClr>
                </a:outerShdw>
              </a:effectLst>
              <a:latin typeface="Mongolian Baiti" panose="03000500000000000000" pitchFamily="66" charset="0"/>
              <a:ea typeface="Microsoft Yi Baiti" panose="03000500000000000000" pitchFamily="66" charset="0"/>
              <a:cs typeface="Mongolian Baiti" panose="03000500000000000000" pitchFamily="66" charset="0"/>
            </a:endParaRPr>
          </a:p>
        </p:txBody>
      </p:sp>
      <p:sp>
        <p:nvSpPr>
          <p:cNvPr id="5" name="TextBox 4">
            <a:extLst>
              <a:ext uri="{FF2B5EF4-FFF2-40B4-BE49-F238E27FC236}">
                <a16:creationId xmlns:a16="http://schemas.microsoft.com/office/drawing/2014/main" id="{D4857AF0-AC48-AF8B-4DB0-B681213A028D}"/>
              </a:ext>
            </a:extLst>
          </p:cNvPr>
          <p:cNvSpPr txBox="1"/>
          <p:nvPr/>
        </p:nvSpPr>
        <p:spPr>
          <a:xfrm>
            <a:off x="3805426" y="5198587"/>
            <a:ext cx="4581144" cy="830997"/>
          </a:xfrm>
          <a:prstGeom prst="rect">
            <a:avLst/>
          </a:prstGeom>
          <a:noFill/>
        </p:spPr>
        <p:txBody>
          <a:bodyPr wrap="square" rtlCol="0">
            <a:spAutoFit/>
          </a:bodyPr>
          <a:lstStyle/>
          <a:p>
            <a:pPr algn="ctr"/>
            <a:r>
              <a:rPr lang="en-IN" sz="2400" b="1" dirty="0">
                <a:latin typeface="Mongolian Baiti" panose="03000500000000000000" pitchFamily="66" charset="0"/>
                <a:cs typeface="Mongolian Baiti" panose="03000500000000000000" pitchFamily="66" charset="0"/>
              </a:rPr>
              <a:t>Avni Ajay Sharma</a:t>
            </a:r>
          </a:p>
          <a:p>
            <a:pPr algn="ctr"/>
            <a:r>
              <a:rPr lang="en-IN" sz="2400" b="1" dirty="0">
                <a:latin typeface="Mongolian Baiti" panose="03000500000000000000" pitchFamily="66" charset="0"/>
                <a:cs typeface="Mongolian Baiti" panose="03000500000000000000" pitchFamily="66" charset="0"/>
              </a:rPr>
              <a:t>D - 22</a:t>
            </a:r>
          </a:p>
        </p:txBody>
      </p:sp>
    </p:spTree>
    <p:extLst>
      <p:ext uri="{BB962C8B-B14F-4D97-AF65-F5344CB8AC3E}">
        <p14:creationId xmlns:p14="http://schemas.microsoft.com/office/powerpoint/2010/main" val="2989967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784AAB9F-65C7-296A-59A9-3099A01B7034}"/>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7067"/>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058352B1-1BEE-295F-BD4A-B72D50E29B43}"/>
              </a:ext>
            </a:extLst>
          </p:cNvPr>
          <p:cNvSpPr/>
          <p:nvPr/>
        </p:nvSpPr>
        <p:spPr>
          <a:xfrm>
            <a:off x="250257" y="231006"/>
            <a:ext cx="5467149" cy="92402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685800" indent="-685800">
              <a:buFont typeface="Arial" panose="020B0604020202020204" pitchFamily="34" charset="0"/>
              <a:buChar char="•"/>
            </a:pPr>
            <a:r>
              <a:rPr lang="en-IN" sz="5400" b="1" dirty="0">
                <a:solidFill>
                  <a:srgbClr val="002060"/>
                </a:solidFill>
                <a:latin typeface="Mongolian Baiti" panose="03000500000000000000" pitchFamily="66" charset="0"/>
                <a:cs typeface="Mongolian Baiti" panose="03000500000000000000" pitchFamily="66" charset="0"/>
              </a:rPr>
              <a:t>Pectinase: Role</a:t>
            </a:r>
          </a:p>
        </p:txBody>
      </p:sp>
      <p:sp>
        <p:nvSpPr>
          <p:cNvPr id="6" name="TextBox 5">
            <a:extLst>
              <a:ext uri="{FF2B5EF4-FFF2-40B4-BE49-F238E27FC236}">
                <a16:creationId xmlns:a16="http://schemas.microsoft.com/office/drawing/2014/main" id="{8307DCCD-C88B-1954-2387-0828DE5F1B5A}"/>
              </a:ext>
            </a:extLst>
          </p:cNvPr>
          <p:cNvSpPr txBox="1"/>
          <p:nvPr/>
        </p:nvSpPr>
        <p:spPr>
          <a:xfrm>
            <a:off x="250257" y="1386038"/>
            <a:ext cx="11550316" cy="3785652"/>
          </a:xfrm>
          <a:prstGeom prst="rect">
            <a:avLst/>
          </a:prstGeom>
          <a:noFill/>
        </p:spPr>
        <p:txBody>
          <a:bodyPr wrap="square" rtlCol="0">
            <a:spAutoFit/>
          </a:bodyPr>
          <a:lstStyle/>
          <a:p>
            <a:r>
              <a:rPr lang="en-IN" sz="2400" b="1" dirty="0">
                <a:latin typeface="Mongolian Baiti" panose="03000500000000000000" pitchFamily="66" charset="0"/>
                <a:cs typeface="Mongolian Baiti" panose="03000500000000000000" pitchFamily="66" charset="0"/>
              </a:rPr>
              <a:t>Pectinase</a:t>
            </a:r>
            <a:r>
              <a:rPr lang="en-IN" sz="2400" dirty="0">
                <a:latin typeface="Mongolian Baiti" panose="03000500000000000000" pitchFamily="66" charset="0"/>
                <a:cs typeface="Mongolian Baiti" panose="03000500000000000000" pitchFamily="66" charset="0"/>
              </a:rPr>
              <a:t> is a group of enzymes that breaks down </a:t>
            </a:r>
            <a:r>
              <a:rPr lang="en-IN" sz="2400" b="1" dirty="0">
                <a:latin typeface="Mongolian Baiti" panose="03000500000000000000" pitchFamily="66" charset="0"/>
                <a:cs typeface="Mongolian Baiti" panose="03000500000000000000" pitchFamily="66" charset="0"/>
              </a:rPr>
              <a:t>pectin</a:t>
            </a:r>
            <a:r>
              <a:rPr lang="en-IN" sz="2400" dirty="0">
                <a:latin typeface="Mongolian Baiti" panose="03000500000000000000" pitchFamily="66" charset="0"/>
                <a:cs typeface="Mongolian Baiti" panose="03000500000000000000" pitchFamily="66" charset="0"/>
              </a:rPr>
              <a:t> (polysaccharide found in plant cell walls and often fruits too). </a:t>
            </a:r>
          </a:p>
          <a:p>
            <a:r>
              <a:rPr lang="en-US" sz="2400" dirty="0">
                <a:latin typeface="Mongolian Baiti" panose="03000500000000000000" pitchFamily="66" charset="0"/>
                <a:cs typeface="Mongolian Baiti" panose="03000500000000000000" pitchFamily="66" charset="0"/>
              </a:rPr>
              <a:t>Pectin is the </a:t>
            </a:r>
            <a:r>
              <a:rPr lang="en-US" sz="2400" b="1" dirty="0">
                <a:latin typeface="Mongolian Baiti" panose="03000500000000000000" pitchFamily="66" charset="0"/>
                <a:cs typeface="Mongolian Baiti" panose="03000500000000000000" pitchFamily="66" charset="0"/>
              </a:rPr>
              <a:t>jelly-like substance </a:t>
            </a:r>
            <a:r>
              <a:rPr lang="en-US" sz="2400" dirty="0">
                <a:latin typeface="Mongolian Baiti" panose="03000500000000000000" pitchFamily="66" charset="0"/>
                <a:cs typeface="Mongolian Baiti" panose="03000500000000000000" pitchFamily="66" charset="0"/>
              </a:rPr>
              <a:t>which helps cement plant cells together in which other cell wall components are embedded. </a:t>
            </a:r>
          </a:p>
          <a:p>
            <a:r>
              <a:rPr lang="en-US" sz="2400" dirty="0">
                <a:latin typeface="Mongolian Baiti" panose="03000500000000000000" pitchFamily="66" charset="0"/>
                <a:cs typeface="Mongolian Baiti" panose="03000500000000000000" pitchFamily="66" charset="0"/>
              </a:rPr>
              <a:t>Therefore, pectinase enzymes are commonly used in processes involving the degradation of plant materials, such as speeding up the extraction of fruit juice from fruit. Pectinases have also been used in wine production.</a:t>
            </a:r>
          </a:p>
          <a:p>
            <a:r>
              <a:rPr lang="en-US" sz="2400" dirty="0">
                <a:latin typeface="Mongolian Baiti" panose="03000500000000000000" pitchFamily="66" charset="0"/>
                <a:cs typeface="Mongolian Baiti" panose="03000500000000000000" pitchFamily="66" charset="0"/>
              </a:rPr>
              <a:t>Pectinases can be </a:t>
            </a:r>
            <a:r>
              <a:rPr lang="en-US" sz="2400" b="1" dirty="0">
                <a:latin typeface="Mongolian Baiti" panose="03000500000000000000" pitchFamily="66" charset="0"/>
                <a:cs typeface="Mongolian Baiti" panose="03000500000000000000" pitchFamily="66" charset="0"/>
              </a:rPr>
              <a:t>extracted</a:t>
            </a:r>
            <a:r>
              <a:rPr lang="en-US" sz="2400" dirty="0">
                <a:latin typeface="Mongolian Baiti" panose="03000500000000000000" pitchFamily="66" charset="0"/>
                <a:cs typeface="Mongolian Baiti" panose="03000500000000000000" pitchFamily="66" charset="0"/>
              </a:rPr>
              <a:t> from </a:t>
            </a:r>
            <a:r>
              <a:rPr lang="en-US" sz="2400" b="1" dirty="0">
                <a:latin typeface="Mongolian Baiti" panose="03000500000000000000" pitchFamily="66" charset="0"/>
                <a:cs typeface="Mongolian Baiti" panose="03000500000000000000" pitchFamily="66" charset="0"/>
              </a:rPr>
              <a:t>fungi</a:t>
            </a:r>
            <a:r>
              <a:rPr lang="en-US" sz="2400" dirty="0">
                <a:latin typeface="Mongolian Baiti" panose="03000500000000000000" pitchFamily="66" charset="0"/>
                <a:cs typeface="Mongolian Baiti" panose="03000500000000000000" pitchFamily="66" charset="0"/>
              </a:rPr>
              <a:t>. The fungus produces</a:t>
            </a:r>
          </a:p>
          <a:p>
            <a:r>
              <a:rPr lang="en-US" sz="2400" dirty="0">
                <a:latin typeface="Mongolian Baiti" panose="03000500000000000000" pitchFamily="66" charset="0"/>
                <a:cs typeface="Mongolian Baiti" panose="03000500000000000000" pitchFamily="66" charset="0"/>
              </a:rPr>
              <a:t>these enzymes  so that it can extract nutrients from the plant</a:t>
            </a:r>
          </a:p>
          <a:p>
            <a:r>
              <a:rPr lang="en-US" sz="2400" dirty="0">
                <a:latin typeface="Mongolian Baiti" panose="03000500000000000000" pitchFamily="66" charset="0"/>
                <a:cs typeface="Mongolian Baiti" panose="03000500000000000000" pitchFamily="66" charset="0"/>
              </a:rPr>
              <a:t>tissues and insert fungal hyphae. </a:t>
            </a:r>
          </a:p>
        </p:txBody>
      </p:sp>
      <p:pic>
        <p:nvPicPr>
          <p:cNvPr id="8" name="Picture 2">
            <a:extLst>
              <a:ext uri="{FF2B5EF4-FFF2-40B4-BE49-F238E27FC236}">
                <a16:creationId xmlns:a16="http://schemas.microsoft.com/office/drawing/2014/main" id="{66E6D7E0-191C-EC6C-00B0-A8A782EEFD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851" b="15113"/>
          <a:stretch>
            <a:fillRect/>
          </a:stretch>
        </p:blipFill>
        <p:spPr bwMode="auto">
          <a:xfrm>
            <a:off x="8154319" y="3992968"/>
            <a:ext cx="3646254" cy="2357443"/>
          </a:xfrm>
          <a:prstGeom prst="rect">
            <a:avLst/>
          </a:prstGeom>
          <a:noFill/>
          <a:ln w="28575">
            <a:solidFill>
              <a:schemeClr val="tx1"/>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507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486C83FB-5719-FD83-4D65-32A8AE999814}"/>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7067"/>
          <a:stretch>
            <a:fillRect/>
          </a:stretch>
        </p:blipFill>
        <p:spPr bwMode="auto">
          <a:xfrm>
            <a:off x="7216"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3FB83940-9A17-526A-ED54-40EBC806A464}"/>
              </a:ext>
            </a:extLst>
          </p:cNvPr>
          <p:cNvSpPr/>
          <p:nvPr/>
        </p:nvSpPr>
        <p:spPr>
          <a:xfrm>
            <a:off x="250257" y="231006"/>
            <a:ext cx="9490509" cy="92402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685800" indent="-685800">
              <a:buFont typeface="Arial" panose="020B0604020202020204" pitchFamily="34" charset="0"/>
              <a:buChar char="•"/>
            </a:pPr>
            <a:r>
              <a:rPr lang="en-IN" sz="5400" b="1" dirty="0">
                <a:solidFill>
                  <a:srgbClr val="002060"/>
                </a:solidFill>
                <a:latin typeface="Mongolian Baiti" panose="03000500000000000000" pitchFamily="66" charset="0"/>
                <a:cs typeface="Mongolian Baiti" panose="03000500000000000000" pitchFamily="66" charset="0"/>
              </a:rPr>
              <a:t>Pectinase: Process Conditions</a:t>
            </a:r>
          </a:p>
        </p:txBody>
      </p:sp>
      <p:pic>
        <p:nvPicPr>
          <p:cNvPr id="3076" name="Picture 4">
            <a:extLst>
              <a:ext uri="{FF2B5EF4-FFF2-40B4-BE49-F238E27FC236}">
                <a16:creationId xmlns:a16="http://schemas.microsoft.com/office/drawing/2014/main" id="{B8F4C729-D684-25C6-1407-7D80BE4F65D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7" t="9984" r="1602" b="11913"/>
          <a:stretch>
            <a:fillRect/>
          </a:stretch>
        </p:blipFill>
        <p:spPr bwMode="auto">
          <a:xfrm>
            <a:off x="250257" y="1436132"/>
            <a:ext cx="4610502" cy="2466383"/>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1CE298-53DA-AF8A-D6F9-AFFA69779F40}"/>
              </a:ext>
            </a:extLst>
          </p:cNvPr>
          <p:cNvSpPr txBox="1"/>
          <p:nvPr/>
        </p:nvSpPr>
        <p:spPr>
          <a:xfrm>
            <a:off x="5179882" y="1345863"/>
            <a:ext cx="6590154" cy="3416320"/>
          </a:xfrm>
          <a:prstGeom prst="rect">
            <a:avLst/>
          </a:prstGeom>
          <a:noFill/>
        </p:spPr>
        <p:txBody>
          <a:bodyPr wrap="square" rtlCol="0">
            <a:spAutoFit/>
          </a:bodyPr>
          <a:lstStyle/>
          <a:p>
            <a:r>
              <a:rPr lang="en-US" sz="2400" dirty="0">
                <a:latin typeface="Mongolian Baiti" panose="03000500000000000000" pitchFamily="66" charset="0"/>
                <a:cs typeface="Mongolian Baiti" panose="03000500000000000000" pitchFamily="66" charset="0"/>
              </a:rPr>
              <a:t>Pectinases have an </a:t>
            </a:r>
            <a:r>
              <a:rPr lang="en-US" sz="2400" b="1" dirty="0">
                <a:latin typeface="Mongolian Baiti" panose="03000500000000000000" pitchFamily="66" charset="0"/>
                <a:cs typeface="Mongolian Baiti" panose="03000500000000000000" pitchFamily="66" charset="0"/>
              </a:rPr>
              <a:t>optimum</a:t>
            </a:r>
            <a:r>
              <a:rPr lang="en-US" sz="2400" dirty="0">
                <a:latin typeface="Mongolian Baiti" panose="03000500000000000000" pitchFamily="66" charset="0"/>
                <a:cs typeface="Mongolian Baiti" panose="03000500000000000000" pitchFamily="66" charset="0"/>
              </a:rPr>
              <a:t> temperature and PH at which they are most active.</a:t>
            </a:r>
          </a:p>
          <a:p>
            <a:r>
              <a:rPr lang="en-US" sz="2400" dirty="0">
                <a:latin typeface="Mongolian Baiti" panose="03000500000000000000" pitchFamily="66" charset="0"/>
                <a:cs typeface="Mongolian Baiti" panose="03000500000000000000" pitchFamily="66" charset="0"/>
              </a:rPr>
              <a:t>A commercial pectinase might typically be activated at </a:t>
            </a:r>
            <a:r>
              <a:rPr lang="en-US" sz="2400" b="1" dirty="0">
                <a:latin typeface="Mongolian Baiti" panose="03000500000000000000" pitchFamily="66" charset="0"/>
                <a:cs typeface="Mongolian Baiti" panose="03000500000000000000" pitchFamily="66" charset="0"/>
              </a:rPr>
              <a:t>45 to 55 °C </a:t>
            </a:r>
            <a:r>
              <a:rPr lang="en-US" sz="2400" dirty="0">
                <a:latin typeface="Mongolian Baiti" panose="03000500000000000000" pitchFamily="66" charset="0"/>
                <a:cs typeface="Mongolian Baiti" panose="03000500000000000000" pitchFamily="66" charset="0"/>
              </a:rPr>
              <a:t>and work well at a pH of </a:t>
            </a:r>
            <a:r>
              <a:rPr lang="en-US" sz="2400" b="1" dirty="0">
                <a:latin typeface="Mongolian Baiti" panose="03000500000000000000" pitchFamily="66" charset="0"/>
                <a:cs typeface="Mongolian Baiti" panose="03000500000000000000" pitchFamily="66" charset="0"/>
              </a:rPr>
              <a:t>3.0 to 6.5</a:t>
            </a:r>
            <a:r>
              <a:rPr lang="en-US" sz="2400" dirty="0">
                <a:latin typeface="Mongolian Baiti" panose="03000500000000000000" pitchFamily="66" charset="0"/>
                <a:cs typeface="Mongolian Baiti" panose="03000500000000000000" pitchFamily="66" charset="0"/>
              </a:rPr>
              <a:t>.</a:t>
            </a:r>
          </a:p>
          <a:p>
            <a:endParaRPr lang="en-US" sz="2400" dirty="0">
              <a:latin typeface="Mongolian Baiti" panose="03000500000000000000" pitchFamily="66" charset="0"/>
              <a:cs typeface="Mongolian Baiti" panose="03000500000000000000" pitchFamily="66" charset="0"/>
            </a:endParaRPr>
          </a:p>
          <a:p>
            <a:r>
              <a:rPr lang="en-US" sz="2400" dirty="0">
                <a:latin typeface="Mongolian Baiti" panose="03000500000000000000" pitchFamily="66" charset="0"/>
                <a:cs typeface="Mongolian Baiti" panose="03000500000000000000" pitchFamily="66" charset="0"/>
              </a:rPr>
              <a:t>If pectinase is </a:t>
            </a:r>
            <a:r>
              <a:rPr lang="en-US" sz="2400" b="1" dirty="0">
                <a:latin typeface="Mongolian Baiti" panose="03000500000000000000" pitchFamily="66" charset="0"/>
                <a:cs typeface="Mongolian Baiti" panose="03000500000000000000" pitchFamily="66" charset="0"/>
              </a:rPr>
              <a:t>boiled,</a:t>
            </a:r>
            <a:r>
              <a:rPr lang="en-US" sz="2400" dirty="0">
                <a:latin typeface="Mongolian Baiti" panose="03000500000000000000" pitchFamily="66" charset="0"/>
                <a:cs typeface="Mongolian Baiti" panose="03000500000000000000" pitchFamily="66" charset="0"/>
              </a:rPr>
              <a:t> it is denatured making it harder to connect with the pectin at the </a:t>
            </a:r>
            <a:r>
              <a:rPr lang="en-US" sz="2400" b="1" dirty="0">
                <a:latin typeface="Mongolian Baiti" panose="03000500000000000000" pitchFamily="66" charset="0"/>
                <a:cs typeface="Mongolian Baiti" panose="03000500000000000000" pitchFamily="66" charset="0"/>
              </a:rPr>
              <a:t>active site</a:t>
            </a:r>
            <a:r>
              <a:rPr lang="en-US" sz="2400" dirty="0">
                <a:latin typeface="Mongolian Baiti" panose="03000500000000000000" pitchFamily="66" charset="0"/>
                <a:cs typeface="Mongolian Baiti" panose="03000500000000000000" pitchFamily="66" charset="0"/>
              </a:rPr>
              <a:t>, and produce as much juice.</a:t>
            </a:r>
            <a:endParaRPr lang="en-IN" sz="2400" dirty="0">
              <a:latin typeface="Mongolian Baiti" panose="03000500000000000000" pitchFamily="66" charset="0"/>
              <a:cs typeface="Mongolian Baiti" panose="03000500000000000000" pitchFamily="66" charset="0"/>
            </a:endParaRPr>
          </a:p>
          <a:p>
            <a:endParaRPr lang="en-US" sz="2400" dirty="0">
              <a:latin typeface="Mongolian Baiti" panose="03000500000000000000" pitchFamily="66" charset="0"/>
              <a:cs typeface="Mongolian Baiti" panose="03000500000000000000" pitchFamily="66" charset="0"/>
            </a:endParaRPr>
          </a:p>
        </p:txBody>
      </p:sp>
      <p:sp>
        <p:nvSpPr>
          <p:cNvPr id="8" name="Rectangle 7">
            <a:extLst>
              <a:ext uri="{FF2B5EF4-FFF2-40B4-BE49-F238E27FC236}">
                <a16:creationId xmlns:a16="http://schemas.microsoft.com/office/drawing/2014/main" id="{ED78D6E4-46F8-300F-8B0C-9F1758308635}"/>
              </a:ext>
            </a:extLst>
          </p:cNvPr>
          <p:cNvSpPr/>
          <p:nvPr/>
        </p:nvSpPr>
        <p:spPr>
          <a:xfrm>
            <a:off x="250256" y="4254366"/>
            <a:ext cx="11203805" cy="237262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9" name="TextBox 8">
            <a:extLst>
              <a:ext uri="{FF2B5EF4-FFF2-40B4-BE49-F238E27FC236}">
                <a16:creationId xmlns:a16="http://schemas.microsoft.com/office/drawing/2014/main" id="{A98D4714-D47A-4B91-017E-8667F5296677}"/>
              </a:ext>
            </a:extLst>
          </p:cNvPr>
          <p:cNvSpPr txBox="1"/>
          <p:nvPr/>
        </p:nvSpPr>
        <p:spPr>
          <a:xfrm>
            <a:off x="161220" y="4598931"/>
            <a:ext cx="11689884" cy="2539157"/>
          </a:xfrm>
          <a:prstGeom prst="rect">
            <a:avLst/>
          </a:prstGeom>
          <a:noFill/>
        </p:spPr>
        <p:txBody>
          <a:bodyPr wrap="square" rtlCol="0">
            <a:spAutoFit/>
          </a:bodyPr>
          <a:lstStyle/>
          <a:p>
            <a:pPr>
              <a:spcAft>
                <a:spcPts val="600"/>
              </a:spcAft>
            </a:pPr>
            <a:r>
              <a:rPr lang="en-US" sz="2400" b="1" dirty="0">
                <a:latin typeface="Mongolian Baiti" panose="03000500000000000000" pitchFamily="66" charset="0"/>
                <a:cs typeface="Mongolian Baiti" panose="03000500000000000000" pitchFamily="66" charset="0"/>
              </a:rPr>
              <a:t>Fungal pectinases:</a:t>
            </a:r>
            <a:r>
              <a:rPr lang="en-US" sz="2400" dirty="0">
                <a:latin typeface="Mongolian Baiti" panose="03000500000000000000" pitchFamily="66" charset="0"/>
                <a:cs typeface="Mongolian Baiti" panose="03000500000000000000" pitchFamily="66" charset="0"/>
              </a:rPr>
              <a:t> Acidic PH (3.5-5.5) &amp; temperature between 30-50°C.</a:t>
            </a:r>
          </a:p>
          <a:p>
            <a:pPr>
              <a:spcAft>
                <a:spcPts val="600"/>
              </a:spcAft>
            </a:pPr>
            <a:r>
              <a:rPr lang="en-US" sz="2400" b="1" dirty="0">
                <a:latin typeface="Mongolian Baiti" panose="03000500000000000000" pitchFamily="66" charset="0"/>
                <a:cs typeface="Mongolian Baiti" panose="03000500000000000000" pitchFamily="66" charset="0"/>
              </a:rPr>
              <a:t>Bacterial pectinases:</a:t>
            </a:r>
            <a:r>
              <a:rPr lang="en-US" sz="2400" dirty="0">
                <a:latin typeface="Mongolian Baiti" panose="03000500000000000000" pitchFamily="66" charset="0"/>
                <a:cs typeface="Mongolian Baiti" panose="03000500000000000000" pitchFamily="66" charset="0"/>
              </a:rPr>
              <a:t> Neutral to alkaline (PH 7.0-9.0) &amp; temperatures ranging from 37-60°C.</a:t>
            </a:r>
          </a:p>
          <a:p>
            <a:pPr>
              <a:spcAft>
                <a:spcPts val="600"/>
              </a:spcAft>
            </a:pPr>
            <a:r>
              <a:rPr lang="en-US" sz="2400" b="1" dirty="0">
                <a:latin typeface="Mongolian Baiti" panose="03000500000000000000" pitchFamily="66" charset="0"/>
                <a:cs typeface="Mongolian Baiti" panose="03000500000000000000" pitchFamily="66" charset="0"/>
              </a:rPr>
              <a:t>Yeast pectinases:</a:t>
            </a:r>
            <a:r>
              <a:rPr lang="en-US" sz="2400" dirty="0">
                <a:latin typeface="Mongolian Baiti" panose="03000500000000000000" pitchFamily="66" charset="0"/>
                <a:cs typeface="Mongolian Baiti" panose="03000500000000000000" pitchFamily="66" charset="0"/>
              </a:rPr>
              <a:t> Slightly acidic conditions (PH 4.5-6.0) and moderate temperatures 25-40°C.</a:t>
            </a:r>
          </a:p>
          <a:p>
            <a:endParaRPr lang="en-US" sz="2400" dirty="0">
              <a:latin typeface="Mongolian Baiti" panose="03000500000000000000" pitchFamily="66" charset="0"/>
              <a:cs typeface="Mongolian Baiti" panose="03000500000000000000" pitchFamily="66" charset="0"/>
            </a:endParaRPr>
          </a:p>
          <a:p>
            <a:endParaRPr lang="en-IN" sz="2400" dirty="0">
              <a:latin typeface="Mongolian Baiti" panose="03000500000000000000" pitchFamily="66" charset="0"/>
              <a:cs typeface="Mongolian Baiti" panose="03000500000000000000" pitchFamily="66" charset="0"/>
            </a:endParaRPr>
          </a:p>
          <a:p>
            <a:endParaRPr lang="en-IN" sz="2400" dirty="0">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2882232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9C84C98-32FF-CBC3-ADB1-8F3140C7537C}"/>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7067"/>
          <a:stretch>
            <a:fillRect/>
          </a:stretch>
        </p:blipFill>
        <p:spPr bwMode="auto">
          <a:xfrm>
            <a:off x="0" y="0"/>
            <a:ext cx="12191999" cy="692200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A0EFA9BB-AFE8-DBAF-D13E-DBC6A00787BF}"/>
              </a:ext>
            </a:extLst>
          </p:cNvPr>
          <p:cNvSpPr/>
          <p:nvPr/>
        </p:nvSpPr>
        <p:spPr>
          <a:xfrm>
            <a:off x="250257" y="231006"/>
            <a:ext cx="9952522" cy="924026"/>
          </a:xfrm>
          <a:prstGeom prst="round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685800" indent="-685800">
              <a:buFont typeface="Arial" panose="020B0604020202020204" pitchFamily="34" charset="0"/>
              <a:buChar char="•"/>
            </a:pPr>
            <a:r>
              <a:rPr lang="en-IN" sz="5400" b="1" dirty="0">
                <a:solidFill>
                  <a:srgbClr val="002060"/>
                </a:solidFill>
                <a:latin typeface="Mongolian Baiti" panose="03000500000000000000" pitchFamily="66" charset="0"/>
                <a:cs typeface="Mongolian Baiti" panose="03000500000000000000" pitchFamily="66" charset="0"/>
              </a:rPr>
              <a:t>Pectinase: Industrial Application</a:t>
            </a:r>
          </a:p>
        </p:txBody>
      </p:sp>
      <p:sp>
        <p:nvSpPr>
          <p:cNvPr id="7" name="TextBox 6">
            <a:extLst>
              <a:ext uri="{FF2B5EF4-FFF2-40B4-BE49-F238E27FC236}">
                <a16:creationId xmlns:a16="http://schemas.microsoft.com/office/drawing/2014/main" id="{33EECDF4-0C6D-0322-3215-FE6DEAF96FCB}"/>
              </a:ext>
            </a:extLst>
          </p:cNvPr>
          <p:cNvSpPr txBox="1"/>
          <p:nvPr/>
        </p:nvSpPr>
        <p:spPr>
          <a:xfrm>
            <a:off x="239829" y="1282397"/>
            <a:ext cx="7558406" cy="4893647"/>
          </a:xfrm>
          <a:prstGeom prst="rect">
            <a:avLst/>
          </a:prstGeom>
          <a:noFill/>
        </p:spPr>
        <p:txBody>
          <a:bodyPr wrap="square" rtlCol="0">
            <a:spAutoFit/>
          </a:bodyPr>
          <a:lstStyle/>
          <a:p>
            <a:r>
              <a:rPr lang="en-IN" sz="2400" dirty="0">
                <a:latin typeface="Mongolian Baiti" panose="03000500000000000000" pitchFamily="66" charset="0"/>
                <a:cs typeface="Mongolian Baiti" panose="03000500000000000000" pitchFamily="66" charset="0"/>
              </a:rPr>
              <a:t>Pectinase plays a vital role in the </a:t>
            </a:r>
            <a:r>
              <a:rPr lang="en-IN" sz="2400" b="1" i="1" dirty="0">
                <a:latin typeface="Mongolian Baiti" panose="03000500000000000000" pitchFamily="66" charset="0"/>
                <a:cs typeface="Mongolian Baiti" panose="03000500000000000000" pitchFamily="66" charset="0"/>
              </a:rPr>
              <a:t>food and beverage industry </a:t>
            </a:r>
          </a:p>
          <a:p>
            <a:endParaRPr lang="en-IN" sz="2400" b="1" i="1" dirty="0">
              <a:latin typeface="Mongolian Baiti" panose="03000500000000000000" pitchFamily="66" charset="0"/>
              <a:cs typeface="Mongolian Baiti" panose="03000500000000000000" pitchFamily="66" charset="0"/>
            </a:endParaRPr>
          </a:p>
          <a:p>
            <a:r>
              <a:rPr lang="en-IN" sz="2400" dirty="0">
                <a:latin typeface="Mongolian Baiti" panose="03000500000000000000" pitchFamily="66" charset="0"/>
                <a:cs typeface="Mongolian Baiti" panose="03000500000000000000" pitchFamily="66" charset="0"/>
              </a:rPr>
              <a:t>They are used for the </a:t>
            </a:r>
            <a:r>
              <a:rPr lang="en-IN" sz="2400" b="1" dirty="0">
                <a:latin typeface="Mongolian Baiti" panose="03000500000000000000" pitchFamily="66" charset="0"/>
                <a:cs typeface="Mongolian Baiti" panose="03000500000000000000" pitchFamily="66" charset="0"/>
              </a:rPr>
              <a:t>clarification of fruit juices </a:t>
            </a:r>
            <a:r>
              <a:rPr lang="en-IN" sz="2400" dirty="0">
                <a:latin typeface="Mongolian Baiti" panose="03000500000000000000" pitchFamily="66" charset="0"/>
                <a:cs typeface="Mongolian Baiti" panose="03000500000000000000" pitchFamily="66" charset="0"/>
              </a:rPr>
              <a:t>and the speed up of fruit juice extraction through enzymatic liquification of fruit pulp. </a:t>
            </a:r>
          </a:p>
          <a:p>
            <a:r>
              <a:rPr lang="en-US" sz="2400" dirty="0">
                <a:latin typeface="Mongolian Baiti" panose="03000500000000000000" pitchFamily="66" charset="0"/>
                <a:cs typeface="Mongolian Baiti" panose="03000500000000000000" pitchFamily="66" charset="0"/>
              </a:rPr>
              <a:t>This is done when the </a:t>
            </a:r>
            <a:r>
              <a:rPr lang="en-US" sz="2400" b="1" dirty="0">
                <a:latin typeface="Mongolian Baiti" panose="03000500000000000000" pitchFamily="66" charset="0"/>
                <a:cs typeface="Mongolian Baiti" panose="03000500000000000000" pitchFamily="66" charset="0"/>
              </a:rPr>
              <a:t>enzyme pectinase </a:t>
            </a:r>
            <a:r>
              <a:rPr lang="en-US" sz="2400" dirty="0">
                <a:latin typeface="Mongolian Baiti" panose="03000500000000000000" pitchFamily="66" charset="0"/>
                <a:cs typeface="Mongolian Baiti" panose="03000500000000000000" pitchFamily="66" charset="0"/>
              </a:rPr>
              <a:t>breaks down the </a:t>
            </a:r>
            <a:r>
              <a:rPr lang="en-US" sz="2400" b="1" dirty="0">
                <a:latin typeface="Mongolian Baiti" panose="03000500000000000000" pitchFamily="66" charset="0"/>
                <a:cs typeface="Mongolian Baiti" panose="03000500000000000000" pitchFamily="66" charset="0"/>
              </a:rPr>
              <a:t>substrate pectin</a:t>
            </a:r>
            <a:r>
              <a:rPr lang="en-US" sz="2400" dirty="0">
                <a:latin typeface="Mongolian Baiti" panose="03000500000000000000" pitchFamily="66" charset="0"/>
                <a:cs typeface="Mongolian Baiti" panose="03000500000000000000" pitchFamily="66" charset="0"/>
              </a:rPr>
              <a:t> and the juice is extracted. </a:t>
            </a:r>
          </a:p>
          <a:p>
            <a:br>
              <a:rPr lang="en-US" sz="2400" dirty="0">
                <a:latin typeface="Mongolian Baiti" panose="03000500000000000000" pitchFamily="66" charset="0"/>
                <a:cs typeface="Mongolian Baiti" panose="03000500000000000000" pitchFamily="66" charset="0"/>
              </a:rPr>
            </a:br>
            <a:r>
              <a:rPr lang="en-US" sz="2400" dirty="0">
                <a:latin typeface="Mongolian Baiti" panose="03000500000000000000" pitchFamily="66" charset="0"/>
                <a:cs typeface="Mongolian Baiti" panose="03000500000000000000" pitchFamily="66" charset="0"/>
              </a:rPr>
              <a:t>In addition to enhancing juice </a:t>
            </a:r>
            <a:r>
              <a:rPr lang="en-US" sz="2400" b="1" dirty="0">
                <a:latin typeface="Mongolian Baiti" panose="03000500000000000000" pitchFamily="66" charset="0"/>
                <a:cs typeface="Mongolian Baiti" panose="03000500000000000000" pitchFamily="66" charset="0"/>
              </a:rPr>
              <a:t>yield and clarity</a:t>
            </a:r>
            <a:r>
              <a:rPr lang="en-US" sz="2400" dirty="0">
                <a:latin typeface="Mongolian Baiti" panose="03000500000000000000" pitchFamily="66" charset="0"/>
                <a:cs typeface="Mongolian Baiti" panose="03000500000000000000" pitchFamily="66" charset="0"/>
              </a:rPr>
              <a:t>, pectinase also aids in the extraction of more </a:t>
            </a:r>
            <a:r>
              <a:rPr lang="en-US" sz="2400" b="1" dirty="0">
                <a:latin typeface="Mongolian Baiti" panose="03000500000000000000" pitchFamily="66" charset="0"/>
                <a:cs typeface="Mongolian Baiti" panose="03000500000000000000" pitchFamily="66" charset="0"/>
              </a:rPr>
              <a:t>flavor and color </a:t>
            </a:r>
            <a:r>
              <a:rPr lang="en-US" sz="2400" dirty="0">
                <a:latin typeface="Mongolian Baiti" panose="03000500000000000000" pitchFamily="66" charset="0"/>
                <a:cs typeface="Mongolian Baiti" panose="03000500000000000000" pitchFamily="66" charset="0"/>
              </a:rPr>
              <a:t>from the fruit pulp, thereby improving the overall quality of the juice.</a:t>
            </a:r>
          </a:p>
          <a:p>
            <a:r>
              <a:rPr lang="en-US" sz="2400" b="1" dirty="0">
                <a:latin typeface="Mongolian Baiti" panose="03000500000000000000" pitchFamily="66" charset="0"/>
                <a:cs typeface="Mongolian Baiti" panose="03000500000000000000" pitchFamily="66" charset="0"/>
              </a:rPr>
              <a:t>Temperature: </a:t>
            </a:r>
            <a:r>
              <a:rPr lang="en-IN" sz="2400" b="1" dirty="0">
                <a:latin typeface="Mongolian Baiti" panose="03000500000000000000" pitchFamily="66" charset="0"/>
                <a:cs typeface="Mongolian Baiti" panose="03000500000000000000" pitchFamily="66" charset="0"/>
              </a:rPr>
              <a:t>45–50 °C</a:t>
            </a:r>
          </a:p>
          <a:p>
            <a:r>
              <a:rPr lang="en-IN" sz="2400" b="1" dirty="0">
                <a:latin typeface="Mongolian Baiti" panose="03000500000000000000" pitchFamily="66" charset="0"/>
                <a:cs typeface="Mongolian Baiti" panose="03000500000000000000" pitchFamily="66" charset="0"/>
              </a:rPr>
              <a:t>pH Range: 3.0 – 5.5 pH</a:t>
            </a:r>
          </a:p>
        </p:txBody>
      </p:sp>
      <p:pic>
        <p:nvPicPr>
          <p:cNvPr id="5122" name="Picture 2">
            <a:extLst>
              <a:ext uri="{FF2B5EF4-FFF2-40B4-BE49-F238E27FC236}">
                <a16:creationId xmlns:a16="http://schemas.microsoft.com/office/drawing/2014/main" id="{BD3BEB4C-9F53-EB80-3E90-20F625B9E3E8}"/>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436" t="20481" r="1823" b="1291"/>
          <a:stretch>
            <a:fillRect/>
          </a:stretch>
        </p:blipFill>
        <p:spPr bwMode="auto">
          <a:xfrm>
            <a:off x="8038064" y="2389523"/>
            <a:ext cx="3924534" cy="2492943"/>
          </a:xfrm>
          <a:prstGeom prst="rect">
            <a:avLst/>
          </a:prstGeom>
          <a:noFill/>
          <a:ln w="28575">
            <a:solidFill>
              <a:schemeClr val="tx1"/>
            </a:solidFill>
          </a:ln>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F07EC51D-838D-A13D-1148-06F19739F923}"/>
              </a:ext>
            </a:extLst>
          </p:cNvPr>
          <p:cNvSpPr/>
          <p:nvPr/>
        </p:nvSpPr>
        <p:spPr>
          <a:xfrm>
            <a:off x="10105238" y="3544555"/>
            <a:ext cx="1771050" cy="1222409"/>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1" name="Straight Arrow Connector 10">
            <a:extLst>
              <a:ext uri="{FF2B5EF4-FFF2-40B4-BE49-F238E27FC236}">
                <a16:creationId xmlns:a16="http://schemas.microsoft.com/office/drawing/2014/main" id="{C537509D-D139-BD9C-028E-3770541D4D76}"/>
              </a:ext>
            </a:extLst>
          </p:cNvPr>
          <p:cNvCxnSpPr>
            <a:cxnSpLocks/>
            <a:stCxn id="9" idx="4"/>
          </p:cNvCxnSpPr>
          <p:nvPr/>
        </p:nvCxnSpPr>
        <p:spPr>
          <a:xfrm>
            <a:off x="10990763" y="4766964"/>
            <a:ext cx="38501" cy="83739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DCC639A-8EDD-D8DF-CD54-AED9AAD8F362}"/>
              </a:ext>
            </a:extLst>
          </p:cNvPr>
          <p:cNvSpPr txBox="1"/>
          <p:nvPr/>
        </p:nvSpPr>
        <p:spPr>
          <a:xfrm>
            <a:off x="10256518" y="5552664"/>
            <a:ext cx="1428551" cy="369332"/>
          </a:xfrm>
          <a:prstGeom prst="rect">
            <a:avLst/>
          </a:prstGeom>
          <a:noFill/>
        </p:spPr>
        <p:txBody>
          <a:bodyPr wrap="square" rtlCol="0">
            <a:spAutoFit/>
          </a:bodyPr>
          <a:lstStyle/>
          <a:p>
            <a:r>
              <a:rPr lang="en-IN" dirty="0">
                <a:solidFill>
                  <a:srgbClr val="C00000"/>
                </a:solidFill>
                <a:latin typeface="Mongolian Baiti" panose="03000500000000000000" pitchFamily="66" charset="0"/>
                <a:cs typeface="Mongolian Baiti" panose="03000500000000000000" pitchFamily="66" charset="0"/>
              </a:rPr>
              <a:t>Clarification</a:t>
            </a:r>
          </a:p>
        </p:txBody>
      </p:sp>
    </p:spTree>
    <p:extLst>
      <p:ext uri="{BB962C8B-B14F-4D97-AF65-F5344CB8AC3E}">
        <p14:creationId xmlns:p14="http://schemas.microsoft.com/office/powerpoint/2010/main" val="3034695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C3CFA7ED-CDE6-8633-6912-08B69AFE5D3A}"/>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7067"/>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BDD3D07-4CC0-B656-10D5-620A007702FA}"/>
              </a:ext>
            </a:extLst>
          </p:cNvPr>
          <p:cNvSpPr txBox="1"/>
          <p:nvPr/>
        </p:nvSpPr>
        <p:spPr>
          <a:xfrm>
            <a:off x="115503" y="269507"/>
            <a:ext cx="2444817" cy="646331"/>
          </a:xfrm>
          <a:prstGeom prst="rect">
            <a:avLst/>
          </a:prstGeom>
          <a:noFill/>
        </p:spPr>
        <p:txBody>
          <a:bodyPr wrap="square" rtlCol="0">
            <a:spAutoFit/>
          </a:bodyPr>
          <a:lstStyle/>
          <a:p>
            <a:r>
              <a:rPr lang="en-IN" sz="3600" b="1" dirty="0">
                <a:solidFill>
                  <a:srgbClr val="002060"/>
                </a:solidFill>
                <a:latin typeface="Mongolian Baiti" panose="03000500000000000000" pitchFamily="66" charset="0"/>
                <a:cs typeface="Mongolian Baiti" panose="03000500000000000000" pitchFamily="66" charset="0"/>
              </a:rPr>
              <a:t>PROCESS:</a:t>
            </a:r>
          </a:p>
        </p:txBody>
      </p:sp>
      <p:graphicFrame>
        <p:nvGraphicFramePr>
          <p:cNvPr id="10" name="Diagram 9">
            <a:extLst>
              <a:ext uri="{FF2B5EF4-FFF2-40B4-BE49-F238E27FC236}">
                <a16:creationId xmlns:a16="http://schemas.microsoft.com/office/drawing/2014/main" id="{5494FF5D-79D5-320F-0B41-E38EB1EE9563}"/>
              </a:ext>
            </a:extLst>
          </p:cNvPr>
          <p:cNvGraphicFramePr/>
          <p:nvPr>
            <p:extLst>
              <p:ext uri="{D42A27DB-BD31-4B8C-83A1-F6EECF244321}">
                <p14:modId xmlns:p14="http://schemas.microsoft.com/office/powerpoint/2010/main" val="2355479449"/>
              </p:ext>
            </p:extLst>
          </p:nvPr>
        </p:nvGraphicFramePr>
        <p:xfrm>
          <a:off x="870284" y="431089"/>
          <a:ext cx="10451430" cy="6265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7626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4465827A-591D-AA37-592E-67D14C0F9A4E}"/>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7067"/>
          <a:stretch>
            <a:fillRect/>
          </a:stretch>
        </p:blipFill>
        <p:spPr bwMode="auto">
          <a:xfrm>
            <a:off x="0" y="0"/>
            <a:ext cx="12191999" cy="692200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a:extLst>
              <a:ext uri="{FF2B5EF4-FFF2-40B4-BE49-F238E27FC236}">
                <a16:creationId xmlns:a16="http://schemas.microsoft.com/office/drawing/2014/main" id="{3AF800AB-20E3-D800-E162-91F08D2D22D1}"/>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4222" b="90000" l="10000" r="90000">
                        <a14:foregroundMark x1="56556" y1="27333" x2="59222" y2="26889"/>
                        <a14:foregroundMark x1="59222" y1="26889" x2="59222" y2="25556"/>
                        <a14:foregroundMark x1="36111" y1="17111" x2="23667" y2="12222"/>
                        <a14:foregroundMark x1="32111" y1="12667" x2="46778" y2="22000"/>
                        <a14:foregroundMark x1="31222" y1="6667" x2="33000" y2="6667"/>
                        <a14:foregroundMark x1="62111" y1="43333" x2="54556" y2="48444"/>
                        <a14:foregroundMark x1="64111" y1="60000" x2="67000" y2="82889"/>
                        <a14:foregroundMark x1="51444" y1="81778" x2="57667" y2="55111"/>
                        <a14:foregroundMark x1="57667" y1="55111" x2="57667" y2="54667"/>
                        <a14:foregroundMark x1="60333" y1="57556" x2="64111" y2="85556"/>
                        <a14:foregroundMark x1="55667" y1="85556" x2="52778" y2="84222"/>
                        <a14:foregroundMark x1="62778" y1="86889" x2="67667" y2="87111"/>
                        <a14:foregroundMark x1="57222" y1="28222" x2="60333" y2="43556"/>
                        <a14:foregroundMark x1="61222" y1="37111" x2="61222" y2="27111"/>
                        <a14:foregroundMark x1="60778" y1="25556" x2="55444" y2="26667"/>
                        <a14:foregroundMark x1="61667" y1="27778" x2="61667" y2="23556"/>
                        <a14:foregroundMark x1="57444" y1="24222" x2="55222" y2="29111"/>
                        <a14:foregroundMark x1="68778" y1="44000" x2="66333" y2="45778"/>
                        <a14:foregroundMark x1="68111" y1="41778" x2="67444" y2="40000"/>
                        <a14:foregroundMark x1="55222" y1="43111" x2="53889" y2="50444"/>
                        <a14:foregroundMark x1="53889" y1="50444" x2="48111" y2="45778"/>
                        <a14:foregroundMark x1="56556" y1="50222" x2="63444" y2="51111"/>
                        <a14:foregroundMark x1="39889" y1="16444" x2="28556" y2="22222"/>
                        <a14:foregroundMark x1="28556" y1="22222" x2="23889" y2="18444"/>
                        <a14:foregroundMark x1="35222" y1="25556" x2="45444" y2="18444"/>
                        <a14:foregroundMark x1="45444" y1="17333" x2="36667" y2="5556"/>
                        <a14:foregroundMark x1="36667" y1="5556" x2="22778" y2="10667"/>
                        <a14:foregroundMark x1="22778" y1="10667" x2="23556" y2="27111"/>
                        <a14:foregroundMark x1="23556" y1="27111" x2="25000" y2="28000"/>
                        <a14:foregroundMark x1="40333" y1="24889" x2="29111" y2="24667"/>
                        <a14:foregroundMark x1="29111" y1="24667" x2="18667" y2="15444"/>
                        <a14:foregroundMark x1="18667" y1="15444" x2="18111" y2="13111"/>
                        <a14:foregroundMark x1="41000" y1="12222" x2="53778" y2="10889"/>
                        <a14:foregroundMark x1="53778" y1="10889" x2="47778" y2="20333"/>
                        <a14:foregroundMark x1="47778" y1="20333" x2="45222" y2="22222"/>
                        <a14:foregroundMark x1="41444" y1="10000" x2="21556" y2="16889"/>
                        <a14:foregroundMark x1="21556" y1="16889" x2="24556" y2="26000"/>
                        <a14:foregroundMark x1="22778" y1="23333" x2="20111" y2="18667"/>
                        <a14:foregroundMark x1="23889" y1="21778" x2="21000" y2="17778"/>
                        <a14:foregroundMark x1="39222" y1="26222" x2="48778" y2="16667"/>
                        <a14:foregroundMark x1="48778" y1="16667" x2="47000" y2="14889"/>
                        <a14:foregroundMark x1="23667" y1="8889" x2="19000" y2="15556"/>
                        <a14:foregroundMark x1="30556" y1="7778" x2="25222" y2="8444"/>
                        <a14:foregroundMark x1="19444" y1="20222" x2="18556" y2="17333"/>
                        <a14:foregroundMark x1="41222" y1="23333" x2="43000" y2="21778"/>
                        <a14:foregroundMark x1="46778" y1="25778" x2="45667" y2="25556"/>
                        <a14:foregroundMark x1="45667" y1="25556" x2="50556" y2="30889"/>
                        <a14:foregroundMark x1="50556" y1="30222" x2="50556" y2="27333"/>
                        <a14:foregroundMark x1="46333" y1="25778" x2="48556" y2="24444"/>
                        <a14:foregroundMark x1="30111" y1="26667" x2="45667" y2="28222"/>
                        <a14:foregroundMark x1="34111" y1="23778" x2="27222" y2="24667"/>
                        <a14:foregroundMark x1="37222" y1="26000" x2="44778" y2="25556"/>
                        <a14:foregroundMark x1="44778" y1="25556" x2="52111" y2="17778"/>
                        <a14:foregroundMark x1="28333" y1="25778" x2="29667" y2="26667"/>
                        <a14:foregroundMark x1="35889" y1="6889" x2="46111" y2="9778"/>
                        <a14:foregroundMark x1="38333" y1="7333" x2="40111" y2="7111"/>
                        <a14:foregroundMark x1="38778" y1="6889" x2="32778" y2="4222"/>
                        <a14:foregroundMark x1="33000" y1="5778" x2="24111" y2="9333"/>
                      </a14:backgroundRemoval>
                    </a14:imgEffect>
                  </a14:imgLayer>
                </a14:imgProps>
              </a:ext>
              <a:ext uri="{28A0092B-C50C-407E-A947-70E740481C1C}">
                <a14:useLocalDpi xmlns:a14="http://schemas.microsoft.com/office/drawing/2010/main" val="0"/>
              </a:ext>
            </a:extLst>
          </a:blip>
          <a:srcRect l="13790" t="4583" r="25580" b="6098"/>
          <a:stretch>
            <a:fillRect/>
          </a:stretch>
        </p:blipFill>
        <p:spPr bwMode="auto">
          <a:xfrm>
            <a:off x="7660105" y="192544"/>
            <a:ext cx="4437246" cy="653692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C7CF10-D31B-FC89-136F-9D516756FB30}"/>
              </a:ext>
            </a:extLst>
          </p:cNvPr>
          <p:cNvSpPr txBox="1"/>
          <p:nvPr/>
        </p:nvSpPr>
        <p:spPr>
          <a:xfrm>
            <a:off x="288758" y="423512"/>
            <a:ext cx="7276699" cy="707886"/>
          </a:xfrm>
          <a:prstGeom prst="rect">
            <a:avLst/>
          </a:prstGeom>
          <a:noFill/>
        </p:spPr>
        <p:txBody>
          <a:bodyPr wrap="square" rtlCol="0">
            <a:spAutoFit/>
          </a:bodyPr>
          <a:lstStyle/>
          <a:p>
            <a:r>
              <a:rPr lang="en-IN" sz="4000" b="1" i="1" dirty="0">
                <a:solidFill>
                  <a:srgbClr val="002060"/>
                </a:solidFill>
                <a:latin typeface="Mongolian Baiti" panose="03000500000000000000" pitchFamily="66" charset="0"/>
                <a:cs typeface="Mongolian Baiti" panose="03000500000000000000" pitchFamily="66" charset="0"/>
              </a:rPr>
              <a:t>If I were a software engineer….</a:t>
            </a:r>
          </a:p>
        </p:txBody>
      </p:sp>
      <p:sp>
        <p:nvSpPr>
          <p:cNvPr id="8" name="TextBox 7">
            <a:extLst>
              <a:ext uri="{FF2B5EF4-FFF2-40B4-BE49-F238E27FC236}">
                <a16:creationId xmlns:a16="http://schemas.microsoft.com/office/drawing/2014/main" id="{DFC2604E-E0A7-002E-693F-E5A879A0EDC5}"/>
              </a:ext>
            </a:extLst>
          </p:cNvPr>
          <p:cNvSpPr txBox="1"/>
          <p:nvPr/>
        </p:nvSpPr>
        <p:spPr>
          <a:xfrm>
            <a:off x="394636" y="1299411"/>
            <a:ext cx="7806088" cy="5878532"/>
          </a:xfrm>
          <a:prstGeom prst="rect">
            <a:avLst/>
          </a:prstGeom>
          <a:noFill/>
        </p:spPr>
        <p:txBody>
          <a:bodyPr wrap="square" rtlCol="0">
            <a:spAutoFit/>
          </a:bodyPr>
          <a:lstStyle/>
          <a:p>
            <a:pPr>
              <a:spcAft>
                <a:spcPts val="600"/>
              </a:spcAft>
            </a:pPr>
            <a:r>
              <a:rPr lang="en-IN" sz="2400" b="1" dirty="0">
                <a:solidFill>
                  <a:schemeClr val="tx1">
                    <a:lumMod val="95000"/>
                    <a:lumOff val="5000"/>
                  </a:schemeClr>
                </a:solidFill>
                <a:latin typeface="Mongolian Baiti" panose="03000500000000000000" pitchFamily="66" charset="0"/>
                <a:ea typeface="Microsoft Yi Baiti" panose="03000500000000000000" pitchFamily="66" charset="0"/>
                <a:cs typeface="Mongolian Baiti" panose="03000500000000000000" pitchFamily="66" charset="0"/>
              </a:rPr>
              <a:t>I would build such a software or a tool that could help in increasing the enzyme efficiency and reliability.</a:t>
            </a:r>
          </a:p>
          <a:p>
            <a:pPr>
              <a:spcAft>
                <a:spcPts val="600"/>
              </a:spcAft>
            </a:pPr>
            <a:endParaRPr lang="en-IN" sz="2800" b="1" i="1" dirty="0">
              <a:solidFill>
                <a:srgbClr val="002060"/>
              </a:solidFill>
              <a:latin typeface="Mongolian Baiti" panose="03000500000000000000" pitchFamily="66" charset="0"/>
              <a:ea typeface="Microsoft Yi Baiti" panose="03000500000000000000" pitchFamily="66" charset="0"/>
              <a:cs typeface="Mongolian Baiti" panose="03000500000000000000" pitchFamily="66" charset="0"/>
            </a:endParaRPr>
          </a:p>
          <a:p>
            <a:pPr>
              <a:spcAft>
                <a:spcPts val="600"/>
              </a:spcAft>
            </a:pPr>
            <a:r>
              <a:rPr lang="en-IN" sz="2800" b="1" i="1" dirty="0">
                <a:solidFill>
                  <a:srgbClr val="002060"/>
                </a:solidFill>
                <a:latin typeface="Mongolian Baiti" panose="03000500000000000000" pitchFamily="66" charset="0"/>
                <a:ea typeface="Microsoft Yi Baiti" panose="03000500000000000000" pitchFamily="66" charset="0"/>
                <a:cs typeface="Mongolian Baiti" panose="03000500000000000000" pitchFamily="66" charset="0"/>
              </a:rPr>
              <a:t>Automatic Monitoring System</a:t>
            </a:r>
          </a:p>
          <a:p>
            <a:r>
              <a:rPr lang="en-IN" sz="2400" dirty="0">
                <a:latin typeface="Mongolian Baiti" panose="03000500000000000000" pitchFamily="66" charset="0"/>
                <a:ea typeface="Microsoft Yi Baiti" panose="03000500000000000000" pitchFamily="66" charset="0"/>
                <a:cs typeface="Mongolian Baiti" panose="03000500000000000000" pitchFamily="66" charset="0"/>
              </a:rPr>
              <a:t>I would design this software in such a way that it:</a:t>
            </a:r>
          </a:p>
          <a:p>
            <a:pPr marL="285750" indent="-285750">
              <a:spcAft>
                <a:spcPts val="600"/>
              </a:spcAft>
              <a:buFont typeface="Arial" panose="020B0604020202020204" pitchFamily="34" charset="0"/>
              <a:buChar char="•"/>
            </a:pPr>
            <a:r>
              <a:rPr lang="en-IN" sz="2400" dirty="0">
                <a:latin typeface="Mongolian Baiti" panose="03000500000000000000" pitchFamily="66" charset="0"/>
                <a:ea typeface="Microsoft Yi Baiti" panose="03000500000000000000" pitchFamily="66" charset="0"/>
                <a:cs typeface="Mongolian Baiti" panose="03000500000000000000" pitchFamily="66" charset="0"/>
              </a:rPr>
              <a:t>Generates an alarm if any emergencies</a:t>
            </a:r>
          </a:p>
          <a:p>
            <a:pPr marL="285750" indent="-285750">
              <a:spcAft>
                <a:spcPts val="600"/>
              </a:spcAft>
              <a:buFont typeface="Arial" panose="020B0604020202020204" pitchFamily="34" charset="0"/>
              <a:buChar char="•"/>
            </a:pPr>
            <a:r>
              <a:rPr lang="en-IN" sz="2400" dirty="0">
                <a:latin typeface="Mongolian Baiti" panose="03000500000000000000" pitchFamily="66" charset="0"/>
                <a:ea typeface="Microsoft Yi Baiti" panose="03000500000000000000" pitchFamily="66" charset="0"/>
                <a:cs typeface="Mongolian Baiti" panose="03000500000000000000" pitchFamily="66" charset="0"/>
              </a:rPr>
              <a:t>Acts like a sensor</a:t>
            </a:r>
          </a:p>
          <a:p>
            <a:pPr marL="285750" indent="-285750">
              <a:spcAft>
                <a:spcPts val="600"/>
              </a:spcAft>
              <a:buFont typeface="Arial" panose="020B0604020202020204" pitchFamily="34" charset="0"/>
              <a:buChar char="•"/>
            </a:pPr>
            <a:r>
              <a:rPr lang="en-IN" sz="2400" dirty="0">
                <a:latin typeface="Mongolian Baiti" panose="03000500000000000000" pitchFamily="66" charset="0"/>
                <a:ea typeface="Microsoft Yi Baiti" panose="03000500000000000000" pitchFamily="66" charset="0"/>
                <a:cs typeface="Mongolian Baiti" panose="03000500000000000000" pitchFamily="66" charset="0"/>
              </a:rPr>
              <a:t>Stores day to day data </a:t>
            </a:r>
          </a:p>
          <a:p>
            <a:pPr marL="285750" indent="-285750">
              <a:spcAft>
                <a:spcPts val="600"/>
              </a:spcAft>
              <a:buFont typeface="Arial" panose="020B0604020202020204" pitchFamily="34" charset="0"/>
              <a:buChar char="•"/>
            </a:pPr>
            <a:r>
              <a:rPr lang="en-IN" sz="2400" dirty="0">
                <a:latin typeface="Mongolian Baiti" panose="03000500000000000000" pitchFamily="66" charset="0"/>
                <a:ea typeface="Microsoft Yi Baiti" panose="03000500000000000000" pitchFamily="66" charset="0"/>
                <a:cs typeface="Mongolian Baiti" panose="03000500000000000000" pitchFamily="66" charset="0"/>
              </a:rPr>
              <a:t>Notes the number of fruits getting wasted to avoid damages in future</a:t>
            </a:r>
          </a:p>
          <a:p>
            <a:pPr>
              <a:spcAft>
                <a:spcPts val="600"/>
              </a:spcAft>
            </a:pPr>
            <a:r>
              <a:rPr lang="en-IN" sz="2400" dirty="0">
                <a:latin typeface="Mongolian Baiti" panose="03000500000000000000" pitchFamily="66" charset="0"/>
                <a:ea typeface="Microsoft Yi Baiti" panose="03000500000000000000" pitchFamily="66" charset="0"/>
                <a:cs typeface="Mongolian Baiti" panose="03000500000000000000" pitchFamily="66" charset="0"/>
              </a:rPr>
              <a:t> </a:t>
            </a:r>
          </a:p>
          <a:p>
            <a:endParaRPr lang="en-IN" sz="2000" dirty="0">
              <a:latin typeface="Mongolian Baiti" panose="03000500000000000000" pitchFamily="66" charset="0"/>
              <a:ea typeface="Microsoft Yi Baiti" panose="03000500000000000000" pitchFamily="66" charset="0"/>
              <a:cs typeface="Mongolian Baiti" panose="03000500000000000000" pitchFamily="66" charset="0"/>
            </a:endParaRPr>
          </a:p>
          <a:p>
            <a:endParaRPr lang="en-IN" sz="2000" dirty="0">
              <a:latin typeface="Mongolian Baiti" panose="03000500000000000000" pitchFamily="66" charset="0"/>
              <a:ea typeface="Microsoft Yi Baiti" panose="03000500000000000000" pitchFamily="66" charset="0"/>
              <a:cs typeface="Mongolian Baiti" panose="03000500000000000000" pitchFamily="66" charset="0"/>
            </a:endParaRPr>
          </a:p>
          <a:p>
            <a:endParaRPr lang="en-IN" sz="2400" dirty="0">
              <a:latin typeface="Mongolian Baiti" panose="03000500000000000000" pitchFamily="66" charset="0"/>
              <a:ea typeface="Microsoft Yi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2591695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369088E-3E71-2926-BCB1-39E07D3FC417}"/>
              </a:ext>
            </a:extLst>
          </p:cNvPr>
          <p:cNvPicPr>
            <a:picLocks noChangeAspect="1" noChangeArrowheads="1"/>
          </p:cNvPicPr>
          <p:nvPr/>
        </p:nvPicPr>
        <p:blipFill rotWithShape="1">
          <a:blip r:embed="rId2">
            <a:alphaModFix amt="20000"/>
            <a:extLst>
              <a:ext uri="{28A0092B-C50C-407E-A947-70E740481C1C}">
                <a14:useLocalDpi xmlns:a14="http://schemas.microsoft.com/office/drawing/2010/main" val="0"/>
              </a:ext>
            </a:extLst>
          </a:blip>
          <a:srcRect t="7067"/>
          <a:stretch>
            <a:fillRect/>
          </a:stretch>
        </p:blipFill>
        <p:spPr bwMode="auto">
          <a:xfrm>
            <a:off x="1"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6F4789E1-7BF4-BC46-1279-9C726456362E}"/>
              </a:ext>
            </a:extLst>
          </p:cNvPr>
          <p:cNvSpPr/>
          <p:nvPr/>
        </p:nvSpPr>
        <p:spPr>
          <a:xfrm>
            <a:off x="365759" y="221381"/>
            <a:ext cx="3715353" cy="6930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buFont typeface="Arial" panose="020B0604020202020204" pitchFamily="34" charset="0"/>
              <a:buChar char="•"/>
            </a:pPr>
            <a:r>
              <a:rPr lang="en-IN" sz="3600" dirty="0">
                <a:solidFill>
                  <a:srgbClr val="002060"/>
                </a:solidFill>
                <a:latin typeface="Maiandra GD" panose="020E0502030308020204" pitchFamily="34" charset="0"/>
              </a:rPr>
              <a:t>REFERENCES</a:t>
            </a:r>
          </a:p>
        </p:txBody>
      </p:sp>
      <p:sp>
        <p:nvSpPr>
          <p:cNvPr id="7" name="TextBox 6">
            <a:extLst>
              <a:ext uri="{FF2B5EF4-FFF2-40B4-BE49-F238E27FC236}">
                <a16:creationId xmlns:a16="http://schemas.microsoft.com/office/drawing/2014/main" id="{EB37903E-10E2-F767-E1F3-CFE35C9E6071}"/>
              </a:ext>
            </a:extLst>
          </p:cNvPr>
          <p:cNvSpPr txBox="1"/>
          <p:nvPr/>
        </p:nvSpPr>
        <p:spPr>
          <a:xfrm>
            <a:off x="442762" y="1328286"/>
            <a:ext cx="11300059" cy="4555093"/>
          </a:xfrm>
          <a:prstGeom prst="rect">
            <a:avLst/>
          </a:prstGeom>
          <a:noFill/>
        </p:spPr>
        <p:txBody>
          <a:bodyPr wrap="square" rtlCol="0">
            <a:spAutoFit/>
          </a:bodyPr>
          <a:lstStyle/>
          <a:p>
            <a:r>
              <a:rPr lang="en-IN" sz="2000" b="1" dirty="0">
                <a:latin typeface="Maiandra GD" panose="020E0502030308020204" pitchFamily="34" charset="0"/>
                <a:cs typeface="Mongolian Baiti" panose="03000500000000000000" pitchFamily="66" charset="0"/>
              </a:rPr>
              <a:t>INFORMATION:</a:t>
            </a:r>
          </a:p>
          <a:p>
            <a:r>
              <a:rPr lang="en-IN" dirty="0">
                <a:hlinkClick r:id="rId3"/>
              </a:rPr>
              <a:t>https://en.wikipedia.org/wiki/Pectinase</a:t>
            </a:r>
            <a:endParaRPr lang="en-IN" dirty="0"/>
          </a:p>
          <a:p>
            <a:endParaRPr lang="en-IN" dirty="0"/>
          </a:p>
          <a:p>
            <a:r>
              <a:rPr lang="en-IN" dirty="0">
                <a:hlinkClick r:id="rId4"/>
              </a:rPr>
              <a:t>https://foodsafety.institute/food-biotechnology/pectinase-enzymes-sources-properties-uses/</a:t>
            </a:r>
            <a:endParaRPr lang="en-IN" dirty="0"/>
          </a:p>
          <a:p>
            <a:endParaRPr lang="en-IN" dirty="0"/>
          </a:p>
          <a:p>
            <a:r>
              <a:rPr lang="en-IN" b="1" dirty="0">
                <a:latin typeface="Maiandra GD" panose="020E0502030308020204" pitchFamily="34" charset="0"/>
              </a:rPr>
              <a:t>IMAGES:</a:t>
            </a:r>
          </a:p>
          <a:p>
            <a:r>
              <a:rPr lang="en-IN" dirty="0">
                <a:hlinkClick r:id="rId5"/>
              </a:rPr>
              <a:t>https://sparetailer.com/wp-content/uploads/2018/02/EnzymeHero-scaled.jpg</a:t>
            </a:r>
            <a:endParaRPr lang="en-IN" dirty="0"/>
          </a:p>
          <a:p>
            <a:endParaRPr lang="en-IN" dirty="0"/>
          </a:p>
          <a:p>
            <a:r>
              <a:rPr lang="en-IN" dirty="0">
                <a:hlinkClick r:id="rId6"/>
              </a:rPr>
              <a:t>https://www.shutterstock.com/image-photo/fruit-juices-important-component-human-260nw-2371676815.jpg</a:t>
            </a:r>
            <a:endParaRPr lang="en-IN" dirty="0"/>
          </a:p>
          <a:p>
            <a:endParaRPr lang="en-IN" dirty="0"/>
          </a:p>
          <a:p>
            <a:r>
              <a:rPr lang="en-IN" dirty="0">
                <a:hlinkClick r:id="rId7"/>
              </a:rPr>
              <a:t>https://blogger.googleusercontent.com/img/b/R29vZ2xl/AVvXsEhs4RMjRWMFXeLVFCJVX6F8yPsM2y_FnSqdUXeSCvr1lBzC6D2KGtPTBu3wxyaZtZu1QowkrjhmsLYYj7jPoaJpSNNn3MJCyajoAIVJHI4z025ETyFNsqyU9mhbFpIPDiUlmW3pLSpeGDg2/s376/juice+after+clarifying.jpg</a:t>
            </a:r>
            <a:endParaRPr lang="en-IN" dirty="0"/>
          </a:p>
          <a:p>
            <a:endParaRPr lang="en-IN" dirty="0"/>
          </a:p>
          <a:p>
            <a:r>
              <a:rPr lang="en-IN" dirty="0">
                <a:hlinkClick r:id="rId8"/>
              </a:rPr>
              <a:t>http://clipart-library.com/images/8c65B5bzi.jpg</a:t>
            </a:r>
            <a:endParaRPr lang="en-IN" dirty="0"/>
          </a:p>
          <a:p>
            <a:endParaRPr lang="en-IN" dirty="0"/>
          </a:p>
        </p:txBody>
      </p:sp>
    </p:spTree>
    <p:extLst>
      <p:ext uri="{BB962C8B-B14F-4D97-AF65-F5344CB8AC3E}">
        <p14:creationId xmlns:p14="http://schemas.microsoft.com/office/powerpoint/2010/main" val="2675009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353B9424-E01D-61CB-974F-5DD69CD65A98}"/>
              </a:ext>
            </a:extLst>
          </p:cNvPr>
          <p:cNvPicPr>
            <a:picLocks noChangeAspect="1" noChangeArrowheads="1"/>
          </p:cNvPicPr>
          <p:nvPr/>
        </p:nvPicPr>
        <p:blipFill rotWithShape="1">
          <a:blip r:embed="rId2">
            <a:alphaModFix amt="70000"/>
            <a:extLst>
              <a:ext uri="{28A0092B-C50C-407E-A947-70E740481C1C}">
                <a14:useLocalDpi xmlns:a14="http://schemas.microsoft.com/office/drawing/2010/main" val="0"/>
              </a:ext>
            </a:extLst>
          </a:blip>
          <a:srcRect t="7067"/>
          <a:stretch>
            <a:fillRect/>
          </a:stretch>
        </p:blipFill>
        <p:spPr bwMode="auto">
          <a:xfrm>
            <a:off x="1" y="0"/>
            <a:ext cx="12191999" cy="6858000"/>
          </a:xfrm>
          <a:prstGeom prst="rect">
            <a:avLst/>
          </a:prstGeom>
          <a:noFill/>
          <a:effectLst>
            <a:softEdge rad="635000"/>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189B973-C308-4C5A-0EB4-3DEEDB5618C0}"/>
              </a:ext>
            </a:extLst>
          </p:cNvPr>
          <p:cNvSpPr txBox="1"/>
          <p:nvPr/>
        </p:nvSpPr>
        <p:spPr>
          <a:xfrm>
            <a:off x="2342147" y="2274838"/>
            <a:ext cx="7507706" cy="2308324"/>
          </a:xfrm>
          <a:prstGeom prst="rect">
            <a:avLst/>
          </a:prstGeom>
          <a:noFill/>
        </p:spPr>
        <p:txBody>
          <a:bodyPr wrap="square" rtlCol="0">
            <a:spAutoFit/>
          </a:bodyPr>
          <a:lstStyle/>
          <a:p>
            <a:pPr algn="ctr"/>
            <a:r>
              <a:rPr lang="en-IN" sz="7200" dirty="0">
                <a:solidFill>
                  <a:srgbClr val="002060"/>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rPr>
              <a:t>THANK YOU!</a:t>
            </a:r>
          </a:p>
          <a:p>
            <a:pPr algn="ctr"/>
            <a:endParaRPr lang="en-IN" sz="7200" dirty="0">
              <a:solidFill>
                <a:srgbClr val="002060"/>
              </a:solidFill>
              <a:effectLst>
                <a:outerShdw blurRad="38100" dist="38100" dir="2700000" algn="tl">
                  <a:srgbClr val="000000">
                    <a:alpha val="43137"/>
                  </a:srgbClr>
                </a:outerShdw>
              </a:effectLst>
              <a:latin typeface="Mongolian Baiti" panose="03000500000000000000" pitchFamily="66" charset="0"/>
              <a:cs typeface="Mongolian Baiti" panose="03000500000000000000" pitchFamily="66" charset="0"/>
            </a:endParaRPr>
          </a:p>
        </p:txBody>
      </p:sp>
    </p:spTree>
    <p:extLst>
      <p:ext uri="{BB962C8B-B14F-4D97-AF65-F5344CB8AC3E}">
        <p14:creationId xmlns:p14="http://schemas.microsoft.com/office/powerpoint/2010/main" val="2330875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532</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Maiandra GD</vt:lpstr>
      <vt:lpstr>Mongolian Baiti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Asha Sharma</dc:creator>
  <cp:lastModifiedBy>Asha Sharma</cp:lastModifiedBy>
  <cp:revision>12</cp:revision>
  <dcterms:created xsi:type="dcterms:W3CDTF">2025-09-20T10:26:33Z</dcterms:created>
  <dcterms:modified xsi:type="dcterms:W3CDTF">2025-09-20T15:07:00Z</dcterms:modified>
</cp:coreProperties>
</file>