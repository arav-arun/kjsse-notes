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60" r:id="rId2"/>
    <p:sldId id="256" r:id="rId3"/>
    <p:sldId id="257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F2F2F2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1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2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7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33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9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1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72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69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43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88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2394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01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6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3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077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51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21" Type="http://schemas.openxmlformats.org/officeDocument/2006/relationships/image" Target="../media/image4.png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3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image" Target="../media/image5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F2981A0-AB55-4118-9FD8-090BB9DE6D5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BA22A-0A8C-475F-8563-9C0E58C0E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385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louis.pressbooks.pub/generalbiology1labv2/chapter/measuring-the-enzymatic-activity-of-lactase/" TargetMode="External" /><Relationship Id="rId4" Type="http://schemas.openxmlformats.org/officeDocument/2006/relationships/image" Target="../media/image8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1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6.png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0.png" /><Relationship Id="rId5" Type="http://schemas.openxmlformats.org/officeDocument/2006/relationships/image" Target="../media/image19.jpeg" /><Relationship Id="rId4" Type="http://schemas.openxmlformats.org/officeDocument/2006/relationships/image" Target="../media/image18.jpe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rovilac.in/" TargetMode="External" /><Relationship Id="rId3" Type="http://schemas.openxmlformats.org/officeDocument/2006/relationships/hyperlink" Target="https://amul.com/index.php" TargetMode="External" /><Relationship Id="rId7" Type="http://schemas.openxmlformats.org/officeDocument/2006/relationships/hyperlink" Target="https://nolact.in/" TargetMode="Externa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Relationship Id="rId6" Type="http://schemas.openxmlformats.org/officeDocument/2006/relationships/hyperlink" Target="https://www.machineryworld.com/wp-content/uploads/2021/07/WhatsApp-Image-2021-07-02-at-10.46.47-3.jpg" TargetMode="External" /><Relationship Id="rId5" Type="http://schemas.openxmlformats.org/officeDocument/2006/relationships/hyperlink" Target="https://louis.pressbooks.pub/app/uploads/sites/50/2022/04/image1-6.jpeg" TargetMode="External" /><Relationship Id="rId10" Type="http://schemas.openxmlformats.org/officeDocument/2006/relationships/hyperlink" Target="https://fairlife.com/" TargetMode="External" /><Relationship Id="rId4" Type="http://schemas.openxmlformats.org/officeDocument/2006/relationships/hyperlink" Target="https://www.wikipedia.org/" TargetMode="External" /><Relationship Id="rId9" Type="http://schemas.openxmlformats.org/officeDocument/2006/relationships/hyperlink" Target="https://allseasondairy.com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3216E8-CAD0-8EF5-8C76-DF835DC7E3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600" b="1" u="sng">
                <a:solidFill>
                  <a:schemeClr val="bg1">
                    <a:lumMod val="95000"/>
                    <a:lumOff val="5000"/>
                  </a:schemeClr>
                </a:solidFill>
              </a:rPr>
              <a:t>Subject</a:t>
            </a:r>
            <a:r>
              <a:rPr lang="en-US" sz="3600" b="1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3600">
                <a:solidFill>
                  <a:schemeClr val="bg1">
                    <a:lumMod val="95000"/>
                    <a:lumOff val="5000"/>
                  </a:schemeClr>
                </a:solidFill>
              </a:rPr>
              <a:t> Biology for Engineers</a:t>
            </a:r>
          </a:p>
          <a:p>
            <a:endParaRPr lang="en-US" sz="360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US" sz="3600" b="1" u="sng">
                <a:solidFill>
                  <a:schemeClr val="bg1">
                    <a:lumMod val="95000"/>
                    <a:lumOff val="5000"/>
                  </a:schemeClr>
                </a:solidFill>
              </a:rPr>
              <a:t>Unit 1</a:t>
            </a:r>
            <a:r>
              <a:rPr lang="en-US" sz="3600" b="1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3600">
                <a:solidFill>
                  <a:schemeClr val="bg1">
                    <a:lumMod val="95000"/>
                    <a:lumOff val="5000"/>
                  </a:schemeClr>
                </a:solidFill>
              </a:rPr>
              <a:t> Biomolecules and Enzymes</a:t>
            </a:r>
          </a:p>
          <a:p>
            <a:endParaRPr lang="en-US" sz="360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US" sz="3600" b="1" u="sng">
                <a:solidFill>
                  <a:schemeClr val="bg1">
                    <a:lumMod val="95000"/>
                    <a:lumOff val="5000"/>
                  </a:schemeClr>
                </a:solidFill>
              </a:rPr>
              <a:t>Topic</a:t>
            </a:r>
            <a:r>
              <a:rPr lang="en-US" sz="3600" b="1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3600">
                <a:solidFill>
                  <a:schemeClr val="bg1">
                    <a:lumMod val="95000"/>
                    <a:lumOff val="5000"/>
                  </a:schemeClr>
                </a:solidFill>
              </a:rPr>
              <a:t> Enzymatic Processes in Industrial Production &amp; its application</a:t>
            </a:r>
          </a:p>
          <a:p>
            <a:r>
              <a:rPr lang="en-US" sz="3600" b="1" u="sng">
                <a:solidFill>
                  <a:schemeClr val="bg1">
                    <a:lumMod val="95000"/>
                    <a:lumOff val="5000"/>
                  </a:schemeClr>
                </a:solidFill>
              </a:rPr>
              <a:t>Question</a:t>
            </a:r>
            <a:r>
              <a:rPr lang="en-US" sz="3600" b="1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  <a:endParaRPr lang="en-US" sz="360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US" sz="3600">
                <a:solidFill>
                  <a:schemeClr val="bg1">
                    <a:lumMod val="95000"/>
                    <a:lumOff val="5000"/>
                  </a:schemeClr>
                </a:solidFill>
              </a:rPr>
              <a:t>Select any </a:t>
            </a:r>
            <a:r>
              <a:rPr lang="en-US" sz="3600" b="1">
                <a:solidFill>
                  <a:schemeClr val="bg1">
                    <a:lumMod val="95000"/>
                    <a:lumOff val="5000"/>
                  </a:schemeClr>
                </a:solidFill>
              </a:rPr>
              <a:t>one enzyme</a:t>
            </a:r>
            <a:r>
              <a:rPr lang="en-US" sz="3600">
                <a:solidFill>
                  <a:schemeClr val="bg1">
                    <a:lumMod val="95000"/>
                    <a:lumOff val="5000"/>
                  </a:schemeClr>
                </a:solidFill>
              </a:rPr>
              <a:t> that is used in an industrial process and explain how it contributes to the production of a specific industrial product.                                   </a:t>
            </a:r>
          </a:p>
          <a:p>
            <a:r>
              <a:rPr lang="en-US" sz="3600">
                <a:solidFill>
                  <a:schemeClr val="bg1">
                    <a:lumMod val="95000"/>
                    <a:lumOff val="5000"/>
                  </a:schemeClr>
                </a:solidFill>
              </a:rPr>
              <a:t>                                                       </a:t>
            </a:r>
            <a:r>
              <a:rPr lang="en-US" sz="4000">
                <a:solidFill>
                  <a:schemeClr val="bg1">
                    <a:lumMod val="95000"/>
                    <a:lumOff val="5000"/>
                  </a:schemeClr>
                </a:solidFill>
              </a:rPr>
              <a:t>~</a:t>
            </a:r>
            <a:r>
              <a:rPr lang="en-US" sz="4000" err="1">
                <a:solidFill>
                  <a:schemeClr val="bg1">
                    <a:lumMod val="95000"/>
                    <a:lumOff val="5000"/>
                  </a:schemeClr>
                </a:solidFill>
              </a:rPr>
              <a:t>By</a:t>
            </a:r>
            <a:r>
              <a:rPr lang="en-US" sz="3600" b="1" i="1" u="sng" err="1">
                <a:solidFill>
                  <a:schemeClr val="bg1">
                    <a:lumMod val="95000"/>
                    <a:lumOff val="5000"/>
                  </a:schemeClr>
                </a:solidFill>
                <a:latin typeface="Rockwell Extra Bold" panose="02060903040505020403" pitchFamily="18" charset="0"/>
              </a:rPr>
              <a:t>Malay</a:t>
            </a:r>
            <a:r>
              <a:rPr lang="en-US" sz="3600" b="1" i="1" u="sng">
                <a:solidFill>
                  <a:schemeClr val="bg1">
                    <a:lumMod val="95000"/>
                    <a:lumOff val="5000"/>
                  </a:schemeClr>
                </a:solidFill>
                <a:latin typeface="Rockwell Extra Bold" panose="02060903040505020403" pitchFamily="18" charset="0"/>
              </a:rPr>
              <a:t> Thakkar</a:t>
            </a:r>
            <a:r>
              <a:rPr lang="en-US" sz="3600">
                <a:solidFill>
                  <a:schemeClr val="bg1">
                    <a:lumMod val="95000"/>
                    <a:lumOff val="5000"/>
                  </a:schemeClr>
                </a:solidFill>
              </a:rPr>
              <a:t>        </a:t>
            </a:r>
            <a:endParaRPr lang="en-US" sz="3600" b="1" i="1" u="sng">
              <a:solidFill>
                <a:schemeClr val="bg1">
                  <a:lumMod val="95000"/>
                  <a:lumOff val="5000"/>
                </a:schemeClr>
              </a:solidFill>
              <a:latin typeface="Rockwell Extra Bold" panose="02060903040505020403" pitchFamily="18" charset="0"/>
            </a:endParaRPr>
          </a:p>
          <a:p>
            <a:r>
              <a:rPr lang="en-US" sz="3600"/>
              <a:t>                                            </a:t>
            </a:r>
            <a:r>
              <a:rPr lang="en-US" sz="3600">
                <a:solidFill>
                  <a:schemeClr val="bg1">
                    <a:lumMod val="95000"/>
                    <a:lumOff val="5000"/>
                  </a:schemeClr>
                </a:solidFill>
              </a:rPr>
              <a:t>(D-48)   Roll No :16010125263 </a:t>
            </a:r>
            <a:r>
              <a:rPr lang="en-US" sz="3600"/>
              <a:t>                                                    </a:t>
            </a:r>
            <a:r>
              <a:rPr lang="en-US" sz="3600">
                <a:latin typeface="Bahnschrift SemiBold SemiConden" panose="020B0502040204020203" pitchFamily="34" charset="0"/>
              </a:rPr>
              <a:t>                             </a:t>
            </a:r>
          </a:p>
          <a:p>
            <a:pPr algn="r"/>
            <a:endParaRPr lang="en-US" sz="3400" b="1" i="1" u="sng">
              <a:latin typeface="Rockwell Extra Bold" panose="02060903040505020403" pitchFamily="18" charset="0"/>
            </a:endParaRPr>
          </a:p>
          <a:p>
            <a:pPr algn="r"/>
            <a:endParaRPr lang="en-US" sz="3400" b="1" i="1" u="sng"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2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6584-6707-549C-EA95-2BBF908D5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97" y="187395"/>
            <a:ext cx="5108713" cy="3241605"/>
          </a:xfrm>
          <a:blipFill>
            <a:blip r:embed="rId2"/>
            <a:tile tx="0" ty="0" sx="100000" sy="100000" flip="none" algn="tl"/>
          </a:blipFill>
          <a:effectLst>
            <a:glow rad="101600">
              <a:schemeClr val="tx1"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anchor="t">
            <a:normAutofit fontScale="90000"/>
          </a:bodyPr>
          <a:lstStyle/>
          <a:p>
            <a:pPr algn="l"/>
            <a:r>
              <a:rPr lang="en-US" sz="2400" b="1" u="sng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Enzyme</a:t>
            </a:r>
            <a: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: </a:t>
            </a:r>
            <a:r>
              <a:rPr lang="en-US" sz="23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Lactase(</a:t>
            </a:r>
            <a:r>
              <a:rPr lang="el-GR" sz="23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β</a:t>
            </a:r>
            <a:r>
              <a:rPr lang="en-US" sz="23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-galactosidase)</a:t>
            </a:r>
            <a:br>
              <a:rPr lang="en-US" sz="23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400" b="1" u="sng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Role</a:t>
            </a:r>
            <a: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: </a:t>
            </a:r>
            <a:r>
              <a:rPr lang="en-US" sz="21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Hydrolyzes lactose(milk sugar)</a:t>
            </a:r>
            <a:br>
              <a:rPr lang="en-US" sz="21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1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into glucose and </a:t>
            </a:r>
            <a:r>
              <a:rPr lang="en-US" sz="2100" err="1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galactose,which</a:t>
            </a:r>
            <a:r>
              <a:rPr lang="en-US" sz="21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 </a:t>
            </a:r>
            <a:br>
              <a:rPr lang="en-US" sz="21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1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are easily </a:t>
            </a:r>
            <a:r>
              <a:rPr lang="en-US" sz="2100" err="1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digestable</a:t>
            </a:r>
            <a:br>
              <a:rPr lang="en-US" sz="21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400" b="1" u="sng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Industrial use</a:t>
            </a:r>
            <a:r>
              <a:rPr lang="en-US" sz="21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: DAIRY INDUSTRY</a:t>
            </a:r>
            <a:br>
              <a:rPr lang="en-US" sz="21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1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production of Lactose-Free dairy products</a:t>
            </a:r>
            <a:b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endParaRPr lang="en-US" sz="2400">
              <a:solidFill>
                <a:schemeClr val="bg1">
                  <a:lumMod val="95000"/>
                  <a:lumOff val="5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3F7EF-09BA-C250-14DC-3E8A2C2E2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297" y="3602038"/>
            <a:ext cx="11579086" cy="3077058"/>
          </a:xfrm>
          <a:blipFill>
            <a:blip r:embed="rId3"/>
            <a:tile tx="0" ty="0" sx="100000" sy="100000" flip="none" algn="tl"/>
          </a:blipFill>
          <a:ln>
            <a:solidFill>
              <a:schemeClr val="accent1"/>
            </a:solidFill>
          </a:ln>
          <a:effectLst>
            <a:glow rad="139700">
              <a:schemeClr val="tx1"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>
            <a:normAutofit fontScale="85000" lnSpcReduction="20000"/>
          </a:bodyPr>
          <a:lstStyle/>
          <a:p>
            <a:r>
              <a:rPr lang="en-US" b="1" u="sng">
                <a:solidFill>
                  <a:schemeClr val="bg1">
                    <a:lumMod val="95000"/>
                    <a:lumOff val="5000"/>
                  </a:schemeClr>
                </a:solidFill>
                <a:latin typeface="Engravers MT" panose="02090707080505020304" pitchFamily="18" charset="0"/>
              </a:rPr>
              <a:t>Process</a:t>
            </a:r>
          </a:p>
          <a:p>
            <a:r>
              <a:rPr lang="en-US" b="1">
                <a:solidFill>
                  <a:schemeClr val="bg1">
                    <a:lumMod val="95000"/>
                    <a:lumOff val="5000"/>
                  </a:schemeClr>
                </a:solidFill>
              </a:rPr>
              <a:t>1.Milk Selection</a:t>
            </a:r>
            <a:r>
              <a:rPr lang="en-US">
                <a:solidFill>
                  <a:schemeClr val="bg1">
                    <a:lumMod val="95000"/>
                    <a:lumOff val="5000"/>
                  </a:schemeClr>
                </a:solidFill>
              </a:rPr>
              <a:t>: Regular cow's milk is first collected and pasteurized.</a:t>
            </a:r>
          </a:p>
          <a:p>
            <a:r>
              <a:rPr lang="en-US" b="1">
                <a:solidFill>
                  <a:schemeClr val="bg1">
                    <a:lumMod val="95000"/>
                    <a:lumOff val="5000"/>
                  </a:schemeClr>
                </a:solidFill>
              </a:rPr>
              <a:t>2.Addition of Lactase</a:t>
            </a:r>
            <a:r>
              <a:rPr lang="en-US">
                <a:solidFill>
                  <a:schemeClr val="bg1">
                    <a:lumMod val="95000"/>
                    <a:lumOff val="5000"/>
                  </a:schemeClr>
                </a:solidFill>
              </a:rPr>
              <a:t>: The enzyme lactase (ẞ-galactosidase) is added to the milk.</a:t>
            </a:r>
          </a:p>
          <a:p>
            <a:r>
              <a:rPr lang="en-US" b="1">
                <a:solidFill>
                  <a:schemeClr val="bg1">
                    <a:lumMod val="95000"/>
                    <a:lumOff val="5000"/>
                  </a:schemeClr>
                </a:solidFill>
              </a:rPr>
              <a:t>3.Enzymatic Hydrolysis</a:t>
            </a:r>
            <a:r>
              <a:rPr lang="en-US">
                <a:solidFill>
                  <a:schemeClr val="bg1">
                    <a:lumMod val="95000"/>
                    <a:lumOff val="5000"/>
                  </a:schemeClr>
                </a:solidFill>
              </a:rPr>
              <a:t>: Under controlled conditions (around 37-50°C and neutral pH), lactase breaks down lactose - the natural sugar in milk - into its simpler sugars, glucose and galactose.</a:t>
            </a:r>
          </a:p>
          <a:p>
            <a:r>
              <a:rPr lang="en-US" b="1">
                <a:solidFill>
                  <a:schemeClr val="bg1">
                    <a:lumMod val="95000"/>
                    <a:lumOff val="5000"/>
                  </a:schemeClr>
                </a:solidFill>
              </a:rPr>
              <a:t>4.Final Product</a:t>
            </a:r>
            <a:r>
              <a:rPr lang="en-US">
                <a:solidFill>
                  <a:schemeClr val="bg1">
                    <a:lumMod val="95000"/>
                    <a:lumOff val="5000"/>
                  </a:schemeClr>
                </a:solidFill>
              </a:rPr>
              <a:t>: The result is lactose-free milk that tastes slightly sweeter (due to glucose and galactose being sweeter than lactose) but retains the same nutritional profile as regular milk.</a:t>
            </a:r>
          </a:p>
          <a:p>
            <a:r>
              <a:rPr lang="en-US" b="1">
                <a:solidFill>
                  <a:schemeClr val="bg1">
                    <a:lumMod val="95000"/>
                    <a:lumOff val="5000"/>
                  </a:schemeClr>
                </a:solidFill>
              </a:rPr>
              <a:t>5. Packaging and Distribution</a:t>
            </a:r>
            <a:r>
              <a:rPr lang="en-US">
                <a:solidFill>
                  <a:schemeClr val="bg1">
                    <a:lumMod val="95000"/>
                    <a:lumOff val="5000"/>
                  </a:schemeClr>
                </a:solidFill>
              </a:rPr>
              <a:t>: The treated milk is packaged and sold as lactose free milk,</a:t>
            </a:r>
          </a:p>
          <a:p>
            <a:r>
              <a:rPr lang="en-US">
                <a:solidFill>
                  <a:schemeClr val="bg1">
                    <a:lumMod val="95000"/>
                    <a:lumOff val="5000"/>
                  </a:schemeClr>
                </a:solidFill>
              </a:rPr>
              <a:t> ice cream, yogurt, and other </a:t>
            </a:r>
            <a:r>
              <a:rPr lang="en-US" err="1">
                <a:solidFill>
                  <a:schemeClr val="bg1">
                    <a:lumMod val="95000"/>
                    <a:lumOff val="5000"/>
                  </a:schemeClr>
                </a:solidFill>
              </a:rPr>
              <a:t>dairv</a:t>
            </a:r>
            <a:r>
              <a:rPr lang="en-US">
                <a:solidFill>
                  <a:schemeClr val="bg1">
                    <a:lumMod val="95000"/>
                    <a:lumOff val="5000"/>
                  </a:schemeClr>
                </a:solidFill>
              </a:rPr>
              <a:t> products.</a:t>
            </a:r>
          </a:p>
        </p:txBody>
      </p:sp>
      <p:pic>
        <p:nvPicPr>
          <p:cNvPr id="5" name="Picture 4" descr="A diagram of lactose and galactose">
            <a:extLst>
              <a:ext uri="{FF2B5EF4-FFF2-40B4-BE49-F238E27FC236}">
                <a16:creationId xmlns:a16="http://schemas.microsoft.com/office/drawing/2014/main" id="{626E6197-AB2C-6F4C-5CA9-B95E54188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610692" y="411920"/>
            <a:ext cx="6303011" cy="284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7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0EA92-C72F-AF60-8DCC-9055F513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B839-422B-66D7-D058-150BA99D2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97" y="187395"/>
            <a:ext cx="5108713" cy="3366033"/>
          </a:xfrm>
          <a:gradFill flip="none" rotWithShape="1">
            <a:gsLst>
              <a:gs pos="0">
                <a:schemeClr val="accent5">
                  <a:lumMod val="50000"/>
                  <a:tint val="66000"/>
                  <a:satMod val="160000"/>
                </a:schemeClr>
              </a:gs>
              <a:gs pos="50000">
                <a:schemeClr val="accent5">
                  <a:lumMod val="50000"/>
                  <a:tint val="44500"/>
                  <a:satMod val="160000"/>
                </a:schemeClr>
              </a:gs>
              <a:gs pos="100000">
                <a:schemeClr val="accent5">
                  <a:lumMod val="50000"/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anchor="t">
            <a:normAutofit fontScale="90000"/>
          </a:bodyPr>
          <a:lstStyle/>
          <a:p>
            <a:pPr algn="l"/>
            <a: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Product: Lactose-Free Milk</a:t>
            </a:r>
            <a:b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1)Easier to digest for lactose-intolerant individuals</a:t>
            </a:r>
            <a:b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2)as per </a:t>
            </a:r>
            <a:r>
              <a:rPr lang="en-US" sz="2000" err="1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survey,up</a:t>
            </a:r>
            <a: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 to 70% of world’s population is LACTOSE INTOLERANT</a:t>
            </a:r>
            <a:b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3)Computational method </a:t>
            </a:r>
            <a:r>
              <a:rPr lang="en-US" sz="2000" err="1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anaylze</a:t>
            </a:r>
            <a: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 lactase gene </a:t>
            </a:r>
            <a:r>
              <a:rPr lang="en-US" sz="2000" err="1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structure,protein</a:t>
            </a:r>
            <a: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 structure and 3D shape</a:t>
            </a:r>
            <a:b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4)models can stimulate lactase interacts with lactose and </a:t>
            </a:r>
            <a:r>
              <a:rPr lang="en-US" sz="2000" err="1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behaviour</a:t>
            </a:r>
            <a: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 with change in temp.</a:t>
            </a:r>
            <a:br>
              <a:rPr lang="en-US" sz="20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2400">
                <a:latin typeface="Britannic Bold" panose="020B0903060703020204" pitchFamily="34" charset="0"/>
              </a:rPr>
            </a:br>
            <a:br>
              <a:rPr lang="en-US" sz="2400">
                <a:latin typeface="Britannic Bold" panose="020B0903060703020204" pitchFamily="34" charset="0"/>
              </a:rPr>
            </a:br>
            <a:br>
              <a:rPr lang="en-US" sz="2400">
                <a:latin typeface="Britannic Bold" panose="020B0903060703020204" pitchFamily="34" charset="0"/>
              </a:rPr>
            </a:br>
            <a:br>
              <a:rPr lang="en-US" sz="2400">
                <a:latin typeface="Britannic Bold" panose="020B0903060703020204" pitchFamily="34" charset="0"/>
              </a:rPr>
            </a:br>
            <a:br>
              <a:rPr lang="en-US" sz="2400">
                <a:latin typeface="Britannic Bold" panose="020B0903060703020204" pitchFamily="34" charset="0"/>
              </a:rPr>
            </a:br>
            <a:br>
              <a:rPr lang="en-US" sz="2400">
                <a:latin typeface="Britannic Bold" panose="020B0903060703020204" pitchFamily="34" charset="0"/>
              </a:rPr>
            </a:br>
            <a:br>
              <a:rPr lang="en-US" sz="2400">
                <a:latin typeface="Britannic Bold" panose="020B0903060703020204" pitchFamily="34" charset="0"/>
              </a:rPr>
            </a:br>
            <a:br>
              <a:rPr lang="en-US" sz="2400">
                <a:latin typeface="Britannic Bold" panose="020B0903060703020204" pitchFamily="34" charset="0"/>
              </a:rPr>
            </a:br>
            <a:br>
              <a:rPr lang="en-US" sz="2400">
                <a:latin typeface="Britannic Bold" panose="020B0903060703020204" pitchFamily="34" charset="0"/>
              </a:rPr>
            </a:br>
            <a:endParaRPr lang="en-US" sz="2400">
              <a:latin typeface="Britannic Bold" panose="020B0903060703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F4F7A-E3C2-1D46-FADE-D3EC64E0A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297" y="3703898"/>
            <a:ext cx="11579086" cy="2975197"/>
          </a:xfrm>
          <a:blipFill>
            <a:blip r:embed="rId2"/>
            <a:tile tx="0" ty="0" sx="100000" sy="100000" flip="none" algn="tl"/>
          </a:blipFill>
          <a:ln>
            <a:solidFill>
              <a:schemeClr val="accent1"/>
            </a:solidFill>
          </a:ln>
          <a:effectLst>
            <a:glow rad="139700">
              <a:schemeClr val="tx1"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>
            <a:normAutofit fontScale="77500" lnSpcReduction="20000"/>
          </a:bodyPr>
          <a:lstStyle/>
          <a:p>
            <a:r>
              <a:rPr lang="en-US" b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Amul Lactose-Free Milk : </a:t>
            </a:r>
          </a:p>
          <a:p>
            <a:r>
              <a:rPr lang="en-US" sz="2200" b="1" u="sng">
                <a:solidFill>
                  <a:schemeClr val="bg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Amul (Gujarat Co-operative Milk Marketing Federation), one of India's largest dairy cooperatives.</a:t>
            </a:r>
          </a:p>
          <a:p>
            <a:r>
              <a:rPr lang="en-US" sz="2200" b="1" i="1" u="sng">
                <a:solidFill>
                  <a:schemeClr val="bg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Product:</a:t>
            </a:r>
            <a:r>
              <a:rPr lang="en-US" sz="2200" i="1">
                <a:solidFill>
                  <a:schemeClr val="bg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 Amul Lactose-Free Milk .  The process involves adding lactase enzyme to ultra-heat treated (UHT) milk with high precision to hydrolyze lactose into glucose and galactose. Afterwards, the milk is packaged  aseptically to retain quality</a:t>
            </a:r>
          </a:p>
          <a:p>
            <a:r>
              <a:rPr lang="en-US" sz="2200" b="1" i="1" u="sng">
                <a:solidFill>
                  <a:schemeClr val="bg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Why it works</a:t>
            </a:r>
            <a:r>
              <a:rPr lang="en-US" sz="2200" i="1">
                <a:solidFill>
                  <a:schemeClr val="bg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: Glucose and galactose are easier to digest for people with lactose intolerance</a:t>
            </a:r>
          </a:p>
          <a:p>
            <a:r>
              <a:rPr lang="en-US" sz="2200" b="1" i="1" u="sng">
                <a:solidFill>
                  <a:schemeClr val="bg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The final product </a:t>
            </a:r>
            <a:r>
              <a:rPr lang="en-US" sz="2200" i="1">
                <a:solidFill>
                  <a:schemeClr val="bg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maintains the nutritional benefits of regular milk (protein, calcium, vitamins), minus the lactose</a:t>
            </a:r>
          </a:p>
        </p:txBody>
      </p:sp>
      <p:pic>
        <p:nvPicPr>
          <p:cNvPr id="6" name="Picture 5" descr="A blue circle with white people in the middle">
            <a:extLst>
              <a:ext uri="{FF2B5EF4-FFF2-40B4-BE49-F238E27FC236}">
                <a16:creationId xmlns:a16="http://schemas.microsoft.com/office/drawing/2014/main" id="{839D5853-7702-7A77-5E02-68B43D05D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874" y="397811"/>
            <a:ext cx="4182083" cy="2858151"/>
          </a:xfrm>
          <a:prstGeom prst="rect">
            <a:avLst/>
          </a:prstGeom>
        </p:spPr>
      </p:pic>
      <p:pic>
        <p:nvPicPr>
          <p:cNvPr id="8" name="Picture 7" descr="A blue carton of lactose free milk">
            <a:extLst>
              <a:ext uri="{FF2B5EF4-FFF2-40B4-BE49-F238E27FC236}">
                <a16:creationId xmlns:a16="http://schemas.microsoft.com/office/drawing/2014/main" id="{529DAD86-1164-0293-8D7A-89DBB4FE6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821" y="397811"/>
            <a:ext cx="2479179" cy="288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855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dairy product">
            <a:extLst>
              <a:ext uri="{FF2B5EF4-FFF2-40B4-BE49-F238E27FC236}">
                <a16:creationId xmlns:a16="http://schemas.microsoft.com/office/drawing/2014/main" id="{CF3D2F5A-4CA9-48B0-9834-96B3080A0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-up of a packet">
            <a:extLst>
              <a:ext uri="{FF2B5EF4-FFF2-40B4-BE49-F238E27FC236}">
                <a16:creationId xmlns:a16="http://schemas.microsoft.com/office/drawing/2014/main" id="{D2549A21-0C34-1E60-2709-FF526DC0D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62" y="562803"/>
            <a:ext cx="2641738" cy="1703319"/>
          </a:xfrm>
          <a:prstGeom prst="rect">
            <a:avLst/>
          </a:prstGeom>
        </p:spPr>
      </p:pic>
      <p:pic>
        <p:nvPicPr>
          <p:cNvPr id="10" name="Picture 9" descr="iA can of lactose free milk">
            <a:extLst>
              <a:ext uri="{FF2B5EF4-FFF2-40B4-BE49-F238E27FC236}">
                <a16:creationId xmlns:a16="http://schemas.microsoft.com/office/drawing/2014/main" id="{6BB8AAD9-A162-F123-7EA2-91EDB0627D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652" y="1709530"/>
            <a:ext cx="3284054" cy="2852530"/>
          </a:xfrm>
          <a:prstGeom prst="rect">
            <a:avLst/>
          </a:prstGeom>
        </p:spPr>
      </p:pic>
      <p:pic>
        <p:nvPicPr>
          <p:cNvPr id="12" name="Picture 11" descr="A bottle of milk with a purple cap&#10;&#10;AI-generated content may be incorrect.">
            <a:extLst>
              <a:ext uri="{FF2B5EF4-FFF2-40B4-BE49-F238E27FC236}">
                <a16:creationId xmlns:a16="http://schemas.microsoft.com/office/drawing/2014/main" id="{A7D73C52-DE99-3216-319B-D00FEF30CA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426" y="3856383"/>
            <a:ext cx="2025927" cy="1557336"/>
          </a:xfrm>
          <a:prstGeom prst="rect">
            <a:avLst/>
          </a:prstGeom>
        </p:spPr>
      </p:pic>
      <p:pic>
        <p:nvPicPr>
          <p:cNvPr id="14" name="Picture 13" descr="A bottle of milk with a red label&#10;&#10;AI-generated content may be incorrect.">
            <a:extLst>
              <a:ext uri="{FF2B5EF4-FFF2-40B4-BE49-F238E27FC236}">
                <a16:creationId xmlns:a16="http://schemas.microsoft.com/office/drawing/2014/main" id="{6372BCB9-258A-B1FD-43B9-5CFBB8CA79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991" y="5413719"/>
            <a:ext cx="1628362" cy="140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1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F6D0-12A4-33BD-370F-47AF4834C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8983-89B6-EFFA-DFD3-88434A17B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97" y="227588"/>
            <a:ext cx="11508419" cy="3882187"/>
          </a:xfrm>
          <a:blipFill>
            <a:blip r:embed="rId2"/>
            <a:tile tx="0" ty="0" sx="100000" sy="100000" flip="none" algn="tl"/>
          </a:blipFill>
          <a:effectLst>
            <a:glow rad="101600">
              <a:schemeClr val="tx1"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anchor="t">
            <a:normAutofit/>
          </a:bodyPr>
          <a:lstStyle/>
          <a:p>
            <a:pPr algn="l"/>
            <a: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Role of Computer Engineering in Dairy Industry:</a:t>
            </a:r>
            <a:b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1)Automation: Efficiency can be maximized using  Robot Automation and AI</a:t>
            </a:r>
            <a:b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2)Data Analytics: To assure </a:t>
            </a:r>
            <a:r>
              <a:rPr lang="en-US" sz="2400" err="1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quality,predicts</a:t>
            </a:r>
            <a: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 demand and waste reduction</a:t>
            </a:r>
            <a:b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3)Supply </a:t>
            </a:r>
            <a:r>
              <a:rPr lang="en-US" sz="2400" err="1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Chain:Purity</a:t>
            </a:r>
            <a: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 is assured as products can be tracked from farm to consumer</a:t>
            </a:r>
            <a:b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4)Precision </a:t>
            </a:r>
            <a:r>
              <a:rPr lang="en-US" sz="2400" err="1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Farming:Sensors</a:t>
            </a:r>
            <a:r>
              <a:rPr lang="en-US" sz="2400">
                <a:solidFill>
                  <a:schemeClr val="bg1">
                    <a:lumMod val="95000"/>
                    <a:lumOff val="5000"/>
                  </a:schemeClr>
                </a:solidFill>
                <a:latin typeface="Britannic Bold" panose="020B0903060703020204" pitchFamily="34" charset="0"/>
              </a:rPr>
              <a:t> track cow health, yield and feeding.</a:t>
            </a:r>
          </a:p>
        </p:txBody>
      </p:sp>
      <p:pic>
        <p:nvPicPr>
          <p:cNvPr id="8" name="Picture 7" descr="A close-up of a device&#10;&#10;AI-generated content may be incorrect.">
            <a:extLst>
              <a:ext uri="{FF2B5EF4-FFF2-40B4-BE49-F238E27FC236}">
                <a16:creationId xmlns:a16="http://schemas.microsoft.com/office/drawing/2014/main" id="{0155C955-5ECA-3005-343E-3C43D9E05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09774"/>
            <a:ext cx="3016170" cy="2748225"/>
          </a:xfrm>
          <a:prstGeom prst="rect">
            <a:avLst/>
          </a:prstGeom>
        </p:spPr>
      </p:pic>
      <p:pic>
        <p:nvPicPr>
          <p:cNvPr id="10" name="Picture 9" descr="A diagram of a milk tanker security system&#10;&#10;AI-generated content may be incorrect.">
            <a:extLst>
              <a:ext uri="{FF2B5EF4-FFF2-40B4-BE49-F238E27FC236}">
                <a16:creationId xmlns:a16="http://schemas.microsoft.com/office/drawing/2014/main" id="{EE3DCA8B-D18C-20FB-DFB7-10C917A23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170" y="4109774"/>
            <a:ext cx="3016170" cy="2748226"/>
          </a:xfrm>
          <a:prstGeom prst="rect">
            <a:avLst/>
          </a:prstGeom>
        </p:spPr>
      </p:pic>
      <p:pic>
        <p:nvPicPr>
          <p:cNvPr id="12" name="Picture 11" descr="A machine in a room&#10;&#10;AI-generated content may be incorrect.">
            <a:extLst>
              <a:ext uri="{FF2B5EF4-FFF2-40B4-BE49-F238E27FC236}">
                <a16:creationId xmlns:a16="http://schemas.microsoft.com/office/drawing/2014/main" id="{DEC0EDDD-5445-12EB-346A-8AAA1F8D8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340" y="4201609"/>
            <a:ext cx="2885954" cy="2656390"/>
          </a:xfrm>
          <a:prstGeom prst="rect">
            <a:avLst/>
          </a:prstGeom>
        </p:spPr>
      </p:pic>
      <p:pic>
        <p:nvPicPr>
          <p:cNvPr id="14" name="Picture 13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E8C70646-CE18-81DE-D813-CCEF62BFCF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294" y="4109774"/>
            <a:ext cx="3273706" cy="274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54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092503-9F22-1C0F-B8FB-48D25C2B67DB}"/>
              </a:ext>
            </a:extLst>
          </p:cNvPr>
          <p:cNvSpPr/>
          <p:nvPr/>
        </p:nvSpPr>
        <p:spPr>
          <a:xfrm>
            <a:off x="-1" y="-12904"/>
            <a:ext cx="12201411" cy="686973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200" b="1" u="sng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REFERENCES:</a:t>
            </a:r>
          </a:p>
          <a:p>
            <a:endParaRPr lang="en-US" sz="3200" b="1" u="sng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pPr marL="514350" indent="-514350">
              <a:buAutoNum type="arabicParenR"/>
            </a:pPr>
            <a:r>
              <a:rPr lang="en-US" sz="2600" b="1" u="sng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hlinkClick r:id="rId3"/>
              </a:rPr>
              <a:t>https://amul.com/index.php</a:t>
            </a:r>
            <a:endParaRPr lang="en-US" sz="2600" b="1" u="sng">
              <a:solidFill>
                <a:schemeClr val="bg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  <a:p>
            <a:pPr marL="514350" indent="-514350">
              <a:buAutoNum type="arabicParenR"/>
            </a:pPr>
            <a:r>
              <a:rPr lang="en-US" sz="2600" b="1" u="sng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hlinkClick r:id="rId4"/>
              </a:rPr>
              <a:t>https://www.wikipedia.org/</a:t>
            </a:r>
            <a:endParaRPr lang="en-US" sz="2600" b="1" u="sng">
              <a:solidFill>
                <a:schemeClr val="bg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  <a:p>
            <a:pPr marL="514350" indent="-514350">
              <a:buAutoNum type="arabicParenR"/>
            </a:pPr>
            <a:r>
              <a:rPr lang="en-US" sz="2600" b="1" u="sng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hlinkClick r:id="rId5"/>
              </a:rPr>
              <a:t>https://louis.pressbooks.pub/app/uploads/sites/50/2022/04/image1-6.jpeg</a:t>
            </a:r>
            <a:endParaRPr lang="en-US" sz="2600" b="1" u="sng">
              <a:solidFill>
                <a:schemeClr val="bg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  <a:p>
            <a:pPr marL="514350" indent="-514350">
              <a:buAutoNum type="arabicParenR"/>
            </a:pPr>
            <a:r>
              <a:rPr lang="en-US" sz="2600" b="1" u="sng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National institutes of health(</a:t>
            </a:r>
            <a:r>
              <a:rPr lang="en-US" sz="2600" b="1" u="sng" err="1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nih</a:t>
            </a:r>
            <a:r>
              <a:rPr lang="en-US" sz="2600" b="1" u="sng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)</a:t>
            </a:r>
          </a:p>
          <a:p>
            <a:r>
              <a:rPr lang="en-US" sz="260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5)https://5.imimg.com/data5/SELLER/Default/2023/1/LB/HO/VK/3404135/cow-monitoring-technology-for-heat-health-detection.jpg</a:t>
            </a:r>
          </a:p>
          <a:p>
            <a:r>
              <a:rPr lang="en-US" sz="260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6) </a:t>
            </a:r>
            <a:r>
              <a:rPr lang="en-US" sz="260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hlinkClick r:id="rId6"/>
              </a:rPr>
              <a:t>https://www.machineryworld.com/wp-content/uploads/2021/07/WhatsApp-Image-2021-07-02-at-10.46.47-3.jpg</a:t>
            </a:r>
            <a:endParaRPr lang="en-US" sz="2600">
              <a:solidFill>
                <a:schemeClr val="bg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  <a:p>
            <a:r>
              <a:rPr lang="en-US" sz="260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7) </a:t>
            </a:r>
            <a:r>
              <a:rPr lang="en-US" sz="260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hlinkClick r:id="rId7"/>
              </a:rPr>
              <a:t>https://nolact.in/</a:t>
            </a:r>
            <a:endParaRPr lang="en-US" sz="2600">
              <a:solidFill>
                <a:schemeClr val="bg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  <a:p>
            <a:r>
              <a:rPr lang="en-US" sz="260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8) </a:t>
            </a:r>
            <a:r>
              <a:rPr lang="en-US" sz="260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hlinkClick r:id="rId8"/>
              </a:rPr>
              <a:t>https://provilac.in/</a:t>
            </a:r>
            <a:endParaRPr lang="en-US" sz="2600">
              <a:solidFill>
                <a:schemeClr val="bg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  <a:p>
            <a:r>
              <a:rPr lang="en-US" sz="260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9) </a:t>
            </a:r>
            <a:r>
              <a:rPr lang="en-US" sz="260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hlinkClick r:id="rId9"/>
              </a:rPr>
              <a:t>https://allseasondairy.com/</a:t>
            </a:r>
            <a:endParaRPr lang="en-US" sz="2600">
              <a:solidFill>
                <a:schemeClr val="bg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  <a:p>
            <a:r>
              <a:rPr lang="en-US" sz="260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10) </a:t>
            </a:r>
            <a:r>
              <a:rPr lang="en-US" sz="260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hlinkClick r:id="rId10"/>
              </a:rPr>
              <a:t>https://fairlife.com/</a:t>
            </a:r>
            <a:endParaRPr lang="en-US" sz="2600">
              <a:solidFill>
                <a:schemeClr val="bg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  <a:p>
            <a:endParaRPr lang="en-US" sz="2400">
              <a:solidFill>
                <a:schemeClr val="bg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  <a:p>
            <a:pPr marL="971550" lvl="1" indent="-514350">
              <a:buAutoNum type="arabicParenR"/>
            </a:pPr>
            <a:endParaRPr lang="en-US" sz="3200" b="1" u="sng">
              <a:solidFill>
                <a:schemeClr val="bg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5336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Ion</vt:lpstr>
      <vt:lpstr>PowerPoint Presentation</vt:lpstr>
      <vt:lpstr>Enzyme: Lactase(β-galactosidase)  Role: Hydrolyzes lactose(milk sugar) into glucose and galactose,which  are easily digestable  Industrial use: DAIRY INDUSTRY production of Lactose-Free dairy products </vt:lpstr>
      <vt:lpstr>Product: Lactose-Free Milk 1)Easier to digest for lactose-intolerant individuals  2)as per survey,up to 70% of world’s population is LACTOSE INTOLERANT  3)Computational method anaylze lactase gene structure,protein structure and 3D shape  4)models can stimulate lactase interacts with lactose and behaviour with change in temp.          </vt:lpstr>
      <vt:lpstr>PowerPoint Presentation</vt:lpstr>
      <vt:lpstr>Role of Computer Engineering in Dairy Industry:  1)Automation: Efficiency can be maximized using  Robot Automation and AI  2)Data Analytics: To assure quality,predicts demand and waste reduction  3)Supply Chain:Purity is assured as products can be tracked from farm to consumer  4)Precision Farming:Sensors track cow health, yield and feeding.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tmalay31@gmail.com</dc:creator>
  <cp:lastModifiedBy>tmalay31@gmail.com</cp:lastModifiedBy>
  <cp:revision>1</cp:revision>
  <dcterms:created xsi:type="dcterms:W3CDTF">2025-09-09T17:46:02Z</dcterms:created>
  <dcterms:modified xsi:type="dcterms:W3CDTF">2025-09-13T12:47:46Z</dcterms:modified>
</cp:coreProperties>
</file>