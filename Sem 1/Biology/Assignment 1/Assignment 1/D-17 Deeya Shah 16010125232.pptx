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Calibri" panose="020F0502020204030204" pitchFamily="34" charset="0"/>
      <p:regular r:id="rId11"/>
      <p:bold r:id="rId12"/>
      <p:italic r:id="rId13"/>
      <p:boldItalic r:id="rId14"/>
    </p:embeddedFont>
    <p:embeddedFont>
      <p:font typeface="League Spartan" panose="020B0604020202020204" charset="0"/>
      <p:regular r:id="rId15"/>
    </p:embeddedFont>
    <p:embeddedFont>
      <p:font typeface="Open Sans"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6"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21.09.2025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Renin enzyme and its industrial product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Renin enzyme and its industrial product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1B2431-D351-4C6E-A3CF-9DFAC0E3E050}" type="slidenum">
              <a:rPr lang="cs-CZ" smtClean="0"/>
              <a:t>4</a:t>
            </a:fld>
            <a:endParaRPr lang="cs-CZ"/>
          </a:p>
        </p:txBody>
      </p:sp>
    </p:spTree>
    <p:extLst>
      <p:ext uri="{BB962C8B-B14F-4D97-AF65-F5344CB8AC3E}">
        <p14:creationId xmlns:p14="http://schemas.microsoft.com/office/powerpoint/2010/main" val="2279312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0" y="-1974282"/>
            <a:ext cx="14501385" cy="11458251"/>
            <a:chOff x="0" y="-38100"/>
            <a:chExt cx="3871301" cy="3000789"/>
          </a:xfrm>
        </p:grpSpPr>
        <p:sp>
          <p:nvSpPr>
            <p:cNvPr id="3" name="Freeform 3"/>
            <p:cNvSpPr/>
            <p:nvPr/>
          </p:nvSpPr>
          <p:spPr>
            <a:xfrm>
              <a:off x="0" y="478942"/>
              <a:ext cx="3871301" cy="2483747"/>
            </a:xfrm>
            <a:custGeom>
              <a:avLst/>
              <a:gdLst/>
              <a:ahLst/>
              <a:cxnLst/>
              <a:rect l="l" t="t" r="r" b="b"/>
              <a:pathLst>
                <a:path w="3871301" h="2962689">
                  <a:moveTo>
                    <a:pt x="0" y="0"/>
                  </a:moveTo>
                  <a:lnTo>
                    <a:pt x="3871301" y="0"/>
                  </a:lnTo>
                  <a:lnTo>
                    <a:pt x="3871301" y="2962689"/>
                  </a:lnTo>
                  <a:lnTo>
                    <a:pt x="0" y="2962689"/>
                  </a:lnTo>
                  <a:close/>
                </a:path>
              </a:pathLst>
            </a:custGeom>
            <a:solidFill>
              <a:srgbClr val="16948A"/>
            </a:solidFill>
          </p:spPr>
        </p:sp>
        <p:sp>
          <p:nvSpPr>
            <p:cNvPr id="4" name="TextBox 4"/>
            <p:cNvSpPr txBox="1"/>
            <p:nvPr/>
          </p:nvSpPr>
          <p:spPr>
            <a:xfrm>
              <a:off x="0" y="-38100"/>
              <a:ext cx="3871301" cy="3000789"/>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990898" y="337184"/>
            <a:ext cx="15572780" cy="953137"/>
          </a:xfrm>
          <a:prstGeom prst="rect">
            <a:avLst/>
          </a:prstGeom>
        </p:spPr>
        <p:txBody>
          <a:bodyPr lIns="0" tIns="0" rIns="0" bIns="0" rtlCol="0" anchor="t">
            <a:spAutoFit/>
          </a:bodyPr>
          <a:lstStyle/>
          <a:p>
            <a:pPr algn="ctr">
              <a:lnSpc>
                <a:spcPts val="7839"/>
              </a:lnSpc>
              <a:spcBef>
                <a:spcPct val="0"/>
              </a:spcBef>
            </a:pPr>
            <a:r>
              <a:rPr lang="en-US" sz="5599">
                <a:solidFill>
                  <a:srgbClr val="B6B4C8"/>
                </a:solidFill>
                <a:latin typeface="League Spartan"/>
                <a:ea typeface="League Spartan"/>
                <a:cs typeface="League Spartan"/>
                <a:sym typeface="League Spartan"/>
              </a:rPr>
              <a:t>Enzymes and their industrial applications  </a:t>
            </a:r>
          </a:p>
        </p:txBody>
      </p:sp>
      <p:sp>
        <p:nvSpPr>
          <p:cNvPr id="6" name="TextBox 6"/>
          <p:cNvSpPr txBox="1"/>
          <p:nvPr/>
        </p:nvSpPr>
        <p:spPr>
          <a:xfrm>
            <a:off x="428410" y="4558030"/>
            <a:ext cx="6921012" cy="2960372"/>
          </a:xfrm>
          <a:prstGeom prst="rect">
            <a:avLst/>
          </a:prstGeom>
        </p:spPr>
        <p:txBody>
          <a:bodyPr lIns="0" tIns="0" rIns="0" bIns="0" rtlCol="0" anchor="t">
            <a:spAutoFit/>
          </a:bodyPr>
          <a:lstStyle/>
          <a:p>
            <a:pPr algn="ctr">
              <a:lnSpc>
                <a:spcPts val="5879"/>
              </a:lnSpc>
            </a:pPr>
            <a:r>
              <a:rPr lang="en-US" sz="4199">
                <a:solidFill>
                  <a:srgbClr val="1800AD"/>
                </a:solidFill>
                <a:latin typeface="Open Sans"/>
                <a:ea typeface="Open Sans"/>
                <a:cs typeface="Open Sans"/>
                <a:sym typeface="Open Sans"/>
              </a:rPr>
              <a:t>Deeya Shah</a:t>
            </a:r>
          </a:p>
          <a:p>
            <a:pPr algn="ctr">
              <a:lnSpc>
                <a:spcPts val="5879"/>
              </a:lnSpc>
            </a:pPr>
            <a:r>
              <a:rPr lang="en-US" sz="4199">
                <a:solidFill>
                  <a:srgbClr val="1800AD"/>
                </a:solidFill>
                <a:latin typeface="Open Sans"/>
                <a:ea typeface="Open Sans"/>
                <a:cs typeface="Open Sans"/>
                <a:sym typeface="Open Sans"/>
              </a:rPr>
              <a:t>Division D</a:t>
            </a:r>
          </a:p>
          <a:p>
            <a:pPr algn="ctr">
              <a:lnSpc>
                <a:spcPts val="6019"/>
              </a:lnSpc>
            </a:pPr>
            <a:r>
              <a:rPr lang="en-US" sz="4299">
                <a:solidFill>
                  <a:srgbClr val="1800AD"/>
                </a:solidFill>
                <a:latin typeface="Open Sans"/>
                <a:ea typeface="Open Sans"/>
                <a:cs typeface="Open Sans"/>
                <a:sym typeface="Open Sans"/>
              </a:rPr>
              <a:t>Roll no- 17</a:t>
            </a:r>
          </a:p>
          <a:p>
            <a:pPr algn="ctr">
              <a:lnSpc>
                <a:spcPts val="5879"/>
              </a:lnSpc>
              <a:spcBef>
                <a:spcPct val="0"/>
              </a:spcBef>
            </a:pPr>
            <a:r>
              <a:rPr lang="en-US" sz="4199">
                <a:solidFill>
                  <a:srgbClr val="1800AD"/>
                </a:solidFill>
                <a:latin typeface="Open Sans"/>
                <a:ea typeface="Open Sans"/>
                <a:cs typeface="Open Sans"/>
                <a:sym typeface="Open Sans"/>
              </a:rPr>
              <a:t>B.tech Comps</a:t>
            </a:r>
          </a:p>
        </p:txBody>
      </p:sp>
      <p:sp>
        <p:nvSpPr>
          <p:cNvPr id="7" name="TextBox 7"/>
          <p:cNvSpPr txBox="1"/>
          <p:nvPr/>
        </p:nvSpPr>
        <p:spPr>
          <a:xfrm>
            <a:off x="6458335" y="2939372"/>
            <a:ext cx="8043049" cy="920117"/>
          </a:xfrm>
          <a:prstGeom prst="rect">
            <a:avLst/>
          </a:prstGeom>
        </p:spPr>
        <p:txBody>
          <a:bodyPr lIns="0" tIns="0" rIns="0" bIns="0" rtlCol="0" anchor="t">
            <a:spAutoFit/>
          </a:bodyPr>
          <a:lstStyle/>
          <a:p>
            <a:pPr algn="ctr">
              <a:lnSpc>
                <a:spcPts val="7559"/>
              </a:lnSpc>
              <a:spcBef>
                <a:spcPct val="0"/>
              </a:spcBef>
            </a:pPr>
            <a:r>
              <a:rPr lang="en-US" sz="5399">
                <a:solidFill>
                  <a:srgbClr val="B6B4C8"/>
                </a:solidFill>
                <a:latin typeface="League Spartan"/>
                <a:ea typeface="League Spartan"/>
                <a:cs typeface="League Spartan"/>
                <a:sym typeface="League Spartan"/>
              </a:rPr>
              <a:t>Biology for engineers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186"/>
            <a:ext cx="10188274" cy="10225764"/>
            <a:chOff x="0" y="0"/>
            <a:chExt cx="2683331" cy="2693205"/>
          </a:xfrm>
        </p:grpSpPr>
        <p:sp>
          <p:nvSpPr>
            <p:cNvPr id="3" name="Freeform 3"/>
            <p:cNvSpPr/>
            <p:nvPr/>
          </p:nvSpPr>
          <p:spPr>
            <a:xfrm>
              <a:off x="0" y="0"/>
              <a:ext cx="2683332" cy="2693205"/>
            </a:xfrm>
            <a:custGeom>
              <a:avLst/>
              <a:gdLst/>
              <a:ahLst/>
              <a:cxnLst/>
              <a:rect l="l" t="t" r="r" b="b"/>
              <a:pathLst>
                <a:path w="2683332" h="2693205">
                  <a:moveTo>
                    <a:pt x="0" y="0"/>
                  </a:moveTo>
                  <a:lnTo>
                    <a:pt x="2683332" y="0"/>
                  </a:lnTo>
                  <a:lnTo>
                    <a:pt x="2683332" y="2693205"/>
                  </a:lnTo>
                  <a:lnTo>
                    <a:pt x="0" y="2693205"/>
                  </a:lnTo>
                  <a:close/>
                </a:path>
              </a:pathLst>
            </a:custGeom>
            <a:solidFill>
              <a:srgbClr val="16948A"/>
            </a:solidFill>
          </p:spPr>
        </p:sp>
        <p:sp>
          <p:nvSpPr>
            <p:cNvPr id="4" name="TextBox 4"/>
            <p:cNvSpPr txBox="1"/>
            <p:nvPr/>
          </p:nvSpPr>
          <p:spPr>
            <a:xfrm>
              <a:off x="0" y="-38100"/>
              <a:ext cx="2683331" cy="2731305"/>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181749" y="433474"/>
            <a:ext cx="15322448" cy="821087"/>
          </a:xfrm>
          <a:prstGeom prst="rect">
            <a:avLst/>
          </a:prstGeom>
        </p:spPr>
        <p:txBody>
          <a:bodyPr lIns="0" tIns="0" rIns="0" bIns="0" rtlCol="0" anchor="t">
            <a:spAutoFit/>
          </a:bodyPr>
          <a:lstStyle/>
          <a:p>
            <a:pPr algn="ctr">
              <a:lnSpc>
                <a:spcPts val="6718"/>
              </a:lnSpc>
              <a:spcBef>
                <a:spcPct val="0"/>
              </a:spcBef>
            </a:pPr>
            <a:r>
              <a:rPr lang="en-US" sz="4798">
                <a:solidFill>
                  <a:srgbClr val="B6B4C8"/>
                </a:solidFill>
                <a:latin typeface="League Spartan"/>
                <a:ea typeface="League Spartan"/>
                <a:cs typeface="League Spartan"/>
                <a:sym typeface="League Spartan"/>
              </a:rPr>
              <a:t>Introduction to Rennin enzyme (Chymosin)</a:t>
            </a:r>
          </a:p>
        </p:txBody>
      </p:sp>
      <p:sp>
        <p:nvSpPr>
          <p:cNvPr id="6" name="TextBox 6"/>
          <p:cNvSpPr txBox="1"/>
          <p:nvPr/>
        </p:nvSpPr>
        <p:spPr>
          <a:xfrm>
            <a:off x="155283" y="1257300"/>
            <a:ext cx="9549636" cy="10197087"/>
          </a:xfrm>
          <a:prstGeom prst="rect">
            <a:avLst/>
          </a:prstGeom>
        </p:spPr>
        <p:txBody>
          <a:bodyPr lIns="0" tIns="0" rIns="0" bIns="0" rtlCol="0" anchor="t">
            <a:spAutoFit/>
          </a:bodyPr>
          <a:lstStyle/>
          <a:p>
            <a:pPr algn="ctr">
              <a:lnSpc>
                <a:spcPts val="4150"/>
              </a:lnSpc>
            </a:pPr>
            <a:r>
              <a:rPr lang="en-US" sz="2964" dirty="0">
                <a:solidFill>
                  <a:srgbClr val="FFFFFF"/>
                </a:solidFill>
                <a:latin typeface="Open Sans"/>
                <a:ea typeface="Open Sans"/>
                <a:cs typeface="Open Sans"/>
                <a:sym typeface="Open Sans"/>
              </a:rPr>
              <a:t>Rennin also commonly known as </a:t>
            </a:r>
            <a:r>
              <a:rPr lang="en-US" sz="2964" dirty="0" err="1">
                <a:solidFill>
                  <a:srgbClr val="FFFFFF"/>
                </a:solidFill>
                <a:latin typeface="Open Sans"/>
                <a:ea typeface="Open Sans"/>
                <a:cs typeface="Open Sans"/>
                <a:sym typeface="Open Sans"/>
              </a:rPr>
              <a:t>Chymosin</a:t>
            </a:r>
            <a:r>
              <a:rPr lang="en-US" sz="2964" dirty="0">
                <a:solidFill>
                  <a:srgbClr val="FFFFFF"/>
                </a:solidFill>
                <a:latin typeface="Open Sans"/>
                <a:ea typeface="Open Sans"/>
                <a:cs typeface="Open Sans"/>
                <a:sym typeface="Open Sans"/>
              </a:rPr>
              <a:t> is an proteolytic enzyme found in the digestive tract of young mammal infants. It aids in the process of digestion of milk products. Rennin or </a:t>
            </a:r>
            <a:r>
              <a:rPr lang="en-US" sz="2964" dirty="0" err="1">
                <a:solidFill>
                  <a:srgbClr val="FFFFFF"/>
                </a:solidFill>
                <a:latin typeface="Open Sans"/>
                <a:ea typeface="Open Sans"/>
                <a:cs typeface="Open Sans"/>
                <a:sym typeface="Open Sans"/>
              </a:rPr>
              <a:t>Chymosin</a:t>
            </a:r>
            <a:r>
              <a:rPr lang="en-US" sz="2964" dirty="0">
                <a:solidFill>
                  <a:srgbClr val="FFFFFF"/>
                </a:solidFill>
                <a:latin typeface="Open Sans"/>
                <a:ea typeface="Open Sans"/>
                <a:cs typeface="Open Sans"/>
                <a:sym typeface="Open Sans"/>
              </a:rPr>
              <a:t> is commonly stored in the form Rennet.</a:t>
            </a:r>
          </a:p>
          <a:p>
            <a:pPr algn="ctr">
              <a:lnSpc>
                <a:spcPts val="4150"/>
              </a:lnSpc>
            </a:pPr>
            <a:endParaRPr lang="en-US" sz="2964" dirty="0">
              <a:solidFill>
                <a:srgbClr val="FFFFFF"/>
              </a:solidFill>
              <a:latin typeface="Open Sans"/>
              <a:ea typeface="Open Sans"/>
              <a:cs typeface="Open Sans"/>
              <a:sym typeface="Open Sans"/>
            </a:endParaRPr>
          </a:p>
          <a:p>
            <a:pPr algn="ctr">
              <a:lnSpc>
                <a:spcPts val="4150"/>
              </a:lnSpc>
            </a:pPr>
            <a:r>
              <a:rPr lang="en-US" sz="2964" dirty="0">
                <a:solidFill>
                  <a:srgbClr val="FFFFFF"/>
                </a:solidFill>
                <a:latin typeface="Open Sans"/>
                <a:ea typeface="Open Sans"/>
                <a:cs typeface="Open Sans"/>
                <a:sym typeface="Open Sans"/>
              </a:rPr>
              <a:t>It’s found in the digestive tracts of mammals such as calves, lambs, sheep, etc. its absent in the body of an adult. It’s secreted by gastric chief cells in the stomach of newborn ruminant animals. </a:t>
            </a:r>
          </a:p>
          <a:p>
            <a:pPr algn="ctr">
              <a:lnSpc>
                <a:spcPts val="4150"/>
              </a:lnSpc>
            </a:pPr>
            <a:endParaRPr lang="en-US" sz="2964" dirty="0">
              <a:solidFill>
                <a:srgbClr val="FFFFFF"/>
              </a:solidFill>
              <a:latin typeface="Open Sans"/>
              <a:ea typeface="Open Sans"/>
              <a:cs typeface="Open Sans"/>
              <a:sym typeface="Open Sans"/>
            </a:endParaRPr>
          </a:p>
          <a:p>
            <a:pPr algn="ctr">
              <a:lnSpc>
                <a:spcPts val="4150"/>
              </a:lnSpc>
            </a:pPr>
            <a:r>
              <a:rPr lang="en-US" sz="2964" dirty="0">
                <a:solidFill>
                  <a:srgbClr val="FFFFFF"/>
                </a:solidFill>
                <a:latin typeface="Open Sans"/>
                <a:ea typeface="Open Sans"/>
                <a:cs typeface="Open Sans"/>
                <a:sym typeface="Open Sans"/>
              </a:rPr>
              <a:t>Unethically it’s extracted from the stomach lining of young mammals such as calves, goats and such.</a:t>
            </a:r>
          </a:p>
          <a:p>
            <a:pPr algn="ctr">
              <a:lnSpc>
                <a:spcPts val="4150"/>
              </a:lnSpc>
            </a:pPr>
            <a:r>
              <a:rPr lang="en-US" sz="2964" dirty="0">
                <a:solidFill>
                  <a:srgbClr val="FFFFFF"/>
                </a:solidFill>
                <a:latin typeface="Open Sans"/>
                <a:ea typeface="Open Sans"/>
                <a:cs typeface="Open Sans"/>
                <a:sym typeface="Open Sans"/>
              </a:rPr>
              <a:t>I</a:t>
            </a:r>
            <a:r>
              <a:rPr lang="en-US" sz="2964" dirty="0" smtClean="0">
                <a:solidFill>
                  <a:srgbClr val="FFFFFF"/>
                </a:solidFill>
                <a:latin typeface="Open Sans"/>
                <a:ea typeface="Open Sans"/>
                <a:cs typeface="Open Sans"/>
                <a:sym typeface="Open Sans"/>
              </a:rPr>
              <a:t>t </a:t>
            </a:r>
            <a:r>
              <a:rPr lang="en-US" sz="2964" dirty="0">
                <a:solidFill>
                  <a:srgbClr val="FFFFFF"/>
                </a:solidFill>
                <a:latin typeface="Open Sans"/>
                <a:ea typeface="Open Sans"/>
                <a:cs typeface="Open Sans"/>
                <a:sym typeface="Open Sans"/>
              </a:rPr>
              <a:t>can also be obtained by some </a:t>
            </a:r>
            <a:r>
              <a:rPr lang="en-US" sz="2964" dirty="0" err="1" smtClean="0">
                <a:solidFill>
                  <a:srgbClr val="FFFFFF"/>
                </a:solidFill>
                <a:latin typeface="Open Sans"/>
                <a:ea typeface="Open Sans"/>
                <a:cs typeface="Open Sans"/>
                <a:sym typeface="Open Sans"/>
              </a:rPr>
              <a:t>microbrials</a:t>
            </a:r>
            <a:r>
              <a:rPr lang="en-US" sz="2964" dirty="0" smtClean="0">
                <a:solidFill>
                  <a:srgbClr val="FFFFFF"/>
                </a:solidFill>
                <a:latin typeface="Open Sans"/>
                <a:ea typeface="Open Sans"/>
                <a:cs typeface="Open Sans"/>
                <a:sym typeface="Open Sans"/>
              </a:rPr>
              <a:t>, vegetation and through </a:t>
            </a:r>
            <a:r>
              <a:rPr lang="en-US" sz="2964" dirty="0">
                <a:solidFill>
                  <a:srgbClr val="FFFFFF"/>
                </a:solidFill>
                <a:latin typeface="Open Sans"/>
                <a:ea typeface="Open Sans"/>
                <a:cs typeface="Open Sans"/>
                <a:sym typeface="Open Sans"/>
              </a:rPr>
              <a:t>fermentation </a:t>
            </a:r>
          </a:p>
          <a:p>
            <a:pPr algn="ctr">
              <a:lnSpc>
                <a:spcPts val="4150"/>
              </a:lnSpc>
            </a:pPr>
            <a:endParaRPr lang="en-US" sz="2964" dirty="0">
              <a:solidFill>
                <a:srgbClr val="FFFFFF"/>
              </a:solidFill>
              <a:latin typeface="Open Sans"/>
              <a:ea typeface="Open Sans"/>
              <a:cs typeface="Open Sans"/>
              <a:sym typeface="Open Sans"/>
            </a:endParaRPr>
          </a:p>
          <a:p>
            <a:pPr algn="ctr">
              <a:lnSpc>
                <a:spcPts val="4150"/>
              </a:lnSpc>
            </a:pPr>
            <a:endParaRPr lang="en-US" sz="2964" dirty="0">
              <a:solidFill>
                <a:srgbClr val="FFFFFF"/>
              </a:solidFill>
              <a:latin typeface="Open Sans"/>
              <a:ea typeface="Open Sans"/>
              <a:cs typeface="Open Sans"/>
              <a:sym typeface="Open Sans"/>
            </a:endParaRPr>
          </a:p>
          <a:p>
            <a:pPr algn="ctr">
              <a:lnSpc>
                <a:spcPts val="4150"/>
              </a:lnSpc>
            </a:pPr>
            <a:endParaRPr lang="en-US" sz="2964" dirty="0">
              <a:solidFill>
                <a:srgbClr val="FFFFFF"/>
              </a:solidFill>
              <a:latin typeface="Open Sans"/>
              <a:ea typeface="Open Sans"/>
              <a:cs typeface="Open Sans"/>
              <a:sym typeface="Open Sans"/>
            </a:endParaRPr>
          </a:p>
          <a:p>
            <a:pPr algn="ctr">
              <a:lnSpc>
                <a:spcPts val="4150"/>
              </a:lnSpc>
              <a:spcBef>
                <a:spcPct val="0"/>
              </a:spcBef>
            </a:pPr>
            <a:endParaRPr lang="en-US" sz="2964" dirty="0">
              <a:solidFill>
                <a:srgbClr val="FFFFFF"/>
              </a:solidFill>
              <a:latin typeface="Open Sans"/>
              <a:ea typeface="Open Sans"/>
              <a:cs typeface="Open Sans"/>
              <a:sym typeface="Open Sans"/>
            </a:endParaRPr>
          </a:p>
        </p:txBody>
      </p:sp>
      <p:sp>
        <p:nvSpPr>
          <p:cNvPr id="7" name="TextBox 7"/>
          <p:cNvSpPr txBox="1"/>
          <p:nvPr/>
        </p:nvSpPr>
        <p:spPr>
          <a:xfrm>
            <a:off x="10188274" y="1614996"/>
            <a:ext cx="8099726" cy="4190489"/>
          </a:xfrm>
          <a:prstGeom prst="rect">
            <a:avLst/>
          </a:prstGeom>
        </p:spPr>
        <p:txBody>
          <a:bodyPr lIns="0" tIns="0" rIns="0" bIns="0" rtlCol="0" anchor="t">
            <a:spAutoFit/>
          </a:bodyPr>
          <a:lstStyle/>
          <a:p>
            <a:pPr algn="ctr">
              <a:lnSpc>
                <a:spcPts val="3703"/>
              </a:lnSpc>
            </a:pPr>
            <a:r>
              <a:rPr lang="en-US" sz="2645" dirty="0">
                <a:solidFill>
                  <a:srgbClr val="16948A"/>
                </a:solidFill>
                <a:latin typeface="Open Sans"/>
                <a:ea typeface="Open Sans"/>
                <a:cs typeface="Open Sans"/>
                <a:sym typeface="Open Sans"/>
              </a:rPr>
              <a:t>It actively stops the clumping of milk by </a:t>
            </a:r>
            <a:r>
              <a:rPr lang="en-US" sz="2645" dirty="0" err="1">
                <a:solidFill>
                  <a:srgbClr val="16948A"/>
                </a:solidFill>
                <a:latin typeface="Open Sans"/>
                <a:ea typeface="Open Sans"/>
                <a:cs typeface="Open Sans"/>
                <a:sym typeface="Open Sans"/>
              </a:rPr>
              <a:t>stablizing</a:t>
            </a:r>
            <a:r>
              <a:rPr lang="en-US" sz="2645" dirty="0">
                <a:solidFill>
                  <a:srgbClr val="16948A"/>
                </a:solidFill>
                <a:latin typeface="Open Sans"/>
                <a:ea typeface="Open Sans"/>
                <a:cs typeface="Open Sans"/>
                <a:sym typeface="Open Sans"/>
              </a:rPr>
              <a:t> milk's Casein Micelles. It cleaves a specific Kappa-Casein. When the bond is broken it stables the Micelles resulting in solid curd. This allows the absorption of the nutrients in the milk and making the passage of milk through the infant’s body possible. </a:t>
            </a:r>
          </a:p>
          <a:p>
            <a:pPr algn="ctr">
              <a:lnSpc>
                <a:spcPts val="3703"/>
              </a:lnSpc>
            </a:pPr>
            <a:endParaRPr lang="en-US" sz="2645" dirty="0">
              <a:solidFill>
                <a:srgbClr val="16948A"/>
              </a:solidFill>
              <a:latin typeface="Open Sans"/>
              <a:ea typeface="Open Sans"/>
              <a:cs typeface="Open Sans"/>
              <a:sym typeface="Open Sans"/>
            </a:endParaRPr>
          </a:p>
          <a:p>
            <a:pPr algn="ctr">
              <a:lnSpc>
                <a:spcPts val="3703"/>
              </a:lnSpc>
              <a:spcBef>
                <a:spcPct val="0"/>
              </a:spcBef>
            </a:pPr>
            <a:r>
              <a:rPr lang="en-US" sz="2645" dirty="0">
                <a:solidFill>
                  <a:srgbClr val="16948A"/>
                </a:solidFill>
                <a:latin typeface="Open Sans"/>
                <a:ea typeface="Open Sans"/>
                <a:cs typeface="Open Sans"/>
                <a:sym typeface="Open Sans"/>
              </a:rPr>
              <a:t> Structure of Rennin enzyme:-</a:t>
            </a:r>
          </a:p>
        </p:txBody>
      </p:sp>
      <p:sp>
        <p:nvSpPr>
          <p:cNvPr id="8" name="Freeform 8"/>
          <p:cNvSpPr/>
          <p:nvPr/>
        </p:nvSpPr>
        <p:spPr>
          <a:xfrm>
            <a:off x="12616473" y="6224584"/>
            <a:ext cx="3887724" cy="3880071"/>
          </a:xfrm>
          <a:custGeom>
            <a:avLst/>
            <a:gdLst/>
            <a:ahLst/>
            <a:cxnLst/>
            <a:rect l="l" t="t" r="r" b="b"/>
            <a:pathLst>
              <a:path w="3887724" h="3880071">
                <a:moveTo>
                  <a:pt x="0" y="0"/>
                </a:moveTo>
                <a:lnTo>
                  <a:pt x="3887723" y="0"/>
                </a:lnTo>
                <a:lnTo>
                  <a:pt x="3887723" y="3880071"/>
                </a:lnTo>
                <a:lnTo>
                  <a:pt x="0" y="3880071"/>
                </a:lnTo>
                <a:lnTo>
                  <a:pt x="0" y="0"/>
                </a:lnTo>
                <a:close/>
              </a:path>
            </a:pathLst>
          </a:custGeom>
          <a:blipFill>
            <a:blip r:embed="rId3"/>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2700465" y="114299"/>
            <a:ext cx="5587535" cy="10172701"/>
            <a:chOff x="0" y="0"/>
            <a:chExt cx="1471614" cy="2774705"/>
          </a:xfrm>
        </p:grpSpPr>
        <p:sp>
          <p:nvSpPr>
            <p:cNvPr id="3" name="Freeform 3"/>
            <p:cNvSpPr/>
            <p:nvPr/>
          </p:nvSpPr>
          <p:spPr>
            <a:xfrm>
              <a:off x="0" y="0"/>
              <a:ext cx="1471614" cy="2774705"/>
            </a:xfrm>
            <a:custGeom>
              <a:avLst/>
              <a:gdLst/>
              <a:ahLst/>
              <a:cxnLst/>
              <a:rect l="l" t="t" r="r" b="b"/>
              <a:pathLst>
                <a:path w="1471614" h="2774705">
                  <a:moveTo>
                    <a:pt x="0" y="0"/>
                  </a:moveTo>
                  <a:lnTo>
                    <a:pt x="1471614" y="0"/>
                  </a:lnTo>
                  <a:lnTo>
                    <a:pt x="1471614" y="2774705"/>
                  </a:lnTo>
                  <a:lnTo>
                    <a:pt x="0" y="2774705"/>
                  </a:lnTo>
                  <a:close/>
                </a:path>
              </a:pathLst>
            </a:custGeom>
            <a:solidFill>
              <a:srgbClr val="16948A"/>
            </a:solidFill>
          </p:spPr>
        </p:sp>
        <p:sp>
          <p:nvSpPr>
            <p:cNvPr id="4" name="TextBox 4"/>
            <p:cNvSpPr txBox="1"/>
            <p:nvPr/>
          </p:nvSpPr>
          <p:spPr>
            <a:xfrm>
              <a:off x="0" y="-38100"/>
              <a:ext cx="1471614" cy="281280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2700465" y="3018256"/>
            <a:ext cx="5571069" cy="3713117"/>
          </a:xfrm>
          <a:custGeom>
            <a:avLst/>
            <a:gdLst/>
            <a:ahLst/>
            <a:cxnLst/>
            <a:rect l="l" t="t" r="r" b="b"/>
            <a:pathLst>
              <a:path w="5571069" h="3713117">
                <a:moveTo>
                  <a:pt x="0" y="0"/>
                </a:moveTo>
                <a:lnTo>
                  <a:pt x="5571069" y="0"/>
                </a:lnTo>
                <a:lnTo>
                  <a:pt x="5571069" y="3713117"/>
                </a:lnTo>
                <a:lnTo>
                  <a:pt x="0" y="3713117"/>
                </a:lnTo>
                <a:lnTo>
                  <a:pt x="0" y="0"/>
                </a:lnTo>
                <a:close/>
              </a:path>
            </a:pathLst>
          </a:custGeom>
          <a:blipFill>
            <a:blip r:embed="rId2"/>
            <a:stretch>
              <a:fillRect/>
            </a:stretch>
          </a:blipFill>
        </p:spPr>
      </p:sp>
      <p:sp>
        <p:nvSpPr>
          <p:cNvPr id="6" name="TextBox 6"/>
          <p:cNvSpPr txBox="1"/>
          <p:nvPr/>
        </p:nvSpPr>
        <p:spPr>
          <a:xfrm>
            <a:off x="2165795" y="534034"/>
            <a:ext cx="14337863" cy="927102"/>
          </a:xfrm>
          <a:prstGeom prst="rect">
            <a:avLst/>
          </a:prstGeom>
        </p:spPr>
        <p:txBody>
          <a:bodyPr lIns="0" tIns="0" rIns="0" bIns="0" rtlCol="0" anchor="t">
            <a:spAutoFit/>
          </a:bodyPr>
          <a:lstStyle/>
          <a:p>
            <a:pPr algn="ctr">
              <a:lnSpc>
                <a:spcPts val="7699"/>
              </a:lnSpc>
              <a:spcBef>
                <a:spcPct val="0"/>
              </a:spcBef>
            </a:pPr>
            <a:r>
              <a:rPr lang="en-US" sz="5499">
                <a:solidFill>
                  <a:srgbClr val="1800AD"/>
                </a:solidFill>
                <a:latin typeface="League Spartan"/>
                <a:ea typeface="League Spartan"/>
                <a:cs typeface="League Spartan"/>
                <a:sym typeface="League Spartan"/>
              </a:rPr>
              <a:t>Industrial application of Rennin enzyme</a:t>
            </a:r>
          </a:p>
        </p:txBody>
      </p:sp>
      <p:sp>
        <p:nvSpPr>
          <p:cNvPr id="7" name="TextBox 7"/>
          <p:cNvSpPr txBox="1"/>
          <p:nvPr/>
        </p:nvSpPr>
        <p:spPr>
          <a:xfrm>
            <a:off x="0" y="2364879"/>
            <a:ext cx="11552822" cy="7684796"/>
          </a:xfrm>
          <a:prstGeom prst="rect">
            <a:avLst/>
          </a:prstGeom>
        </p:spPr>
        <p:txBody>
          <a:bodyPr lIns="0" tIns="0" rIns="0" bIns="0" rtlCol="0" anchor="t">
            <a:spAutoFit/>
          </a:bodyPr>
          <a:lstStyle/>
          <a:p>
            <a:pPr algn="ctr">
              <a:lnSpc>
                <a:spcPts val="4339"/>
              </a:lnSpc>
            </a:pPr>
            <a:r>
              <a:rPr lang="en-US" sz="3099" dirty="0">
                <a:solidFill>
                  <a:srgbClr val="16948A"/>
                </a:solidFill>
                <a:latin typeface="Open Sans"/>
                <a:ea typeface="Open Sans"/>
                <a:cs typeface="Open Sans"/>
                <a:sym typeface="Open Sans"/>
              </a:rPr>
              <a:t>Rennin enzyme is primarily used in the dairy industry. Its especially used in cheese production as it plays a key role </a:t>
            </a:r>
            <a:r>
              <a:rPr lang="en-US" sz="3099" dirty="0" smtClean="0">
                <a:solidFill>
                  <a:srgbClr val="16948A"/>
                </a:solidFill>
                <a:latin typeface="Open Sans"/>
                <a:ea typeface="Open Sans"/>
                <a:cs typeface="Open Sans"/>
                <a:sym typeface="Open Sans"/>
              </a:rPr>
              <a:t>in </a:t>
            </a:r>
            <a:r>
              <a:rPr lang="en-US" sz="3099" dirty="0">
                <a:solidFill>
                  <a:srgbClr val="16948A"/>
                </a:solidFill>
                <a:latin typeface="Open Sans"/>
                <a:ea typeface="Open Sans"/>
                <a:cs typeface="Open Sans"/>
                <a:sym typeface="Open Sans"/>
              </a:rPr>
              <a:t>milk coagulation. Cheese being a semi-solid also known as curd can be achieved with Rennin. </a:t>
            </a:r>
          </a:p>
          <a:p>
            <a:pPr algn="ctr">
              <a:lnSpc>
                <a:spcPts val="4339"/>
              </a:lnSpc>
            </a:pPr>
            <a:endParaRPr lang="en-US" sz="3099" dirty="0">
              <a:solidFill>
                <a:srgbClr val="16948A"/>
              </a:solidFill>
              <a:latin typeface="Open Sans"/>
              <a:ea typeface="Open Sans"/>
              <a:cs typeface="Open Sans"/>
              <a:sym typeface="Open Sans"/>
            </a:endParaRPr>
          </a:p>
          <a:p>
            <a:pPr algn="ctr">
              <a:lnSpc>
                <a:spcPts val="4339"/>
              </a:lnSpc>
            </a:pPr>
            <a:r>
              <a:rPr lang="en-US" sz="3099" dirty="0">
                <a:solidFill>
                  <a:srgbClr val="16948A"/>
                </a:solidFill>
                <a:latin typeface="Open Sans"/>
                <a:ea typeface="Open Sans"/>
                <a:cs typeface="Open Sans"/>
                <a:sym typeface="Open Sans"/>
              </a:rPr>
              <a:t>Rennin is especially efficient as unlike other lesser specific enzymes it curds the milk without excessive breakdown of other proteins present. This affects the final product of cheese.</a:t>
            </a:r>
          </a:p>
          <a:p>
            <a:pPr algn="ctr">
              <a:lnSpc>
                <a:spcPts val="4339"/>
              </a:lnSpc>
            </a:pPr>
            <a:endParaRPr lang="en-US" sz="3099" dirty="0">
              <a:solidFill>
                <a:srgbClr val="16948A"/>
              </a:solidFill>
              <a:latin typeface="Open Sans"/>
              <a:ea typeface="Open Sans"/>
              <a:cs typeface="Open Sans"/>
              <a:sym typeface="Open Sans"/>
            </a:endParaRPr>
          </a:p>
          <a:p>
            <a:pPr algn="ctr">
              <a:lnSpc>
                <a:spcPts val="4339"/>
              </a:lnSpc>
            </a:pPr>
            <a:r>
              <a:rPr lang="en-US" sz="3099" dirty="0">
                <a:solidFill>
                  <a:srgbClr val="16948A"/>
                </a:solidFill>
                <a:latin typeface="Open Sans"/>
                <a:ea typeface="Open Sans"/>
                <a:cs typeface="Open Sans"/>
                <a:sym typeface="Open Sans"/>
              </a:rPr>
              <a:t>This is important as extensive breakdown of proteins can lead to bitterness and a poor texture in the finished cheese. The high specificity of Rennin ensures a firm, high-quality curd, which is the foundation for a good cheese.</a:t>
            </a:r>
          </a:p>
          <a:p>
            <a:pPr algn="ctr">
              <a:lnSpc>
                <a:spcPts val="4339"/>
              </a:lnSpc>
              <a:spcBef>
                <a:spcPct val="0"/>
              </a:spcBef>
            </a:pPr>
            <a:endParaRPr lang="en-US" sz="3099" dirty="0">
              <a:solidFill>
                <a:srgbClr val="16948A"/>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 y="0"/>
            <a:ext cx="16611601" cy="10287000"/>
            <a:chOff x="0" y="0"/>
            <a:chExt cx="4428383" cy="3675522"/>
          </a:xfrm>
        </p:grpSpPr>
        <p:sp>
          <p:nvSpPr>
            <p:cNvPr id="3" name="Freeform 3"/>
            <p:cNvSpPr/>
            <p:nvPr/>
          </p:nvSpPr>
          <p:spPr>
            <a:xfrm>
              <a:off x="0" y="0"/>
              <a:ext cx="4428383" cy="3675522"/>
            </a:xfrm>
            <a:custGeom>
              <a:avLst/>
              <a:gdLst/>
              <a:ahLst/>
              <a:cxnLst/>
              <a:rect l="l" t="t" r="r" b="b"/>
              <a:pathLst>
                <a:path w="4428383" h="3675522">
                  <a:moveTo>
                    <a:pt x="0" y="0"/>
                  </a:moveTo>
                  <a:lnTo>
                    <a:pt x="4428383" y="0"/>
                  </a:lnTo>
                  <a:lnTo>
                    <a:pt x="4428383" y="3675522"/>
                  </a:lnTo>
                  <a:lnTo>
                    <a:pt x="0" y="3675522"/>
                  </a:lnTo>
                  <a:close/>
                </a:path>
              </a:pathLst>
            </a:custGeom>
            <a:solidFill>
              <a:srgbClr val="16948A"/>
            </a:solidFill>
          </p:spPr>
        </p:sp>
        <p:sp>
          <p:nvSpPr>
            <p:cNvPr id="4" name="TextBox 4"/>
            <p:cNvSpPr txBox="1"/>
            <p:nvPr/>
          </p:nvSpPr>
          <p:spPr>
            <a:xfrm>
              <a:off x="0" y="-38100"/>
              <a:ext cx="4428383" cy="371362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52400" y="190500"/>
            <a:ext cx="18059400" cy="872034"/>
          </a:xfrm>
          <a:prstGeom prst="rect">
            <a:avLst/>
          </a:prstGeom>
        </p:spPr>
        <p:txBody>
          <a:bodyPr wrap="square" lIns="0" tIns="0" rIns="0" bIns="0" rtlCol="0" anchor="t">
            <a:spAutoFit/>
          </a:bodyPr>
          <a:lstStyle/>
          <a:p>
            <a:pPr algn="ctr">
              <a:lnSpc>
                <a:spcPts val="6813"/>
              </a:lnSpc>
              <a:spcBef>
                <a:spcPct val="0"/>
              </a:spcBef>
            </a:pPr>
            <a:r>
              <a:rPr lang="en-US" sz="4866" dirty="0">
                <a:solidFill>
                  <a:srgbClr val="E2B51E"/>
                </a:solidFill>
                <a:latin typeface="League Spartan"/>
                <a:ea typeface="League Spartan"/>
                <a:cs typeface="League Spartan"/>
                <a:sym typeface="League Spartan"/>
              </a:rPr>
              <a:t>Cheese making process with  Rennin</a:t>
            </a:r>
          </a:p>
        </p:txBody>
      </p:sp>
      <p:sp>
        <p:nvSpPr>
          <p:cNvPr id="6" name="TextBox 6"/>
          <p:cNvSpPr txBox="1"/>
          <p:nvPr/>
        </p:nvSpPr>
        <p:spPr>
          <a:xfrm>
            <a:off x="-2" y="2247900"/>
            <a:ext cx="16611601" cy="6771084"/>
          </a:xfrm>
          <a:prstGeom prst="rect">
            <a:avLst/>
          </a:prstGeom>
        </p:spPr>
        <p:txBody>
          <a:bodyPr wrap="square" lIns="0" tIns="0" rIns="0" bIns="0" rtlCol="0" anchor="t">
            <a:spAutoFit/>
          </a:bodyPr>
          <a:lstStyle/>
          <a:p>
            <a:pPr algn="ctr">
              <a:lnSpc>
                <a:spcPts val="4800"/>
              </a:lnSpc>
            </a:pPr>
            <a:r>
              <a:rPr lang="en-US" sz="3429" dirty="0" smtClean="0">
                <a:solidFill>
                  <a:srgbClr val="FFFFFF"/>
                </a:solidFill>
                <a:latin typeface="Open Sans"/>
                <a:ea typeface="Open Sans"/>
                <a:cs typeface="Open Sans"/>
                <a:sym typeface="Open Sans"/>
              </a:rPr>
              <a:t>Step 1</a:t>
            </a:r>
            <a:r>
              <a:rPr lang="en-US" sz="3429" dirty="0">
                <a:solidFill>
                  <a:srgbClr val="FFFFFF"/>
                </a:solidFill>
                <a:latin typeface="Open Sans"/>
                <a:ea typeface="Open Sans"/>
                <a:cs typeface="Open Sans"/>
                <a:sym typeface="Open Sans"/>
              </a:rPr>
              <a:t>:</a:t>
            </a:r>
          </a:p>
          <a:p>
            <a:pPr algn="ctr">
              <a:lnSpc>
                <a:spcPts val="4800"/>
              </a:lnSpc>
            </a:pPr>
            <a:r>
              <a:rPr lang="en-US" sz="3429" dirty="0">
                <a:solidFill>
                  <a:srgbClr val="FFFFFF"/>
                </a:solidFill>
                <a:latin typeface="Open Sans"/>
                <a:ea typeface="Open Sans"/>
                <a:cs typeface="Open Sans"/>
                <a:sym typeface="Open Sans"/>
              </a:rPr>
              <a:t> Pasteurize the given milk and store at specific temperature between </a:t>
            </a:r>
            <a:r>
              <a:rPr lang="en-US" sz="3429" dirty="0" smtClean="0">
                <a:solidFill>
                  <a:srgbClr val="FFFFFF"/>
                </a:solidFill>
                <a:latin typeface="Open Sans"/>
                <a:ea typeface="Open Sans"/>
                <a:cs typeface="Open Sans"/>
                <a:sym typeface="Open Sans"/>
              </a:rPr>
              <a:t>25-30 </a:t>
            </a:r>
            <a:r>
              <a:rPr lang="en-US" sz="3429" dirty="0">
                <a:solidFill>
                  <a:srgbClr val="FFFFFF"/>
                </a:solidFill>
                <a:latin typeface="Open Sans"/>
                <a:ea typeface="Open Sans"/>
                <a:cs typeface="Open Sans"/>
                <a:sym typeface="Open Sans"/>
              </a:rPr>
              <a:t>degree Celsius and maintaining the pH at 5-6.9 for certain time for the milk clotting process. Additionally Calcium Chloride can be added to help with the formation of curd.</a:t>
            </a:r>
          </a:p>
          <a:p>
            <a:pPr algn="ctr">
              <a:lnSpc>
                <a:spcPts val="4800"/>
              </a:lnSpc>
            </a:pPr>
            <a:endParaRPr lang="en-US" sz="3429" dirty="0">
              <a:solidFill>
                <a:srgbClr val="FFFFFF"/>
              </a:solidFill>
              <a:latin typeface="Open Sans"/>
              <a:ea typeface="Open Sans"/>
              <a:cs typeface="Open Sans"/>
              <a:sym typeface="Open Sans"/>
            </a:endParaRPr>
          </a:p>
          <a:p>
            <a:pPr algn="ctr">
              <a:lnSpc>
                <a:spcPts val="4800"/>
              </a:lnSpc>
            </a:pPr>
            <a:r>
              <a:rPr lang="en-US" sz="3429" dirty="0" smtClean="0">
                <a:solidFill>
                  <a:srgbClr val="FFFFFF"/>
                </a:solidFill>
                <a:latin typeface="Open Sans"/>
                <a:ea typeface="Open Sans"/>
                <a:cs typeface="Open Sans"/>
                <a:sym typeface="Open Sans"/>
              </a:rPr>
              <a:t>Step 2</a:t>
            </a:r>
            <a:r>
              <a:rPr lang="en-US" sz="3429" dirty="0">
                <a:solidFill>
                  <a:srgbClr val="FFFFFF"/>
                </a:solidFill>
                <a:latin typeface="Open Sans"/>
                <a:ea typeface="Open Sans"/>
                <a:cs typeface="Open Sans"/>
                <a:sym typeface="Open Sans"/>
              </a:rPr>
              <a:t>:</a:t>
            </a:r>
          </a:p>
          <a:p>
            <a:pPr algn="ctr">
              <a:lnSpc>
                <a:spcPts val="4800"/>
              </a:lnSpc>
              <a:spcBef>
                <a:spcPct val="0"/>
              </a:spcBef>
            </a:pPr>
            <a:r>
              <a:rPr lang="en-US" sz="3429" dirty="0">
                <a:solidFill>
                  <a:srgbClr val="FFFFFF"/>
                </a:solidFill>
                <a:latin typeface="Open Sans"/>
                <a:ea typeface="Open Sans"/>
                <a:cs typeface="Open Sans"/>
                <a:sym typeface="Open Sans"/>
              </a:rPr>
              <a:t>Rennin is then added in the milk in the form of Rennet. The amount added is controlled and well measured to ensure that the milk coagulation takes place within </a:t>
            </a:r>
            <a:r>
              <a:rPr lang="en-US" sz="3429" dirty="0" smtClean="0">
                <a:solidFill>
                  <a:srgbClr val="FFFFFF"/>
                </a:solidFill>
                <a:latin typeface="Open Sans"/>
                <a:ea typeface="Open Sans"/>
                <a:cs typeface="Open Sans"/>
                <a:sym typeface="Open Sans"/>
              </a:rPr>
              <a:t>a certain </a:t>
            </a:r>
            <a:r>
              <a:rPr lang="en-US" sz="3429" dirty="0">
                <a:solidFill>
                  <a:srgbClr val="FFFFFF"/>
                </a:solidFill>
                <a:latin typeface="Open Sans"/>
                <a:ea typeface="Open Sans"/>
                <a:cs typeface="Open Sans"/>
                <a:sym typeface="Open Sans"/>
              </a:rPr>
              <a:t>timeframe. It </a:t>
            </a:r>
            <a:r>
              <a:rPr lang="en-US" sz="3429" dirty="0" smtClean="0">
                <a:solidFill>
                  <a:srgbClr val="FFFFFF"/>
                </a:solidFill>
                <a:latin typeface="Open Sans"/>
                <a:ea typeface="Open Sans"/>
                <a:cs typeface="Open Sans"/>
                <a:sym typeface="Open Sans"/>
              </a:rPr>
              <a:t>also </a:t>
            </a:r>
            <a:r>
              <a:rPr lang="en-US" sz="3429" dirty="0">
                <a:solidFill>
                  <a:srgbClr val="FFFFFF"/>
                </a:solidFill>
                <a:latin typeface="Open Sans"/>
                <a:ea typeface="Open Sans"/>
                <a:cs typeface="Open Sans"/>
                <a:sym typeface="Open Sans"/>
              </a:rPr>
              <a:t>depends on the type of cheese that is to be formed.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735463" y="114300"/>
            <a:ext cx="16817074" cy="10172700"/>
            <a:chOff x="0" y="0"/>
            <a:chExt cx="4296816" cy="3675522"/>
          </a:xfrm>
        </p:grpSpPr>
        <p:sp>
          <p:nvSpPr>
            <p:cNvPr id="3" name="Freeform 3"/>
            <p:cNvSpPr/>
            <p:nvPr/>
          </p:nvSpPr>
          <p:spPr>
            <a:xfrm>
              <a:off x="0" y="0"/>
              <a:ext cx="4296816" cy="3675522"/>
            </a:xfrm>
            <a:custGeom>
              <a:avLst/>
              <a:gdLst/>
              <a:ahLst/>
              <a:cxnLst/>
              <a:rect l="l" t="t" r="r" b="b"/>
              <a:pathLst>
                <a:path w="4296816" h="3675522">
                  <a:moveTo>
                    <a:pt x="0" y="0"/>
                  </a:moveTo>
                  <a:lnTo>
                    <a:pt x="4296816" y="0"/>
                  </a:lnTo>
                  <a:lnTo>
                    <a:pt x="4296816" y="3675522"/>
                  </a:lnTo>
                  <a:lnTo>
                    <a:pt x="0" y="3675522"/>
                  </a:lnTo>
                  <a:close/>
                </a:path>
              </a:pathLst>
            </a:custGeom>
            <a:solidFill>
              <a:srgbClr val="16948A"/>
            </a:solidFill>
          </p:spPr>
        </p:sp>
        <p:sp>
          <p:nvSpPr>
            <p:cNvPr id="4" name="TextBox 4"/>
            <p:cNvSpPr txBox="1"/>
            <p:nvPr/>
          </p:nvSpPr>
          <p:spPr>
            <a:xfrm>
              <a:off x="0" y="-38100"/>
              <a:ext cx="4296816" cy="371362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2179738" y="759779"/>
            <a:ext cx="12833720" cy="9712723"/>
          </a:xfrm>
          <a:prstGeom prst="rect">
            <a:avLst/>
          </a:prstGeom>
        </p:spPr>
        <p:txBody>
          <a:bodyPr lIns="0" tIns="0" rIns="0" bIns="0" rtlCol="0" anchor="t">
            <a:spAutoFit/>
          </a:bodyPr>
          <a:lstStyle/>
          <a:p>
            <a:pPr algn="ctr">
              <a:lnSpc>
                <a:spcPts val="4005"/>
              </a:lnSpc>
            </a:pPr>
            <a:r>
              <a:rPr lang="en-US" sz="2861" dirty="0">
                <a:solidFill>
                  <a:srgbClr val="FFFFFF"/>
                </a:solidFill>
                <a:latin typeface="Open Sans"/>
                <a:ea typeface="Open Sans"/>
                <a:cs typeface="Open Sans"/>
                <a:sym typeface="Open Sans"/>
              </a:rPr>
              <a:t>Step 3:</a:t>
            </a:r>
          </a:p>
          <a:p>
            <a:pPr algn="ctr">
              <a:lnSpc>
                <a:spcPts val="4005"/>
              </a:lnSpc>
            </a:pPr>
            <a:r>
              <a:rPr lang="en-US" sz="2861" dirty="0">
                <a:solidFill>
                  <a:srgbClr val="FFFFFF"/>
                </a:solidFill>
                <a:latin typeface="Open Sans"/>
                <a:ea typeface="Open Sans"/>
                <a:cs typeface="Open Sans"/>
                <a:sym typeface="Open Sans"/>
              </a:rPr>
              <a:t>After the enzyme is added to the milk the process of coagulation begins. Here the proteins of milk, known as caseins, are suspended in a colloidal state in the milk, forming structures called micelles. These micelles are stabilized by a protein on their surface called </a:t>
            </a:r>
            <a:r>
              <a:rPr lang="en-US" sz="2861" dirty="0" err="1">
                <a:solidFill>
                  <a:srgbClr val="FFFFFF"/>
                </a:solidFill>
                <a:latin typeface="Open Sans"/>
                <a:ea typeface="Open Sans"/>
                <a:cs typeface="Open Sans"/>
                <a:sym typeface="Open Sans"/>
              </a:rPr>
              <a:t>κappa</a:t>
            </a:r>
            <a:r>
              <a:rPr lang="en-US" sz="2861" dirty="0">
                <a:solidFill>
                  <a:srgbClr val="FFFFFF"/>
                </a:solidFill>
                <a:latin typeface="Open Sans"/>
                <a:ea typeface="Open Sans"/>
                <a:cs typeface="Open Sans"/>
                <a:sym typeface="Open Sans"/>
              </a:rPr>
              <a:t>-casein, which keeps the micelles from clumping together. </a:t>
            </a:r>
          </a:p>
          <a:p>
            <a:pPr algn="ctr">
              <a:lnSpc>
                <a:spcPts val="4005"/>
              </a:lnSpc>
            </a:pPr>
            <a:endParaRPr lang="en-US" sz="2861" dirty="0">
              <a:solidFill>
                <a:srgbClr val="FFFFFF"/>
              </a:solidFill>
              <a:latin typeface="Open Sans"/>
              <a:ea typeface="Open Sans"/>
              <a:cs typeface="Open Sans"/>
              <a:sym typeface="Open Sans"/>
            </a:endParaRPr>
          </a:p>
          <a:p>
            <a:pPr algn="ctr">
              <a:lnSpc>
                <a:spcPts val="4005"/>
              </a:lnSpc>
            </a:pPr>
            <a:endParaRPr lang="en-US" sz="2861" dirty="0">
              <a:solidFill>
                <a:srgbClr val="FFFFFF"/>
              </a:solidFill>
              <a:latin typeface="Open Sans"/>
              <a:ea typeface="Open Sans"/>
              <a:cs typeface="Open Sans"/>
              <a:sym typeface="Open Sans"/>
            </a:endParaRPr>
          </a:p>
          <a:p>
            <a:pPr algn="ctr">
              <a:lnSpc>
                <a:spcPts val="4005"/>
              </a:lnSpc>
            </a:pPr>
            <a:r>
              <a:rPr lang="en-US" sz="2861" dirty="0">
                <a:solidFill>
                  <a:srgbClr val="FFFFFF"/>
                </a:solidFill>
                <a:latin typeface="Open Sans"/>
                <a:ea typeface="Open Sans"/>
                <a:cs typeface="Open Sans"/>
                <a:sym typeface="Open Sans"/>
              </a:rPr>
              <a:t>step 4:</a:t>
            </a:r>
          </a:p>
          <a:p>
            <a:pPr algn="ctr">
              <a:lnSpc>
                <a:spcPts val="4005"/>
              </a:lnSpc>
            </a:pPr>
            <a:r>
              <a:rPr lang="en-US" sz="2861" dirty="0">
                <a:solidFill>
                  <a:srgbClr val="FFFFFF"/>
                </a:solidFill>
                <a:latin typeface="Open Sans"/>
                <a:ea typeface="Open Sans"/>
                <a:cs typeface="Open Sans"/>
                <a:sym typeface="Open Sans"/>
              </a:rPr>
              <a:t>The unstable casein micelles form a 3D structure which stores the proteins, minerals and fats in the milk. This coagulation process is a domino effect and forms semi-solid object called curd. </a:t>
            </a:r>
          </a:p>
          <a:p>
            <a:pPr algn="ctr">
              <a:lnSpc>
                <a:spcPts val="4005"/>
              </a:lnSpc>
            </a:pPr>
            <a:endParaRPr lang="en-US" sz="2861" dirty="0">
              <a:solidFill>
                <a:srgbClr val="FFFFFF"/>
              </a:solidFill>
              <a:latin typeface="Open Sans"/>
              <a:ea typeface="Open Sans"/>
              <a:cs typeface="Open Sans"/>
              <a:sym typeface="Open Sans"/>
            </a:endParaRPr>
          </a:p>
          <a:p>
            <a:pPr algn="ctr">
              <a:lnSpc>
                <a:spcPts val="4005"/>
              </a:lnSpc>
            </a:pPr>
            <a:r>
              <a:rPr lang="en-US" sz="2861" dirty="0">
                <a:solidFill>
                  <a:srgbClr val="FFFFFF"/>
                </a:solidFill>
                <a:latin typeface="Open Sans"/>
                <a:ea typeface="Open Sans"/>
                <a:cs typeface="Open Sans"/>
                <a:sym typeface="Open Sans"/>
              </a:rPr>
              <a:t>step 5:</a:t>
            </a:r>
          </a:p>
          <a:p>
            <a:pPr algn="ctr">
              <a:lnSpc>
                <a:spcPts val="4005"/>
              </a:lnSpc>
            </a:pPr>
            <a:r>
              <a:rPr lang="en-US" sz="2861" dirty="0">
                <a:solidFill>
                  <a:srgbClr val="FFFFFF"/>
                </a:solidFill>
                <a:latin typeface="Open Sans"/>
                <a:ea typeface="Open Sans"/>
                <a:cs typeface="Open Sans"/>
                <a:sym typeface="Open Sans"/>
              </a:rPr>
              <a:t>The coagulation process is stopped once the curd has reached the desired texture. Once firm, </a:t>
            </a:r>
            <a:r>
              <a:rPr lang="en-US" sz="2861" dirty="0" smtClean="0">
                <a:solidFill>
                  <a:srgbClr val="FFFFFF"/>
                </a:solidFill>
                <a:latin typeface="Open Sans"/>
                <a:ea typeface="Open Sans"/>
                <a:cs typeface="Open Sans"/>
                <a:sym typeface="Open Sans"/>
              </a:rPr>
              <a:t>it’s </a:t>
            </a:r>
            <a:r>
              <a:rPr lang="en-US" sz="2861" dirty="0">
                <a:solidFill>
                  <a:srgbClr val="FFFFFF"/>
                </a:solidFill>
                <a:latin typeface="Open Sans"/>
                <a:ea typeface="Open Sans"/>
                <a:cs typeface="Open Sans"/>
                <a:sym typeface="Open Sans"/>
              </a:rPr>
              <a:t>cut into call pieces for the removal of remaining liquid called </a:t>
            </a:r>
            <a:r>
              <a:rPr lang="en-US" sz="2861" dirty="0" smtClean="0">
                <a:solidFill>
                  <a:srgbClr val="FFFFFF"/>
                </a:solidFill>
                <a:latin typeface="Open Sans"/>
                <a:ea typeface="Open Sans"/>
                <a:cs typeface="Open Sans"/>
                <a:sym typeface="Open Sans"/>
              </a:rPr>
              <a:t>whey</a:t>
            </a:r>
            <a:r>
              <a:rPr lang="en-US" sz="2861" dirty="0">
                <a:solidFill>
                  <a:srgbClr val="FFFFFF"/>
                </a:solidFill>
                <a:latin typeface="Open Sans"/>
                <a:ea typeface="Open Sans"/>
                <a:cs typeface="Open Sans"/>
                <a:sym typeface="Open Sans"/>
              </a:rPr>
              <a:t>. As </a:t>
            </a:r>
            <a:r>
              <a:rPr lang="en-US" sz="2861" dirty="0" smtClean="0">
                <a:solidFill>
                  <a:srgbClr val="FFFFFF"/>
                </a:solidFill>
                <a:latin typeface="Open Sans"/>
                <a:ea typeface="Open Sans"/>
                <a:cs typeface="Open Sans"/>
                <a:sym typeface="Open Sans"/>
              </a:rPr>
              <a:t>whey </a:t>
            </a:r>
            <a:r>
              <a:rPr lang="en-US" sz="2861" dirty="0">
                <a:solidFill>
                  <a:srgbClr val="FFFFFF"/>
                </a:solidFill>
                <a:latin typeface="Open Sans"/>
                <a:ea typeface="Open Sans"/>
                <a:cs typeface="Open Sans"/>
                <a:sym typeface="Open Sans"/>
              </a:rPr>
              <a:t>is removed the curd stores concentrated milk fat and casein. </a:t>
            </a:r>
            <a:r>
              <a:rPr lang="en-US" sz="2861" dirty="0" smtClean="0">
                <a:solidFill>
                  <a:srgbClr val="FFFFFF"/>
                </a:solidFill>
                <a:latin typeface="Open Sans"/>
                <a:ea typeface="Open Sans"/>
                <a:cs typeface="Open Sans"/>
                <a:sym typeface="Open Sans"/>
              </a:rPr>
              <a:t>It’s further </a:t>
            </a:r>
            <a:r>
              <a:rPr lang="en-US" sz="2861" dirty="0">
                <a:solidFill>
                  <a:srgbClr val="FFFFFF"/>
                </a:solidFill>
                <a:latin typeface="Open Sans"/>
                <a:ea typeface="Open Sans"/>
                <a:cs typeface="Open Sans"/>
                <a:sym typeface="Open Sans"/>
              </a:rPr>
              <a:t>processed to refine it.</a:t>
            </a:r>
          </a:p>
          <a:p>
            <a:pPr algn="ctr">
              <a:lnSpc>
                <a:spcPts val="4005"/>
              </a:lnSpc>
              <a:spcBef>
                <a:spcPct val="0"/>
              </a:spcBef>
            </a:pPr>
            <a:endParaRPr lang="en-US" sz="2861" dirty="0">
              <a:solidFill>
                <a:srgbClr val="FFFFFF"/>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973540"/>
            <a:ext cx="18288000" cy="5351560"/>
            <a:chOff x="0" y="0"/>
            <a:chExt cx="4816621" cy="1367341"/>
          </a:xfrm>
        </p:grpSpPr>
        <p:sp>
          <p:nvSpPr>
            <p:cNvPr id="3" name="Freeform 3"/>
            <p:cNvSpPr/>
            <p:nvPr/>
          </p:nvSpPr>
          <p:spPr>
            <a:xfrm>
              <a:off x="0" y="0"/>
              <a:ext cx="4816621" cy="1367341"/>
            </a:xfrm>
            <a:custGeom>
              <a:avLst/>
              <a:gdLst/>
              <a:ahLst/>
              <a:cxnLst/>
              <a:rect l="l" t="t" r="r" b="b"/>
              <a:pathLst>
                <a:path w="4816621" h="1367341">
                  <a:moveTo>
                    <a:pt x="0" y="0"/>
                  </a:moveTo>
                  <a:lnTo>
                    <a:pt x="4816621" y="0"/>
                  </a:lnTo>
                  <a:lnTo>
                    <a:pt x="4816621" y="1367341"/>
                  </a:lnTo>
                  <a:lnTo>
                    <a:pt x="0" y="1367341"/>
                  </a:lnTo>
                  <a:close/>
                </a:path>
              </a:pathLst>
            </a:custGeom>
            <a:solidFill>
              <a:srgbClr val="16948A"/>
            </a:solidFill>
          </p:spPr>
        </p:sp>
        <p:sp>
          <p:nvSpPr>
            <p:cNvPr id="4" name="TextBox 4"/>
            <p:cNvSpPr txBox="1"/>
            <p:nvPr/>
          </p:nvSpPr>
          <p:spPr>
            <a:xfrm>
              <a:off x="0" y="-38100"/>
              <a:ext cx="4816621" cy="140544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791241" y="661121"/>
            <a:ext cx="9876963" cy="4024863"/>
          </a:xfrm>
          <a:custGeom>
            <a:avLst/>
            <a:gdLst/>
            <a:ahLst/>
            <a:cxnLst/>
            <a:rect l="l" t="t" r="r" b="b"/>
            <a:pathLst>
              <a:path w="9876963" h="4024863">
                <a:moveTo>
                  <a:pt x="0" y="0"/>
                </a:moveTo>
                <a:lnTo>
                  <a:pt x="9876964" y="0"/>
                </a:lnTo>
                <a:lnTo>
                  <a:pt x="9876964" y="4024863"/>
                </a:lnTo>
                <a:lnTo>
                  <a:pt x="0" y="4024863"/>
                </a:lnTo>
                <a:lnTo>
                  <a:pt x="0" y="0"/>
                </a:lnTo>
                <a:close/>
              </a:path>
            </a:pathLst>
          </a:custGeom>
          <a:blipFill>
            <a:blip r:embed="rId2"/>
            <a:stretch>
              <a:fillRect/>
            </a:stretch>
          </a:blipFill>
        </p:spPr>
      </p:sp>
      <p:sp>
        <p:nvSpPr>
          <p:cNvPr id="6" name="Freeform 6"/>
          <p:cNvSpPr/>
          <p:nvPr/>
        </p:nvSpPr>
        <p:spPr>
          <a:xfrm>
            <a:off x="8603893" y="5503494"/>
            <a:ext cx="8301200" cy="4215453"/>
          </a:xfrm>
          <a:custGeom>
            <a:avLst/>
            <a:gdLst/>
            <a:ahLst/>
            <a:cxnLst/>
            <a:rect l="l" t="t" r="r" b="b"/>
            <a:pathLst>
              <a:path w="8301200" h="4215453">
                <a:moveTo>
                  <a:pt x="0" y="0"/>
                </a:moveTo>
                <a:lnTo>
                  <a:pt x="8301200" y="0"/>
                </a:lnTo>
                <a:lnTo>
                  <a:pt x="8301200" y="4215453"/>
                </a:lnTo>
                <a:lnTo>
                  <a:pt x="0" y="4215453"/>
                </a:lnTo>
                <a:lnTo>
                  <a:pt x="0" y="0"/>
                </a:lnTo>
                <a:close/>
              </a:path>
            </a:pathLst>
          </a:custGeom>
          <a:blipFill>
            <a:blip r:embed="rId3"/>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028700"/>
            <a:ext cx="18288000" cy="8229600"/>
            <a:chOff x="0" y="0"/>
            <a:chExt cx="4816621" cy="2102689"/>
          </a:xfrm>
        </p:grpSpPr>
        <p:sp>
          <p:nvSpPr>
            <p:cNvPr id="3" name="Freeform 3"/>
            <p:cNvSpPr/>
            <p:nvPr/>
          </p:nvSpPr>
          <p:spPr>
            <a:xfrm>
              <a:off x="0" y="0"/>
              <a:ext cx="4816621" cy="2102689"/>
            </a:xfrm>
            <a:custGeom>
              <a:avLst/>
              <a:gdLst/>
              <a:ahLst/>
              <a:cxnLst/>
              <a:rect l="l" t="t" r="r" b="b"/>
              <a:pathLst>
                <a:path w="4816621" h="2102689">
                  <a:moveTo>
                    <a:pt x="0" y="0"/>
                  </a:moveTo>
                  <a:lnTo>
                    <a:pt x="4816621" y="0"/>
                  </a:lnTo>
                  <a:lnTo>
                    <a:pt x="4816621" y="2102689"/>
                  </a:lnTo>
                  <a:lnTo>
                    <a:pt x="0" y="2102689"/>
                  </a:lnTo>
                  <a:close/>
                </a:path>
              </a:pathLst>
            </a:custGeom>
            <a:solidFill>
              <a:srgbClr val="16948A"/>
            </a:solidFill>
          </p:spPr>
        </p:sp>
        <p:sp>
          <p:nvSpPr>
            <p:cNvPr id="4" name="TextBox 4"/>
            <p:cNvSpPr txBox="1"/>
            <p:nvPr/>
          </p:nvSpPr>
          <p:spPr>
            <a:xfrm>
              <a:off x="0" y="-38100"/>
              <a:ext cx="4816621" cy="2140789"/>
            </a:xfrm>
            <a:prstGeom prst="rect">
              <a:avLst/>
            </a:prstGeom>
          </p:spPr>
          <p:txBody>
            <a:bodyPr lIns="50800" tIns="50800" rIns="50800" bIns="50800" rtlCol="0" anchor="ctr"/>
            <a:lstStyle/>
            <a:p>
              <a:pPr marL="410209" lvl="1" indent="-205105" algn="ctr">
                <a:lnSpc>
                  <a:spcPts val="2659"/>
                </a:lnSpc>
                <a:buFont typeface="Arial"/>
                <a:buChar char="•"/>
              </a:pPr>
              <a:endParaRPr/>
            </a:p>
            <a:p>
              <a:pPr algn="ctr">
                <a:lnSpc>
                  <a:spcPts val="6159"/>
                </a:lnSpc>
                <a:spcBef>
                  <a:spcPct val="0"/>
                </a:spcBef>
              </a:pPr>
              <a:endParaRPr/>
            </a:p>
          </p:txBody>
        </p:sp>
      </p:grpSp>
      <p:sp>
        <p:nvSpPr>
          <p:cNvPr id="5" name="TextBox 5"/>
          <p:cNvSpPr txBox="1"/>
          <p:nvPr/>
        </p:nvSpPr>
        <p:spPr>
          <a:xfrm>
            <a:off x="2253607" y="933450"/>
            <a:ext cx="13917454" cy="854077"/>
          </a:xfrm>
          <a:prstGeom prst="rect">
            <a:avLst/>
          </a:prstGeom>
        </p:spPr>
        <p:txBody>
          <a:bodyPr lIns="0" tIns="0" rIns="0" bIns="0" rtlCol="0" anchor="t">
            <a:spAutoFit/>
          </a:bodyPr>
          <a:lstStyle/>
          <a:p>
            <a:pPr algn="ctr">
              <a:lnSpc>
                <a:spcPts val="6999"/>
              </a:lnSpc>
              <a:spcBef>
                <a:spcPct val="0"/>
              </a:spcBef>
            </a:pPr>
            <a:r>
              <a:rPr lang="en-US" sz="4999" dirty="0">
                <a:solidFill>
                  <a:srgbClr val="98396F"/>
                </a:solidFill>
                <a:latin typeface="League Spartan"/>
                <a:ea typeface="League Spartan"/>
                <a:cs typeface="League Spartan"/>
                <a:sym typeface="League Spartan"/>
              </a:rPr>
              <a:t>How to incorporate Rennin as an engineer</a:t>
            </a:r>
          </a:p>
        </p:txBody>
      </p:sp>
      <p:sp>
        <p:nvSpPr>
          <p:cNvPr id="6" name="TextBox 6"/>
          <p:cNvSpPr txBox="1"/>
          <p:nvPr/>
        </p:nvSpPr>
        <p:spPr>
          <a:xfrm>
            <a:off x="0" y="2912772"/>
            <a:ext cx="16369814" cy="6719571"/>
          </a:xfrm>
          <a:prstGeom prst="rect">
            <a:avLst/>
          </a:prstGeom>
        </p:spPr>
        <p:txBody>
          <a:bodyPr lIns="0" tIns="0" rIns="0" bIns="0" rtlCol="0" anchor="t">
            <a:spAutoFit/>
          </a:bodyPr>
          <a:lstStyle/>
          <a:p>
            <a:pPr algn="ctr">
              <a:lnSpc>
                <a:spcPts val="4479"/>
              </a:lnSpc>
            </a:pPr>
            <a:r>
              <a:rPr lang="en-US" sz="3199" dirty="0">
                <a:solidFill>
                  <a:srgbClr val="FFFFFF"/>
                </a:solidFill>
                <a:latin typeface="Open Sans"/>
                <a:ea typeface="Open Sans"/>
                <a:cs typeface="Open Sans"/>
                <a:sym typeface="Open Sans"/>
              </a:rPr>
              <a:t> </a:t>
            </a:r>
            <a:r>
              <a:rPr lang="en-US" sz="3199" dirty="0">
                <a:solidFill>
                  <a:srgbClr val="F4F4F4"/>
                </a:solidFill>
                <a:latin typeface="Open Sans"/>
                <a:ea typeface="Open Sans"/>
                <a:cs typeface="Open Sans"/>
                <a:sym typeface="Open Sans"/>
              </a:rPr>
              <a:t>Fermentation process is a process where Rennin(FPC) is produced. It takes place in huge bioreactors and controlling things such as the precise pH, temperature, time, amount manually is hard labor.</a:t>
            </a:r>
          </a:p>
          <a:p>
            <a:pPr algn="ctr">
              <a:lnSpc>
                <a:spcPts val="4479"/>
              </a:lnSpc>
            </a:pPr>
            <a:endParaRPr lang="en-US" sz="3199" dirty="0">
              <a:solidFill>
                <a:srgbClr val="F4F4F4"/>
              </a:solidFill>
              <a:latin typeface="Open Sans"/>
              <a:ea typeface="Open Sans"/>
              <a:cs typeface="Open Sans"/>
              <a:sym typeface="Open Sans"/>
            </a:endParaRPr>
          </a:p>
          <a:p>
            <a:pPr algn="ctr">
              <a:lnSpc>
                <a:spcPts val="4479"/>
              </a:lnSpc>
            </a:pPr>
            <a:endParaRPr lang="en-US" sz="3199" dirty="0">
              <a:solidFill>
                <a:srgbClr val="F4F4F4"/>
              </a:solidFill>
              <a:latin typeface="Open Sans"/>
              <a:ea typeface="Open Sans"/>
              <a:cs typeface="Open Sans"/>
              <a:sym typeface="Open Sans"/>
            </a:endParaRPr>
          </a:p>
          <a:p>
            <a:pPr algn="ctr">
              <a:lnSpc>
                <a:spcPts val="4479"/>
              </a:lnSpc>
            </a:pPr>
            <a:r>
              <a:rPr lang="en-US" sz="3199" dirty="0">
                <a:solidFill>
                  <a:srgbClr val="FFFFFF"/>
                </a:solidFill>
                <a:latin typeface="Open Sans"/>
                <a:ea typeface="Open Sans"/>
                <a:cs typeface="Open Sans"/>
                <a:sym typeface="Open Sans"/>
              </a:rPr>
              <a:t>A computer engineer can develop the real-time control systems that monitors and adjusts crucial parameters like temperature, pH, and nutrient levels to ensure the microorganisms are producing the enzyme as efficiently as possible. This involves writing software that interfaces with sensors and actuators, and using feedback loops to maintain optimal conditions.</a:t>
            </a:r>
          </a:p>
          <a:p>
            <a:pPr algn="ctr">
              <a:lnSpc>
                <a:spcPts val="4479"/>
              </a:lnSpc>
            </a:pPr>
            <a:endParaRPr lang="en-US" sz="3199" dirty="0">
              <a:solidFill>
                <a:srgbClr val="FFFFFF"/>
              </a:solidFill>
              <a:latin typeface="Open Sans"/>
              <a:ea typeface="Open Sans"/>
              <a:cs typeface="Open Sans"/>
              <a:sym typeface="Open Sans"/>
            </a:endParaRPr>
          </a:p>
          <a:p>
            <a:pPr algn="ctr">
              <a:lnSpc>
                <a:spcPts val="4479"/>
              </a:lnSpc>
              <a:spcBef>
                <a:spcPct val="0"/>
              </a:spcBef>
            </a:pPr>
            <a:r>
              <a:rPr lang="en-US" sz="3199" dirty="0">
                <a:solidFill>
                  <a:srgbClr val="000000"/>
                </a:solidFill>
                <a:latin typeface="Open Sans"/>
                <a:ea typeface="Open Sans"/>
                <a:cs typeface="Open Sans"/>
                <a:sym typeface="Open Sans"/>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6B4C8"/>
        </a:solidFill>
        <a:effectLst/>
      </p:bgPr>
    </p:bg>
    <p:spTree>
      <p:nvGrpSpPr>
        <p:cNvPr id="1" name=""/>
        <p:cNvGrpSpPr/>
        <p:nvPr/>
      </p:nvGrpSpPr>
      <p:grpSpPr>
        <a:xfrm>
          <a:off x="0" y="0"/>
          <a:ext cx="0" cy="0"/>
          <a:chOff x="0" y="0"/>
          <a:chExt cx="0" cy="0"/>
        </a:xfrm>
      </p:grpSpPr>
      <p:sp>
        <p:nvSpPr>
          <p:cNvPr id="2" name="TextBox 2"/>
          <p:cNvSpPr txBox="1"/>
          <p:nvPr/>
        </p:nvSpPr>
        <p:spPr>
          <a:xfrm>
            <a:off x="595966" y="561022"/>
            <a:ext cx="6262033" cy="1064394"/>
          </a:xfrm>
          <a:prstGeom prst="rect">
            <a:avLst/>
          </a:prstGeom>
        </p:spPr>
        <p:txBody>
          <a:bodyPr wrap="square" lIns="0" tIns="0" rIns="0" bIns="0" rtlCol="0" anchor="t">
            <a:spAutoFit/>
          </a:bodyPr>
          <a:lstStyle/>
          <a:p>
            <a:pPr algn="ctr">
              <a:lnSpc>
                <a:spcPts val="8259"/>
              </a:lnSpc>
              <a:spcBef>
                <a:spcPct val="0"/>
              </a:spcBef>
            </a:pPr>
            <a:r>
              <a:rPr lang="en-US" sz="5899" dirty="0" smtClean="0">
                <a:solidFill>
                  <a:srgbClr val="7C339F"/>
                </a:solidFill>
                <a:latin typeface="League Spartan"/>
                <a:ea typeface="League Spartan"/>
                <a:cs typeface="League Spartan"/>
                <a:sym typeface="League Spartan"/>
              </a:rPr>
              <a:t>References:-</a:t>
            </a:r>
            <a:endParaRPr lang="en-US" sz="5899" dirty="0">
              <a:solidFill>
                <a:srgbClr val="7C339F"/>
              </a:solidFill>
              <a:latin typeface="League Spartan"/>
              <a:ea typeface="League Spartan"/>
              <a:cs typeface="League Spartan"/>
              <a:sym typeface="League Spartan"/>
            </a:endParaRPr>
          </a:p>
        </p:txBody>
      </p:sp>
      <p:sp>
        <p:nvSpPr>
          <p:cNvPr id="3" name="TextBox 3"/>
          <p:cNvSpPr txBox="1"/>
          <p:nvPr/>
        </p:nvSpPr>
        <p:spPr>
          <a:xfrm>
            <a:off x="822442" y="2188506"/>
            <a:ext cx="3441482" cy="662941"/>
          </a:xfrm>
          <a:prstGeom prst="rect">
            <a:avLst/>
          </a:prstGeom>
        </p:spPr>
        <p:txBody>
          <a:bodyPr lIns="0" tIns="0" rIns="0" bIns="0" rtlCol="0" anchor="t">
            <a:spAutoFit/>
          </a:bodyPr>
          <a:lstStyle/>
          <a:p>
            <a:pPr algn="ctr">
              <a:lnSpc>
                <a:spcPts val="5459"/>
              </a:lnSpc>
              <a:spcBef>
                <a:spcPct val="0"/>
              </a:spcBef>
            </a:pPr>
            <a:r>
              <a:rPr lang="en-US" sz="3899" dirty="0">
                <a:solidFill>
                  <a:srgbClr val="DC1F76"/>
                </a:solidFill>
                <a:latin typeface="Open Sans"/>
                <a:ea typeface="Open Sans"/>
                <a:cs typeface="Open Sans"/>
                <a:sym typeface="Open Sans"/>
              </a:rPr>
              <a:t>Information:-</a:t>
            </a:r>
          </a:p>
        </p:txBody>
      </p:sp>
      <p:sp>
        <p:nvSpPr>
          <p:cNvPr id="4" name="TextBox 4"/>
          <p:cNvSpPr txBox="1"/>
          <p:nvPr/>
        </p:nvSpPr>
        <p:spPr>
          <a:xfrm>
            <a:off x="595967" y="3082024"/>
            <a:ext cx="16267581" cy="3322321"/>
          </a:xfrm>
          <a:prstGeom prst="rect">
            <a:avLst/>
          </a:prstGeom>
        </p:spPr>
        <p:txBody>
          <a:bodyPr lIns="0" tIns="0" rIns="0" bIns="0" rtlCol="0" anchor="t">
            <a:spAutoFit/>
          </a:bodyPr>
          <a:lstStyle/>
          <a:p>
            <a:pPr algn="ctr">
              <a:lnSpc>
                <a:spcPts val="3779"/>
              </a:lnSpc>
            </a:pPr>
            <a:r>
              <a:rPr lang="en-US" sz="2699" dirty="0">
                <a:solidFill>
                  <a:srgbClr val="1800AD"/>
                </a:solidFill>
                <a:latin typeface="Open Sans"/>
                <a:ea typeface="Open Sans"/>
                <a:cs typeface="Open Sans"/>
                <a:sym typeface="Open Sans"/>
              </a:rPr>
              <a:t>https://www.wisconsincheese.com/the-cheese-life/article/227/how-is-cheese-made-a-comprehensive-guide</a:t>
            </a:r>
          </a:p>
          <a:p>
            <a:pPr algn="ctr">
              <a:lnSpc>
                <a:spcPts val="3779"/>
              </a:lnSpc>
            </a:pPr>
            <a:r>
              <a:rPr lang="en-US" sz="2699" dirty="0">
                <a:solidFill>
                  <a:srgbClr val="1800AD"/>
                </a:solidFill>
                <a:latin typeface="Open Sans"/>
                <a:ea typeface="Open Sans"/>
                <a:cs typeface="Open Sans"/>
                <a:sym typeface="Open Sans"/>
              </a:rPr>
              <a:t>https://en.wikipedia.org/wiki/Chymosin</a:t>
            </a:r>
          </a:p>
          <a:p>
            <a:pPr algn="ctr">
              <a:lnSpc>
                <a:spcPts val="3779"/>
              </a:lnSpc>
            </a:pPr>
            <a:r>
              <a:rPr lang="en-US" sz="2699" dirty="0">
                <a:solidFill>
                  <a:srgbClr val="1800AD"/>
                </a:solidFill>
                <a:latin typeface="Open Sans"/>
                <a:ea typeface="Open Sans"/>
                <a:cs typeface="Open Sans"/>
                <a:sym typeface="Open Sans"/>
              </a:rPr>
              <a:t>https://www.sciencedirect.com/topics/neuroscience/chymosin</a:t>
            </a:r>
          </a:p>
          <a:p>
            <a:pPr algn="ctr">
              <a:lnSpc>
                <a:spcPts val="3779"/>
              </a:lnSpc>
            </a:pPr>
            <a:r>
              <a:rPr lang="en-US" sz="2699" dirty="0">
                <a:solidFill>
                  <a:srgbClr val="1800AD"/>
                </a:solidFill>
                <a:latin typeface="Open Sans"/>
                <a:ea typeface="Open Sans"/>
                <a:cs typeface="Open Sans"/>
                <a:sym typeface="Open Sans"/>
              </a:rPr>
              <a:t>https://vivo.colostate.edu/hbooks/pathphys/digestion/stomach/rennin.html</a:t>
            </a:r>
          </a:p>
          <a:p>
            <a:pPr algn="ctr">
              <a:lnSpc>
                <a:spcPts val="3779"/>
              </a:lnSpc>
              <a:spcBef>
                <a:spcPct val="0"/>
              </a:spcBef>
            </a:pPr>
            <a:r>
              <a:rPr lang="en-US" sz="2699" dirty="0">
                <a:solidFill>
                  <a:srgbClr val="1800AD"/>
                </a:solidFill>
                <a:latin typeface="Open Sans"/>
                <a:ea typeface="Open Sans"/>
                <a:cs typeface="Open Sans"/>
                <a:sym typeface="Open Sans"/>
              </a:rPr>
              <a:t>https://www.researchgate.net/figure/Milk-clotting-activity-of-chymosin-at-different-values-of-temperature-and-pH-The_fig3_305110369</a:t>
            </a:r>
          </a:p>
        </p:txBody>
      </p:sp>
      <p:sp>
        <p:nvSpPr>
          <p:cNvPr id="5" name="TextBox 5"/>
          <p:cNvSpPr txBox="1"/>
          <p:nvPr/>
        </p:nvSpPr>
        <p:spPr>
          <a:xfrm>
            <a:off x="822442" y="6250548"/>
            <a:ext cx="3005740" cy="712472"/>
          </a:xfrm>
          <a:prstGeom prst="rect">
            <a:avLst/>
          </a:prstGeom>
        </p:spPr>
        <p:txBody>
          <a:bodyPr lIns="0" tIns="0" rIns="0" bIns="0" rtlCol="0" anchor="t">
            <a:spAutoFit/>
          </a:bodyPr>
          <a:lstStyle/>
          <a:p>
            <a:pPr algn="ctr">
              <a:lnSpc>
                <a:spcPts val="5879"/>
              </a:lnSpc>
              <a:spcBef>
                <a:spcPct val="0"/>
              </a:spcBef>
            </a:pPr>
            <a:r>
              <a:rPr lang="en-US" sz="4199" dirty="0">
                <a:solidFill>
                  <a:srgbClr val="DC1F76"/>
                </a:solidFill>
                <a:latin typeface="Open Sans"/>
                <a:ea typeface="Open Sans"/>
                <a:cs typeface="Open Sans"/>
                <a:sym typeface="Open Sans"/>
              </a:rPr>
              <a:t>Images:-</a:t>
            </a:r>
          </a:p>
        </p:txBody>
      </p:sp>
      <p:sp>
        <p:nvSpPr>
          <p:cNvPr id="6" name="TextBox 6"/>
          <p:cNvSpPr txBox="1"/>
          <p:nvPr/>
        </p:nvSpPr>
        <p:spPr>
          <a:xfrm>
            <a:off x="0" y="7782169"/>
            <a:ext cx="12505233" cy="1362711"/>
          </a:xfrm>
          <a:prstGeom prst="rect">
            <a:avLst/>
          </a:prstGeom>
        </p:spPr>
        <p:txBody>
          <a:bodyPr lIns="0" tIns="0" rIns="0" bIns="0" rtlCol="0" anchor="t">
            <a:spAutoFit/>
          </a:bodyPr>
          <a:lstStyle/>
          <a:p>
            <a:pPr algn="ctr">
              <a:lnSpc>
                <a:spcPts val="3639"/>
              </a:lnSpc>
            </a:pPr>
            <a:r>
              <a:rPr lang="en-US" sz="2599" dirty="0">
                <a:solidFill>
                  <a:srgbClr val="1800AD"/>
                </a:solidFill>
                <a:latin typeface="Open Sans"/>
                <a:ea typeface="Open Sans"/>
                <a:cs typeface="Open Sans"/>
                <a:sym typeface="Open Sans"/>
              </a:rPr>
              <a:t>https://www.chemistryworld.com/podcasts/chymosin/3007682.articlef </a:t>
            </a:r>
          </a:p>
          <a:p>
            <a:pPr algn="ctr">
              <a:lnSpc>
                <a:spcPts val="3639"/>
              </a:lnSpc>
            </a:pPr>
            <a:r>
              <a:rPr lang="en-US" sz="2599" dirty="0">
                <a:solidFill>
                  <a:srgbClr val="1800AD"/>
                </a:solidFill>
                <a:latin typeface="Open Sans"/>
                <a:ea typeface="Open Sans"/>
                <a:cs typeface="Open Sans"/>
                <a:sym typeface="Open Sans"/>
              </a:rPr>
              <a:t>https://www.mdpi.com/2304-8158/11/6/871</a:t>
            </a:r>
          </a:p>
          <a:p>
            <a:pPr algn="ctr">
              <a:lnSpc>
                <a:spcPts val="3639"/>
              </a:lnSpc>
              <a:spcBef>
                <a:spcPct val="0"/>
              </a:spcBef>
            </a:pPr>
            <a:r>
              <a:rPr lang="en-US" sz="2599" dirty="0">
                <a:solidFill>
                  <a:srgbClr val="1800AD"/>
                </a:solidFill>
                <a:latin typeface="Open Sans"/>
                <a:ea typeface="Open Sans"/>
                <a:cs typeface="Open Sans"/>
                <a:sym typeface="Open Sans"/>
              </a:rPr>
              <a:t>https://market.us/report/fermented-chymosin-market/</a:t>
            </a:r>
          </a:p>
        </p:txBody>
      </p:sp>
      <p:sp>
        <p:nvSpPr>
          <p:cNvPr id="7" name="TextBox 7"/>
          <p:cNvSpPr txBox="1"/>
          <p:nvPr/>
        </p:nvSpPr>
        <p:spPr>
          <a:xfrm>
            <a:off x="12448532" y="9153525"/>
            <a:ext cx="5839468" cy="1038746"/>
          </a:xfrm>
          <a:prstGeom prst="rect">
            <a:avLst/>
          </a:prstGeom>
        </p:spPr>
        <p:txBody>
          <a:bodyPr wrap="square" lIns="0" tIns="0" rIns="0" bIns="0" rtlCol="0" anchor="t">
            <a:spAutoFit/>
          </a:bodyPr>
          <a:lstStyle/>
          <a:p>
            <a:pPr algn="ctr">
              <a:lnSpc>
                <a:spcPts val="8119"/>
              </a:lnSpc>
              <a:spcBef>
                <a:spcPct val="0"/>
              </a:spcBef>
            </a:pPr>
            <a:r>
              <a:rPr lang="en-US" sz="5799" dirty="0">
                <a:solidFill>
                  <a:srgbClr val="7C339F"/>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724</Words>
  <Application>Microsoft Office PowerPoint</Application>
  <PresentationFormat>Custom</PresentationFormat>
  <Paragraphs>65</Paragraphs>
  <Slides>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Calibri</vt:lpstr>
      <vt:lpstr>League Spartan</vt:lpstr>
      <vt:lpstr>Open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Rennin enzyme and its industrial product</dc:title>
  <dc:creator>Admin</dc:creator>
  <cp:lastModifiedBy>Admin</cp:lastModifiedBy>
  <cp:revision>6</cp:revision>
  <dcterms:created xsi:type="dcterms:W3CDTF">2006-08-16T00:00:00Z</dcterms:created>
  <dcterms:modified xsi:type="dcterms:W3CDTF">2025-09-21T07:04:07Z</dcterms:modified>
  <dc:identifier>DAGzh2PiADE</dc:identifier>
</cp:coreProperties>
</file>