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Lovelace" panose="020B0604020202020204" charset="0"/>
      <p:regular r:id="rId8"/>
    </p:embeddedFont>
    <p:embeddedFont>
      <p:font typeface="Lovelace Italics" panose="020B0604020202020204" charset="0"/>
      <p:regular r:id="rId9"/>
    </p:embeddedFont>
    <p:embeddedFont>
      <p:font typeface="TT Hoves" panose="020B0604020202020204" charset="0"/>
      <p:regular r:id="rId10"/>
    </p:embeddedFont>
    <p:embeddedFont>
      <p:font typeface="TT Hoves Bold" panose="020B0604020202020204" charset="0"/>
      <p:regular r:id="rId11"/>
    </p:embeddedFont>
    <p:embeddedFont>
      <p:font typeface="TT Hoves Bold Italics"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svg"/><Relationship Id="rId7" Type="http://schemas.openxmlformats.org/officeDocument/2006/relationships/image" Target="../media/image23.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780C0"/>
        </a:solidFill>
        <a:effectLst/>
      </p:bgPr>
    </p:bg>
    <p:spTree>
      <p:nvGrpSpPr>
        <p:cNvPr id="1" name=""/>
        <p:cNvGrpSpPr/>
        <p:nvPr/>
      </p:nvGrpSpPr>
      <p:grpSpPr>
        <a:xfrm>
          <a:off x="0" y="0"/>
          <a:ext cx="0" cy="0"/>
          <a:chOff x="0" y="0"/>
          <a:chExt cx="0" cy="0"/>
        </a:xfrm>
      </p:grpSpPr>
      <p:sp>
        <p:nvSpPr>
          <p:cNvPr id="2" name="Freeform 2"/>
          <p:cNvSpPr/>
          <p:nvPr/>
        </p:nvSpPr>
        <p:spPr>
          <a:xfrm>
            <a:off x="-3140556" y="7889271"/>
            <a:ext cx="8338513" cy="8338513"/>
          </a:xfrm>
          <a:custGeom>
            <a:avLst/>
            <a:gdLst/>
            <a:ahLst/>
            <a:cxnLst/>
            <a:rect l="l" t="t" r="r" b="b"/>
            <a:pathLst>
              <a:path w="8338513" h="8338513">
                <a:moveTo>
                  <a:pt x="0" y="0"/>
                </a:moveTo>
                <a:lnTo>
                  <a:pt x="8338512" y="0"/>
                </a:lnTo>
                <a:lnTo>
                  <a:pt x="8338512" y="8338512"/>
                </a:lnTo>
                <a:lnTo>
                  <a:pt x="0" y="83385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090770" y="-5871599"/>
            <a:ext cx="8338513" cy="8338513"/>
          </a:xfrm>
          <a:custGeom>
            <a:avLst/>
            <a:gdLst/>
            <a:ahLst/>
            <a:cxnLst/>
            <a:rect l="l" t="t" r="r" b="b"/>
            <a:pathLst>
              <a:path w="8338513" h="8338513">
                <a:moveTo>
                  <a:pt x="0" y="0"/>
                </a:moveTo>
                <a:lnTo>
                  <a:pt x="8338513" y="0"/>
                </a:lnTo>
                <a:lnTo>
                  <a:pt x="8338513" y="8338512"/>
                </a:lnTo>
                <a:lnTo>
                  <a:pt x="0" y="83385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864894" y="3345151"/>
            <a:ext cx="12553941" cy="1843602"/>
          </a:xfrm>
          <a:prstGeom prst="rect">
            <a:avLst/>
          </a:prstGeom>
        </p:spPr>
        <p:txBody>
          <a:bodyPr lIns="0" tIns="0" rIns="0" bIns="0" rtlCol="0" anchor="t">
            <a:spAutoFit/>
          </a:bodyPr>
          <a:lstStyle/>
          <a:p>
            <a:pPr algn="ctr">
              <a:lnSpc>
                <a:spcPts val="12759"/>
              </a:lnSpc>
            </a:pPr>
            <a:r>
              <a:rPr lang="en-US" sz="16357" spc="-1014" dirty="0">
                <a:solidFill>
                  <a:srgbClr val="FBF9F5"/>
                </a:solidFill>
                <a:latin typeface="Lovelace"/>
                <a:ea typeface="Lovelace"/>
                <a:cs typeface="Lovelace"/>
                <a:sym typeface="Lovelace"/>
              </a:rPr>
              <a:t>CELLULASE</a:t>
            </a:r>
          </a:p>
        </p:txBody>
      </p:sp>
      <p:sp>
        <p:nvSpPr>
          <p:cNvPr id="5" name="TextBox 5"/>
          <p:cNvSpPr txBox="1"/>
          <p:nvPr/>
        </p:nvSpPr>
        <p:spPr>
          <a:xfrm>
            <a:off x="4003907" y="6538213"/>
            <a:ext cx="10280186" cy="1843602"/>
          </a:xfrm>
          <a:prstGeom prst="rect">
            <a:avLst/>
          </a:prstGeom>
        </p:spPr>
        <p:txBody>
          <a:bodyPr lIns="0" tIns="0" rIns="0" bIns="0" rtlCol="0" anchor="t">
            <a:spAutoFit/>
          </a:bodyPr>
          <a:lstStyle/>
          <a:p>
            <a:pPr algn="ctr">
              <a:lnSpc>
                <a:spcPts val="12759"/>
              </a:lnSpc>
            </a:pPr>
            <a:r>
              <a:rPr lang="en-US" sz="16357" i="1" spc="-1014">
                <a:solidFill>
                  <a:srgbClr val="FBF9F5"/>
                </a:solidFill>
                <a:latin typeface="Lovelace Italics"/>
                <a:ea typeface="Lovelace Italics"/>
                <a:cs typeface="Lovelace Italics"/>
                <a:sym typeface="Lovelace Italics"/>
              </a:rPr>
              <a:t>DENIM</a:t>
            </a:r>
          </a:p>
        </p:txBody>
      </p:sp>
      <p:sp>
        <p:nvSpPr>
          <p:cNvPr id="6" name="Freeform 6"/>
          <p:cNvSpPr/>
          <p:nvPr/>
        </p:nvSpPr>
        <p:spPr>
          <a:xfrm>
            <a:off x="7620836" y="6340678"/>
            <a:ext cx="1208574" cy="1208574"/>
          </a:xfrm>
          <a:custGeom>
            <a:avLst/>
            <a:gdLst/>
            <a:ahLst/>
            <a:cxnLst/>
            <a:rect l="l" t="t" r="r" b="b"/>
            <a:pathLst>
              <a:path w="1208574" h="1208574">
                <a:moveTo>
                  <a:pt x="0" y="0"/>
                </a:moveTo>
                <a:lnTo>
                  <a:pt x="1208574" y="0"/>
                </a:lnTo>
                <a:lnTo>
                  <a:pt x="1208574" y="1208574"/>
                </a:lnTo>
                <a:lnTo>
                  <a:pt x="0" y="12085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79398" y="1028700"/>
            <a:ext cx="5277354" cy="352918"/>
          </a:xfrm>
          <a:custGeom>
            <a:avLst/>
            <a:gdLst/>
            <a:ahLst/>
            <a:cxnLst/>
            <a:rect l="l" t="t" r="r" b="b"/>
            <a:pathLst>
              <a:path w="5277354" h="352918">
                <a:moveTo>
                  <a:pt x="0" y="0"/>
                </a:moveTo>
                <a:lnTo>
                  <a:pt x="5277354" y="0"/>
                </a:lnTo>
                <a:lnTo>
                  <a:pt x="5277354" y="352918"/>
                </a:lnTo>
                <a:lnTo>
                  <a:pt x="0" y="3529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6852445" y="1549194"/>
            <a:ext cx="4578840" cy="1020316"/>
          </a:xfrm>
          <a:prstGeom prst="rect">
            <a:avLst/>
          </a:prstGeom>
        </p:spPr>
        <p:txBody>
          <a:bodyPr lIns="0" tIns="0" rIns="0" bIns="0" rtlCol="0" anchor="t">
            <a:spAutoFit/>
          </a:bodyPr>
          <a:lstStyle/>
          <a:p>
            <a:pPr algn="ctr">
              <a:lnSpc>
                <a:spcPts val="8337"/>
              </a:lnSpc>
            </a:pPr>
            <a:r>
              <a:rPr lang="en-US" sz="5955" b="1" i="1" dirty="0">
                <a:solidFill>
                  <a:srgbClr val="FBF9F5"/>
                </a:solidFill>
                <a:latin typeface="TT Hoves Bold Italics"/>
                <a:ea typeface="TT Hoves Bold Italics"/>
                <a:cs typeface="TT Hoves Bold Italics"/>
                <a:sym typeface="TT Hoves Bold Italics"/>
              </a:rPr>
              <a:t>FROM</a:t>
            </a:r>
          </a:p>
        </p:txBody>
      </p:sp>
      <p:sp>
        <p:nvSpPr>
          <p:cNvPr id="9" name="TextBox 9"/>
          <p:cNvSpPr txBox="1"/>
          <p:nvPr/>
        </p:nvSpPr>
        <p:spPr>
          <a:xfrm>
            <a:off x="6151429" y="4802215"/>
            <a:ext cx="5980870" cy="970786"/>
          </a:xfrm>
          <a:prstGeom prst="rect">
            <a:avLst/>
          </a:prstGeom>
        </p:spPr>
        <p:txBody>
          <a:bodyPr lIns="0" tIns="0" rIns="0" bIns="0" rtlCol="0" anchor="t">
            <a:spAutoFit/>
          </a:bodyPr>
          <a:lstStyle/>
          <a:p>
            <a:pPr algn="ctr">
              <a:lnSpc>
                <a:spcPts val="7917"/>
              </a:lnSpc>
            </a:pPr>
            <a:r>
              <a:rPr lang="en-US" sz="5655" b="1" i="1" dirty="0">
                <a:solidFill>
                  <a:srgbClr val="FBF9F5"/>
                </a:solidFill>
                <a:latin typeface="TT Hoves Bold Italics"/>
                <a:ea typeface="TT Hoves Bold Italics"/>
                <a:cs typeface="TT Hoves Bold Italics"/>
                <a:sym typeface="TT Hoves Bold Italics"/>
              </a:rPr>
              <a:t>TO</a:t>
            </a:r>
          </a:p>
        </p:txBody>
      </p:sp>
      <p:sp>
        <p:nvSpPr>
          <p:cNvPr id="10" name="Freeform 10"/>
          <p:cNvSpPr/>
          <p:nvPr/>
        </p:nvSpPr>
        <p:spPr>
          <a:xfrm flipH="1">
            <a:off x="10363200" y="8788757"/>
            <a:ext cx="7924800" cy="530268"/>
          </a:xfrm>
          <a:custGeom>
            <a:avLst/>
            <a:gdLst/>
            <a:ahLst/>
            <a:cxnLst/>
            <a:rect l="l" t="t" r="r" b="b"/>
            <a:pathLst>
              <a:path w="7021302" h="469543">
                <a:moveTo>
                  <a:pt x="7021302" y="0"/>
                </a:moveTo>
                <a:lnTo>
                  <a:pt x="0" y="0"/>
                </a:lnTo>
                <a:lnTo>
                  <a:pt x="0" y="469543"/>
                </a:lnTo>
                <a:lnTo>
                  <a:pt x="7021302" y="469543"/>
                </a:lnTo>
                <a:lnTo>
                  <a:pt x="7021302"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344181" y="615244"/>
            <a:ext cx="4430197" cy="589915"/>
          </a:xfrm>
          <a:prstGeom prst="rect">
            <a:avLst/>
          </a:prstGeom>
        </p:spPr>
        <p:txBody>
          <a:bodyPr lIns="0" tIns="0" rIns="0" bIns="0" rtlCol="0" anchor="t">
            <a:spAutoFit/>
          </a:bodyPr>
          <a:lstStyle/>
          <a:p>
            <a:pPr algn="ctr">
              <a:lnSpc>
                <a:spcPts val="4759"/>
              </a:lnSpc>
            </a:pPr>
            <a:r>
              <a:rPr lang="en-US" sz="3399">
                <a:solidFill>
                  <a:srgbClr val="FBF9F5"/>
                </a:solidFill>
                <a:latin typeface="Lovelace"/>
                <a:ea typeface="Lovelace"/>
                <a:cs typeface="Lovelace"/>
                <a:sym typeface="Lovelace"/>
              </a:rPr>
              <a:t>Biology Presentation</a:t>
            </a:r>
          </a:p>
        </p:txBody>
      </p:sp>
      <p:sp>
        <p:nvSpPr>
          <p:cNvPr id="12" name="TextBox 12"/>
          <p:cNvSpPr txBox="1"/>
          <p:nvPr/>
        </p:nvSpPr>
        <p:spPr>
          <a:xfrm>
            <a:off x="10896600" y="8290329"/>
            <a:ext cx="7021302" cy="589915"/>
          </a:xfrm>
          <a:prstGeom prst="rect">
            <a:avLst/>
          </a:prstGeom>
        </p:spPr>
        <p:txBody>
          <a:bodyPr lIns="0" tIns="0" rIns="0" bIns="0" rtlCol="0" anchor="t">
            <a:spAutoFit/>
          </a:bodyPr>
          <a:lstStyle/>
          <a:p>
            <a:pPr algn="ctr">
              <a:lnSpc>
                <a:spcPts val="4759"/>
              </a:lnSpc>
            </a:pPr>
            <a:r>
              <a:rPr lang="en-US" sz="3399" dirty="0">
                <a:solidFill>
                  <a:srgbClr val="FBF9F5"/>
                </a:solidFill>
                <a:latin typeface="Lovelace"/>
                <a:ea typeface="Lovelace"/>
                <a:cs typeface="Lovelace"/>
                <a:sym typeface="Lovelace"/>
              </a:rPr>
              <a:t>Krithika Vishwakarma, Div D-62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780C0"/>
        </a:solidFill>
        <a:effectLst/>
      </p:bgPr>
    </p:bg>
    <p:spTree>
      <p:nvGrpSpPr>
        <p:cNvPr id="1" name=""/>
        <p:cNvGrpSpPr/>
        <p:nvPr/>
      </p:nvGrpSpPr>
      <p:grpSpPr>
        <a:xfrm>
          <a:off x="0" y="0"/>
          <a:ext cx="0" cy="0"/>
          <a:chOff x="0" y="0"/>
          <a:chExt cx="0" cy="0"/>
        </a:xfrm>
      </p:grpSpPr>
      <p:sp>
        <p:nvSpPr>
          <p:cNvPr id="2" name="Freeform 2"/>
          <p:cNvSpPr/>
          <p:nvPr/>
        </p:nvSpPr>
        <p:spPr>
          <a:xfrm>
            <a:off x="14140487" y="-3140556"/>
            <a:ext cx="8338513" cy="8338513"/>
          </a:xfrm>
          <a:custGeom>
            <a:avLst/>
            <a:gdLst/>
            <a:ahLst/>
            <a:cxnLst/>
            <a:rect l="l" t="t" r="r" b="b"/>
            <a:pathLst>
              <a:path w="8338513" h="8338513">
                <a:moveTo>
                  <a:pt x="0" y="0"/>
                </a:moveTo>
                <a:lnTo>
                  <a:pt x="8338512" y="0"/>
                </a:lnTo>
                <a:lnTo>
                  <a:pt x="8338512" y="8338512"/>
                </a:lnTo>
                <a:lnTo>
                  <a:pt x="0" y="83385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778605" y="1959768"/>
            <a:ext cx="8184048" cy="2176303"/>
          </a:xfrm>
          <a:prstGeom prst="rect">
            <a:avLst/>
          </a:prstGeom>
        </p:spPr>
        <p:txBody>
          <a:bodyPr lIns="0" tIns="0" rIns="0" bIns="0" rtlCol="0" anchor="t">
            <a:spAutoFit/>
          </a:bodyPr>
          <a:lstStyle/>
          <a:p>
            <a:pPr algn="l">
              <a:lnSpc>
                <a:spcPts val="8006"/>
              </a:lnSpc>
            </a:pPr>
            <a:r>
              <a:rPr lang="en-US" sz="10264" spc="-636">
                <a:solidFill>
                  <a:srgbClr val="FBF9F5"/>
                </a:solidFill>
                <a:latin typeface="Lovelace"/>
                <a:ea typeface="Lovelace"/>
                <a:cs typeface="Lovelace"/>
                <a:sym typeface="Lovelace"/>
              </a:rPr>
              <a:t>ABOUT CELLULASE</a:t>
            </a:r>
          </a:p>
        </p:txBody>
      </p:sp>
      <p:sp>
        <p:nvSpPr>
          <p:cNvPr id="4" name="Freeform 4"/>
          <p:cNvSpPr/>
          <p:nvPr/>
        </p:nvSpPr>
        <p:spPr>
          <a:xfrm>
            <a:off x="-3958622" y="8005163"/>
            <a:ext cx="8338513" cy="8338513"/>
          </a:xfrm>
          <a:custGeom>
            <a:avLst/>
            <a:gdLst/>
            <a:ahLst/>
            <a:cxnLst/>
            <a:rect l="l" t="t" r="r" b="b"/>
            <a:pathLst>
              <a:path w="8338513" h="8338513">
                <a:moveTo>
                  <a:pt x="0" y="0"/>
                </a:moveTo>
                <a:lnTo>
                  <a:pt x="8338512" y="0"/>
                </a:lnTo>
                <a:lnTo>
                  <a:pt x="8338512" y="8338512"/>
                </a:lnTo>
                <a:lnTo>
                  <a:pt x="0" y="83385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8962653" y="2317960"/>
            <a:ext cx="1139859" cy="1069395"/>
          </a:xfrm>
          <a:custGeom>
            <a:avLst/>
            <a:gdLst/>
            <a:ahLst/>
            <a:cxnLst/>
            <a:rect l="l" t="t" r="r" b="b"/>
            <a:pathLst>
              <a:path w="1139859" h="1069395">
                <a:moveTo>
                  <a:pt x="0" y="0"/>
                </a:moveTo>
                <a:lnTo>
                  <a:pt x="1139859" y="0"/>
                </a:lnTo>
                <a:lnTo>
                  <a:pt x="1139859" y="1069395"/>
                </a:lnTo>
                <a:lnTo>
                  <a:pt x="0" y="10693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050489" y="3963916"/>
            <a:ext cx="942066" cy="942066"/>
          </a:xfrm>
          <a:custGeom>
            <a:avLst/>
            <a:gdLst/>
            <a:ahLst/>
            <a:cxnLst/>
            <a:rect l="l" t="t" r="r" b="b"/>
            <a:pathLst>
              <a:path w="942066" h="942066">
                <a:moveTo>
                  <a:pt x="0" y="0"/>
                </a:moveTo>
                <a:lnTo>
                  <a:pt x="942066" y="0"/>
                </a:lnTo>
                <a:lnTo>
                  <a:pt x="942066" y="942066"/>
                </a:lnTo>
                <a:lnTo>
                  <a:pt x="0" y="9420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1992555" y="4183697"/>
            <a:ext cx="14302890" cy="550131"/>
          </a:xfrm>
          <a:prstGeom prst="rect">
            <a:avLst/>
          </a:prstGeom>
        </p:spPr>
        <p:txBody>
          <a:bodyPr lIns="0" tIns="0" rIns="0" bIns="0" rtlCol="0" anchor="t">
            <a:spAutoFit/>
          </a:bodyPr>
          <a:lstStyle/>
          <a:p>
            <a:pPr marL="0" lvl="0" indent="0" algn="just">
              <a:lnSpc>
                <a:spcPts val="4278"/>
              </a:lnSpc>
              <a:spcBef>
                <a:spcPct val="0"/>
              </a:spcBef>
            </a:pPr>
            <a:r>
              <a:rPr lang="en-US" sz="3924" spc="-153">
                <a:solidFill>
                  <a:srgbClr val="ECEBE4"/>
                </a:solidFill>
                <a:latin typeface="TT Hoves"/>
                <a:ea typeface="TT Hoves"/>
                <a:cs typeface="TT Hoves"/>
                <a:sym typeface="TT Hoves"/>
              </a:rPr>
              <a:t>Cellulase is an enzyme that breaksdown cellulose into simpler sugars. </a:t>
            </a:r>
          </a:p>
        </p:txBody>
      </p:sp>
      <p:sp>
        <p:nvSpPr>
          <p:cNvPr id="8" name="TextBox 8"/>
          <p:cNvSpPr txBox="1"/>
          <p:nvPr/>
        </p:nvSpPr>
        <p:spPr>
          <a:xfrm>
            <a:off x="1992555" y="4946704"/>
            <a:ext cx="14302890" cy="550131"/>
          </a:xfrm>
          <a:prstGeom prst="rect">
            <a:avLst/>
          </a:prstGeom>
        </p:spPr>
        <p:txBody>
          <a:bodyPr lIns="0" tIns="0" rIns="0" bIns="0" rtlCol="0" anchor="t">
            <a:spAutoFit/>
          </a:bodyPr>
          <a:lstStyle/>
          <a:p>
            <a:pPr marL="0" lvl="0" indent="0" algn="just">
              <a:lnSpc>
                <a:spcPts val="4278"/>
              </a:lnSpc>
              <a:spcBef>
                <a:spcPct val="0"/>
              </a:spcBef>
            </a:pPr>
            <a:r>
              <a:rPr lang="en-US" sz="3924" spc="-153">
                <a:solidFill>
                  <a:srgbClr val="ECEBE4"/>
                </a:solidFill>
                <a:latin typeface="TT Hoves"/>
                <a:ea typeface="TT Hoves"/>
                <a:cs typeface="TT Hoves"/>
                <a:sym typeface="TT Hoves"/>
              </a:rPr>
              <a:t>It is majorly found in plants and is absent in humans.</a:t>
            </a:r>
          </a:p>
        </p:txBody>
      </p:sp>
      <p:sp>
        <p:nvSpPr>
          <p:cNvPr id="9" name="TextBox 9"/>
          <p:cNvSpPr txBox="1"/>
          <p:nvPr/>
        </p:nvSpPr>
        <p:spPr>
          <a:xfrm>
            <a:off x="1992555" y="5706384"/>
            <a:ext cx="14302890" cy="1093056"/>
          </a:xfrm>
          <a:prstGeom prst="rect">
            <a:avLst/>
          </a:prstGeom>
        </p:spPr>
        <p:txBody>
          <a:bodyPr lIns="0" tIns="0" rIns="0" bIns="0" rtlCol="0" anchor="t">
            <a:spAutoFit/>
          </a:bodyPr>
          <a:lstStyle/>
          <a:p>
            <a:pPr marL="0" lvl="0" indent="0" algn="just">
              <a:lnSpc>
                <a:spcPts val="4278"/>
              </a:lnSpc>
              <a:spcBef>
                <a:spcPct val="0"/>
              </a:spcBef>
            </a:pPr>
            <a:r>
              <a:rPr lang="en-US" sz="3924" spc="-153">
                <a:solidFill>
                  <a:srgbClr val="ECEBE4"/>
                </a:solidFill>
                <a:latin typeface="TT Hoves"/>
                <a:ea typeface="TT Hoves"/>
                <a:cs typeface="TT Hoves"/>
                <a:sym typeface="TT Hoves"/>
              </a:rPr>
              <a:t>Cellulose breakdown is of great economic importance as  it constitutes major part of plants  available for consumption and chemical reactions.</a:t>
            </a:r>
          </a:p>
        </p:txBody>
      </p:sp>
      <p:sp>
        <p:nvSpPr>
          <p:cNvPr id="10" name="TextBox 10"/>
          <p:cNvSpPr txBox="1"/>
          <p:nvPr/>
        </p:nvSpPr>
        <p:spPr>
          <a:xfrm>
            <a:off x="1992555" y="7210985"/>
            <a:ext cx="14302890" cy="1635981"/>
          </a:xfrm>
          <a:prstGeom prst="rect">
            <a:avLst/>
          </a:prstGeom>
        </p:spPr>
        <p:txBody>
          <a:bodyPr lIns="0" tIns="0" rIns="0" bIns="0" rtlCol="0" anchor="t">
            <a:spAutoFit/>
          </a:bodyPr>
          <a:lstStyle/>
          <a:p>
            <a:pPr algn="just">
              <a:lnSpc>
                <a:spcPts val="4278"/>
              </a:lnSpc>
            </a:pPr>
            <a:r>
              <a:rPr lang="en-US" sz="3924" spc="-153" dirty="0">
                <a:solidFill>
                  <a:srgbClr val="ECEBE4"/>
                </a:solidFill>
                <a:latin typeface="TT Hoves"/>
                <a:ea typeface="TT Hoves"/>
                <a:cs typeface="TT Hoves"/>
                <a:sym typeface="TT Hoves"/>
              </a:rPr>
              <a:t>It has a multi-enzyme structure with 3 constituent complexes and has been used by scientists for </a:t>
            </a:r>
            <a:r>
              <a:rPr lang="en-US" sz="3924" spc="-153" dirty="0" err="1">
                <a:solidFill>
                  <a:srgbClr val="ECEBE4"/>
                </a:solidFill>
                <a:latin typeface="TT Hoves"/>
                <a:ea typeface="TT Hoves"/>
                <a:cs typeface="TT Hoves"/>
                <a:sym typeface="TT Hoves"/>
              </a:rPr>
              <a:t>commerical</a:t>
            </a:r>
            <a:r>
              <a:rPr lang="en-US" sz="3924" spc="-153" dirty="0">
                <a:solidFill>
                  <a:srgbClr val="ECEBE4"/>
                </a:solidFill>
                <a:latin typeface="TT Hoves"/>
                <a:ea typeface="TT Hoves"/>
                <a:cs typeface="TT Hoves"/>
                <a:sym typeface="TT Hoves"/>
              </a:rPr>
              <a:t> production of glucose. </a:t>
            </a:r>
          </a:p>
          <a:p>
            <a:pPr marL="0" lvl="0" indent="0" algn="just">
              <a:lnSpc>
                <a:spcPts val="4278"/>
              </a:lnSpc>
              <a:spcBef>
                <a:spcPct val="0"/>
              </a:spcBef>
            </a:pPr>
            <a:endParaRPr lang="en-US" sz="3924" spc="-153" dirty="0">
              <a:solidFill>
                <a:srgbClr val="ECEBE4"/>
              </a:solidFill>
              <a:latin typeface="TT Hoves"/>
              <a:ea typeface="TT Hoves"/>
              <a:cs typeface="TT Hoves"/>
              <a:sym typeface="TT Hoves"/>
            </a:endParaRPr>
          </a:p>
        </p:txBody>
      </p:sp>
      <p:sp>
        <p:nvSpPr>
          <p:cNvPr id="11" name="Freeform 11"/>
          <p:cNvSpPr/>
          <p:nvPr/>
        </p:nvSpPr>
        <p:spPr>
          <a:xfrm>
            <a:off x="1050489" y="4733827"/>
            <a:ext cx="942066" cy="942066"/>
          </a:xfrm>
          <a:custGeom>
            <a:avLst/>
            <a:gdLst/>
            <a:ahLst/>
            <a:cxnLst/>
            <a:rect l="l" t="t" r="r" b="b"/>
            <a:pathLst>
              <a:path w="942066" h="942066">
                <a:moveTo>
                  <a:pt x="0" y="0"/>
                </a:moveTo>
                <a:lnTo>
                  <a:pt x="942066" y="0"/>
                </a:lnTo>
                <a:lnTo>
                  <a:pt x="942066" y="942066"/>
                </a:lnTo>
                <a:lnTo>
                  <a:pt x="0" y="9420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050489" y="5503738"/>
            <a:ext cx="942066" cy="942066"/>
          </a:xfrm>
          <a:custGeom>
            <a:avLst/>
            <a:gdLst/>
            <a:ahLst/>
            <a:cxnLst/>
            <a:rect l="l" t="t" r="r" b="b"/>
            <a:pathLst>
              <a:path w="942066" h="942066">
                <a:moveTo>
                  <a:pt x="0" y="0"/>
                </a:moveTo>
                <a:lnTo>
                  <a:pt x="942066" y="0"/>
                </a:lnTo>
                <a:lnTo>
                  <a:pt x="942066" y="942066"/>
                </a:lnTo>
                <a:lnTo>
                  <a:pt x="0" y="9420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050489" y="6961365"/>
            <a:ext cx="942066" cy="942066"/>
          </a:xfrm>
          <a:custGeom>
            <a:avLst/>
            <a:gdLst/>
            <a:ahLst/>
            <a:cxnLst/>
            <a:rect l="l" t="t" r="r" b="b"/>
            <a:pathLst>
              <a:path w="942066" h="942066">
                <a:moveTo>
                  <a:pt x="0" y="0"/>
                </a:moveTo>
                <a:lnTo>
                  <a:pt x="942066" y="0"/>
                </a:lnTo>
                <a:lnTo>
                  <a:pt x="942066" y="942066"/>
                </a:lnTo>
                <a:lnTo>
                  <a:pt x="0" y="9420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780C0"/>
        </a:solidFill>
        <a:effectLst/>
      </p:bgPr>
    </p:bg>
    <p:spTree>
      <p:nvGrpSpPr>
        <p:cNvPr id="1" name=""/>
        <p:cNvGrpSpPr/>
        <p:nvPr/>
      </p:nvGrpSpPr>
      <p:grpSpPr>
        <a:xfrm>
          <a:off x="0" y="0"/>
          <a:ext cx="0" cy="0"/>
          <a:chOff x="0" y="0"/>
          <a:chExt cx="0" cy="0"/>
        </a:xfrm>
      </p:grpSpPr>
      <p:sp>
        <p:nvSpPr>
          <p:cNvPr id="2" name="TextBox 2"/>
          <p:cNvSpPr txBox="1"/>
          <p:nvPr/>
        </p:nvSpPr>
        <p:spPr>
          <a:xfrm>
            <a:off x="2449636" y="1686633"/>
            <a:ext cx="13012787" cy="1127413"/>
          </a:xfrm>
          <a:prstGeom prst="rect">
            <a:avLst/>
          </a:prstGeom>
        </p:spPr>
        <p:txBody>
          <a:bodyPr lIns="0" tIns="0" rIns="0" bIns="0" rtlCol="0" anchor="t">
            <a:spAutoFit/>
          </a:bodyPr>
          <a:lstStyle/>
          <a:p>
            <a:pPr algn="ctr">
              <a:lnSpc>
                <a:spcPts val="7850"/>
              </a:lnSpc>
            </a:pPr>
            <a:r>
              <a:rPr lang="en-US" sz="10064" spc="-624">
                <a:solidFill>
                  <a:srgbClr val="FBF9F5"/>
                </a:solidFill>
                <a:latin typeface="Lovelace"/>
                <a:ea typeface="Lovelace"/>
                <a:cs typeface="Lovelace"/>
                <a:sym typeface="Lovelace"/>
              </a:rPr>
              <a:t>ENZYME WASHING</a:t>
            </a:r>
          </a:p>
        </p:txBody>
      </p:sp>
      <p:sp>
        <p:nvSpPr>
          <p:cNvPr id="3" name="Freeform 3"/>
          <p:cNvSpPr/>
          <p:nvPr/>
        </p:nvSpPr>
        <p:spPr>
          <a:xfrm>
            <a:off x="3160117" y="1570984"/>
            <a:ext cx="681973" cy="681973"/>
          </a:xfrm>
          <a:custGeom>
            <a:avLst/>
            <a:gdLst/>
            <a:ahLst/>
            <a:cxnLst/>
            <a:rect l="l" t="t" r="r" b="b"/>
            <a:pathLst>
              <a:path w="681973" h="681973">
                <a:moveTo>
                  <a:pt x="0" y="0"/>
                </a:moveTo>
                <a:lnTo>
                  <a:pt x="681973" y="0"/>
                </a:lnTo>
                <a:lnTo>
                  <a:pt x="681973" y="681973"/>
                </a:lnTo>
                <a:lnTo>
                  <a:pt x="0" y="681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8166796" y="8755484"/>
            <a:ext cx="1954408" cy="1005632"/>
          </a:xfrm>
          <a:custGeom>
            <a:avLst/>
            <a:gdLst/>
            <a:ahLst/>
            <a:cxnLst/>
            <a:rect l="l" t="t" r="r" b="b"/>
            <a:pathLst>
              <a:path w="1954408" h="1005632">
                <a:moveTo>
                  <a:pt x="0" y="0"/>
                </a:moveTo>
                <a:lnTo>
                  <a:pt x="1954408" y="0"/>
                </a:lnTo>
                <a:lnTo>
                  <a:pt x="1954408" y="1005632"/>
                </a:lnTo>
                <a:lnTo>
                  <a:pt x="0" y="10056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AutoShape 5"/>
          <p:cNvSpPr/>
          <p:nvPr/>
        </p:nvSpPr>
        <p:spPr>
          <a:xfrm>
            <a:off x="0" y="9239250"/>
            <a:ext cx="7792669" cy="0"/>
          </a:xfrm>
          <a:prstGeom prst="line">
            <a:avLst/>
          </a:prstGeom>
          <a:ln w="19050" cap="flat">
            <a:solidFill>
              <a:srgbClr val="FBF9F5"/>
            </a:solidFill>
            <a:prstDash val="solid"/>
            <a:headEnd type="none" w="sm" len="sm"/>
            <a:tailEnd type="none" w="sm" len="sm"/>
          </a:ln>
        </p:spPr>
      </p:sp>
      <p:sp>
        <p:nvSpPr>
          <p:cNvPr id="6" name="AutoShape 6"/>
          <p:cNvSpPr/>
          <p:nvPr/>
        </p:nvSpPr>
        <p:spPr>
          <a:xfrm>
            <a:off x="10495331" y="9229725"/>
            <a:ext cx="7792669" cy="0"/>
          </a:xfrm>
          <a:prstGeom prst="line">
            <a:avLst/>
          </a:prstGeom>
          <a:ln w="19050" cap="flat">
            <a:solidFill>
              <a:srgbClr val="FBF9F5"/>
            </a:solidFill>
            <a:prstDash val="solid"/>
            <a:headEnd type="none" w="sm" len="sm"/>
            <a:tailEnd type="none" w="sm" len="sm"/>
          </a:ln>
        </p:spPr>
      </p:sp>
      <p:grpSp>
        <p:nvGrpSpPr>
          <p:cNvPr id="7" name="Group 7"/>
          <p:cNvGrpSpPr/>
          <p:nvPr/>
        </p:nvGrpSpPr>
        <p:grpSpPr>
          <a:xfrm>
            <a:off x="800695" y="3178929"/>
            <a:ext cx="6295685" cy="4548745"/>
            <a:chOff x="0" y="0"/>
            <a:chExt cx="5717641" cy="4131098"/>
          </a:xfrm>
        </p:grpSpPr>
        <p:sp>
          <p:nvSpPr>
            <p:cNvPr id="8" name="Freeform 8"/>
            <p:cNvSpPr/>
            <p:nvPr/>
          </p:nvSpPr>
          <p:spPr>
            <a:xfrm>
              <a:off x="0" y="0"/>
              <a:ext cx="5717641" cy="4131098"/>
            </a:xfrm>
            <a:custGeom>
              <a:avLst/>
              <a:gdLst/>
              <a:ahLst/>
              <a:cxnLst/>
              <a:rect l="l" t="t" r="r" b="b"/>
              <a:pathLst>
                <a:path w="5717641" h="4131098">
                  <a:moveTo>
                    <a:pt x="0" y="2065549"/>
                  </a:moveTo>
                  <a:cubicBezTo>
                    <a:pt x="0" y="925366"/>
                    <a:pt x="512301" y="0"/>
                    <a:pt x="1143528" y="0"/>
                  </a:cubicBezTo>
                  <a:lnTo>
                    <a:pt x="4574112" y="0"/>
                  </a:lnTo>
                  <a:cubicBezTo>
                    <a:pt x="5205340" y="0"/>
                    <a:pt x="5717641" y="925366"/>
                    <a:pt x="5717641" y="2065549"/>
                  </a:cubicBezTo>
                  <a:cubicBezTo>
                    <a:pt x="5717641" y="3205732"/>
                    <a:pt x="5205340" y="4131098"/>
                    <a:pt x="4574112" y="4131098"/>
                  </a:cubicBezTo>
                  <a:lnTo>
                    <a:pt x="1143528" y="4131098"/>
                  </a:lnTo>
                  <a:cubicBezTo>
                    <a:pt x="512301" y="4131098"/>
                    <a:pt x="0" y="3205732"/>
                    <a:pt x="0" y="2065549"/>
                  </a:cubicBezTo>
                  <a:close/>
                </a:path>
              </a:pathLst>
            </a:custGeom>
            <a:blipFill>
              <a:blip r:embed="rId6"/>
              <a:stretch>
                <a:fillRect t="-19202" b="-19202"/>
              </a:stretch>
            </a:blipFill>
          </p:spPr>
        </p:sp>
      </p:grpSp>
      <p:sp>
        <p:nvSpPr>
          <p:cNvPr id="9" name="TextBox 9"/>
          <p:cNvSpPr txBox="1"/>
          <p:nvPr/>
        </p:nvSpPr>
        <p:spPr>
          <a:xfrm>
            <a:off x="7282184" y="2852146"/>
            <a:ext cx="9977116" cy="6182199"/>
          </a:xfrm>
          <a:prstGeom prst="rect">
            <a:avLst/>
          </a:prstGeom>
        </p:spPr>
        <p:txBody>
          <a:bodyPr lIns="0" tIns="0" rIns="0" bIns="0" rtlCol="0" anchor="t">
            <a:spAutoFit/>
          </a:bodyPr>
          <a:lstStyle/>
          <a:p>
            <a:pPr algn="just">
              <a:lnSpc>
                <a:spcPts val="3842"/>
              </a:lnSpc>
            </a:pPr>
            <a:r>
              <a:rPr lang="en-US" sz="3524" spc="-137">
                <a:solidFill>
                  <a:srgbClr val="ECEBE4"/>
                </a:solidFill>
                <a:latin typeface="TT Hoves"/>
                <a:ea typeface="TT Hoves"/>
                <a:cs typeface="TT Hoves"/>
                <a:sym typeface="TT Hoves"/>
              </a:rPr>
              <a:t>Also known as</a:t>
            </a:r>
            <a:r>
              <a:rPr lang="en-US" sz="3524" b="1" spc="-137">
                <a:solidFill>
                  <a:srgbClr val="ECEBE4"/>
                </a:solidFill>
                <a:latin typeface="TT Hoves Bold"/>
                <a:ea typeface="TT Hoves Bold"/>
                <a:cs typeface="TT Hoves Bold"/>
                <a:sym typeface="TT Hoves Bold"/>
              </a:rPr>
              <a:t> Bio Stoning</a:t>
            </a:r>
            <a:r>
              <a:rPr lang="en-US" sz="3524" spc="-137">
                <a:solidFill>
                  <a:srgbClr val="ECEBE4"/>
                </a:solidFill>
                <a:latin typeface="TT Hoves"/>
                <a:ea typeface="TT Hoves"/>
                <a:cs typeface="TT Hoves"/>
                <a:sym typeface="TT Hoves"/>
              </a:rPr>
              <a:t> is a textile manufacturing technique in which cellulase enzymes are applied to denim. </a:t>
            </a:r>
          </a:p>
          <a:p>
            <a:pPr algn="just">
              <a:lnSpc>
                <a:spcPts val="3515"/>
              </a:lnSpc>
            </a:pPr>
            <a:endParaRPr lang="en-US" sz="3524" spc="-137">
              <a:solidFill>
                <a:srgbClr val="ECEBE4"/>
              </a:solidFill>
              <a:latin typeface="TT Hoves"/>
              <a:ea typeface="TT Hoves"/>
              <a:cs typeface="TT Hoves"/>
              <a:sym typeface="TT Hoves"/>
            </a:endParaRPr>
          </a:p>
          <a:p>
            <a:pPr algn="just">
              <a:lnSpc>
                <a:spcPts val="3842"/>
              </a:lnSpc>
            </a:pPr>
            <a:r>
              <a:rPr lang="en-US" sz="3524" spc="-137">
                <a:solidFill>
                  <a:srgbClr val="ECEBE4"/>
                </a:solidFill>
                <a:latin typeface="TT Hoves"/>
                <a:ea typeface="TT Hoves"/>
                <a:cs typeface="TT Hoves"/>
                <a:sym typeface="TT Hoves"/>
              </a:rPr>
              <a:t>The intended effect is softer feel and faded appearance.</a:t>
            </a:r>
          </a:p>
          <a:p>
            <a:pPr algn="just">
              <a:lnSpc>
                <a:spcPts val="3515"/>
              </a:lnSpc>
            </a:pPr>
            <a:endParaRPr lang="en-US" sz="3524" spc="-137">
              <a:solidFill>
                <a:srgbClr val="ECEBE4"/>
              </a:solidFill>
              <a:latin typeface="TT Hoves"/>
              <a:ea typeface="TT Hoves"/>
              <a:cs typeface="TT Hoves"/>
              <a:sym typeface="TT Hoves"/>
            </a:endParaRPr>
          </a:p>
          <a:p>
            <a:pPr algn="just">
              <a:lnSpc>
                <a:spcPts val="3515"/>
              </a:lnSpc>
            </a:pPr>
            <a:r>
              <a:rPr lang="en-US" sz="3224" spc="-125">
                <a:solidFill>
                  <a:srgbClr val="ECEBE4"/>
                </a:solidFill>
                <a:latin typeface="TT Hoves"/>
                <a:ea typeface="TT Hoves"/>
                <a:cs typeface="TT Hoves"/>
                <a:sym typeface="TT Hoves"/>
              </a:rPr>
              <a:t>This technique originated in 1989 Europe and was followed by America the next year. </a:t>
            </a:r>
          </a:p>
          <a:p>
            <a:pPr algn="just">
              <a:lnSpc>
                <a:spcPts val="3515"/>
              </a:lnSpc>
            </a:pPr>
            <a:r>
              <a:rPr lang="en-US" sz="3224" spc="-125">
                <a:solidFill>
                  <a:srgbClr val="ECEBE4"/>
                </a:solidFill>
                <a:latin typeface="TT Hoves"/>
                <a:ea typeface="TT Hoves"/>
                <a:cs typeface="TT Hoves"/>
                <a:sym typeface="TT Hoves"/>
              </a:rPr>
              <a:t>It became an alternative to stone washing  which was practiced before enzyme washing emerged</a:t>
            </a:r>
          </a:p>
          <a:p>
            <a:pPr algn="r">
              <a:lnSpc>
                <a:spcPts val="3624"/>
              </a:lnSpc>
            </a:pPr>
            <a:endParaRPr lang="en-US" sz="3224" spc="-125">
              <a:solidFill>
                <a:srgbClr val="ECEBE4"/>
              </a:solidFill>
              <a:latin typeface="TT Hoves"/>
              <a:ea typeface="TT Hoves"/>
              <a:cs typeface="TT Hoves"/>
              <a:sym typeface="TT Hoves"/>
            </a:endParaRPr>
          </a:p>
          <a:p>
            <a:pPr marL="0" lvl="0" indent="0" algn="r">
              <a:lnSpc>
                <a:spcPts val="5150"/>
              </a:lnSpc>
              <a:spcBef>
                <a:spcPct val="0"/>
              </a:spcBef>
            </a:pPr>
            <a:endParaRPr lang="en-US" sz="3224" spc="-125">
              <a:solidFill>
                <a:srgbClr val="ECEBE4"/>
              </a:solidFill>
              <a:latin typeface="TT Hoves"/>
              <a:ea typeface="TT Hoves"/>
              <a:cs typeface="TT Hoves"/>
              <a:sym typeface="TT Hove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780C0"/>
        </a:solidFill>
        <a:effectLst/>
      </p:bgPr>
    </p:bg>
    <p:spTree>
      <p:nvGrpSpPr>
        <p:cNvPr id="1" name=""/>
        <p:cNvGrpSpPr/>
        <p:nvPr/>
      </p:nvGrpSpPr>
      <p:grpSpPr>
        <a:xfrm>
          <a:off x="0" y="0"/>
          <a:ext cx="0" cy="0"/>
          <a:chOff x="0" y="0"/>
          <a:chExt cx="0" cy="0"/>
        </a:xfrm>
      </p:grpSpPr>
      <p:sp>
        <p:nvSpPr>
          <p:cNvPr id="2" name="TextBox 2"/>
          <p:cNvSpPr txBox="1"/>
          <p:nvPr/>
        </p:nvSpPr>
        <p:spPr>
          <a:xfrm>
            <a:off x="4246513" y="1194008"/>
            <a:ext cx="9794974" cy="1207034"/>
          </a:xfrm>
          <a:prstGeom prst="rect">
            <a:avLst/>
          </a:prstGeom>
        </p:spPr>
        <p:txBody>
          <a:bodyPr lIns="0" tIns="0" rIns="0" bIns="0" rtlCol="0" anchor="t">
            <a:spAutoFit/>
          </a:bodyPr>
          <a:lstStyle/>
          <a:p>
            <a:pPr algn="ctr">
              <a:lnSpc>
                <a:spcPts val="8318"/>
              </a:lnSpc>
            </a:pPr>
            <a:r>
              <a:rPr lang="en-US" sz="10664" spc="-661">
                <a:solidFill>
                  <a:srgbClr val="FBF9F5"/>
                </a:solidFill>
                <a:latin typeface="Lovelace"/>
                <a:ea typeface="Lovelace"/>
                <a:cs typeface="Lovelace"/>
                <a:sym typeface="Lovelace"/>
              </a:rPr>
              <a:t>PROCESS</a:t>
            </a:r>
          </a:p>
        </p:txBody>
      </p:sp>
      <p:sp>
        <p:nvSpPr>
          <p:cNvPr id="3" name="Freeform 3"/>
          <p:cNvSpPr/>
          <p:nvPr/>
        </p:nvSpPr>
        <p:spPr>
          <a:xfrm>
            <a:off x="7979366" y="1134660"/>
            <a:ext cx="681973" cy="681973"/>
          </a:xfrm>
          <a:custGeom>
            <a:avLst/>
            <a:gdLst/>
            <a:ahLst/>
            <a:cxnLst/>
            <a:rect l="l" t="t" r="r" b="b"/>
            <a:pathLst>
              <a:path w="681973" h="681973">
                <a:moveTo>
                  <a:pt x="0" y="0"/>
                </a:moveTo>
                <a:lnTo>
                  <a:pt x="681973" y="0"/>
                </a:lnTo>
                <a:lnTo>
                  <a:pt x="681973" y="681973"/>
                </a:lnTo>
                <a:lnTo>
                  <a:pt x="0" y="681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2585882" y="2347654"/>
            <a:ext cx="6296962" cy="6910646"/>
            <a:chOff x="0" y="0"/>
            <a:chExt cx="1658459" cy="1820088"/>
          </a:xfrm>
        </p:grpSpPr>
        <p:sp>
          <p:nvSpPr>
            <p:cNvPr id="5" name="Freeform 5"/>
            <p:cNvSpPr/>
            <p:nvPr/>
          </p:nvSpPr>
          <p:spPr>
            <a:xfrm>
              <a:off x="0" y="0"/>
              <a:ext cx="1658459" cy="1820088"/>
            </a:xfrm>
            <a:custGeom>
              <a:avLst/>
              <a:gdLst/>
              <a:ahLst/>
              <a:cxnLst/>
              <a:rect l="l" t="t" r="r" b="b"/>
              <a:pathLst>
                <a:path w="1658459" h="1820088">
                  <a:moveTo>
                    <a:pt x="0" y="0"/>
                  </a:moveTo>
                  <a:lnTo>
                    <a:pt x="1658459" y="0"/>
                  </a:lnTo>
                  <a:lnTo>
                    <a:pt x="1658459" y="1820088"/>
                  </a:lnTo>
                  <a:lnTo>
                    <a:pt x="0" y="1820088"/>
                  </a:lnTo>
                  <a:close/>
                </a:path>
              </a:pathLst>
            </a:custGeom>
            <a:solidFill>
              <a:srgbClr val="AFC4E5"/>
            </a:solidFill>
          </p:spPr>
        </p:sp>
        <p:sp>
          <p:nvSpPr>
            <p:cNvPr id="6" name="TextBox 6"/>
            <p:cNvSpPr txBox="1"/>
            <p:nvPr/>
          </p:nvSpPr>
          <p:spPr>
            <a:xfrm>
              <a:off x="0" y="-38100"/>
              <a:ext cx="1658459" cy="185818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6288920" y="2347654"/>
            <a:ext cx="6296962" cy="7195719"/>
            <a:chOff x="0" y="0"/>
            <a:chExt cx="1658459" cy="1895169"/>
          </a:xfrm>
        </p:grpSpPr>
        <p:sp>
          <p:nvSpPr>
            <p:cNvPr id="8" name="Freeform 8"/>
            <p:cNvSpPr/>
            <p:nvPr/>
          </p:nvSpPr>
          <p:spPr>
            <a:xfrm>
              <a:off x="0" y="0"/>
              <a:ext cx="1658459" cy="1895169"/>
            </a:xfrm>
            <a:custGeom>
              <a:avLst/>
              <a:gdLst/>
              <a:ahLst/>
              <a:cxnLst/>
              <a:rect l="l" t="t" r="r" b="b"/>
              <a:pathLst>
                <a:path w="1658459" h="1895169">
                  <a:moveTo>
                    <a:pt x="0" y="0"/>
                  </a:moveTo>
                  <a:lnTo>
                    <a:pt x="1658459" y="0"/>
                  </a:lnTo>
                  <a:lnTo>
                    <a:pt x="1658459" y="1895169"/>
                  </a:lnTo>
                  <a:lnTo>
                    <a:pt x="0" y="1895169"/>
                  </a:lnTo>
                  <a:close/>
                </a:path>
              </a:pathLst>
            </a:custGeom>
            <a:solidFill>
              <a:srgbClr val="D2DEEE">
                <a:alpha val="91765"/>
              </a:srgbClr>
            </a:solidFill>
          </p:spPr>
        </p:sp>
        <p:sp>
          <p:nvSpPr>
            <p:cNvPr id="9" name="TextBox 9"/>
            <p:cNvSpPr txBox="1"/>
            <p:nvPr/>
          </p:nvSpPr>
          <p:spPr>
            <a:xfrm>
              <a:off x="0" y="-38100"/>
              <a:ext cx="1658459" cy="1933269"/>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17567" y="2347654"/>
            <a:ext cx="6641527" cy="7428103"/>
            <a:chOff x="0" y="0"/>
            <a:chExt cx="1749209" cy="1956373"/>
          </a:xfrm>
        </p:grpSpPr>
        <p:sp>
          <p:nvSpPr>
            <p:cNvPr id="11" name="Freeform 11"/>
            <p:cNvSpPr/>
            <p:nvPr/>
          </p:nvSpPr>
          <p:spPr>
            <a:xfrm>
              <a:off x="0" y="0"/>
              <a:ext cx="1749209" cy="1956373"/>
            </a:xfrm>
            <a:custGeom>
              <a:avLst/>
              <a:gdLst/>
              <a:ahLst/>
              <a:cxnLst/>
              <a:rect l="l" t="t" r="r" b="b"/>
              <a:pathLst>
                <a:path w="1749209" h="1956373">
                  <a:moveTo>
                    <a:pt x="0" y="0"/>
                  </a:moveTo>
                  <a:lnTo>
                    <a:pt x="1749209" y="0"/>
                  </a:lnTo>
                  <a:lnTo>
                    <a:pt x="1749209" y="1956373"/>
                  </a:lnTo>
                  <a:lnTo>
                    <a:pt x="0" y="1956373"/>
                  </a:lnTo>
                  <a:close/>
                </a:path>
              </a:pathLst>
            </a:custGeom>
            <a:solidFill>
              <a:srgbClr val="EEF2F7">
                <a:alpha val="94902"/>
              </a:srgbClr>
            </a:solidFill>
          </p:spPr>
        </p:sp>
        <p:sp>
          <p:nvSpPr>
            <p:cNvPr id="12" name="TextBox 12"/>
            <p:cNvSpPr txBox="1"/>
            <p:nvPr/>
          </p:nvSpPr>
          <p:spPr>
            <a:xfrm>
              <a:off x="0" y="-38100"/>
              <a:ext cx="1749209" cy="1994473"/>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14673184" y="-2541691"/>
            <a:ext cx="6074294" cy="6074294"/>
          </a:xfrm>
          <a:custGeom>
            <a:avLst/>
            <a:gdLst/>
            <a:ahLst/>
            <a:cxnLst/>
            <a:rect l="l" t="t" r="r" b="b"/>
            <a:pathLst>
              <a:path w="6074294" h="6074294">
                <a:moveTo>
                  <a:pt x="0" y="0"/>
                </a:moveTo>
                <a:lnTo>
                  <a:pt x="6074294" y="0"/>
                </a:lnTo>
                <a:lnTo>
                  <a:pt x="6074294" y="6074294"/>
                </a:lnTo>
                <a:lnTo>
                  <a:pt x="0" y="60742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12599113" y="1816633"/>
            <a:ext cx="2074071" cy="2074071"/>
          </a:xfrm>
          <a:custGeom>
            <a:avLst/>
            <a:gdLst/>
            <a:ahLst/>
            <a:cxnLst/>
            <a:rect l="l" t="t" r="r" b="b"/>
            <a:pathLst>
              <a:path w="2074071" h="2074071">
                <a:moveTo>
                  <a:pt x="0" y="0"/>
                </a:moveTo>
                <a:lnTo>
                  <a:pt x="2074071" y="0"/>
                </a:lnTo>
                <a:lnTo>
                  <a:pt x="2074071" y="2074071"/>
                </a:lnTo>
                <a:lnTo>
                  <a:pt x="0" y="20740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Freeform 15"/>
          <p:cNvSpPr/>
          <p:nvPr/>
        </p:nvSpPr>
        <p:spPr>
          <a:xfrm>
            <a:off x="-1640799" y="-84035"/>
            <a:ext cx="3801337" cy="3801337"/>
          </a:xfrm>
          <a:custGeom>
            <a:avLst/>
            <a:gdLst/>
            <a:ahLst/>
            <a:cxnLst/>
            <a:rect l="l" t="t" r="r" b="b"/>
            <a:pathLst>
              <a:path w="3801337" h="3801337">
                <a:moveTo>
                  <a:pt x="0" y="0"/>
                </a:moveTo>
                <a:lnTo>
                  <a:pt x="3801337" y="0"/>
                </a:lnTo>
                <a:lnTo>
                  <a:pt x="3801337" y="3801337"/>
                </a:lnTo>
                <a:lnTo>
                  <a:pt x="0" y="38013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6952320" y="3136403"/>
            <a:ext cx="5305202" cy="4527541"/>
          </a:xfrm>
          <a:prstGeom prst="rect">
            <a:avLst/>
          </a:prstGeom>
        </p:spPr>
        <p:txBody>
          <a:bodyPr lIns="0" tIns="0" rIns="0" bIns="0" rtlCol="0" anchor="t">
            <a:spAutoFit/>
          </a:bodyPr>
          <a:lstStyle/>
          <a:p>
            <a:pPr algn="l">
              <a:lnSpc>
                <a:spcPts val="4025"/>
              </a:lnSpc>
            </a:pPr>
            <a:r>
              <a:rPr lang="en-US" sz="2875">
                <a:solidFill>
                  <a:srgbClr val="000000"/>
                </a:solidFill>
                <a:latin typeface="Lovelace"/>
                <a:ea typeface="Lovelace"/>
                <a:cs typeface="Lovelace"/>
                <a:sym typeface="Lovelace"/>
              </a:rPr>
              <a:t>Neutral cellulases are applied at pH 6–7, while acid cellulases are applied at pH 4.5–5.5. Temperature as well increases with enzyme action but only within a certain range enzyme action is activated (50-60 degrees celcius)</a:t>
            </a:r>
          </a:p>
        </p:txBody>
      </p:sp>
      <p:sp>
        <p:nvSpPr>
          <p:cNvPr id="17" name="TextBox 17"/>
          <p:cNvSpPr txBox="1"/>
          <p:nvPr/>
        </p:nvSpPr>
        <p:spPr>
          <a:xfrm>
            <a:off x="509893" y="2642629"/>
            <a:ext cx="5436128" cy="6923765"/>
          </a:xfrm>
          <a:prstGeom prst="rect">
            <a:avLst/>
          </a:prstGeom>
        </p:spPr>
        <p:txBody>
          <a:bodyPr lIns="0" tIns="0" rIns="0" bIns="0" rtlCol="0" anchor="t">
            <a:spAutoFit/>
          </a:bodyPr>
          <a:lstStyle/>
          <a:p>
            <a:pPr algn="l">
              <a:lnSpc>
                <a:spcPts val="4250"/>
              </a:lnSpc>
            </a:pPr>
            <a:r>
              <a:rPr lang="en-US" sz="3035">
                <a:solidFill>
                  <a:srgbClr val="000000"/>
                </a:solidFill>
                <a:latin typeface="Lovelace"/>
                <a:ea typeface="Lovelace"/>
                <a:cs typeface="Lovelace"/>
                <a:sym typeface="Lovelace"/>
              </a:rPr>
              <a:t> In the enzyme wash process, cellulases act on exposed cellulose on the cotton fibers, freeing indigo dye from the fabric which gives the uniform faded look to denims. Longer the treatment, more is the fading effect.  Cellulases are reactive for cellulose only so any impurities have to be removed prior to this process. </a:t>
            </a:r>
          </a:p>
        </p:txBody>
      </p:sp>
      <p:sp>
        <p:nvSpPr>
          <p:cNvPr id="18" name="TextBox 18"/>
          <p:cNvSpPr txBox="1"/>
          <p:nvPr/>
        </p:nvSpPr>
        <p:spPr>
          <a:xfrm>
            <a:off x="12928782" y="2884196"/>
            <a:ext cx="4883212" cy="4938120"/>
          </a:xfrm>
          <a:prstGeom prst="rect">
            <a:avLst/>
          </a:prstGeom>
        </p:spPr>
        <p:txBody>
          <a:bodyPr lIns="0" tIns="0" rIns="0" bIns="0" rtlCol="0" anchor="t">
            <a:spAutoFit/>
          </a:bodyPr>
          <a:lstStyle/>
          <a:p>
            <a:pPr algn="l">
              <a:lnSpc>
                <a:spcPts val="3970"/>
              </a:lnSpc>
            </a:pPr>
            <a:r>
              <a:rPr lang="en-US" sz="2835">
                <a:solidFill>
                  <a:srgbClr val="000000"/>
                </a:solidFill>
                <a:latin typeface="Lovelace"/>
                <a:ea typeface="Lovelace"/>
                <a:cs typeface="Lovelace"/>
                <a:sym typeface="Lovelace"/>
              </a:rPr>
              <a:t>This method of producing denim fabric is better than stone washing which requires a lot of labour, time and is not eco friendly.</a:t>
            </a:r>
          </a:p>
          <a:p>
            <a:pPr algn="l">
              <a:lnSpc>
                <a:spcPts val="3970"/>
              </a:lnSpc>
            </a:pPr>
            <a:r>
              <a:rPr lang="en-US" sz="2835">
                <a:solidFill>
                  <a:srgbClr val="000000"/>
                </a:solidFill>
                <a:latin typeface="Lovelace"/>
                <a:ea typeface="Lovelace"/>
                <a:cs typeface="Lovelace"/>
                <a:sym typeface="Lovelace"/>
              </a:rPr>
              <a:t>Cellulase is economical and can be recycled as well. Thus, enzyme washing is sustainable.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780C0"/>
        </a:solidFill>
        <a:effectLst/>
      </p:bgPr>
    </p:bg>
    <p:spTree>
      <p:nvGrpSpPr>
        <p:cNvPr id="1" name=""/>
        <p:cNvGrpSpPr/>
        <p:nvPr/>
      </p:nvGrpSpPr>
      <p:grpSpPr>
        <a:xfrm>
          <a:off x="0" y="0"/>
          <a:ext cx="0" cy="0"/>
          <a:chOff x="0" y="0"/>
          <a:chExt cx="0" cy="0"/>
        </a:xfrm>
      </p:grpSpPr>
      <p:sp>
        <p:nvSpPr>
          <p:cNvPr id="2" name="TextBox 2"/>
          <p:cNvSpPr txBox="1"/>
          <p:nvPr/>
        </p:nvSpPr>
        <p:spPr>
          <a:xfrm>
            <a:off x="4054163" y="1329877"/>
            <a:ext cx="9794974" cy="1412817"/>
          </a:xfrm>
          <a:prstGeom prst="rect">
            <a:avLst/>
          </a:prstGeom>
        </p:spPr>
        <p:txBody>
          <a:bodyPr lIns="0" tIns="0" rIns="0" bIns="0" rtlCol="0" anchor="t">
            <a:spAutoFit/>
          </a:bodyPr>
          <a:lstStyle/>
          <a:p>
            <a:pPr algn="ctr">
              <a:lnSpc>
                <a:spcPts val="5199"/>
              </a:lnSpc>
            </a:pPr>
            <a:r>
              <a:rPr lang="en-US" sz="6665" spc="-413">
                <a:solidFill>
                  <a:srgbClr val="FBF9F5"/>
                </a:solidFill>
                <a:latin typeface="Lovelace"/>
                <a:ea typeface="Lovelace"/>
                <a:cs typeface="Lovelace"/>
                <a:sym typeface="Lovelace"/>
              </a:rPr>
              <a:t>ROLE AS A COMPUTER ENGINEER</a:t>
            </a:r>
          </a:p>
        </p:txBody>
      </p:sp>
      <p:sp>
        <p:nvSpPr>
          <p:cNvPr id="3" name="Freeform 3"/>
          <p:cNvSpPr/>
          <p:nvPr/>
        </p:nvSpPr>
        <p:spPr>
          <a:xfrm>
            <a:off x="9371336" y="1072702"/>
            <a:ext cx="681973" cy="681973"/>
          </a:xfrm>
          <a:custGeom>
            <a:avLst/>
            <a:gdLst/>
            <a:ahLst/>
            <a:cxnLst/>
            <a:rect l="l" t="t" r="r" b="b"/>
            <a:pathLst>
              <a:path w="681973" h="681973">
                <a:moveTo>
                  <a:pt x="0" y="0"/>
                </a:moveTo>
                <a:lnTo>
                  <a:pt x="681972" y="0"/>
                </a:lnTo>
                <a:lnTo>
                  <a:pt x="681972" y="681973"/>
                </a:lnTo>
                <a:lnTo>
                  <a:pt x="0" y="681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764094" y="7877430"/>
            <a:ext cx="681973" cy="681973"/>
          </a:xfrm>
          <a:custGeom>
            <a:avLst/>
            <a:gdLst/>
            <a:ahLst/>
            <a:cxnLst/>
            <a:rect l="l" t="t" r="r" b="b"/>
            <a:pathLst>
              <a:path w="681973" h="681973">
                <a:moveTo>
                  <a:pt x="0" y="0"/>
                </a:moveTo>
                <a:lnTo>
                  <a:pt x="681973" y="0"/>
                </a:lnTo>
                <a:lnTo>
                  <a:pt x="681973" y="681973"/>
                </a:lnTo>
                <a:lnTo>
                  <a:pt x="0" y="681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296577" y="9258300"/>
            <a:ext cx="5132330" cy="343220"/>
          </a:xfrm>
          <a:custGeom>
            <a:avLst/>
            <a:gdLst/>
            <a:ahLst/>
            <a:cxnLst/>
            <a:rect l="l" t="t" r="r" b="b"/>
            <a:pathLst>
              <a:path w="5132330" h="343220">
                <a:moveTo>
                  <a:pt x="0" y="0"/>
                </a:moveTo>
                <a:lnTo>
                  <a:pt x="5132330" y="0"/>
                </a:lnTo>
                <a:lnTo>
                  <a:pt x="5132330" y="343220"/>
                </a:lnTo>
                <a:lnTo>
                  <a:pt x="0" y="3432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a:off x="13155670" y="685480"/>
            <a:ext cx="5132330" cy="343220"/>
          </a:xfrm>
          <a:custGeom>
            <a:avLst/>
            <a:gdLst/>
            <a:ahLst/>
            <a:cxnLst/>
            <a:rect l="l" t="t" r="r" b="b"/>
            <a:pathLst>
              <a:path w="5132330" h="343220">
                <a:moveTo>
                  <a:pt x="5132330" y="0"/>
                </a:moveTo>
                <a:lnTo>
                  <a:pt x="0" y="0"/>
                </a:lnTo>
                <a:lnTo>
                  <a:pt x="0" y="343220"/>
                </a:lnTo>
                <a:lnTo>
                  <a:pt x="5132330" y="343220"/>
                </a:lnTo>
                <a:lnTo>
                  <a:pt x="513233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711427" y="878998"/>
            <a:ext cx="1739438" cy="2057400"/>
          </a:xfrm>
          <a:custGeom>
            <a:avLst/>
            <a:gdLst/>
            <a:ahLst/>
            <a:cxnLst/>
            <a:rect l="l" t="t" r="r" b="b"/>
            <a:pathLst>
              <a:path w="1739438" h="2057400">
                <a:moveTo>
                  <a:pt x="0" y="0"/>
                </a:moveTo>
                <a:lnTo>
                  <a:pt x="1739438" y="0"/>
                </a:lnTo>
                <a:lnTo>
                  <a:pt x="1739438"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7069268" y="7175984"/>
            <a:ext cx="881329" cy="1042432"/>
          </a:xfrm>
          <a:custGeom>
            <a:avLst/>
            <a:gdLst/>
            <a:ahLst/>
            <a:cxnLst/>
            <a:rect l="l" t="t" r="r" b="b"/>
            <a:pathLst>
              <a:path w="881329" h="1042432">
                <a:moveTo>
                  <a:pt x="0" y="0"/>
                </a:moveTo>
                <a:lnTo>
                  <a:pt x="881330" y="0"/>
                </a:lnTo>
                <a:lnTo>
                  <a:pt x="881330" y="1042432"/>
                </a:lnTo>
                <a:lnTo>
                  <a:pt x="0" y="10424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1446067" y="2771269"/>
            <a:ext cx="15395866" cy="8073230"/>
          </a:xfrm>
          <a:prstGeom prst="rect">
            <a:avLst/>
          </a:prstGeom>
        </p:spPr>
        <p:txBody>
          <a:bodyPr lIns="0" tIns="0" rIns="0" bIns="0" rtlCol="0" anchor="t">
            <a:spAutoFit/>
          </a:bodyPr>
          <a:lstStyle/>
          <a:p>
            <a:pPr algn="just">
              <a:lnSpc>
                <a:spcPts val="3624"/>
              </a:lnSpc>
            </a:pPr>
            <a:r>
              <a:rPr lang="en-US" sz="3324" spc="-129">
                <a:solidFill>
                  <a:srgbClr val="ECEBE4"/>
                </a:solidFill>
                <a:latin typeface="Lovelace"/>
                <a:ea typeface="Lovelace"/>
                <a:cs typeface="Lovelace"/>
                <a:sym typeface="Lovelace"/>
              </a:rPr>
              <a:t>Computer science and Fashion industry have collaborated in recent times with sustainable innovations and AI technologies in various fields within. </a:t>
            </a:r>
          </a:p>
          <a:p>
            <a:pPr algn="just">
              <a:lnSpc>
                <a:spcPts val="3624"/>
              </a:lnSpc>
            </a:pPr>
            <a:endParaRPr lang="en-US" sz="3324" spc="-129">
              <a:solidFill>
                <a:srgbClr val="ECEBE4"/>
              </a:solidFill>
              <a:latin typeface="Lovelace"/>
              <a:ea typeface="Lovelace"/>
              <a:cs typeface="Lovelace"/>
              <a:sym typeface="Lovelace"/>
            </a:endParaRPr>
          </a:p>
          <a:p>
            <a:pPr algn="just">
              <a:lnSpc>
                <a:spcPts val="3515"/>
              </a:lnSpc>
            </a:pPr>
            <a:r>
              <a:rPr lang="en-US" sz="3224" spc="-125">
                <a:solidFill>
                  <a:srgbClr val="ECEBE4"/>
                </a:solidFill>
                <a:latin typeface="Lovelace"/>
                <a:ea typeface="Lovelace"/>
                <a:cs typeface="Lovelace"/>
                <a:sym typeface="Lovelace"/>
              </a:rPr>
              <a:t>This is true also for the manufacturing industry wherein we see many techniques and machinery designed by computer engineers like the use of CAM or Computer aided manufacture that helps in fabric inspection, sewing, spreading, pressing. </a:t>
            </a:r>
          </a:p>
          <a:p>
            <a:pPr algn="just">
              <a:lnSpc>
                <a:spcPts val="3842"/>
              </a:lnSpc>
            </a:pPr>
            <a:endParaRPr lang="en-US" sz="3224" spc="-125">
              <a:solidFill>
                <a:srgbClr val="ECEBE4"/>
              </a:solidFill>
              <a:latin typeface="Lovelace"/>
              <a:ea typeface="Lovelace"/>
              <a:cs typeface="Lovelace"/>
              <a:sym typeface="Lovelace"/>
            </a:endParaRPr>
          </a:p>
          <a:p>
            <a:pPr algn="just">
              <a:lnSpc>
                <a:spcPts val="3624"/>
              </a:lnSpc>
            </a:pPr>
            <a:r>
              <a:rPr lang="en-US" sz="3324" spc="-129">
                <a:solidFill>
                  <a:srgbClr val="ECEBE4"/>
                </a:solidFill>
                <a:latin typeface="Lovelace"/>
                <a:ea typeface="Lovelace"/>
                <a:cs typeface="Lovelace"/>
                <a:sym typeface="Lovelace"/>
              </a:rPr>
              <a:t>These are essential steps in enzyme washing process and we can achieve optimal results with the help of such computerized methods. We can study enzyme reactions, catalysis and come up with methods to achieve results with sustainable usage of enzymes, best reaction times for large scale production.  </a:t>
            </a:r>
          </a:p>
          <a:p>
            <a:pPr algn="just">
              <a:lnSpc>
                <a:spcPts val="3624"/>
              </a:lnSpc>
            </a:pPr>
            <a:endParaRPr lang="en-US" sz="3324" spc="-129">
              <a:solidFill>
                <a:srgbClr val="ECEBE4"/>
              </a:solidFill>
              <a:latin typeface="Lovelace"/>
              <a:ea typeface="Lovelace"/>
              <a:cs typeface="Lovelace"/>
              <a:sym typeface="Lovelace"/>
            </a:endParaRPr>
          </a:p>
          <a:p>
            <a:pPr algn="just">
              <a:lnSpc>
                <a:spcPts val="3624"/>
              </a:lnSpc>
            </a:pPr>
            <a:r>
              <a:rPr lang="en-US" sz="3324" spc="-129">
                <a:solidFill>
                  <a:srgbClr val="ECEBE4"/>
                </a:solidFill>
                <a:latin typeface="Lovelace"/>
                <a:ea typeface="Lovelace"/>
                <a:cs typeface="Lovelace"/>
                <a:sym typeface="Lovelace"/>
              </a:rPr>
              <a:t>Fabric Defect Checking Systems – Can be highly useful in checking fabrics for any defects which is an important condition for enzyme washing. </a:t>
            </a:r>
          </a:p>
          <a:p>
            <a:pPr algn="just">
              <a:lnSpc>
                <a:spcPts val="3406"/>
              </a:lnSpc>
            </a:pPr>
            <a:endParaRPr lang="en-US" sz="3324" spc="-129">
              <a:solidFill>
                <a:srgbClr val="ECEBE4"/>
              </a:solidFill>
              <a:latin typeface="Lovelace"/>
              <a:ea typeface="Lovelace"/>
              <a:cs typeface="Lovelace"/>
              <a:sym typeface="Lovelace"/>
            </a:endParaRPr>
          </a:p>
          <a:p>
            <a:pPr algn="just">
              <a:lnSpc>
                <a:spcPts val="3406"/>
              </a:lnSpc>
            </a:pPr>
            <a:endParaRPr lang="en-US" sz="3324" spc="-129">
              <a:solidFill>
                <a:srgbClr val="ECEBE4"/>
              </a:solidFill>
              <a:latin typeface="Lovelace"/>
              <a:ea typeface="Lovelace"/>
              <a:cs typeface="Lovelace"/>
              <a:sym typeface="Lovelace"/>
            </a:endParaRPr>
          </a:p>
          <a:p>
            <a:pPr algn="just">
              <a:lnSpc>
                <a:spcPts val="3406"/>
              </a:lnSpc>
            </a:pPr>
            <a:endParaRPr lang="en-US" sz="3324" spc="-129">
              <a:solidFill>
                <a:srgbClr val="ECEBE4"/>
              </a:solidFill>
              <a:latin typeface="Lovelace"/>
              <a:ea typeface="Lovelace"/>
              <a:cs typeface="Lovelace"/>
              <a:sym typeface="Lovelace"/>
            </a:endParaRPr>
          </a:p>
          <a:p>
            <a:pPr marL="0" lvl="0" indent="0" algn="just">
              <a:lnSpc>
                <a:spcPts val="3188"/>
              </a:lnSpc>
              <a:spcBef>
                <a:spcPct val="0"/>
              </a:spcBef>
            </a:pPr>
            <a:endParaRPr lang="en-US" sz="3324" spc="-129">
              <a:solidFill>
                <a:srgbClr val="ECEBE4"/>
              </a:solidFill>
              <a:latin typeface="Lovelace"/>
              <a:ea typeface="Lovelace"/>
              <a:cs typeface="Lovelace"/>
              <a:sym typeface="Lovelac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780C0"/>
        </a:solidFill>
        <a:effectLst/>
      </p:bgPr>
    </p:bg>
    <p:spTree>
      <p:nvGrpSpPr>
        <p:cNvPr id="1" name=""/>
        <p:cNvGrpSpPr/>
        <p:nvPr/>
      </p:nvGrpSpPr>
      <p:grpSpPr>
        <a:xfrm>
          <a:off x="0" y="0"/>
          <a:ext cx="0" cy="0"/>
          <a:chOff x="0" y="0"/>
          <a:chExt cx="0" cy="0"/>
        </a:xfrm>
      </p:grpSpPr>
      <p:sp>
        <p:nvSpPr>
          <p:cNvPr id="2" name="Freeform 2"/>
          <p:cNvSpPr/>
          <p:nvPr/>
        </p:nvSpPr>
        <p:spPr>
          <a:xfrm rot="-471168">
            <a:off x="-2460915" y="-1213405"/>
            <a:ext cx="22588102" cy="11786882"/>
          </a:xfrm>
          <a:custGeom>
            <a:avLst/>
            <a:gdLst/>
            <a:ahLst/>
            <a:cxnLst/>
            <a:rect l="l" t="t" r="r" b="b"/>
            <a:pathLst>
              <a:path w="22588102" h="11786882">
                <a:moveTo>
                  <a:pt x="0" y="0"/>
                </a:moveTo>
                <a:lnTo>
                  <a:pt x="22588102" y="0"/>
                </a:lnTo>
                <a:lnTo>
                  <a:pt x="22588102" y="11786882"/>
                </a:lnTo>
                <a:lnTo>
                  <a:pt x="0" y="11786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563933" y="3637338"/>
            <a:ext cx="8115300" cy="3480339"/>
          </a:xfrm>
          <a:prstGeom prst="rect">
            <a:avLst/>
          </a:prstGeom>
        </p:spPr>
        <p:txBody>
          <a:bodyPr lIns="0" tIns="0" rIns="0" bIns="0" rtlCol="0" anchor="t">
            <a:spAutoFit/>
          </a:bodyPr>
          <a:lstStyle/>
          <a:p>
            <a:pPr algn="l">
              <a:lnSpc>
                <a:spcPts val="12868"/>
              </a:lnSpc>
            </a:pPr>
            <a:r>
              <a:rPr lang="en-US" sz="16498" spc="-1022">
                <a:solidFill>
                  <a:srgbClr val="FBF9F5"/>
                </a:solidFill>
                <a:latin typeface="Lovelace"/>
                <a:ea typeface="Lovelace"/>
                <a:cs typeface="Lovelace"/>
                <a:sym typeface="Lovelace"/>
              </a:rPr>
              <a:t>REFERENCES</a:t>
            </a:r>
          </a:p>
        </p:txBody>
      </p:sp>
      <p:sp>
        <p:nvSpPr>
          <p:cNvPr id="4" name="Freeform 4"/>
          <p:cNvSpPr/>
          <p:nvPr/>
        </p:nvSpPr>
        <p:spPr>
          <a:xfrm>
            <a:off x="2225010" y="2963167"/>
            <a:ext cx="681973" cy="681973"/>
          </a:xfrm>
          <a:custGeom>
            <a:avLst/>
            <a:gdLst/>
            <a:ahLst/>
            <a:cxnLst/>
            <a:rect l="l" t="t" r="r" b="b"/>
            <a:pathLst>
              <a:path w="681973" h="681973">
                <a:moveTo>
                  <a:pt x="0" y="0"/>
                </a:moveTo>
                <a:lnTo>
                  <a:pt x="681972" y="0"/>
                </a:lnTo>
                <a:lnTo>
                  <a:pt x="681972" y="681973"/>
                </a:lnTo>
                <a:lnTo>
                  <a:pt x="0" y="6819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8833136" y="3265391"/>
            <a:ext cx="8426164" cy="1157721"/>
            <a:chOff x="0" y="0"/>
            <a:chExt cx="2219237" cy="304914"/>
          </a:xfrm>
        </p:grpSpPr>
        <p:sp>
          <p:nvSpPr>
            <p:cNvPr id="6" name="Freeform 6"/>
            <p:cNvSpPr/>
            <p:nvPr/>
          </p:nvSpPr>
          <p:spPr>
            <a:xfrm>
              <a:off x="0" y="0"/>
              <a:ext cx="2219237" cy="304914"/>
            </a:xfrm>
            <a:custGeom>
              <a:avLst/>
              <a:gdLst/>
              <a:ahLst/>
              <a:cxnLst/>
              <a:rect l="l" t="t" r="r" b="b"/>
              <a:pathLst>
                <a:path w="2219237" h="304914">
                  <a:moveTo>
                    <a:pt x="91880" y="0"/>
                  </a:moveTo>
                  <a:lnTo>
                    <a:pt x="2127357" y="0"/>
                  </a:lnTo>
                  <a:cubicBezTo>
                    <a:pt x="2178101" y="0"/>
                    <a:pt x="2219237" y="41136"/>
                    <a:pt x="2219237" y="91880"/>
                  </a:cubicBezTo>
                  <a:lnTo>
                    <a:pt x="2219237" y="213035"/>
                  </a:lnTo>
                  <a:cubicBezTo>
                    <a:pt x="2219237" y="237403"/>
                    <a:pt x="2209556" y="260772"/>
                    <a:pt x="2192326" y="278003"/>
                  </a:cubicBezTo>
                  <a:cubicBezTo>
                    <a:pt x="2175095" y="295234"/>
                    <a:pt x="2151725" y="304914"/>
                    <a:pt x="2127357" y="304914"/>
                  </a:cubicBezTo>
                  <a:lnTo>
                    <a:pt x="91880" y="304914"/>
                  </a:lnTo>
                  <a:cubicBezTo>
                    <a:pt x="67512" y="304914"/>
                    <a:pt x="44142" y="295234"/>
                    <a:pt x="26911" y="278003"/>
                  </a:cubicBezTo>
                  <a:cubicBezTo>
                    <a:pt x="9680" y="260772"/>
                    <a:pt x="0" y="237403"/>
                    <a:pt x="0" y="213035"/>
                  </a:cubicBezTo>
                  <a:lnTo>
                    <a:pt x="0" y="91880"/>
                  </a:lnTo>
                  <a:cubicBezTo>
                    <a:pt x="0" y="67512"/>
                    <a:pt x="9680" y="44142"/>
                    <a:pt x="26911" y="26911"/>
                  </a:cubicBezTo>
                  <a:cubicBezTo>
                    <a:pt x="44142" y="9680"/>
                    <a:pt x="67512" y="0"/>
                    <a:pt x="91880" y="0"/>
                  </a:cubicBezTo>
                  <a:close/>
                </a:path>
              </a:pathLst>
            </a:custGeom>
            <a:solidFill>
              <a:srgbClr val="ECEBE4"/>
            </a:solidFill>
          </p:spPr>
        </p:sp>
        <p:sp>
          <p:nvSpPr>
            <p:cNvPr id="7" name="TextBox 7"/>
            <p:cNvSpPr txBox="1"/>
            <p:nvPr/>
          </p:nvSpPr>
          <p:spPr>
            <a:xfrm>
              <a:off x="0" y="-47625"/>
              <a:ext cx="2219237" cy="352539"/>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8833136" y="4718387"/>
            <a:ext cx="8426164" cy="1157721"/>
            <a:chOff x="0" y="0"/>
            <a:chExt cx="2219237" cy="304914"/>
          </a:xfrm>
        </p:grpSpPr>
        <p:sp>
          <p:nvSpPr>
            <p:cNvPr id="9" name="Freeform 9"/>
            <p:cNvSpPr/>
            <p:nvPr/>
          </p:nvSpPr>
          <p:spPr>
            <a:xfrm>
              <a:off x="0" y="0"/>
              <a:ext cx="2219237" cy="304914"/>
            </a:xfrm>
            <a:custGeom>
              <a:avLst/>
              <a:gdLst/>
              <a:ahLst/>
              <a:cxnLst/>
              <a:rect l="l" t="t" r="r" b="b"/>
              <a:pathLst>
                <a:path w="2219237" h="304914">
                  <a:moveTo>
                    <a:pt x="91880" y="0"/>
                  </a:moveTo>
                  <a:lnTo>
                    <a:pt x="2127357" y="0"/>
                  </a:lnTo>
                  <a:cubicBezTo>
                    <a:pt x="2178101" y="0"/>
                    <a:pt x="2219237" y="41136"/>
                    <a:pt x="2219237" y="91880"/>
                  </a:cubicBezTo>
                  <a:lnTo>
                    <a:pt x="2219237" y="213035"/>
                  </a:lnTo>
                  <a:cubicBezTo>
                    <a:pt x="2219237" y="237403"/>
                    <a:pt x="2209556" y="260772"/>
                    <a:pt x="2192326" y="278003"/>
                  </a:cubicBezTo>
                  <a:cubicBezTo>
                    <a:pt x="2175095" y="295234"/>
                    <a:pt x="2151725" y="304914"/>
                    <a:pt x="2127357" y="304914"/>
                  </a:cubicBezTo>
                  <a:lnTo>
                    <a:pt x="91880" y="304914"/>
                  </a:lnTo>
                  <a:cubicBezTo>
                    <a:pt x="67512" y="304914"/>
                    <a:pt x="44142" y="295234"/>
                    <a:pt x="26911" y="278003"/>
                  </a:cubicBezTo>
                  <a:cubicBezTo>
                    <a:pt x="9680" y="260772"/>
                    <a:pt x="0" y="237403"/>
                    <a:pt x="0" y="213035"/>
                  </a:cubicBezTo>
                  <a:lnTo>
                    <a:pt x="0" y="91880"/>
                  </a:lnTo>
                  <a:cubicBezTo>
                    <a:pt x="0" y="67512"/>
                    <a:pt x="9680" y="44142"/>
                    <a:pt x="26911" y="26911"/>
                  </a:cubicBezTo>
                  <a:cubicBezTo>
                    <a:pt x="44142" y="9680"/>
                    <a:pt x="67512" y="0"/>
                    <a:pt x="91880" y="0"/>
                  </a:cubicBezTo>
                  <a:close/>
                </a:path>
              </a:pathLst>
            </a:custGeom>
            <a:solidFill>
              <a:srgbClr val="000000">
                <a:alpha val="0"/>
              </a:srgbClr>
            </a:solidFill>
            <a:ln w="38100" cap="rnd">
              <a:solidFill>
                <a:srgbClr val="FBF9F5"/>
              </a:solidFill>
              <a:prstDash val="solid"/>
              <a:round/>
            </a:ln>
          </p:spPr>
        </p:sp>
        <p:sp>
          <p:nvSpPr>
            <p:cNvPr id="10" name="TextBox 10"/>
            <p:cNvSpPr txBox="1"/>
            <p:nvPr/>
          </p:nvSpPr>
          <p:spPr>
            <a:xfrm>
              <a:off x="0" y="-47625"/>
              <a:ext cx="2219237" cy="352539"/>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8833136" y="6152333"/>
            <a:ext cx="8426164" cy="1157721"/>
            <a:chOff x="0" y="0"/>
            <a:chExt cx="2219237" cy="304914"/>
          </a:xfrm>
        </p:grpSpPr>
        <p:sp>
          <p:nvSpPr>
            <p:cNvPr id="12" name="Freeform 12"/>
            <p:cNvSpPr/>
            <p:nvPr/>
          </p:nvSpPr>
          <p:spPr>
            <a:xfrm>
              <a:off x="0" y="0"/>
              <a:ext cx="2219237" cy="304914"/>
            </a:xfrm>
            <a:custGeom>
              <a:avLst/>
              <a:gdLst/>
              <a:ahLst/>
              <a:cxnLst/>
              <a:rect l="l" t="t" r="r" b="b"/>
              <a:pathLst>
                <a:path w="2219237" h="304914">
                  <a:moveTo>
                    <a:pt x="91880" y="0"/>
                  </a:moveTo>
                  <a:lnTo>
                    <a:pt x="2127357" y="0"/>
                  </a:lnTo>
                  <a:cubicBezTo>
                    <a:pt x="2178101" y="0"/>
                    <a:pt x="2219237" y="41136"/>
                    <a:pt x="2219237" y="91880"/>
                  </a:cubicBezTo>
                  <a:lnTo>
                    <a:pt x="2219237" y="213035"/>
                  </a:lnTo>
                  <a:cubicBezTo>
                    <a:pt x="2219237" y="237403"/>
                    <a:pt x="2209556" y="260772"/>
                    <a:pt x="2192326" y="278003"/>
                  </a:cubicBezTo>
                  <a:cubicBezTo>
                    <a:pt x="2175095" y="295234"/>
                    <a:pt x="2151725" y="304914"/>
                    <a:pt x="2127357" y="304914"/>
                  </a:cubicBezTo>
                  <a:lnTo>
                    <a:pt x="91880" y="304914"/>
                  </a:lnTo>
                  <a:cubicBezTo>
                    <a:pt x="67512" y="304914"/>
                    <a:pt x="44142" y="295234"/>
                    <a:pt x="26911" y="278003"/>
                  </a:cubicBezTo>
                  <a:cubicBezTo>
                    <a:pt x="9680" y="260772"/>
                    <a:pt x="0" y="237403"/>
                    <a:pt x="0" y="213035"/>
                  </a:cubicBezTo>
                  <a:lnTo>
                    <a:pt x="0" y="91880"/>
                  </a:lnTo>
                  <a:cubicBezTo>
                    <a:pt x="0" y="67512"/>
                    <a:pt x="9680" y="44142"/>
                    <a:pt x="26911" y="26911"/>
                  </a:cubicBezTo>
                  <a:cubicBezTo>
                    <a:pt x="44142" y="9680"/>
                    <a:pt x="67512" y="0"/>
                    <a:pt x="91880" y="0"/>
                  </a:cubicBezTo>
                  <a:close/>
                </a:path>
              </a:pathLst>
            </a:custGeom>
            <a:solidFill>
              <a:srgbClr val="ECEBE4"/>
            </a:solidFill>
          </p:spPr>
        </p:sp>
        <p:sp>
          <p:nvSpPr>
            <p:cNvPr id="13" name="TextBox 13"/>
            <p:cNvSpPr txBox="1"/>
            <p:nvPr/>
          </p:nvSpPr>
          <p:spPr>
            <a:xfrm>
              <a:off x="0" y="-47625"/>
              <a:ext cx="2219237" cy="352539"/>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2225010" y="5048895"/>
            <a:ext cx="1200107" cy="1200107"/>
          </a:xfrm>
          <a:custGeom>
            <a:avLst/>
            <a:gdLst/>
            <a:ahLst/>
            <a:cxnLst/>
            <a:rect l="l" t="t" r="r" b="b"/>
            <a:pathLst>
              <a:path w="1200107" h="1200107">
                <a:moveTo>
                  <a:pt x="0" y="0"/>
                </a:moveTo>
                <a:lnTo>
                  <a:pt x="1200107" y="0"/>
                </a:lnTo>
                <a:lnTo>
                  <a:pt x="1200107" y="1200107"/>
                </a:lnTo>
                <a:lnTo>
                  <a:pt x="0" y="12001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6747811" y="1564479"/>
            <a:ext cx="1243142" cy="1266163"/>
          </a:xfrm>
          <a:custGeom>
            <a:avLst/>
            <a:gdLst/>
            <a:ahLst/>
            <a:cxnLst/>
            <a:rect l="l" t="t" r="r" b="b"/>
            <a:pathLst>
              <a:path w="1243142" h="1266163">
                <a:moveTo>
                  <a:pt x="0" y="0"/>
                </a:moveTo>
                <a:lnTo>
                  <a:pt x="1243142" y="0"/>
                </a:lnTo>
                <a:lnTo>
                  <a:pt x="1243142" y="1266163"/>
                </a:lnTo>
                <a:lnTo>
                  <a:pt x="0" y="126616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6" name="Group 16"/>
          <p:cNvGrpSpPr/>
          <p:nvPr/>
        </p:nvGrpSpPr>
        <p:grpSpPr>
          <a:xfrm>
            <a:off x="8833136" y="7576753"/>
            <a:ext cx="8426164" cy="1157721"/>
            <a:chOff x="0" y="0"/>
            <a:chExt cx="2219237" cy="304914"/>
          </a:xfrm>
        </p:grpSpPr>
        <p:sp>
          <p:nvSpPr>
            <p:cNvPr id="17" name="Freeform 17"/>
            <p:cNvSpPr/>
            <p:nvPr/>
          </p:nvSpPr>
          <p:spPr>
            <a:xfrm>
              <a:off x="0" y="0"/>
              <a:ext cx="2219237" cy="304914"/>
            </a:xfrm>
            <a:custGeom>
              <a:avLst/>
              <a:gdLst/>
              <a:ahLst/>
              <a:cxnLst/>
              <a:rect l="l" t="t" r="r" b="b"/>
              <a:pathLst>
                <a:path w="2219237" h="304914">
                  <a:moveTo>
                    <a:pt x="91880" y="0"/>
                  </a:moveTo>
                  <a:lnTo>
                    <a:pt x="2127357" y="0"/>
                  </a:lnTo>
                  <a:cubicBezTo>
                    <a:pt x="2178101" y="0"/>
                    <a:pt x="2219237" y="41136"/>
                    <a:pt x="2219237" y="91880"/>
                  </a:cubicBezTo>
                  <a:lnTo>
                    <a:pt x="2219237" y="213035"/>
                  </a:lnTo>
                  <a:cubicBezTo>
                    <a:pt x="2219237" y="237403"/>
                    <a:pt x="2209556" y="260772"/>
                    <a:pt x="2192326" y="278003"/>
                  </a:cubicBezTo>
                  <a:cubicBezTo>
                    <a:pt x="2175095" y="295234"/>
                    <a:pt x="2151725" y="304914"/>
                    <a:pt x="2127357" y="304914"/>
                  </a:cubicBezTo>
                  <a:lnTo>
                    <a:pt x="91880" y="304914"/>
                  </a:lnTo>
                  <a:cubicBezTo>
                    <a:pt x="67512" y="304914"/>
                    <a:pt x="44142" y="295234"/>
                    <a:pt x="26911" y="278003"/>
                  </a:cubicBezTo>
                  <a:cubicBezTo>
                    <a:pt x="9680" y="260772"/>
                    <a:pt x="0" y="237403"/>
                    <a:pt x="0" y="213035"/>
                  </a:cubicBezTo>
                  <a:lnTo>
                    <a:pt x="0" y="91880"/>
                  </a:lnTo>
                  <a:cubicBezTo>
                    <a:pt x="0" y="67512"/>
                    <a:pt x="9680" y="44142"/>
                    <a:pt x="26911" y="26911"/>
                  </a:cubicBezTo>
                  <a:cubicBezTo>
                    <a:pt x="44142" y="9680"/>
                    <a:pt x="67512" y="0"/>
                    <a:pt x="91880" y="0"/>
                  </a:cubicBezTo>
                  <a:close/>
                </a:path>
              </a:pathLst>
            </a:custGeom>
            <a:solidFill>
              <a:srgbClr val="000000">
                <a:alpha val="0"/>
              </a:srgbClr>
            </a:solidFill>
            <a:ln w="38100" cap="rnd">
              <a:solidFill>
                <a:srgbClr val="FBF9F5"/>
              </a:solidFill>
              <a:prstDash val="solid"/>
              <a:round/>
            </a:ln>
          </p:spPr>
        </p:sp>
        <p:sp>
          <p:nvSpPr>
            <p:cNvPr id="18" name="TextBox 18"/>
            <p:cNvSpPr txBox="1"/>
            <p:nvPr/>
          </p:nvSpPr>
          <p:spPr>
            <a:xfrm>
              <a:off x="0" y="-47625"/>
              <a:ext cx="2219237" cy="352539"/>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p:cNvSpPr txBox="1"/>
          <p:nvPr/>
        </p:nvSpPr>
        <p:spPr>
          <a:xfrm>
            <a:off x="9712291" y="3592885"/>
            <a:ext cx="6667854" cy="531309"/>
          </a:xfrm>
          <a:prstGeom prst="rect">
            <a:avLst/>
          </a:prstGeom>
        </p:spPr>
        <p:txBody>
          <a:bodyPr lIns="0" tIns="0" rIns="0" bIns="0" rtlCol="0" anchor="t">
            <a:spAutoFit/>
          </a:bodyPr>
          <a:lstStyle/>
          <a:p>
            <a:pPr marL="0" lvl="0" indent="0" algn="just">
              <a:lnSpc>
                <a:spcPts val="4111"/>
              </a:lnSpc>
              <a:spcBef>
                <a:spcPct val="0"/>
              </a:spcBef>
            </a:pPr>
            <a:r>
              <a:rPr lang="en-US" sz="3771" spc="-147">
                <a:solidFill>
                  <a:srgbClr val="5780C0"/>
                </a:solidFill>
                <a:latin typeface="TT Hoves"/>
                <a:ea typeface="TT Hoves"/>
                <a:cs typeface="TT Hoves"/>
                <a:sym typeface="TT Hoves"/>
              </a:rPr>
              <a:t>https://www.sciencedirect.com</a:t>
            </a:r>
          </a:p>
        </p:txBody>
      </p:sp>
      <p:sp>
        <p:nvSpPr>
          <p:cNvPr id="20" name="TextBox 20"/>
          <p:cNvSpPr txBox="1"/>
          <p:nvPr/>
        </p:nvSpPr>
        <p:spPr>
          <a:xfrm>
            <a:off x="9712291" y="5045880"/>
            <a:ext cx="4715833" cy="531309"/>
          </a:xfrm>
          <a:prstGeom prst="rect">
            <a:avLst/>
          </a:prstGeom>
        </p:spPr>
        <p:txBody>
          <a:bodyPr lIns="0" tIns="0" rIns="0" bIns="0" rtlCol="0" anchor="t">
            <a:spAutoFit/>
          </a:bodyPr>
          <a:lstStyle/>
          <a:p>
            <a:pPr marL="0" lvl="0" indent="0" algn="just">
              <a:lnSpc>
                <a:spcPts val="4111"/>
              </a:lnSpc>
              <a:spcBef>
                <a:spcPct val="0"/>
              </a:spcBef>
            </a:pPr>
            <a:r>
              <a:rPr lang="en-US" sz="3771" spc="-147">
                <a:solidFill>
                  <a:srgbClr val="FBF9F5"/>
                </a:solidFill>
                <a:latin typeface="TT Hoves"/>
                <a:ea typeface="TT Hoves"/>
                <a:cs typeface="TT Hoves"/>
                <a:sym typeface="TT Hoves"/>
              </a:rPr>
              <a:t>https://textilelearner.net</a:t>
            </a:r>
          </a:p>
        </p:txBody>
      </p:sp>
      <p:sp>
        <p:nvSpPr>
          <p:cNvPr id="21" name="TextBox 21"/>
          <p:cNvSpPr txBox="1"/>
          <p:nvPr/>
        </p:nvSpPr>
        <p:spPr>
          <a:xfrm>
            <a:off x="9712291" y="6561570"/>
            <a:ext cx="6667854" cy="531309"/>
          </a:xfrm>
          <a:prstGeom prst="rect">
            <a:avLst/>
          </a:prstGeom>
        </p:spPr>
        <p:txBody>
          <a:bodyPr lIns="0" tIns="0" rIns="0" bIns="0" rtlCol="0" anchor="t">
            <a:spAutoFit/>
          </a:bodyPr>
          <a:lstStyle/>
          <a:p>
            <a:pPr marL="0" lvl="0" indent="0" algn="just">
              <a:lnSpc>
                <a:spcPts val="4111"/>
              </a:lnSpc>
              <a:spcBef>
                <a:spcPct val="0"/>
              </a:spcBef>
            </a:pPr>
            <a:r>
              <a:rPr lang="en-US" sz="3771" spc="-147">
                <a:solidFill>
                  <a:srgbClr val="5780C0"/>
                </a:solidFill>
                <a:latin typeface="TT Hoves"/>
                <a:ea typeface="TT Hoves"/>
                <a:cs typeface="TT Hoves"/>
                <a:sym typeface="TT Hoves"/>
              </a:rPr>
              <a:t>wikipedia</a:t>
            </a:r>
          </a:p>
        </p:txBody>
      </p:sp>
      <p:sp>
        <p:nvSpPr>
          <p:cNvPr id="22" name="TextBox 22"/>
          <p:cNvSpPr txBox="1"/>
          <p:nvPr/>
        </p:nvSpPr>
        <p:spPr>
          <a:xfrm>
            <a:off x="9712291" y="7980109"/>
            <a:ext cx="6667854" cy="531309"/>
          </a:xfrm>
          <a:prstGeom prst="rect">
            <a:avLst/>
          </a:prstGeom>
        </p:spPr>
        <p:txBody>
          <a:bodyPr lIns="0" tIns="0" rIns="0" bIns="0" rtlCol="0" anchor="t">
            <a:spAutoFit/>
          </a:bodyPr>
          <a:lstStyle/>
          <a:p>
            <a:pPr marL="0" lvl="0" indent="0" algn="just">
              <a:lnSpc>
                <a:spcPts val="4111"/>
              </a:lnSpc>
              <a:spcBef>
                <a:spcPct val="0"/>
              </a:spcBef>
            </a:pPr>
            <a:r>
              <a:rPr lang="en-US" sz="3771" spc="-147">
                <a:solidFill>
                  <a:srgbClr val="FBF9F5"/>
                </a:solidFill>
                <a:latin typeface="TT Hoves"/>
                <a:ea typeface="TT Hoves"/>
                <a:cs typeface="TT Hoves"/>
                <a:sym typeface="TT Hoves"/>
              </a:rPr>
              <a:t>Pinterest--&gt; fashionsnoops.com</a:t>
            </a:r>
          </a:p>
        </p:txBody>
      </p:sp>
      <p:grpSp>
        <p:nvGrpSpPr>
          <p:cNvPr id="23" name="Group 23"/>
          <p:cNvGrpSpPr/>
          <p:nvPr/>
        </p:nvGrpSpPr>
        <p:grpSpPr>
          <a:xfrm>
            <a:off x="8833136" y="426737"/>
            <a:ext cx="8426164" cy="1157721"/>
            <a:chOff x="0" y="0"/>
            <a:chExt cx="2219237" cy="304914"/>
          </a:xfrm>
        </p:grpSpPr>
        <p:sp>
          <p:nvSpPr>
            <p:cNvPr id="24" name="Freeform 24"/>
            <p:cNvSpPr/>
            <p:nvPr/>
          </p:nvSpPr>
          <p:spPr>
            <a:xfrm>
              <a:off x="0" y="0"/>
              <a:ext cx="2219237" cy="304914"/>
            </a:xfrm>
            <a:custGeom>
              <a:avLst/>
              <a:gdLst/>
              <a:ahLst/>
              <a:cxnLst/>
              <a:rect l="l" t="t" r="r" b="b"/>
              <a:pathLst>
                <a:path w="2219237" h="304914">
                  <a:moveTo>
                    <a:pt x="91880" y="0"/>
                  </a:moveTo>
                  <a:lnTo>
                    <a:pt x="2127357" y="0"/>
                  </a:lnTo>
                  <a:cubicBezTo>
                    <a:pt x="2178101" y="0"/>
                    <a:pt x="2219237" y="41136"/>
                    <a:pt x="2219237" y="91880"/>
                  </a:cubicBezTo>
                  <a:lnTo>
                    <a:pt x="2219237" y="213035"/>
                  </a:lnTo>
                  <a:cubicBezTo>
                    <a:pt x="2219237" y="237403"/>
                    <a:pt x="2209556" y="260772"/>
                    <a:pt x="2192326" y="278003"/>
                  </a:cubicBezTo>
                  <a:cubicBezTo>
                    <a:pt x="2175095" y="295234"/>
                    <a:pt x="2151725" y="304914"/>
                    <a:pt x="2127357" y="304914"/>
                  </a:cubicBezTo>
                  <a:lnTo>
                    <a:pt x="91880" y="304914"/>
                  </a:lnTo>
                  <a:cubicBezTo>
                    <a:pt x="67512" y="304914"/>
                    <a:pt x="44142" y="295234"/>
                    <a:pt x="26911" y="278003"/>
                  </a:cubicBezTo>
                  <a:cubicBezTo>
                    <a:pt x="9680" y="260772"/>
                    <a:pt x="0" y="237403"/>
                    <a:pt x="0" y="213035"/>
                  </a:cubicBezTo>
                  <a:lnTo>
                    <a:pt x="0" y="91880"/>
                  </a:lnTo>
                  <a:cubicBezTo>
                    <a:pt x="0" y="67512"/>
                    <a:pt x="9680" y="44142"/>
                    <a:pt x="26911" y="26911"/>
                  </a:cubicBezTo>
                  <a:cubicBezTo>
                    <a:pt x="44142" y="9680"/>
                    <a:pt x="67512" y="0"/>
                    <a:pt x="91880" y="0"/>
                  </a:cubicBezTo>
                  <a:close/>
                </a:path>
              </a:pathLst>
            </a:custGeom>
            <a:solidFill>
              <a:srgbClr val="ECEBE4"/>
            </a:solidFill>
          </p:spPr>
        </p:sp>
        <p:sp>
          <p:nvSpPr>
            <p:cNvPr id="25" name="TextBox 25"/>
            <p:cNvSpPr txBox="1"/>
            <p:nvPr/>
          </p:nvSpPr>
          <p:spPr>
            <a:xfrm>
              <a:off x="0" y="-47625"/>
              <a:ext cx="2219237" cy="352539"/>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a:off x="8833136" y="1755451"/>
            <a:ext cx="8426164" cy="1338947"/>
            <a:chOff x="0" y="0"/>
            <a:chExt cx="2219237" cy="352644"/>
          </a:xfrm>
        </p:grpSpPr>
        <p:sp>
          <p:nvSpPr>
            <p:cNvPr id="27" name="Freeform 27"/>
            <p:cNvSpPr/>
            <p:nvPr/>
          </p:nvSpPr>
          <p:spPr>
            <a:xfrm>
              <a:off x="0" y="0"/>
              <a:ext cx="2219237" cy="352644"/>
            </a:xfrm>
            <a:custGeom>
              <a:avLst/>
              <a:gdLst/>
              <a:ahLst/>
              <a:cxnLst/>
              <a:rect l="l" t="t" r="r" b="b"/>
              <a:pathLst>
                <a:path w="2219237" h="352644">
                  <a:moveTo>
                    <a:pt x="91880" y="0"/>
                  </a:moveTo>
                  <a:lnTo>
                    <a:pt x="2127357" y="0"/>
                  </a:lnTo>
                  <a:cubicBezTo>
                    <a:pt x="2178101" y="0"/>
                    <a:pt x="2219237" y="41136"/>
                    <a:pt x="2219237" y="91880"/>
                  </a:cubicBezTo>
                  <a:lnTo>
                    <a:pt x="2219237" y="260765"/>
                  </a:lnTo>
                  <a:cubicBezTo>
                    <a:pt x="2219237" y="311509"/>
                    <a:pt x="2178101" y="352644"/>
                    <a:pt x="2127357" y="352644"/>
                  </a:cubicBezTo>
                  <a:lnTo>
                    <a:pt x="91880" y="352644"/>
                  </a:lnTo>
                  <a:cubicBezTo>
                    <a:pt x="67512" y="352644"/>
                    <a:pt x="44142" y="342964"/>
                    <a:pt x="26911" y="325734"/>
                  </a:cubicBezTo>
                  <a:cubicBezTo>
                    <a:pt x="9680" y="308503"/>
                    <a:pt x="0" y="285133"/>
                    <a:pt x="0" y="260765"/>
                  </a:cubicBezTo>
                  <a:lnTo>
                    <a:pt x="0" y="91880"/>
                  </a:lnTo>
                  <a:cubicBezTo>
                    <a:pt x="0" y="67512"/>
                    <a:pt x="9680" y="44142"/>
                    <a:pt x="26911" y="26911"/>
                  </a:cubicBezTo>
                  <a:cubicBezTo>
                    <a:pt x="44142" y="9680"/>
                    <a:pt x="67512" y="0"/>
                    <a:pt x="91880" y="0"/>
                  </a:cubicBezTo>
                  <a:close/>
                </a:path>
              </a:pathLst>
            </a:custGeom>
            <a:solidFill>
              <a:srgbClr val="000000">
                <a:alpha val="0"/>
              </a:srgbClr>
            </a:solidFill>
            <a:ln w="38100" cap="rnd">
              <a:solidFill>
                <a:srgbClr val="FBF9F5"/>
              </a:solidFill>
              <a:prstDash val="solid"/>
              <a:round/>
            </a:ln>
          </p:spPr>
        </p:sp>
        <p:sp>
          <p:nvSpPr>
            <p:cNvPr id="28" name="TextBox 28"/>
            <p:cNvSpPr txBox="1"/>
            <p:nvPr/>
          </p:nvSpPr>
          <p:spPr>
            <a:xfrm>
              <a:off x="0" y="-47625"/>
              <a:ext cx="2219237" cy="400269"/>
            </a:xfrm>
            <a:prstGeom prst="rect">
              <a:avLst/>
            </a:prstGeom>
          </p:spPr>
          <p:txBody>
            <a:bodyPr lIns="50800" tIns="50800" rIns="50800" bIns="50800" rtlCol="0" anchor="ctr"/>
            <a:lstStyle/>
            <a:p>
              <a:pPr algn="ctr">
                <a:lnSpc>
                  <a:spcPts val="2659"/>
                </a:lnSpc>
                <a:spcBef>
                  <a:spcPct val="0"/>
                </a:spcBef>
              </a:pPr>
              <a:endParaRPr/>
            </a:p>
          </p:txBody>
        </p:sp>
      </p:grpSp>
      <p:grpSp>
        <p:nvGrpSpPr>
          <p:cNvPr id="29" name="Group 29"/>
          <p:cNvGrpSpPr/>
          <p:nvPr/>
        </p:nvGrpSpPr>
        <p:grpSpPr>
          <a:xfrm>
            <a:off x="8833136" y="8810337"/>
            <a:ext cx="8426164" cy="1157721"/>
            <a:chOff x="0" y="0"/>
            <a:chExt cx="2219237" cy="304914"/>
          </a:xfrm>
        </p:grpSpPr>
        <p:sp>
          <p:nvSpPr>
            <p:cNvPr id="30" name="Freeform 30"/>
            <p:cNvSpPr/>
            <p:nvPr/>
          </p:nvSpPr>
          <p:spPr>
            <a:xfrm>
              <a:off x="0" y="0"/>
              <a:ext cx="2219237" cy="304914"/>
            </a:xfrm>
            <a:custGeom>
              <a:avLst/>
              <a:gdLst/>
              <a:ahLst/>
              <a:cxnLst/>
              <a:rect l="l" t="t" r="r" b="b"/>
              <a:pathLst>
                <a:path w="2219237" h="304914">
                  <a:moveTo>
                    <a:pt x="91880" y="0"/>
                  </a:moveTo>
                  <a:lnTo>
                    <a:pt x="2127357" y="0"/>
                  </a:lnTo>
                  <a:cubicBezTo>
                    <a:pt x="2178101" y="0"/>
                    <a:pt x="2219237" y="41136"/>
                    <a:pt x="2219237" y="91880"/>
                  </a:cubicBezTo>
                  <a:lnTo>
                    <a:pt x="2219237" y="213035"/>
                  </a:lnTo>
                  <a:cubicBezTo>
                    <a:pt x="2219237" y="237403"/>
                    <a:pt x="2209556" y="260772"/>
                    <a:pt x="2192326" y="278003"/>
                  </a:cubicBezTo>
                  <a:cubicBezTo>
                    <a:pt x="2175095" y="295234"/>
                    <a:pt x="2151725" y="304914"/>
                    <a:pt x="2127357" y="304914"/>
                  </a:cubicBezTo>
                  <a:lnTo>
                    <a:pt x="91880" y="304914"/>
                  </a:lnTo>
                  <a:cubicBezTo>
                    <a:pt x="67512" y="304914"/>
                    <a:pt x="44142" y="295234"/>
                    <a:pt x="26911" y="278003"/>
                  </a:cubicBezTo>
                  <a:cubicBezTo>
                    <a:pt x="9680" y="260772"/>
                    <a:pt x="0" y="237403"/>
                    <a:pt x="0" y="213035"/>
                  </a:cubicBezTo>
                  <a:lnTo>
                    <a:pt x="0" y="91880"/>
                  </a:lnTo>
                  <a:cubicBezTo>
                    <a:pt x="0" y="67512"/>
                    <a:pt x="9680" y="44142"/>
                    <a:pt x="26911" y="26911"/>
                  </a:cubicBezTo>
                  <a:cubicBezTo>
                    <a:pt x="44142" y="9680"/>
                    <a:pt x="67512" y="0"/>
                    <a:pt x="91880" y="0"/>
                  </a:cubicBezTo>
                  <a:close/>
                </a:path>
              </a:pathLst>
            </a:custGeom>
            <a:solidFill>
              <a:srgbClr val="ECEBE4"/>
            </a:solidFill>
          </p:spPr>
        </p:sp>
        <p:sp>
          <p:nvSpPr>
            <p:cNvPr id="31" name="TextBox 31"/>
            <p:cNvSpPr txBox="1"/>
            <p:nvPr/>
          </p:nvSpPr>
          <p:spPr>
            <a:xfrm>
              <a:off x="0" y="-47625"/>
              <a:ext cx="2219237" cy="352539"/>
            </a:xfrm>
            <a:prstGeom prst="rect">
              <a:avLst/>
            </a:prstGeom>
          </p:spPr>
          <p:txBody>
            <a:bodyPr lIns="50800" tIns="50800" rIns="50800" bIns="50800" rtlCol="0" anchor="ctr"/>
            <a:lstStyle/>
            <a:p>
              <a:pPr algn="ctr">
                <a:lnSpc>
                  <a:spcPts val="2659"/>
                </a:lnSpc>
                <a:spcBef>
                  <a:spcPct val="0"/>
                </a:spcBef>
              </a:pPr>
              <a:endParaRPr/>
            </a:p>
          </p:txBody>
        </p:sp>
      </p:grpSp>
      <p:sp>
        <p:nvSpPr>
          <p:cNvPr id="32" name="TextBox 32"/>
          <p:cNvSpPr txBox="1"/>
          <p:nvPr/>
        </p:nvSpPr>
        <p:spPr>
          <a:xfrm>
            <a:off x="9504386" y="754231"/>
            <a:ext cx="7754914" cy="531309"/>
          </a:xfrm>
          <a:prstGeom prst="rect">
            <a:avLst/>
          </a:prstGeom>
        </p:spPr>
        <p:txBody>
          <a:bodyPr lIns="0" tIns="0" rIns="0" bIns="0" rtlCol="0" anchor="t">
            <a:spAutoFit/>
          </a:bodyPr>
          <a:lstStyle/>
          <a:p>
            <a:pPr marL="0" lvl="0" indent="0" algn="just">
              <a:lnSpc>
                <a:spcPts val="4111"/>
              </a:lnSpc>
              <a:spcBef>
                <a:spcPct val="0"/>
              </a:spcBef>
            </a:pPr>
            <a:r>
              <a:rPr lang="en-US" sz="3771" spc="-147">
                <a:solidFill>
                  <a:srgbClr val="5780C0"/>
                </a:solidFill>
                <a:latin typeface="TT Hoves"/>
                <a:ea typeface="TT Hoves"/>
                <a:cs typeface="TT Hoves"/>
                <a:sym typeface="TT Hoves"/>
              </a:rPr>
              <a:t>https://beyondtalentrecruitment.com/</a:t>
            </a:r>
          </a:p>
        </p:txBody>
      </p:sp>
      <p:sp>
        <p:nvSpPr>
          <p:cNvPr id="33" name="TextBox 33"/>
          <p:cNvSpPr txBox="1"/>
          <p:nvPr/>
        </p:nvSpPr>
        <p:spPr>
          <a:xfrm>
            <a:off x="9712291" y="2226135"/>
            <a:ext cx="4715833" cy="531309"/>
          </a:xfrm>
          <a:prstGeom prst="rect">
            <a:avLst/>
          </a:prstGeom>
        </p:spPr>
        <p:txBody>
          <a:bodyPr lIns="0" tIns="0" rIns="0" bIns="0" rtlCol="0" anchor="t">
            <a:spAutoFit/>
          </a:bodyPr>
          <a:lstStyle/>
          <a:p>
            <a:pPr marL="0" lvl="0" indent="0" algn="just">
              <a:lnSpc>
                <a:spcPts val="4111"/>
              </a:lnSpc>
              <a:spcBef>
                <a:spcPct val="0"/>
              </a:spcBef>
            </a:pPr>
            <a:r>
              <a:rPr lang="en-US" sz="3771" spc="-147">
                <a:solidFill>
                  <a:srgbClr val="FBF9F5"/>
                </a:solidFill>
                <a:latin typeface="TT Hoves"/>
                <a:ea typeface="TT Hoves"/>
                <a:cs typeface="TT Hoves"/>
                <a:sym typeface="TT Hoves"/>
              </a:rPr>
              <a:t>https://textilelearner.net</a:t>
            </a:r>
          </a:p>
        </p:txBody>
      </p:sp>
      <p:sp>
        <p:nvSpPr>
          <p:cNvPr id="34" name="TextBox 34"/>
          <p:cNvSpPr txBox="1"/>
          <p:nvPr/>
        </p:nvSpPr>
        <p:spPr>
          <a:xfrm>
            <a:off x="9504386" y="9058324"/>
            <a:ext cx="6667854" cy="531309"/>
          </a:xfrm>
          <a:prstGeom prst="rect">
            <a:avLst/>
          </a:prstGeom>
        </p:spPr>
        <p:txBody>
          <a:bodyPr lIns="0" tIns="0" rIns="0" bIns="0" rtlCol="0" anchor="t">
            <a:spAutoFit/>
          </a:bodyPr>
          <a:lstStyle/>
          <a:p>
            <a:pPr marL="0" lvl="0" indent="0" algn="just">
              <a:lnSpc>
                <a:spcPts val="4111"/>
              </a:lnSpc>
              <a:spcBef>
                <a:spcPct val="0"/>
              </a:spcBef>
            </a:pPr>
            <a:r>
              <a:rPr lang="en-US" sz="3771" spc="-147">
                <a:solidFill>
                  <a:srgbClr val="5780C0"/>
                </a:solidFill>
                <a:latin typeface="TT Hoves"/>
                <a:ea typeface="TT Hoves"/>
                <a:cs typeface="TT Hoves"/>
                <a:sym typeface="TT Hoves"/>
              </a:rPr>
              <a:t>https://ebooks.inflibnet.ac.in/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461</Words>
  <Application>Microsoft Office PowerPoint</Application>
  <PresentationFormat>Custom</PresentationFormat>
  <Paragraphs>41</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Calibri</vt:lpstr>
      <vt:lpstr>TT Hoves</vt:lpstr>
      <vt:lpstr>Arial</vt:lpstr>
      <vt:lpstr>Lovelace</vt:lpstr>
      <vt:lpstr>TT Hoves Bold</vt:lpstr>
      <vt:lpstr>Lovelace Italics</vt:lpstr>
      <vt:lpstr>TT Hoves Bold Italics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CELLULASE</dc:title>
  <cp:lastModifiedBy>Krithika Vishwakarma</cp:lastModifiedBy>
  <cp:revision>2</cp:revision>
  <dcterms:created xsi:type="dcterms:W3CDTF">2006-08-16T00:00:00Z</dcterms:created>
  <dcterms:modified xsi:type="dcterms:W3CDTF">2025-09-12T19:29:27Z</dcterms:modified>
  <dc:identifier>DAGx2x1WJ28</dc:identifier>
</cp:coreProperties>
</file>