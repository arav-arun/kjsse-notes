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Baskerville Display PT Bold" charset="1" panose="02030702080406020203"/>
      <p:regular r:id="rId15"/>
    </p:embeddedFont>
    <p:embeddedFont>
      <p:font typeface="Baskerville Display PT" charset="1" panose="020306020804060202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http://Energy.gov"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1101327" y="1196789"/>
            <a:ext cx="16085344" cy="4011005"/>
          </a:xfrm>
          <a:prstGeom prst="rect">
            <a:avLst/>
          </a:prstGeom>
        </p:spPr>
        <p:txBody>
          <a:bodyPr anchor="t" rtlCol="false" tIns="0" lIns="0" bIns="0" rIns="0">
            <a:spAutoFit/>
          </a:bodyPr>
          <a:lstStyle/>
          <a:p>
            <a:pPr algn="l">
              <a:lnSpc>
                <a:spcPts val="6000"/>
              </a:lnSpc>
            </a:pPr>
            <a:r>
              <a:rPr lang="en-US" b="true" sz="8999" spc="161">
                <a:solidFill>
                  <a:srgbClr val="D7D4CC"/>
                </a:solidFill>
                <a:latin typeface="Baskerville Display PT Bold"/>
                <a:ea typeface="Baskerville Display PT Bold"/>
                <a:cs typeface="Baskerville Display PT Bold"/>
                <a:sym typeface="Baskerville Display PT Bold"/>
              </a:rPr>
              <a:t>LIPASE</a:t>
            </a:r>
          </a:p>
          <a:p>
            <a:pPr algn="l">
              <a:lnSpc>
                <a:spcPts val="6000"/>
              </a:lnSpc>
            </a:pPr>
          </a:p>
          <a:p>
            <a:pPr algn="l">
              <a:lnSpc>
                <a:spcPts val="6000"/>
              </a:lnSpc>
            </a:pPr>
            <a:r>
              <a:rPr lang="en-US" b="true" sz="5625" spc="101">
                <a:solidFill>
                  <a:srgbClr val="FFE14D"/>
                </a:solidFill>
                <a:latin typeface="Baskerville Display PT Bold"/>
                <a:ea typeface="Baskerville Display PT Bold"/>
                <a:cs typeface="Baskerville Display PT Bold"/>
                <a:sym typeface="Baskerville Display PT Bold"/>
              </a:rPr>
              <a:t>Enzymatic Processes in Industrial Production: Lipase in Biodiesel Production</a:t>
            </a:r>
          </a:p>
        </p:txBody>
      </p:sp>
      <p:sp>
        <p:nvSpPr>
          <p:cNvPr name="TextBox 7" id="7"/>
          <p:cNvSpPr txBox="true"/>
          <p:nvPr/>
        </p:nvSpPr>
        <p:spPr>
          <a:xfrm rot="0">
            <a:off x="1101329" y="5096435"/>
            <a:ext cx="16085344" cy="2176349"/>
          </a:xfrm>
          <a:prstGeom prst="rect">
            <a:avLst/>
          </a:prstGeom>
        </p:spPr>
        <p:txBody>
          <a:bodyPr anchor="t" rtlCol="false" tIns="0" lIns="0" bIns="0" rIns="0">
            <a:spAutoFit/>
          </a:bodyPr>
          <a:lstStyle/>
          <a:p>
            <a:pPr algn="l">
              <a:lnSpc>
                <a:spcPts val="4312"/>
              </a:lnSpc>
            </a:pPr>
            <a:r>
              <a:rPr lang="en-US" b="true" sz="5625" spc="101">
                <a:solidFill>
                  <a:srgbClr val="FFA44F"/>
                </a:solidFill>
                <a:latin typeface="Baskerville Display PT Bold"/>
                <a:ea typeface="Baskerville Display PT Bold"/>
                <a:cs typeface="Baskerville Display PT Bold"/>
                <a:sym typeface="Baskerville Display PT Bold"/>
              </a:rPr>
              <a:t>Biology for Engineers</a:t>
            </a:r>
            <a:r>
              <a:rPr lang="en-US" sz="5625" spc="101">
                <a:solidFill>
                  <a:srgbClr val="D7D4CC"/>
                </a:solidFill>
                <a:latin typeface="Baskerville Display PT"/>
                <a:ea typeface="Baskerville Display PT"/>
                <a:cs typeface="Baskerville Display PT"/>
                <a:sym typeface="Baskerville Display PT"/>
              </a:rPr>
              <a:t> </a:t>
            </a:r>
          </a:p>
          <a:p>
            <a:pPr algn="l">
              <a:lnSpc>
                <a:spcPts val="4312"/>
              </a:lnSpc>
            </a:pPr>
          </a:p>
          <a:p>
            <a:pPr algn="l">
              <a:lnSpc>
                <a:spcPts val="4312"/>
              </a:lnSpc>
            </a:pPr>
            <a:r>
              <a:rPr lang="en-US" b="true" sz="5625" spc="101">
                <a:solidFill>
                  <a:srgbClr val="FFA44F"/>
                </a:solidFill>
                <a:latin typeface="Baskerville Display PT Bold"/>
                <a:ea typeface="Baskerville Display PT Bold"/>
                <a:cs typeface="Baskerville Display PT Bold"/>
                <a:sym typeface="Baskerville Display PT Bold"/>
              </a:rPr>
              <a:t>Unit 1: Biomolecules and Enzymes</a:t>
            </a:r>
          </a:p>
        </p:txBody>
      </p:sp>
      <p:sp>
        <p:nvSpPr>
          <p:cNvPr name="TextBox 8" id="8"/>
          <p:cNvSpPr txBox="true"/>
          <p:nvPr/>
        </p:nvSpPr>
        <p:spPr>
          <a:xfrm rot="0">
            <a:off x="1101329" y="7687270"/>
            <a:ext cx="16085344" cy="1648770"/>
          </a:xfrm>
          <a:prstGeom prst="rect">
            <a:avLst/>
          </a:prstGeom>
        </p:spPr>
        <p:txBody>
          <a:bodyPr anchor="t" rtlCol="false" tIns="0" lIns="0" bIns="0" rIns="0">
            <a:spAutoFit/>
          </a:bodyPr>
          <a:lstStyle/>
          <a:p>
            <a:pPr algn="l">
              <a:lnSpc>
                <a:spcPts val="3437"/>
              </a:lnSpc>
            </a:pPr>
            <a:r>
              <a:rPr lang="en-US" sz="3749" spc="67">
                <a:solidFill>
                  <a:srgbClr val="D7D4CC"/>
                </a:solidFill>
                <a:latin typeface="Baskerville Display PT"/>
                <a:ea typeface="Baskerville Display PT"/>
                <a:cs typeface="Baskerville Display PT"/>
                <a:sym typeface="Baskerville Display PT"/>
              </a:rPr>
              <a:t>Presented by: Jaskaran Singh Sethi</a:t>
            </a:r>
          </a:p>
          <a:p>
            <a:pPr algn="l">
              <a:lnSpc>
                <a:spcPts val="3437"/>
              </a:lnSpc>
            </a:pPr>
          </a:p>
          <a:p>
            <a:pPr algn="l">
              <a:lnSpc>
                <a:spcPts val="3437"/>
              </a:lnSpc>
            </a:pPr>
            <a:r>
              <a:rPr lang="en-US" sz="3749" spc="67">
                <a:solidFill>
                  <a:srgbClr val="D7D4CC"/>
                </a:solidFill>
                <a:latin typeface="Baskerville Display PT"/>
                <a:ea typeface="Baskerville Display PT"/>
                <a:cs typeface="Baskerville Display PT"/>
                <a:sym typeface="Baskerville Display PT"/>
              </a:rPr>
              <a:t>Division:  D</a:t>
            </a:r>
          </a:p>
          <a:p>
            <a:pPr algn="l">
              <a:lnSpc>
                <a:spcPts val="3437"/>
              </a:lnSpc>
            </a:pPr>
          </a:p>
          <a:p>
            <a:pPr algn="l">
              <a:lnSpc>
                <a:spcPts val="3437"/>
              </a:lnSpc>
            </a:pPr>
            <a:r>
              <a:rPr lang="en-US" sz="3749" spc="67">
                <a:solidFill>
                  <a:srgbClr val="D7D4CC"/>
                </a:solidFill>
                <a:latin typeface="Baskerville Display PT"/>
                <a:ea typeface="Baskerville Display PT"/>
                <a:cs typeface="Baskerville Display PT"/>
                <a:sym typeface="Baskerville Display PT"/>
              </a:rPr>
              <a:t>Roll No: 15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818927" y="642678"/>
            <a:ext cx="16769878" cy="529344"/>
          </a:xfrm>
          <a:prstGeom prst="rect">
            <a:avLst/>
          </a:prstGeom>
        </p:spPr>
        <p:txBody>
          <a:bodyPr anchor="t" rtlCol="false" tIns="0" lIns="0" bIns="0" rIns="0">
            <a:spAutoFit/>
          </a:bodyPr>
          <a:lstStyle/>
          <a:p>
            <a:pPr algn="l">
              <a:lnSpc>
                <a:spcPts val="3696"/>
              </a:lnSpc>
            </a:pPr>
            <a:r>
              <a:rPr lang="en-US" sz="4929" spc="88" b="true">
                <a:solidFill>
                  <a:srgbClr val="FFE14D"/>
                </a:solidFill>
                <a:latin typeface="Baskerville Display PT Bold"/>
                <a:ea typeface="Baskerville Display PT Bold"/>
                <a:cs typeface="Baskerville Display PT Bold"/>
                <a:sym typeface="Baskerville Display PT Bold"/>
              </a:rPr>
              <a:t>                                        Introduction to Lipase</a:t>
            </a:r>
          </a:p>
        </p:txBody>
      </p:sp>
      <p:sp>
        <p:nvSpPr>
          <p:cNvPr name="TextBox 7" id="7"/>
          <p:cNvSpPr txBox="true"/>
          <p:nvPr/>
        </p:nvSpPr>
        <p:spPr>
          <a:xfrm rot="0">
            <a:off x="1028700" y="1934023"/>
            <a:ext cx="16560105" cy="662285"/>
          </a:xfrm>
          <a:prstGeom prst="rect">
            <a:avLst/>
          </a:prstGeom>
        </p:spPr>
        <p:txBody>
          <a:bodyPr anchor="t" rtlCol="false" tIns="0" lIns="0" bIns="0" rIns="0">
            <a:spAutoFit/>
          </a:bodyPr>
          <a:lstStyle/>
          <a:p>
            <a:pPr algn="l">
              <a:lnSpc>
                <a:spcPts val="2687"/>
              </a:lnSpc>
            </a:pPr>
            <a:r>
              <a:rPr lang="en-US" sz="2499" spc="44">
                <a:solidFill>
                  <a:srgbClr val="D7D4CC"/>
                </a:solidFill>
                <a:latin typeface="Baskerville Display PT"/>
                <a:ea typeface="Baskerville Display PT"/>
                <a:cs typeface="Baskerville Display PT"/>
                <a:sym typeface="Baskerville Display PT"/>
              </a:rPr>
              <a:t>Lipases are enzymes, essential biological catalysts playing a critical role in the hydrolysis of fats (lipids) into their constituent fatty acids and glycerol. This fundamental biochemical reaction is vital for nutrient absorption and metabolism in living organisms.</a:t>
            </a:r>
          </a:p>
          <a:p>
            <a:pPr algn="l">
              <a:lnSpc>
                <a:spcPts val="2687"/>
              </a:lnSpc>
            </a:pPr>
          </a:p>
        </p:txBody>
      </p:sp>
      <p:sp>
        <p:nvSpPr>
          <p:cNvPr name="TextBox 8" id="8"/>
          <p:cNvSpPr txBox="true"/>
          <p:nvPr/>
        </p:nvSpPr>
        <p:spPr>
          <a:xfrm rot="0">
            <a:off x="1028700" y="2853704"/>
            <a:ext cx="2880122" cy="457723"/>
          </a:xfrm>
          <a:prstGeom prst="rect">
            <a:avLst/>
          </a:prstGeom>
        </p:spPr>
        <p:txBody>
          <a:bodyPr anchor="t" rtlCol="false" tIns="0" lIns="0" bIns="0" rIns="0">
            <a:spAutoFit/>
          </a:bodyPr>
          <a:lstStyle/>
          <a:p>
            <a:pPr algn="l">
              <a:lnSpc>
                <a:spcPts val="2812"/>
              </a:lnSpc>
            </a:pPr>
            <a:r>
              <a:rPr lang="en-US" b="true" sz="2249" spc="40">
                <a:solidFill>
                  <a:srgbClr val="FFE14D"/>
                </a:solidFill>
                <a:latin typeface="Baskerville Display PT Bold"/>
                <a:ea typeface="Baskerville Display PT Bold"/>
                <a:cs typeface="Baskerville Display PT Bold"/>
                <a:sym typeface="Baskerville Display PT Bold"/>
              </a:rPr>
              <a:t> </a:t>
            </a:r>
          </a:p>
          <a:p>
            <a:pPr algn="l">
              <a:lnSpc>
                <a:spcPts val="2812"/>
              </a:lnSpc>
            </a:pPr>
            <a:r>
              <a:rPr lang="en-US" b="true" sz="3125" spc="56">
                <a:solidFill>
                  <a:srgbClr val="FFE14D"/>
                </a:solidFill>
                <a:latin typeface="Baskerville Display PT Bold"/>
                <a:ea typeface="Baskerville Display PT Bold"/>
                <a:cs typeface="Baskerville Display PT Bold"/>
                <a:sym typeface="Baskerville Display PT Bold"/>
              </a:rPr>
              <a:t>Occurrence</a:t>
            </a:r>
          </a:p>
        </p:txBody>
      </p:sp>
      <p:sp>
        <p:nvSpPr>
          <p:cNvPr name="TextBox 9" id="9"/>
          <p:cNvSpPr txBox="true"/>
          <p:nvPr/>
        </p:nvSpPr>
        <p:spPr>
          <a:xfrm rot="0">
            <a:off x="1132136" y="3777479"/>
            <a:ext cx="11434019" cy="392684"/>
          </a:xfrm>
          <a:prstGeom prst="rect">
            <a:avLst/>
          </a:prstGeom>
        </p:spPr>
        <p:txBody>
          <a:bodyPr anchor="t" rtlCol="false" tIns="0" lIns="0" bIns="0" rIns="0">
            <a:spAutoFit/>
          </a:bodyPr>
          <a:lstStyle/>
          <a:p>
            <a:pPr algn="l">
              <a:lnSpc>
                <a:spcPts val="2687"/>
              </a:lnSpc>
            </a:pPr>
            <a:r>
              <a:rPr lang="en-US" sz="2499" spc="44">
                <a:solidFill>
                  <a:srgbClr val="D7D4CC"/>
                </a:solidFill>
                <a:latin typeface="Baskerville Display PT"/>
                <a:ea typeface="Baskerville Display PT"/>
                <a:cs typeface="Baskerville Display PT"/>
                <a:sym typeface="Baskerville Display PT"/>
              </a:rPr>
              <a:t>Lipases are widely distributed in nature, found in a diverse array of organisms:</a:t>
            </a:r>
          </a:p>
        </p:txBody>
      </p:sp>
      <p:sp>
        <p:nvSpPr>
          <p:cNvPr name="TextBox 10" id="10"/>
          <p:cNvSpPr txBox="true"/>
          <p:nvPr/>
        </p:nvSpPr>
        <p:spPr>
          <a:xfrm rot="0">
            <a:off x="1028700" y="4610694"/>
            <a:ext cx="13053759" cy="879186"/>
          </a:xfrm>
          <a:prstGeom prst="rect">
            <a:avLst/>
          </a:prstGeom>
        </p:spPr>
        <p:txBody>
          <a:bodyPr anchor="t" rtlCol="false" tIns="0" lIns="0" bIns="0" rIns="0">
            <a:spAutoFit/>
          </a:bodyPr>
          <a:lstStyle/>
          <a:p>
            <a:pPr algn="l" marL="377031" indent="-188516" lvl="1">
              <a:lnSpc>
                <a:spcPts val="268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Microorganisms:</a:t>
            </a:r>
            <a:r>
              <a:rPr lang="en-US" sz="2499" spc="44">
                <a:solidFill>
                  <a:srgbClr val="D7D4CC"/>
                </a:solidFill>
                <a:latin typeface="Baskerville Display PT"/>
                <a:ea typeface="Baskerville Display PT"/>
                <a:cs typeface="Baskerville Display PT"/>
                <a:sym typeface="Baskerville Display PT"/>
              </a:rPr>
              <a:t> Bacteria, yeasts, and fungi are prolific producers of lipases, making them a primary source for industrial applications.</a:t>
            </a:r>
          </a:p>
        </p:txBody>
      </p:sp>
      <p:sp>
        <p:nvSpPr>
          <p:cNvPr name="TextBox 11" id="11"/>
          <p:cNvSpPr txBox="true"/>
          <p:nvPr/>
        </p:nvSpPr>
        <p:spPr>
          <a:xfrm rot="0">
            <a:off x="1028700" y="5518456"/>
            <a:ext cx="11970395" cy="662286"/>
          </a:xfrm>
          <a:prstGeom prst="rect">
            <a:avLst/>
          </a:prstGeom>
        </p:spPr>
        <p:txBody>
          <a:bodyPr anchor="t" rtlCol="false" tIns="0" lIns="0" bIns="0" rIns="0">
            <a:spAutoFit/>
          </a:bodyPr>
          <a:lstStyle/>
          <a:p>
            <a:pPr algn="l" marL="377031" indent="-188516" lvl="1">
              <a:lnSpc>
                <a:spcPts val="268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Plants:</a:t>
            </a:r>
            <a:r>
              <a:rPr lang="en-US" sz="2499" spc="44">
                <a:solidFill>
                  <a:srgbClr val="D7D4CC"/>
                </a:solidFill>
                <a:latin typeface="Baskerville Display PT"/>
                <a:ea typeface="Baskerville Display PT"/>
                <a:cs typeface="Baskerville Display PT"/>
                <a:sym typeface="Baskerville Display PT"/>
              </a:rPr>
              <a:t> Found in various seeds, where they aid in the mobilization of stored lipids during germination.</a:t>
            </a:r>
          </a:p>
        </p:txBody>
      </p:sp>
      <p:sp>
        <p:nvSpPr>
          <p:cNvPr name="TextBox 12" id="12"/>
          <p:cNvSpPr txBox="true"/>
          <p:nvPr/>
        </p:nvSpPr>
        <p:spPr>
          <a:xfrm rot="0">
            <a:off x="1132136" y="6329585"/>
            <a:ext cx="11434019" cy="1033741"/>
          </a:xfrm>
          <a:prstGeom prst="rect">
            <a:avLst/>
          </a:prstGeom>
        </p:spPr>
        <p:txBody>
          <a:bodyPr anchor="t" rtlCol="false" tIns="0" lIns="0" bIns="0" rIns="0">
            <a:spAutoFit/>
          </a:bodyPr>
          <a:lstStyle/>
          <a:p>
            <a:pPr algn="l" marL="377031" indent="-188516" lvl="1">
              <a:lnSpc>
                <a:spcPts val="268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Animals:</a:t>
            </a:r>
            <a:r>
              <a:rPr lang="en-US" sz="2499" spc="44">
                <a:solidFill>
                  <a:srgbClr val="D7D4CC"/>
                </a:solidFill>
                <a:latin typeface="Baskerville Display PT"/>
                <a:ea typeface="Baskerville Display PT"/>
                <a:cs typeface="Baskerville Display PT"/>
                <a:sym typeface="Baskerville Display PT"/>
              </a:rPr>
              <a:t> Crucial for digestion, with pancreatic lipase being a prime example in humans, breaking down dietary fats.</a:t>
            </a:r>
          </a:p>
        </p:txBody>
      </p:sp>
      <p:sp>
        <p:nvSpPr>
          <p:cNvPr name="TextBox 13" id="13"/>
          <p:cNvSpPr txBox="true"/>
          <p:nvPr/>
        </p:nvSpPr>
        <p:spPr>
          <a:xfrm rot="0">
            <a:off x="1028700" y="7515726"/>
            <a:ext cx="11434019" cy="1234965"/>
          </a:xfrm>
          <a:prstGeom prst="rect">
            <a:avLst/>
          </a:prstGeom>
        </p:spPr>
        <p:txBody>
          <a:bodyPr anchor="t" rtlCol="false" tIns="0" lIns="0" bIns="0" rIns="0">
            <a:spAutoFit/>
          </a:bodyPr>
          <a:lstStyle/>
          <a:p>
            <a:pPr algn="l">
              <a:lnSpc>
                <a:spcPts val="2687"/>
              </a:lnSpc>
            </a:pPr>
            <a:r>
              <a:rPr lang="en-US" sz="2499" spc="44">
                <a:solidFill>
                  <a:srgbClr val="D7D4CC"/>
                </a:solidFill>
                <a:latin typeface="Baskerville Display PT"/>
                <a:ea typeface="Baskerville Display PT"/>
                <a:cs typeface="Baskerville Display PT"/>
                <a:sym typeface="Baskerville Display PT"/>
              </a:rPr>
              <a:t>For industrial applications, microbial lipases are particularly favored. Their robust nature, broad substrate specificity, and ease of production via fermentation make them ideal candidates for large-scale processes.</a:t>
            </a:r>
          </a:p>
        </p:txBody>
      </p:sp>
      <p:grpSp>
        <p:nvGrpSpPr>
          <p:cNvPr name="Group 14" id="14"/>
          <p:cNvGrpSpPr/>
          <p:nvPr/>
        </p:nvGrpSpPr>
        <p:grpSpPr>
          <a:xfrm rot="0">
            <a:off x="14716931" y="2863229"/>
            <a:ext cx="3437781" cy="3437781"/>
            <a:chOff x="0" y="0"/>
            <a:chExt cx="4583708" cy="4583708"/>
          </a:xfrm>
        </p:grpSpPr>
        <p:sp>
          <p:nvSpPr>
            <p:cNvPr name="Freeform 15" id="15" descr="preencoded.png"/>
            <p:cNvSpPr/>
            <p:nvPr/>
          </p:nvSpPr>
          <p:spPr>
            <a:xfrm flipH="false" flipV="false" rot="0">
              <a:off x="0" y="0"/>
              <a:ext cx="4583684" cy="4583684"/>
            </a:xfrm>
            <a:custGeom>
              <a:avLst/>
              <a:gdLst/>
              <a:ahLst/>
              <a:cxnLst/>
              <a:rect r="r" b="b" t="t" l="l"/>
              <a:pathLst>
                <a:path h="4583684" w="4583684">
                  <a:moveTo>
                    <a:pt x="0" y="0"/>
                  </a:moveTo>
                  <a:lnTo>
                    <a:pt x="4583684" y="0"/>
                  </a:lnTo>
                  <a:lnTo>
                    <a:pt x="4583684" y="4583684"/>
                  </a:lnTo>
                  <a:lnTo>
                    <a:pt x="0" y="4583684"/>
                  </a:lnTo>
                  <a:lnTo>
                    <a:pt x="0" y="0"/>
                  </a:lnTo>
                  <a:close/>
                </a:path>
              </a:pathLst>
            </a:custGeom>
            <a:blipFill>
              <a:blip r:embed="rId2"/>
              <a:stretch>
                <a:fillRect l="0" t="0" r="0" b="0"/>
              </a:stretch>
            </a:blipFill>
          </p:spPr>
        </p:sp>
      </p:grpSp>
      <p:grpSp>
        <p:nvGrpSpPr>
          <p:cNvPr name="Group 16" id="16"/>
          <p:cNvGrpSpPr/>
          <p:nvPr/>
        </p:nvGrpSpPr>
        <p:grpSpPr>
          <a:xfrm rot="0">
            <a:off x="13555477" y="6595781"/>
            <a:ext cx="4599235" cy="3112995"/>
            <a:chOff x="0" y="0"/>
            <a:chExt cx="6132313" cy="4150660"/>
          </a:xfrm>
        </p:grpSpPr>
        <p:sp>
          <p:nvSpPr>
            <p:cNvPr name="Freeform 17" id="17" descr="preencoded.png"/>
            <p:cNvSpPr/>
            <p:nvPr/>
          </p:nvSpPr>
          <p:spPr>
            <a:xfrm flipH="false" flipV="false" rot="0">
              <a:off x="0" y="0"/>
              <a:ext cx="6132322" cy="4150614"/>
            </a:xfrm>
            <a:custGeom>
              <a:avLst/>
              <a:gdLst/>
              <a:ahLst/>
              <a:cxnLst/>
              <a:rect r="r" b="b" t="t" l="l"/>
              <a:pathLst>
                <a:path h="4150614" w="6132322">
                  <a:moveTo>
                    <a:pt x="0" y="0"/>
                  </a:moveTo>
                  <a:lnTo>
                    <a:pt x="6132322" y="0"/>
                  </a:lnTo>
                  <a:lnTo>
                    <a:pt x="6132322" y="4150614"/>
                  </a:lnTo>
                  <a:lnTo>
                    <a:pt x="0" y="4150614"/>
                  </a:lnTo>
                  <a:lnTo>
                    <a:pt x="0" y="0"/>
                  </a:lnTo>
                  <a:close/>
                </a:path>
              </a:pathLst>
            </a:custGeom>
            <a:blipFill>
              <a:blip r:embed="rId3"/>
              <a:stretch>
                <a:fillRect l="0" t="-2618" r="0" b="-2619"/>
              </a:stretch>
            </a:blipFill>
          </p:spPr>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1028700" y="616892"/>
            <a:ext cx="12540110" cy="531560"/>
          </a:xfrm>
          <a:prstGeom prst="rect">
            <a:avLst/>
          </a:prstGeom>
        </p:spPr>
        <p:txBody>
          <a:bodyPr anchor="t" rtlCol="false" tIns="0" lIns="0" bIns="0" rIns="0">
            <a:spAutoFit/>
          </a:bodyPr>
          <a:lstStyle/>
          <a:p>
            <a:pPr algn="ctr">
              <a:lnSpc>
                <a:spcPts val="3734"/>
              </a:lnSpc>
            </a:pPr>
            <a:r>
              <a:rPr lang="en-US" b="true" sz="4850" spc="87">
                <a:solidFill>
                  <a:srgbClr val="FFE14D"/>
                </a:solidFill>
                <a:latin typeface="Baskerville Display PT Bold"/>
                <a:ea typeface="Baskerville Display PT Bold"/>
                <a:cs typeface="Baskerville Display PT Bold"/>
                <a:sym typeface="Baskerville Display PT Bold"/>
              </a:rPr>
              <a:t>      Key Properties for Industrial Utility</a:t>
            </a:r>
          </a:p>
        </p:txBody>
      </p:sp>
      <p:sp>
        <p:nvSpPr>
          <p:cNvPr name="TextBox 7" id="7"/>
          <p:cNvSpPr txBox="true"/>
          <p:nvPr/>
        </p:nvSpPr>
        <p:spPr>
          <a:xfrm rot="0">
            <a:off x="1028700" y="1696907"/>
            <a:ext cx="16085344" cy="488156"/>
          </a:xfrm>
          <a:prstGeom prst="rect">
            <a:avLst/>
          </a:prstGeom>
        </p:spPr>
        <p:txBody>
          <a:bodyPr anchor="t" rtlCol="false" tIns="0" lIns="0" bIns="0" rIns="0">
            <a:spAutoFit/>
          </a:bodyPr>
          <a:lstStyle/>
          <a:p>
            <a:pPr algn="l">
              <a:lnSpc>
                <a:spcPts val="3437"/>
              </a:lnSpc>
            </a:pPr>
            <a:r>
              <a:rPr lang="en-US" sz="2499" spc="44">
                <a:solidFill>
                  <a:srgbClr val="D7D4CC"/>
                </a:solidFill>
                <a:latin typeface="Baskerville Display PT"/>
                <a:ea typeface="Baskerville Display PT"/>
                <a:cs typeface="Baskerville Display PT"/>
                <a:sym typeface="Baskerville Display PT"/>
              </a:rPr>
              <a:t>      The characteristics of lipases make them highly valuable in various industrial sectors:</a:t>
            </a:r>
          </a:p>
        </p:txBody>
      </p:sp>
      <p:sp>
        <p:nvSpPr>
          <p:cNvPr name="TextBox 8" id="8"/>
          <p:cNvSpPr txBox="true"/>
          <p:nvPr/>
        </p:nvSpPr>
        <p:spPr>
          <a:xfrm rot="0">
            <a:off x="1101329" y="3009900"/>
            <a:ext cx="16085344" cy="1369219"/>
          </a:xfrm>
          <a:prstGeom prst="rect">
            <a:avLst/>
          </a:prstGeom>
        </p:spPr>
        <p:txBody>
          <a:bodyPr anchor="t" rtlCol="false" tIns="0" lIns="0" bIns="0" rIns="0">
            <a:spAutoFit/>
          </a:bodyPr>
          <a:lstStyle/>
          <a:p>
            <a:pPr algn="l" marL="377031" indent="-188516" lvl="1">
              <a:lnSpc>
                <a:spcPts val="34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Mild Reaction Conditions:</a:t>
            </a:r>
            <a:r>
              <a:rPr lang="en-US" sz="2499" spc="44">
                <a:solidFill>
                  <a:srgbClr val="D7D4CC"/>
                </a:solidFill>
                <a:latin typeface="Baskerville Display PT"/>
                <a:ea typeface="Baskerville Display PT"/>
                <a:cs typeface="Baskerville Display PT"/>
                <a:sym typeface="Baskerville Display PT"/>
              </a:rPr>
              <a:t> Unlike many industrial chemical processes that require harsh temperatures, pressures, or extreme pH, lipases operate optimally at mild temperatures (typically 30-50°C) and neutral pH (around 7-8). This reduces energy consumption and minimizes side reactions.</a:t>
            </a:r>
          </a:p>
        </p:txBody>
      </p:sp>
      <p:sp>
        <p:nvSpPr>
          <p:cNvPr name="TextBox 9" id="9"/>
          <p:cNvSpPr txBox="true"/>
          <p:nvPr/>
        </p:nvSpPr>
        <p:spPr>
          <a:xfrm rot="0">
            <a:off x="1101329" y="5391447"/>
            <a:ext cx="16085344" cy="1369219"/>
          </a:xfrm>
          <a:prstGeom prst="rect">
            <a:avLst/>
          </a:prstGeom>
        </p:spPr>
        <p:txBody>
          <a:bodyPr anchor="t" rtlCol="false" tIns="0" lIns="0" bIns="0" rIns="0">
            <a:spAutoFit/>
          </a:bodyPr>
          <a:lstStyle/>
          <a:p>
            <a:pPr algn="l" marL="377031" indent="-188516" lvl="1">
              <a:lnSpc>
                <a:spcPts val="34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Reusability via Immobilization:</a:t>
            </a:r>
            <a:r>
              <a:rPr lang="en-US" sz="2499" spc="44">
                <a:solidFill>
                  <a:srgbClr val="D7D4CC"/>
                </a:solidFill>
                <a:latin typeface="Baskerville Display PT"/>
                <a:ea typeface="Baskerville Display PT"/>
                <a:cs typeface="Baskerville Display PT"/>
                <a:sym typeface="Baskerville Display PT"/>
              </a:rPr>
              <a:t> To enhance their stability, activity, and facilitate easy separation from the reaction mixture, lipases can be immobilized onto inert carriers. This process allows for repeated use, significantly reducing enzyme costs in continuous production systems.</a:t>
            </a:r>
          </a:p>
        </p:txBody>
      </p:sp>
      <p:sp>
        <p:nvSpPr>
          <p:cNvPr name="TextBox 10" id="10"/>
          <p:cNvSpPr txBox="true"/>
          <p:nvPr/>
        </p:nvSpPr>
        <p:spPr>
          <a:xfrm rot="0">
            <a:off x="1101329" y="7772995"/>
            <a:ext cx="16085344" cy="1369219"/>
          </a:xfrm>
          <a:prstGeom prst="rect">
            <a:avLst/>
          </a:prstGeom>
        </p:spPr>
        <p:txBody>
          <a:bodyPr anchor="t" rtlCol="false" tIns="0" lIns="0" bIns="0" rIns="0">
            <a:spAutoFit/>
          </a:bodyPr>
          <a:lstStyle/>
          <a:p>
            <a:pPr algn="l" marL="377031" indent="-188516" lvl="1">
              <a:lnSpc>
                <a:spcPts val="34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Functional in Organic Solvents:</a:t>
            </a:r>
            <a:r>
              <a:rPr lang="en-US" sz="2499" spc="44">
                <a:solidFill>
                  <a:srgbClr val="D7D4CC"/>
                </a:solidFill>
                <a:latin typeface="Baskerville Display PT"/>
                <a:ea typeface="Baskerville Display PT"/>
                <a:cs typeface="Baskerville Display PT"/>
                <a:sym typeface="Baskerville Display PT"/>
              </a:rPr>
              <a:t> A unique advantage of many lipases is their ability to maintain catalytic activity in non-aqueous environments. This is crucial for reactions involving hydrophobic substrates, such as transesterification, which often occur in organic solvents, expanding their applicability in diverse chemical synthesis pathways.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962025" y="3693937"/>
            <a:ext cx="14586238" cy="390525"/>
          </a:xfrm>
          <a:prstGeom prst="rect">
            <a:avLst/>
          </a:prstGeom>
        </p:spPr>
        <p:txBody>
          <a:bodyPr anchor="t" rtlCol="false" tIns="0" lIns="0" bIns="0" rIns="0">
            <a:spAutoFit/>
          </a:bodyPr>
          <a:lstStyle/>
          <a:p>
            <a:pPr algn="l">
              <a:lnSpc>
                <a:spcPts val="3000"/>
              </a:lnSpc>
            </a:pPr>
            <a:r>
              <a:rPr lang="en-US" sz="2499" spc="44">
                <a:solidFill>
                  <a:srgbClr val="D7D4CC"/>
                </a:solidFill>
                <a:latin typeface="Baskerville Display PT"/>
                <a:ea typeface="Baskerville Display PT"/>
                <a:cs typeface="Baskerville Display PT"/>
                <a:sym typeface="Baskerville Display PT"/>
              </a:rPr>
              <a:t>The core of lipase-catalyzed biodiesel production lies in the transesterification reaction:</a:t>
            </a:r>
          </a:p>
        </p:txBody>
      </p:sp>
      <p:grpSp>
        <p:nvGrpSpPr>
          <p:cNvPr name="Group 7" id="7"/>
          <p:cNvGrpSpPr/>
          <p:nvPr/>
        </p:nvGrpSpPr>
        <p:grpSpPr>
          <a:xfrm rot="0">
            <a:off x="13729766" y="3500484"/>
            <a:ext cx="4203683" cy="2853116"/>
            <a:chOff x="0" y="0"/>
            <a:chExt cx="7771265" cy="5274498"/>
          </a:xfrm>
        </p:grpSpPr>
        <p:sp>
          <p:nvSpPr>
            <p:cNvPr name="Freeform 8" id="8" descr="preencoded.png"/>
            <p:cNvSpPr/>
            <p:nvPr/>
          </p:nvSpPr>
          <p:spPr>
            <a:xfrm flipH="false" flipV="false" rot="0">
              <a:off x="0" y="0"/>
              <a:ext cx="7771257" cy="5274437"/>
            </a:xfrm>
            <a:custGeom>
              <a:avLst/>
              <a:gdLst/>
              <a:ahLst/>
              <a:cxnLst/>
              <a:rect r="r" b="b" t="t" l="l"/>
              <a:pathLst>
                <a:path h="5274437" w="7771257">
                  <a:moveTo>
                    <a:pt x="0" y="0"/>
                  </a:moveTo>
                  <a:lnTo>
                    <a:pt x="7771257" y="0"/>
                  </a:lnTo>
                  <a:lnTo>
                    <a:pt x="7771257" y="5274437"/>
                  </a:lnTo>
                  <a:lnTo>
                    <a:pt x="0" y="5274437"/>
                  </a:lnTo>
                  <a:lnTo>
                    <a:pt x="0" y="0"/>
                  </a:lnTo>
                  <a:close/>
                </a:path>
              </a:pathLst>
            </a:custGeom>
            <a:blipFill>
              <a:blip r:embed="rId2"/>
              <a:stretch>
                <a:fillRect l="-6336" t="0" r="-6336" b="-1"/>
              </a:stretch>
            </a:blipFill>
          </p:spPr>
        </p:sp>
      </p:grpSp>
      <p:sp>
        <p:nvSpPr>
          <p:cNvPr name="Freeform 9" id="9"/>
          <p:cNvSpPr/>
          <p:nvPr/>
        </p:nvSpPr>
        <p:spPr>
          <a:xfrm flipH="false" flipV="false" rot="0">
            <a:off x="12356997" y="6760711"/>
            <a:ext cx="5576452" cy="3083667"/>
          </a:xfrm>
          <a:custGeom>
            <a:avLst/>
            <a:gdLst/>
            <a:ahLst/>
            <a:cxnLst/>
            <a:rect r="r" b="b" t="t" l="l"/>
            <a:pathLst>
              <a:path h="3083667" w="5576452">
                <a:moveTo>
                  <a:pt x="0" y="0"/>
                </a:moveTo>
                <a:lnTo>
                  <a:pt x="5576452" y="0"/>
                </a:lnTo>
                <a:lnTo>
                  <a:pt x="5576452" y="3083668"/>
                </a:lnTo>
                <a:lnTo>
                  <a:pt x="0" y="3083668"/>
                </a:lnTo>
                <a:lnTo>
                  <a:pt x="0" y="0"/>
                </a:lnTo>
                <a:close/>
              </a:path>
            </a:pathLst>
          </a:custGeom>
          <a:blipFill>
            <a:blip r:embed="rId3"/>
            <a:stretch>
              <a:fillRect l="0" t="0" r="0" b="0"/>
            </a:stretch>
          </a:blipFill>
        </p:spPr>
      </p:sp>
      <p:sp>
        <p:nvSpPr>
          <p:cNvPr name="TextBox 10" id="10"/>
          <p:cNvSpPr txBox="true"/>
          <p:nvPr/>
        </p:nvSpPr>
        <p:spPr>
          <a:xfrm rot="0">
            <a:off x="962025" y="400051"/>
            <a:ext cx="17178057" cy="1126237"/>
          </a:xfrm>
          <a:prstGeom prst="rect">
            <a:avLst/>
          </a:prstGeom>
        </p:spPr>
        <p:txBody>
          <a:bodyPr anchor="t" rtlCol="false" tIns="0" lIns="0" bIns="0" rIns="0">
            <a:spAutoFit/>
          </a:bodyPr>
          <a:lstStyle/>
          <a:p>
            <a:pPr algn="ctr">
              <a:lnSpc>
                <a:spcPts val="4242"/>
              </a:lnSpc>
            </a:pPr>
            <a:r>
              <a:rPr lang="en-US" b="true" sz="5050" spc="90">
                <a:solidFill>
                  <a:srgbClr val="FFE14D"/>
                </a:solidFill>
                <a:latin typeface="Baskerville Display PT Bold"/>
                <a:ea typeface="Baskerville Display PT Bold"/>
                <a:cs typeface="Baskerville Display PT Bold"/>
                <a:sym typeface="Baskerville Display PT Bold"/>
              </a:rPr>
              <a:t>Lipase-Catalyzed Biodiesel Production: A Greener Path to Fuel</a:t>
            </a:r>
          </a:p>
        </p:txBody>
      </p:sp>
      <p:sp>
        <p:nvSpPr>
          <p:cNvPr name="TextBox 11" id="11"/>
          <p:cNvSpPr txBox="true"/>
          <p:nvPr/>
        </p:nvSpPr>
        <p:spPr>
          <a:xfrm rot="0">
            <a:off x="962025" y="1767930"/>
            <a:ext cx="16363950" cy="1163687"/>
          </a:xfrm>
          <a:prstGeom prst="rect">
            <a:avLst/>
          </a:prstGeom>
        </p:spPr>
        <p:txBody>
          <a:bodyPr anchor="t" rtlCol="false" tIns="0" lIns="0" bIns="0" rIns="0">
            <a:spAutoFit/>
          </a:bodyPr>
          <a:lstStyle/>
          <a:p>
            <a:pPr algn="l">
              <a:lnSpc>
                <a:spcPts val="3000"/>
              </a:lnSpc>
            </a:pPr>
            <a:r>
              <a:rPr lang="en-US" sz="2499" spc="44">
                <a:solidFill>
                  <a:srgbClr val="D7D4CC"/>
                </a:solidFill>
                <a:latin typeface="Baskerville Display PT"/>
                <a:ea typeface="Baskerville Display PT"/>
                <a:cs typeface="Baskerville Display PT"/>
                <a:sym typeface="Baskerville Display PT"/>
              </a:rPr>
              <a:t>Traditionally, harsh chemical processes are used to produce biodiesel, a renewable substitute for petroleum diesel. However, through a process known as transesterification, lipase enzymes provide an effective and environmentally friendly path.</a:t>
            </a:r>
          </a:p>
        </p:txBody>
      </p:sp>
      <p:sp>
        <p:nvSpPr>
          <p:cNvPr name="TextBox 12" id="12"/>
          <p:cNvSpPr txBox="true"/>
          <p:nvPr/>
        </p:nvSpPr>
        <p:spPr>
          <a:xfrm rot="0">
            <a:off x="962025" y="3191025"/>
            <a:ext cx="7620534" cy="431800"/>
          </a:xfrm>
          <a:prstGeom prst="rect">
            <a:avLst/>
          </a:prstGeom>
        </p:spPr>
        <p:txBody>
          <a:bodyPr anchor="t" rtlCol="false" tIns="0" lIns="0" bIns="0" rIns="0">
            <a:spAutoFit/>
          </a:bodyPr>
          <a:lstStyle/>
          <a:p>
            <a:pPr algn="l">
              <a:lnSpc>
                <a:spcPts val="3124"/>
              </a:lnSpc>
            </a:pPr>
            <a:r>
              <a:rPr lang="en-US" b="true" sz="3749" spc="67">
                <a:solidFill>
                  <a:srgbClr val="FFE14D"/>
                </a:solidFill>
                <a:latin typeface="Baskerville Display PT Bold"/>
                <a:ea typeface="Baskerville Display PT Bold"/>
                <a:cs typeface="Baskerville Display PT Bold"/>
                <a:sym typeface="Baskerville Display PT Bold"/>
              </a:rPr>
              <a:t>The Enzymatic Transformation</a:t>
            </a:r>
          </a:p>
        </p:txBody>
      </p:sp>
      <p:sp>
        <p:nvSpPr>
          <p:cNvPr name="TextBox 13" id="13"/>
          <p:cNvSpPr txBox="true"/>
          <p:nvPr/>
        </p:nvSpPr>
        <p:spPr>
          <a:xfrm rot="0">
            <a:off x="1028700" y="4322587"/>
            <a:ext cx="10939611" cy="778968"/>
          </a:xfrm>
          <a:prstGeom prst="rect">
            <a:avLst/>
          </a:prstGeom>
        </p:spPr>
        <p:txBody>
          <a:bodyPr anchor="t" rtlCol="false" tIns="0" lIns="0" bIns="0" rIns="0">
            <a:spAutoFit/>
          </a:bodyPr>
          <a:lstStyle/>
          <a:p>
            <a:pPr algn="l" marL="377031" indent="-188516" lvl="1">
              <a:lnSpc>
                <a:spcPts val="3000"/>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Enzyme:</a:t>
            </a:r>
            <a:r>
              <a:rPr lang="en-US" sz="2499" spc="44">
                <a:solidFill>
                  <a:srgbClr val="D7D4CC"/>
                </a:solidFill>
                <a:latin typeface="Baskerville Display PT"/>
                <a:ea typeface="Baskerville Display PT"/>
                <a:cs typeface="Baskerville Display PT"/>
                <a:sym typeface="Baskerville Display PT"/>
              </a:rPr>
              <a:t> Lipases derived from microbes such as Candida antarctica lipase B (CALB) are very efficient. </a:t>
            </a:r>
          </a:p>
        </p:txBody>
      </p:sp>
      <p:sp>
        <p:nvSpPr>
          <p:cNvPr name="TextBox 14" id="14"/>
          <p:cNvSpPr txBox="true"/>
          <p:nvPr/>
        </p:nvSpPr>
        <p:spPr>
          <a:xfrm rot="0">
            <a:off x="1028700" y="5215855"/>
            <a:ext cx="10939611" cy="1137745"/>
          </a:xfrm>
          <a:prstGeom prst="rect">
            <a:avLst/>
          </a:prstGeom>
        </p:spPr>
        <p:txBody>
          <a:bodyPr anchor="t" rtlCol="false" tIns="0" lIns="0" bIns="0" rIns="0">
            <a:spAutoFit/>
          </a:bodyPr>
          <a:lstStyle/>
          <a:p>
            <a:pPr algn="l" marL="377031" indent="-188516" lvl="1">
              <a:lnSpc>
                <a:spcPts val="3000"/>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Substrates:</a:t>
            </a:r>
            <a:r>
              <a:rPr lang="en-US" sz="2499" spc="44">
                <a:solidFill>
                  <a:srgbClr val="D7D4CC"/>
                </a:solidFill>
                <a:latin typeface="Baskerville Display PT"/>
                <a:ea typeface="Baskerville Display PT"/>
                <a:cs typeface="Baskerville Display PT"/>
                <a:sym typeface="Baskerville Display PT"/>
              </a:rPr>
              <a:t> The primary raw materials are triglycerides, which are the main components of vegetable oils (e.g., soybean, canola, palm oil) or animal fats. </a:t>
            </a:r>
          </a:p>
        </p:txBody>
      </p:sp>
      <p:sp>
        <p:nvSpPr>
          <p:cNvPr name="TextBox 15" id="15"/>
          <p:cNvSpPr txBox="true"/>
          <p:nvPr/>
        </p:nvSpPr>
        <p:spPr>
          <a:xfrm rot="0">
            <a:off x="962025" y="7721520"/>
            <a:ext cx="10939611" cy="1152525"/>
          </a:xfrm>
          <a:prstGeom prst="rect">
            <a:avLst/>
          </a:prstGeom>
        </p:spPr>
        <p:txBody>
          <a:bodyPr anchor="t" rtlCol="false" tIns="0" lIns="0" bIns="0" rIns="0">
            <a:spAutoFit/>
          </a:bodyPr>
          <a:lstStyle/>
          <a:p>
            <a:pPr algn="l">
              <a:lnSpc>
                <a:spcPts val="3000"/>
              </a:lnSpc>
            </a:pPr>
          </a:p>
          <a:p>
            <a:pPr algn="l" marL="377031" indent="-188516" lvl="1">
              <a:lnSpc>
                <a:spcPts val="3000"/>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Reactant:</a:t>
            </a:r>
            <a:r>
              <a:rPr lang="en-US" sz="2499" spc="44">
                <a:solidFill>
                  <a:srgbClr val="D7D4CC"/>
                </a:solidFill>
                <a:latin typeface="Baskerville Display PT"/>
                <a:ea typeface="Baskerville Display PT"/>
                <a:cs typeface="Baskerville Display PT"/>
                <a:sym typeface="Baskerville Display PT"/>
              </a:rPr>
              <a:t> An alcohol, typically methanol or ethanol, is used to react with the triglycerides.</a:t>
            </a:r>
          </a:p>
        </p:txBody>
      </p:sp>
      <p:sp>
        <p:nvSpPr>
          <p:cNvPr name="TextBox 16" id="16"/>
          <p:cNvSpPr txBox="true"/>
          <p:nvPr/>
        </p:nvSpPr>
        <p:spPr>
          <a:xfrm rot="0">
            <a:off x="962025" y="6162675"/>
            <a:ext cx="10939611" cy="1914525"/>
          </a:xfrm>
          <a:prstGeom prst="rect">
            <a:avLst/>
          </a:prstGeom>
        </p:spPr>
        <p:txBody>
          <a:bodyPr anchor="t" rtlCol="false" tIns="0" lIns="0" bIns="0" rIns="0">
            <a:spAutoFit/>
          </a:bodyPr>
          <a:lstStyle/>
          <a:p>
            <a:pPr algn="l">
              <a:lnSpc>
                <a:spcPts val="3000"/>
              </a:lnSpc>
            </a:pPr>
          </a:p>
          <a:p>
            <a:pPr algn="l" marL="377031" indent="-188516" lvl="1">
              <a:lnSpc>
                <a:spcPts val="3000"/>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Conversion:</a:t>
            </a:r>
            <a:r>
              <a:rPr lang="en-US" sz="2499" spc="44">
                <a:solidFill>
                  <a:srgbClr val="D7D4CC"/>
                </a:solidFill>
                <a:latin typeface="Baskerville Display PT"/>
                <a:ea typeface="Baskerville Display PT"/>
                <a:cs typeface="Baskerville Display PT"/>
                <a:sym typeface="Baskerville Display PT"/>
              </a:rPr>
              <a:t> Fatty Acid Alkyl Esters (FAAEs), also referred to as Biodiesel (or Fatty Acid Methyl Esters, or FAMEs when methanol is used), are created when lipase helps move fatty acyl groups from triglycerides to the alcohol.</a:t>
            </a:r>
          </a:p>
        </p:txBody>
      </p:sp>
      <p:sp>
        <p:nvSpPr>
          <p:cNvPr name="TextBox 17" id="17"/>
          <p:cNvSpPr txBox="true"/>
          <p:nvPr/>
        </p:nvSpPr>
        <p:spPr>
          <a:xfrm rot="0">
            <a:off x="962025" y="7887125"/>
            <a:ext cx="11136153" cy="2246355"/>
          </a:xfrm>
          <a:prstGeom prst="rect">
            <a:avLst/>
          </a:prstGeom>
        </p:spPr>
        <p:txBody>
          <a:bodyPr anchor="t" rtlCol="false" tIns="0" lIns="0" bIns="0" rIns="0">
            <a:spAutoFit/>
          </a:bodyPr>
          <a:lstStyle/>
          <a:p>
            <a:pPr algn="l">
              <a:lnSpc>
                <a:spcPts val="2972"/>
              </a:lnSpc>
            </a:pPr>
          </a:p>
          <a:p>
            <a:pPr algn="l">
              <a:lnSpc>
                <a:spcPts val="2972"/>
              </a:lnSpc>
            </a:pPr>
          </a:p>
          <a:p>
            <a:pPr algn="l">
              <a:lnSpc>
                <a:spcPts val="2972"/>
              </a:lnSpc>
            </a:pPr>
          </a:p>
          <a:p>
            <a:pPr algn="l" marL="373606" indent="-186803" lvl="1">
              <a:lnSpc>
                <a:spcPts val="2972"/>
              </a:lnSpc>
              <a:buFont typeface="Arial"/>
              <a:buChar char="•"/>
            </a:pPr>
            <a:r>
              <a:rPr lang="en-US" b="true" sz="2477" spc="44">
                <a:solidFill>
                  <a:srgbClr val="D7D4CC"/>
                </a:solidFill>
                <a:latin typeface="Baskerville Display PT Bold"/>
                <a:ea typeface="Baskerville Display PT Bold"/>
                <a:cs typeface="Baskerville Display PT Bold"/>
                <a:sym typeface="Baskerville Display PT Bold"/>
              </a:rPr>
              <a:t>Byproduct:</a:t>
            </a:r>
            <a:r>
              <a:rPr lang="en-US" sz="2477" spc="44">
                <a:solidFill>
                  <a:srgbClr val="D7D4CC"/>
                </a:solidFill>
                <a:latin typeface="Baskerville Display PT"/>
                <a:ea typeface="Baskerville Display PT"/>
                <a:cs typeface="Baskerville Display PT"/>
                <a:sym typeface="Baskerville Display PT"/>
              </a:rPr>
              <a:t> Glycerol is produced as a valuable byproduct, which can be further refined and used in various industries, including pharmaceuticals and cosmetics.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1101329" y="898029"/>
            <a:ext cx="16661874" cy="636652"/>
          </a:xfrm>
          <a:prstGeom prst="rect">
            <a:avLst/>
          </a:prstGeom>
        </p:spPr>
        <p:txBody>
          <a:bodyPr anchor="t" rtlCol="false" tIns="0" lIns="0" bIns="0" rIns="0">
            <a:spAutoFit/>
          </a:bodyPr>
          <a:lstStyle/>
          <a:p>
            <a:pPr algn="ctr">
              <a:lnSpc>
                <a:spcPts val="4752"/>
              </a:lnSpc>
            </a:pPr>
            <a:r>
              <a:rPr lang="en-US" b="true" sz="4950" spc="89">
                <a:solidFill>
                  <a:srgbClr val="FFE14D"/>
                </a:solidFill>
                <a:latin typeface="Baskerville Display PT Bold"/>
                <a:ea typeface="Baskerville Display PT Bold"/>
                <a:cs typeface="Baskerville Display PT Bold"/>
                <a:sym typeface="Baskerville Display PT Bold"/>
              </a:rPr>
              <a:t>Conditions For The Reaction To Take Place</a:t>
            </a:r>
          </a:p>
        </p:txBody>
      </p:sp>
      <p:sp>
        <p:nvSpPr>
          <p:cNvPr name="TextBox 7" id="7"/>
          <p:cNvSpPr txBox="true"/>
          <p:nvPr/>
        </p:nvSpPr>
        <p:spPr>
          <a:xfrm rot="0">
            <a:off x="1028700" y="1854363"/>
            <a:ext cx="8330937" cy="471488"/>
          </a:xfrm>
          <a:prstGeom prst="rect">
            <a:avLst/>
          </a:prstGeom>
        </p:spPr>
        <p:txBody>
          <a:bodyPr anchor="t" rtlCol="false" tIns="0" lIns="0" bIns="0" rIns="0">
            <a:spAutoFit/>
          </a:bodyPr>
          <a:lstStyle/>
          <a:p>
            <a:pPr algn="l">
              <a:lnSpc>
                <a:spcPts val="3562"/>
              </a:lnSpc>
            </a:pPr>
            <a:r>
              <a:rPr lang="en-US" b="true" sz="3749" spc="67">
                <a:solidFill>
                  <a:srgbClr val="FFE14D"/>
                </a:solidFill>
                <a:latin typeface="Baskerville Display PT Bold"/>
                <a:ea typeface="Baskerville Display PT Bold"/>
                <a:cs typeface="Baskerville Display PT Bold"/>
                <a:sym typeface="Baskerville Display PT Bold"/>
              </a:rPr>
              <a:t>Optimized Reaction Conditions</a:t>
            </a:r>
          </a:p>
        </p:txBody>
      </p:sp>
      <p:sp>
        <p:nvSpPr>
          <p:cNvPr name="TextBox 8" id="8"/>
          <p:cNvSpPr txBox="true"/>
          <p:nvPr/>
        </p:nvSpPr>
        <p:spPr>
          <a:xfrm rot="0">
            <a:off x="1101329" y="2785914"/>
            <a:ext cx="16085344" cy="1369219"/>
          </a:xfrm>
          <a:prstGeom prst="rect">
            <a:avLst/>
          </a:prstGeom>
        </p:spPr>
        <p:txBody>
          <a:bodyPr anchor="t" rtlCol="false" tIns="0" lIns="0" bIns="0" rIns="0">
            <a:spAutoFit/>
          </a:bodyPr>
          <a:lstStyle/>
          <a:p>
            <a:pPr algn="l">
              <a:lnSpc>
                <a:spcPts val="3437"/>
              </a:lnSpc>
            </a:pPr>
            <a:r>
              <a:rPr lang="en-US" sz="2499" spc="44">
                <a:solidFill>
                  <a:srgbClr val="D7D4CC"/>
                </a:solidFill>
                <a:latin typeface="Baskerville Display PT"/>
                <a:ea typeface="Baskerville Display PT"/>
                <a:cs typeface="Baskerville Display PT"/>
                <a:sym typeface="Baskerville Display PT"/>
              </a:rPr>
              <a:t>The advantages of enzymatic biodiesel production is the mild reaction conditions required, contributing to its "green" credentials:</a:t>
            </a:r>
          </a:p>
        </p:txBody>
      </p:sp>
      <p:sp>
        <p:nvSpPr>
          <p:cNvPr name="TextBox 9" id="9"/>
          <p:cNvSpPr txBox="true"/>
          <p:nvPr/>
        </p:nvSpPr>
        <p:spPr>
          <a:xfrm rot="0">
            <a:off x="1101329" y="4417219"/>
            <a:ext cx="16085344" cy="1809750"/>
          </a:xfrm>
          <a:prstGeom prst="rect">
            <a:avLst/>
          </a:prstGeom>
        </p:spPr>
        <p:txBody>
          <a:bodyPr anchor="t" rtlCol="false" tIns="0" lIns="0" bIns="0" rIns="0">
            <a:spAutoFit/>
          </a:bodyPr>
          <a:lstStyle/>
          <a:p>
            <a:pPr algn="l" marL="377031" indent="-188516" lvl="1">
              <a:lnSpc>
                <a:spcPts val="34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Temperature:</a:t>
            </a:r>
            <a:r>
              <a:rPr lang="en-US" sz="2499" spc="44">
                <a:solidFill>
                  <a:srgbClr val="D7D4CC"/>
                </a:solidFill>
                <a:latin typeface="Baskerville Display PT"/>
                <a:ea typeface="Baskerville Display PT"/>
                <a:cs typeface="Baskerville Display PT"/>
                <a:sym typeface="Baskerville Display PT"/>
              </a:rPr>
              <a:t> The process typically occurs at moderate temperatures, ranging from 35–45°C. This is significantly lower than the high temperatures (often &gt;60°C) required for chemical catalysis, leading to reduced energy consumption and preventing thermal degradation of reactants or products.</a:t>
            </a:r>
          </a:p>
        </p:txBody>
      </p:sp>
      <p:sp>
        <p:nvSpPr>
          <p:cNvPr name="TextBox 10" id="10"/>
          <p:cNvSpPr txBox="true"/>
          <p:nvPr/>
        </p:nvSpPr>
        <p:spPr>
          <a:xfrm rot="0">
            <a:off x="1101329" y="6275635"/>
            <a:ext cx="16085344" cy="1369219"/>
          </a:xfrm>
          <a:prstGeom prst="rect">
            <a:avLst/>
          </a:prstGeom>
        </p:spPr>
        <p:txBody>
          <a:bodyPr anchor="t" rtlCol="false" tIns="0" lIns="0" bIns="0" rIns="0">
            <a:spAutoFit/>
          </a:bodyPr>
          <a:lstStyle/>
          <a:p>
            <a:pPr algn="l" marL="377031" indent="-188516" lvl="1">
              <a:lnSpc>
                <a:spcPts val="34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pH:</a:t>
            </a:r>
            <a:r>
              <a:rPr lang="en-US" sz="2499" spc="44">
                <a:solidFill>
                  <a:srgbClr val="D7D4CC"/>
                </a:solidFill>
                <a:latin typeface="Baskerville Display PT"/>
                <a:ea typeface="Baskerville Display PT"/>
                <a:cs typeface="Baskerville Display PT"/>
                <a:sym typeface="Baskerville Display PT"/>
              </a:rPr>
              <a:t> A near-neutral pH environment (7–8) is ideal for lipase activity, eliminating the need for strong acids or bases that are corrosive and require careful handling and neutralization.</a:t>
            </a:r>
          </a:p>
        </p:txBody>
      </p:sp>
      <p:sp>
        <p:nvSpPr>
          <p:cNvPr name="TextBox 11" id="11"/>
          <p:cNvSpPr txBox="true"/>
          <p:nvPr/>
        </p:nvSpPr>
        <p:spPr>
          <a:xfrm rot="0">
            <a:off x="1101329" y="7693521"/>
            <a:ext cx="16085344" cy="1809750"/>
          </a:xfrm>
          <a:prstGeom prst="rect">
            <a:avLst/>
          </a:prstGeom>
        </p:spPr>
        <p:txBody>
          <a:bodyPr anchor="t" rtlCol="false" tIns="0" lIns="0" bIns="0" rIns="0">
            <a:spAutoFit/>
          </a:bodyPr>
          <a:lstStyle/>
          <a:p>
            <a:pPr algn="l" marL="377031" indent="-188516" lvl="1">
              <a:lnSpc>
                <a:spcPts val="34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Eco-friendly &amp; Solvent-Free:</a:t>
            </a:r>
            <a:r>
              <a:rPr lang="en-US" sz="2499" spc="44">
                <a:solidFill>
                  <a:srgbClr val="D7D4CC"/>
                </a:solidFill>
                <a:latin typeface="Baskerville Display PT"/>
                <a:ea typeface="Baskerville Display PT"/>
                <a:cs typeface="Baskerville Display PT"/>
                <a:sym typeface="Baskerville Display PT"/>
              </a:rPr>
              <a:t> Many enzymatic processes can be designed as solvent-free systems, further reducing environmental impact and simplifying downstream processing. This inherent eco-friendliness makes lipase-catalyzed biodiesel an attractive option for sustainable fuel production.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Freeform 6" id="6"/>
          <p:cNvSpPr/>
          <p:nvPr/>
        </p:nvSpPr>
        <p:spPr>
          <a:xfrm flipH="false" flipV="false" rot="0">
            <a:off x="10703859" y="3875301"/>
            <a:ext cx="3660520" cy="3147787"/>
          </a:xfrm>
          <a:custGeom>
            <a:avLst/>
            <a:gdLst/>
            <a:ahLst/>
            <a:cxnLst/>
            <a:rect r="r" b="b" t="t" l="l"/>
            <a:pathLst>
              <a:path h="3147787" w="3660520">
                <a:moveTo>
                  <a:pt x="0" y="0"/>
                </a:moveTo>
                <a:lnTo>
                  <a:pt x="3660520" y="0"/>
                </a:lnTo>
                <a:lnTo>
                  <a:pt x="3660520" y="3147787"/>
                </a:lnTo>
                <a:lnTo>
                  <a:pt x="0" y="3147787"/>
                </a:lnTo>
                <a:lnTo>
                  <a:pt x="0" y="0"/>
                </a:lnTo>
                <a:close/>
              </a:path>
            </a:pathLst>
          </a:custGeom>
          <a:blipFill>
            <a:blip r:embed="rId2"/>
            <a:stretch>
              <a:fillRect l="-30" t="-380" r="-30" b="0"/>
            </a:stretch>
          </a:blipFill>
        </p:spPr>
      </p:sp>
      <p:sp>
        <p:nvSpPr>
          <p:cNvPr name="Freeform 7" id="7"/>
          <p:cNvSpPr/>
          <p:nvPr/>
        </p:nvSpPr>
        <p:spPr>
          <a:xfrm flipH="false" flipV="false" rot="0">
            <a:off x="10703859" y="7846448"/>
            <a:ext cx="3778076" cy="2009365"/>
          </a:xfrm>
          <a:custGeom>
            <a:avLst/>
            <a:gdLst/>
            <a:ahLst/>
            <a:cxnLst/>
            <a:rect r="r" b="b" t="t" l="l"/>
            <a:pathLst>
              <a:path h="2009365" w="3778076">
                <a:moveTo>
                  <a:pt x="0" y="0"/>
                </a:moveTo>
                <a:lnTo>
                  <a:pt x="3778076" y="0"/>
                </a:lnTo>
                <a:lnTo>
                  <a:pt x="3778076" y="2009366"/>
                </a:lnTo>
                <a:lnTo>
                  <a:pt x="0" y="2009366"/>
                </a:lnTo>
                <a:lnTo>
                  <a:pt x="0" y="0"/>
                </a:lnTo>
                <a:close/>
              </a:path>
            </a:pathLst>
          </a:custGeom>
          <a:blipFill>
            <a:blip r:embed="rId3"/>
            <a:stretch>
              <a:fillRect l="0" t="-2815" r="0" b="-2815"/>
            </a:stretch>
          </a:blipFill>
        </p:spPr>
      </p:sp>
      <p:sp>
        <p:nvSpPr>
          <p:cNvPr name="Freeform 8" id="8"/>
          <p:cNvSpPr/>
          <p:nvPr/>
        </p:nvSpPr>
        <p:spPr>
          <a:xfrm flipH="false" flipV="false" rot="0">
            <a:off x="14748635" y="4778071"/>
            <a:ext cx="3263687" cy="4191176"/>
          </a:xfrm>
          <a:custGeom>
            <a:avLst/>
            <a:gdLst/>
            <a:ahLst/>
            <a:cxnLst/>
            <a:rect r="r" b="b" t="t" l="l"/>
            <a:pathLst>
              <a:path h="4191176" w="3263687">
                <a:moveTo>
                  <a:pt x="0" y="0"/>
                </a:moveTo>
                <a:lnTo>
                  <a:pt x="3263687" y="0"/>
                </a:lnTo>
                <a:lnTo>
                  <a:pt x="3263687" y="4191176"/>
                </a:lnTo>
                <a:lnTo>
                  <a:pt x="0" y="4191176"/>
                </a:lnTo>
                <a:lnTo>
                  <a:pt x="0" y="0"/>
                </a:lnTo>
                <a:close/>
              </a:path>
            </a:pathLst>
          </a:custGeom>
          <a:blipFill>
            <a:blip r:embed="rId4"/>
            <a:stretch>
              <a:fillRect l="-46375" t="0" r="-41439" b="0"/>
            </a:stretch>
          </a:blipFill>
        </p:spPr>
      </p:sp>
      <p:sp>
        <p:nvSpPr>
          <p:cNvPr name="TextBox 9" id="9"/>
          <p:cNvSpPr txBox="true"/>
          <p:nvPr/>
        </p:nvSpPr>
        <p:spPr>
          <a:xfrm rot="0">
            <a:off x="1033760" y="584386"/>
            <a:ext cx="16220480" cy="572263"/>
          </a:xfrm>
          <a:prstGeom prst="rect">
            <a:avLst/>
          </a:prstGeom>
        </p:spPr>
        <p:txBody>
          <a:bodyPr anchor="t" rtlCol="false" tIns="0" lIns="0" bIns="0" rIns="0">
            <a:spAutoFit/>
          </a:bodyPr>
          <a:lstStyle/>
          <a:p>
            <a:pPr algn="ctr">
              <a:lnSpc>
                <a:spcPts val="4059"/>
              </a:lnSpc>
            </a:pPr>
            <a:r>
              <a:rPr lang="en-US" b="true" sz="4950" spc="89">
                <a:solidFill>
                  <a:srgbClr val="FFE14D"/>
                </a:solidFill>
                <a:latin typeface="Baskerville Display PT Bold"/>
                <a:ea typeface="Baskerville Display PT Bold"/>
                <a:cs typeface="Baskerville Display PT Bold"/>
                <a:sym typeface="Baskerville Display PT Bold"/>
              </a:rPr>
              <a:t>Final Product Biodiesel Sustainable Energy Solution</a:t>
            </a:r>
          </a:p>
        </p:txBody>
      </p:sp>
      <p:sp>
        <p:nvSpPr>
          <p:cNvPr name="TextBox 10" id="10"/>
          <p:cNvSpPr txBox="true"/>
          <p:nvPr/>
        </p:nvSpPr>
        <p:spPr>
          <a:xfrm rot="0">
            <a:off x="948035" y="1498923"/>
            <a:ext cx="16391930" cy="379412"/>
          </a:xfrm>
          <a:prstGeom prst="rect">
            <a:avLst/>
          </a:prstGeom>
        </p:spPr>
        <p:txBody>
          <a:bodyPr anchor="t" rtlCol="false" tIns="0" lIns="0" bIns="0" rIns="0">
            <a:spAutoFit/>
          </a:bodyPr>
          <a:lstStyle/>
          <a:p>
            <a:pPr algn="l">
              <a:lnSpc>
                <a:spcPts val="2937"/>
              </a:lnSpc>
            </a:pPr>
            <a:r>
              <a:rPr lang="en-US" sz="2499" spc="44">
                <a:solidFill>
                  <a:srgbClr val="D7D4CC"/>
                </a:solidFill>
                <a:latin typeface="Baskerville Display PT"/>
                <a:ea typeface="Baskerville Display PT"/>
                <a:cs typeface="Baskerville Display PT"/>
                <a:sym typeface="Baskerville Display PT"/>
              </a:rPr>
              <a:t>Biodiesel, derived from renewable sources, represents a crucial step towards a more sustainable energy future.</a:t>
            </a:r>
          </a:p>
        </p:txBody>
      </p:sp>
      <p:sp>
        <p:nvSpPr>
          <p:cNvPr name="TextBox 11" id="11"/>
          <p:cNvSpPr txBox="true"/>
          <p:nvPr/>
        </p:nvSpPr>
        <p:spPr>
          <a:xfrm rot="0">
            <a:off x="1028700" y="2220609"/>
            <a:ext cx="16391930" cy="1061172"/>
          </a:xfrm>
          <a:prstGeom prst="rect">
            <a:avLst/>
          </a:prstGeom>
        </p:spPr>
        <p:txBody>
          <a:bodyPr anchor="t" rtlCol="false" tIns="0" lIns="0" bIns="0" rIns="0">
            <a:spAutoFit/>
          </a:bodyPr>
          <a:lstStyle/>
          <a:p>
            <a:pPr algn="l">
              <a:lnSpc>
                <a:spcPts val="2937"/>
              </a:lnSpc>
            </a:pPr>
            <a:r>
              <a:rPr lang="en-US" sz="2499" spc="44">
                <a:solidFill>
                  <a:srgbClr val="D7D4CC"/>
                </a:solidFill>
                <a:latin typeface="Baskerville Display PT"/>
                <a:ea typeface="Baskerville Display PT"/>
                <a:cs typeface="Baskerville Display PT"/>
                <a:sym typeface="Baskerville Display PT"/>
              </a:rPr>
              <a:t>The primary product of the lipase-catalyzed transesterification is Fatty Acid Methyl Esters (FAMEs). These esters possess fuel properties very similar to conventional diesel, making them suitable for direct use or blending with petroleum diesel.</a:t>
            </a:r>
          </a:p>
        </p:txBody>
      </p:sp>
      <p:sp>
        <p:nvSpPr>
          <p:cNvPr name="TextBox 12" id="12"/>
          <p:cNvSpPr txBox="true"/>
          <p:nvPr/>
        </p:nvSpPr>
        <p:spPr>
          <a:xfrm rot="0">
            <a:off x="1033760" y="3625406"/>
            <a:ext cx="3160514" cy="444606"/>
          </a:xfrm>
          <a:prstGeom prst="rect">
            <a:avLst/>
          </a:prstGeom>
        </p:spPr>
        <p:txBody>
          <a:bodyPr anchor="t" rtlCol="false" tIns="0" lIns="0" bIns="0" rIns="0">
            <a:spAutoFit/>
          </a:bodyPr>
          <a:lstStyle/>
          <a:p>
            <a:pPr algn="l">
              <a:lnSpc>
                <a:spcPts val="3144"/>
              </a:lnSpc>
            </a:pPr>
            <a:r>
              <a:rPr lang="en-US" b="true" sz="3849" spc="69">
                <a:solidFill>
                  <a:srgbClr val="FFE14D"/>
                </a:solidFill>
                <a:latin typeface="Baskerville Display PT Bold"/>
                <a:ea typeface="Baskerville Display PT Bold"/>
                <a:cs typeface="Baskerville Display PT Bold"/>
                <a:sym typeface="Baskerville Display PT Bold"/>
              </a:rPr>
              <a:t>Applications</a:t>
            </a:r>
          </a:p>
        </p:txBody>
      </p:sp>
      <p:sp>
        <p:nvSpPr>
          <p:cNvPr name="TextBox 13" id="13"/>
          <p:cNvSpPr txBox="true"/>
          <p:nvPr/>
        </p:nvSpPr>
        <p:spPr>
          <a:xfrm rot="0">
            <a:off x="948035" y="4145386"/>
            <a:ext cx="9755824" cy="1611430"/>
          </a:xfrm>
          <a:prstGeom prst="rect">
            <a:avLst/>
          </a:prstGeom>
        </p:spPr>
        <p:txBody>
          <a:bodyPr anchor="t" rtlCol="false" tIns="0" lIns="0" bIns="0" rIns="0">
            <a:spAutoFit/>
          </a:bodyPr>
          <a:lstStyle/>
          <a:p>
            <a:pPr algn="l" marL="377031" indent="-188516" lvl="1">
              <a:lnSpc>
                <a:spcPts val="29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Diesel Engines:</a:t>
            </a:r>
            <a:r>
              <a:rPr lang="en-US" sz="2499" spc="44">
                <a:solidFill>
                  <a:srgbClr val="D7D4CC"/>
                </a:solidFill>
                <a:latin typeface="Baskerville Display PT"/>
                <a:ea typeface="Baskerville Display PT"/>
                <a:cs typeface="Baskerville Display PT"/>
                <a:sym typeface="Baskerville Display PT"/>
              </a:rPr>
              <a:t> Biodiesel can be used in most modern diesel engines without significant modifications, either as a pure fuel (B100) or blended with petroleum diesel (e.g., B20, B5). Its high cetane number often leads to better ignition quality.</a:t>
            </a:r>
          </a:p>
        </p:txBody>
      </p:sp>
      <p:sp>
        <p:nvSpPr>
          <p:cNvPr name="TextBox 14" id="14"/>
          <p:cNvSpPr txBox="true"/>
          <p:nvPr/>
        </p:nvSpPr>
        <p:spPr>
          <a:xfrm rot="0">
            <a:off x="948035" y="5948533"/>
            <a:ext cx="9485703" cy="1859777"/>
          </a:xfrm>
          <a:prstGeom prst="rect">
            <a:avLst/>
          </a:prstGeom>
        </p:spPr>
        <p:txBody>
          <a:bodyPr anchor="t" rtlCol="false" tIns="0" lIns="0" bIns="0" rIns="0">
            <a:spAutoFit/>
          </a:bodyPr>
          <a:lstStyle/>
          <a:p>
            <a:pPr algn="l" marL="371716" indent="-185858" lvl="1">
              <a:lnSpc>
                <a:spcPts val="2896"/>
              </a:lnSpc>
              <a:buFont typeface="Arial"/>
              <a:buChar char="•"/>
            </a:pPr>
            <a:r>
              <a:rPr lang="en-US" b="true" sz="2464" spc="44">
                <a:solidFill>
                  <a:srgbClr val="D7D4CC"/>
                </a:solidFill>
                <a:latin typeface="Baskerville Display PT Bold"/>
                <a:ea typeface="Baskerville Display PT Bold"/>
                <a:cs typeface="Baskerville Display PT Bold"/>
                <a:sym typeface="Baskerville Display PT Bold"/>
              </a:rPr>
              <a:t>Renewable and Biodegradable Energy:</a:t>
            </a:r>
            <a:r>
              <a:rPr lang="en-US" sz="2464" spc="44">
                <a:solidFill>
                  <a:srgbClr val="D7D4CC"/>
                </a:solidFill>
                <a:latin typeface="Baskerville Display PT"/>
                <a:ea typeface="Baskerville Display PT"/>
                <a:cs typeface="Baskerville Display PT"/>
                <a:sym typeface="Baskerville Display PT"/>
              </a:rPr>
              <a:t> As it's produced from biomass, biodiesel is a renewable energy source. Its biodegradability means it breaks down quickly in the environment, reducing the risk of ecological damage in case of spills.</a:t>
            </a:r>
          </a:p>
        </p:txBody>
      </p:sp>
      <p:sp>
        <p:nvSpPr>
          <p:cNvPr name="TextBox 15" id="15"/>
          <p:cNvSpPr txBox="true"/>
          <p:nvPr/>
        </p:nvSpPr>
        <p:spPr>
          <a:xfrm rot="0">
            <a:off x="948035" y="7990501"/>
            <a:ext cx="9485703" cy="1865312"/>
          </a:xfrm>
          <a:prstGeom prst="rect">
            <a:avLst/>
          </a:prstGeom>
        </p:spPr>
        <p:txBody>
          <a:bodyPr anchor="t" rtlCol="false" tIns="0" lIns="0" bIns="0" rIns="0">
            <a:spAutoFit/>
          </a:bodyPr>
          <a:lstStyle/>
          <a:p>
            <a:pPr algn="l" marL="377031" indent="-188516" lvl="1">
              <a:lnSpc>
                <a:spcPts val="2937"/>
              </a:lnSpc>
              <a:buFont typeface="Arial"/>
              <a:buChar char="•"/>
            </a:pPr>
            <a:r>
              <a:rPr lang="en-US" b="true" sz="2499" spc="44">
                <a:solidFill>
                  <a:srgbClr val="D7D4CC"/>
                </a:solidFill>
                <a:latin typeface="Baskerville Display PT Bold"/>
                <a:ea typeface="Baskerville Display PT Bold"/>
                <a:cs typeface="Baskerville Display PT Bold"/>
                <a:sym typeface="Baskerville Display PT Bold"/>
              </a:rPr>
              <a:t>Reduced Emissions:</a:t>
            </a:r>
            <a:r>
              <a:rPr lang="en-US" sz="2499" spc="44">
                <a:solidFill>
                  <a:srgbClr val="D7D4CC"/>
                </a:solidFill>
                <a:latin typeface="Baskerville Display PT"/>
                <a:ea typeface="Baskerville Display PT"/>
                <a:cs typeface="Baskerville Display PT"/>
                <a:sym typeface="Baskerville Display PT"/>
              </a:rPr>
              <a:t> Compared to fossil diesel, biodiesel combustion typically results in lower emissions of particulate matter, unburned hydrocarbons, and carbon monoxide. While CO2 is released, it is considered carbon-neutral as it was absorbed by the source plants during their growth.</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1081385" y="714821"/>
            <a:ext cx="14816732" cy="785368"/>
          </a:xfrm>
          <a:prstGeom prst="rect">
            <a:avLst/>
          </a:prstGeom>
        </p:spPr>
        <p:txBody>
          <a:bodyPr anchor="t" rtlCol="false" tIns="0" lIns="0" bIns="0" rIns="0">
            <a:spAutoFit/>
          </a:bodyPr>
          <a:lstStyle/>
          <a:p>
            <a:pPr algn="ctr">
              <a:lnSpc>
                <a:spcPts val="6250"/>
              </a:lnSpc>
            </a:pPr>
            <a:r>
              <a:rPr lang="en-US" b="true" sz="4987" spc="89">
                <a:solidFill>
                  <a:srgbClr val="FFE14D"/>
                </a:solidFill>
                <a:latin typeface="Baskerville Display PT Bold"/>
                <a:ea typeface="Baskerville Display PT Bold"/>
                <a:cs typeface="Baskerville Display PT Bold"/>
                <a:sym typeface="Baskerville Display PT Bold"/>
              </a:rPr>
              <a:t>The Versatile World of Lipase: Beyond Biodiesel</a:t>
            </a:r>
          </a:p>
        </p:txBody>
      </p:sp>
      <p:sp>
        <p:nvSpPr>
          <p:cNvPr name="TextBox 7" id="7"/>
          <p:cNvSpPr txBox="true"/>
          <p:nvPr/>
        </p:nvSpPr>
        <p:spPr>
          <a:xfrm rot="0">
            <a:off x="1081385" y="1949351"/>
            <a:ext cx="16125230" cy="871369"/>
          </a:xfrm>
          <a:prstGeom prst="rect">
            <a:avLst/>
          </a:prstGeom>
        </p:spPr>
        <p:txBody>
          <a:bodyPr anchor="t" rtlCol="false" tIns="0" lIns="0" bIns="0" rIns="0">
            <a:spAutoFit/>
          </a:bodyPr>
          <a:lstStyle/>
          <a:p>
            <a:pPr algn="l">
              <a:lnSpc>
                <a:spcPts val="3533"/>
              </a:lnSpc>
            </a:pPr>
            <a:r>
              <a:rPr lang="en-US" sz="2225" spc="40">
                <a:solidFill>
                  <a:srgbClr val="D7D4CC"/>
                </a:solidFill>
                <a:latin typeface="Baskerville Display PT"/>
                <a:ea typeface="Baskerville Display PT"/>
                <a:cs typeface="Baskerville Display PT"/>
                <a:sym typeface="Baskerville Display PT"/>
              </a:rPr>
              <a:t>While lipases are pivotal in the sustainable production of biodiesel, their unique catalytic capabilities extend far beyond fuel, impacting various aspects of our daily lives in surprising ways.</a:t>
            </a:r>
          </a:p>
        </p:txBody>
      </p:sp>
      <p:sp>
        <p:nvSpPr>
          <p:cNvPr name="TextBox 8" id="8"/>
          <p:cNvSpPr txBox="true"/>
          <p:nvPr/>
        </p:nvSpPr>
        <p:spPr>
          <a:xfrm rot="0">
            <a:off x="1028700" y="3455640"/>
            <a:ext cx="4934694" cy="769739"/>
          </a:xfrm>
          <a:prstGeom prst="rect">
            <a:avLst/>
          </a:prstGeom>
        </p:spPr>
        <p:txBody>
          <a:bodyPr anchor="t" rtlCol="false" tIns="0" lIns="0" bIns="0" rIns="0">
            <a:spAutoFit/>
          </a:bodyPr>
          <a:lstStyle/>
          <a:p>
            <a:pPr algn="l">
              <a:lnSpc>
                <a:spcPts val="2937"/>
              </a:lnSpc>
            </a:pPr>
            <a:r>
              <a:rPr lang="en-US" b="true" sz="2312" spc="41">
                <a:solidFill>
                  <a:srgbClr val="FFFFFF"/>
                </a:solidFill>
                <a:latin typeface="Baskerville Display PT Bold"/>
                <a:ea typeface="Baskerville Display PT Bold"/>
                <a:cs typeface="Baskerville Display PT Bold"/>
                <a:sym typeface="Baskerville Display PT Bold"/>
              </a:rPr>
              <a:t>Laundry Detergents: The Greasy Stain Fighter</a:t>
            </a:r>
          </a:p>
        </p:txBody>
      </p:sp>
      <p:sp>
        <p:nvSpPr>
          <p:cNvPr name="TextBox 9" id="9"/>
          <p:cNvSpPr txBox="true"/>
          <p:nvPr/>
        </p:nvSpPr>
        <p:spPr>
          <a:xfrm rot="0">
            <a:off x="1081385" y="4419451"/>
            <a:ext cx="4934694" cy="3104704"/>
          </a:xfrm>
          <a:prstGeom prst="rect">
            <a:avLst/>
          </a:prstGeom>
        </p:spPr>
        <p:txBody>
          <a:bodyPr anchor="t" rtlCol="false" tIns="0" lIns="0" bIns="0" rIns="0">
            <a:spAutoFit/>
          </a:bodyPr>
          <a:lstStyle/>
          <a:p>
            <a:pPr algn="l">
              <a:lnSpc>
                <a:spcPts val="3374"/>
              </a:lnSpc>
            </a:pPr>
            <a:r>
              <a:rPr lang="en-US" sz="2125" spc="38">
                <a:solidFill>
                  <a:srgbClr val="D7D4CC"/>
                </a:solidFill>
                <a:latin typeface="Baskerville Display PT"/>
                <a:ea typeface="Baskerville Display PT"/>
                <a:cs typeface="Baskerville Display PT"/>
                <a:sym typeface="Baskerville Display PT"/>
              </a:rPr>
              <a:t>In the laundry room, lipase enzymes are also industrial workhorses. Many contemporary laundry detergents contain them to efficiently remove stubborn greasy stains from textiles, including oils, butter, and food residues.</a:t>
            </a:r>
          </a:p>
        </p:txBody>
      </p:sp>
      <p:sp>
        <p:nvSpPr>
          <p:cNvPr name="TextBox 10" id="10"/>
          <p:cNvSpPr txBox="true"/>
          <p:nvPr/>
        </p:nvSpPr>
        <p:spPr>
          <a:xfrm rot="0">
            <a:off x="6685210" y="3455640"/>
            <a:ext cx="4934694" cy="769739"/>
          </a:xfrm>
          <a:prstGeom prst="rect">
            <a:avLst/>
          </a:prstGeom>
        </p:spPr>
        <p:txBody>
          <a:bodyPr anchor="t" rtlCol="false" tIns="0" lIns="0" bIns="0" rIns="0">
            <a:spAutoFit/>
          </a:bodyPr>
          <a:lstStyle/>
          <a:p>
            <a:pPr algn="l">
              <a:lnSpc>
                <a:spcPts val="2937"/>
              </a:lnSpc>
            </a:pPr>
            <a:r>
              <a:rPr lang="en-US" b="true" sz="2312" spc="41">
                <a:solidFill>
                  <a:srgbClr val="FFFFFF"/>
                </a:solidFill>
                <a:latin typeface="Baskerville Display PT Bold"/>
                <a:ea typeface="Baskerville Display PT Bold"/>
                <a:cs typeface="Baskerville Display PT Bold"/>
                <a:sym typeface="Baskerville Display PT Bold"/>
              </a:rPr>
              <a:t>Connecting Clothes &amp; Green Fuel</a:t>
            </a:r>
          </a:p>
        </p:txBody>
      </p:sp>
      <p:sp>
        <p:nvSpPr>
          <p:cNvPr name="TextBox 11" id="11"/>
          <p:cNvSpPr txBox="true"/>
          <p:nvPr/>
        </p:nvSpPr>
        <p:spPr>
          <a:xfrm rot="0">
            <a:off x="6685210" y="4419451"/>
            <a:ext cx="4934694" cy="3104704"/>
          </a:xfrm>
          <a:prstGeom prst="rect">
            <a:avLst/>
          </a:prstGeom>
        </p:spPr>
        <p:txBody>
          <a:bodyPr anchor="t" rtlCol="false" tIns="0" lIns="0" bIns="0" rIns="0">
            <a:spAutoFit/>
          </a:bodyPr>
          <a:lstStyle/>
          <a:p>
            <a:pPr algn="l">
              <a:lnSpc>
                <a:spcPts val="3374"/>
              </a:lnSpc>
            </a:pPr>
            <a:r>
              <a:rPr lang="en-US" sz="2125" spc="38">
                <a:solidFill>
                  <a:srgbClr val="D7D4CC"/>
                </a:solidFill>
                <a:latin typeface="Baskerville Display PT"/>
                <a:ea typeface="Baskerville Display PT"/>
                <a:cs typeface="Baskerville Display PT"/>
                <a:sym typeface="Baskerville Display PT"/>
              </a:rPr>
              <a:t>It's amazing that lipase diligently clean our clothing. This demonstrates how a single biological tool can be modified for a wide range of industrial applications based on its basic biochemical function emphasizing catalytic power of enzymes.</a:t>
            </a:r>
          </a:p>
        </p:txBody>
      </p:sp>
      <p:sp>
        <p:nvSpPr>
          <p:cNvPr name="TextBox 12" id="12"/>
          <p:cNvSpPr txBox="true"/>
          <p:nvPr/>
        </p:nvSpPr>
        <p:spPr>
          <a:xfrm rot="0">
            <a:off x="12289036" y="3455640"/>
            <a:ext cx="4934694" cy="769739"/>
          </a:xfrm>
          <a:prstGeom prst="rect">
            <a:avLst/>
          </a:prstGeom>
        </p:spPr>
        <p:txBody>
          <a:bodyPr anchor="t" rtlCol="false" tIns="0" lIns="0" bIns="0" rIns="0">
            <a:spAutoFit/>
          </a:bodyPr>
          <a:lstStyle/>
          <a:p>
            <a:pPr algn="l">
              <a:lnSpc>
                <a:spcPts val="2937"/>
              </a:lnSpc>
            </a:pPr>
            <a:r>
              <a:rPr lang="en-US" b="true" sz="2312" spc="41">
                <a:solidFill>
                  <a:srgbClr val="FFFFFF"/>
                </a:solidFill>
                <a:latin typeface="Baskerville Display PT Bold"/>
                <a:ea typeface="Baskerville Display PT Bold"/>
                <a:cs typeface="Baskerville Display PT Bold"/>
                <a:sym typeface="Baskerville Display PT Bold"/>
              </a:rPr>
              <a:t>Lipase: The Ultimate Eco-Warrior Enzyme</a:t>
            </a:r>
          </a:p>
        </p:txBody>
      </p:sp>
      <p:sp>
        <p:nvSpPr>
          <p:cNvPr name="TextBox 13" id="13"/>
          <p:cNvSpPr txBox="true"/>
          <p:nvPr/>
        </p:nvSpPr>
        <p:spPr>
          <a:xfrm rot="0">
            <a:off x="12289036" y="4419451"/>
            <a:ext cx="4934694" cy="2672060"/>
          </a:xfrm>
          <a:prstGeom prst="rect">
            <a:avLst/>
          </a:prstGeom>
        </p:spPr>
        <p:txBody>
          <a:bodyPr anchor="t" rtlCol="false" tIns="0" lIns="0" bIns="0" rIns="0">
            <a:spAutoFit/>
          </a:bodyPr>
          <a:lstStyle/>
          <a:p>
            <a:pPr algn="l">
              <a:lnSpc>
                <a:spcPts val="3374"/>
              </a:lnSpc>
            </a:pPr>
            <a:r>
              <a:rPr lang="en-US" sz="2125" spc="38">
                <a:solidFill>
                  <a:srgbClr val="D7D4CC"/>
                </a:solidFill>
                <a:latin typeface="Baskerville Display PT"/>
                <a:ea typeface="Baskerville Display PT"/>
                <a:cs typeface="Baskerville Display PT"/>
                <a:sym typeface="Baskerville Display PT"/>
              </a:rPr>
              <a:t>Lipase is a true "Eco-Warrior" among enzymes because of its capacity to promote reactions in mild, non-toxic conditions, make use of renewable resources, cut waste, and boost productivity in a variety of industries.</a:t>
            </a:r>
          </a:p>
        </p:txBody>
      </p:sp>
      <p:sp>
        <p:nvSpPr>
          <p:cNvPr name="TextBox 14" id="14"/>
          <p:cNvSpPr txBox="true"/>
          <p:nvPr/>
        </p:nvSpPr>
        <p:spPr>
          <a:xfrm rot="0">
            <a:off x="1441772" y="8105180"/>
            <a:ext cx="15967433" cy="809625"/>
          </a:xfrm>
          <a:prstGeom prst="rect">
            <a:avLst/>
          </a:prstGeom>
        </p:spPr>
        <p:txBody>
          <a:bodyPr anchor="t" rtlCol="false" tIns="0" lIns="0" bIns="0" rIns="0">
            <a:spAutoFit/>
          </a:bodyPr>
          <a:lstStyle/>
          <a:p>
            <a:pPr algn="l">
              <a:lnSpc>
                <a:spcPts val="3374"/>
              </a:lnSpc>
            </a:pPr>
            <a:r>
              <a:rPr lang="en-US" sz="2125" spc="38">
                <a:solidFill>
                  <a:srgbClr val="D7D4CC"/>
                </a:solidFill>
                <a:latin typeface="Baskerville Display PT"/>
                <a:ea typeface="Baskerville Display PT"/>
                <a:cs typeface="Baskerville Display PT"/>
                <a:sym typeface="Baskerville Display PT"/>
              </a:rPr>
              <a:t>Enzymes are nature's catalysts, and their ingenious design allows for precision and efficiency that synthetic chemistry often struggles to achieve.</a:t>
            </a:r>
          </a:p>
        </p:txBody>
      </p:sp>
      <p:grpSp>
        <p:nvGrpSpPr>
          <p:cNvPr name="Group 15" id="15"/>
          <p:cNvGrpSpPr/>
          <p:nvPr/>
        </p:nvGrpSpPr>
        <p:grpSpPr>
          <a:xfrm rot="0">
            <a:off x="1081385" y="8071396"/>
            <a:ext cx="38100" cy="1473399"/>
            <a:chOff x="0" y="0"/>
            <a:chExt cx="50800" cy="1964532"/>
          </a:xfrm>
        </p:grpSpPr>
        <p:sp>
          <p:nvSpPr>
            <p:cNvPr name="Freeform 16" id="16"/>
            <p:cNvSpPr/>
            <p:nvPr/>
          </p:nvSpPr>
          <p:spPr>
            <a:xfrm flipH="false" flipV="false" rot="0">
              <a:off x="0" y="0"/>
              <a:ext cx="50800" cy="1964563"/>
            </a:xfrm>
            <a:custGeom>
              <a:avLst/>
              <a:gdLst/>
              <a:ahLst/>
              <a:cxnLst/>
              <a:rect r="r" b="b" t="t" l="l"/>
              <a:pathLst>
                <a:path h="1964563" w="50800">
                  <a:moveTo>
                    <a:pt x="0" y="0"/>
                  </a:moveTo>
                  <a:lnTo>
                    <a:pt x="50800" y="0"/>
                  </a:lnTo>
                  <a:lnTo>
                    <a:pt x="50800" y="1964563"/>
                  </a:lnTo>
                  <a:lnTo>
                    <a:pt x="0" y="1964563"/>
                  </a:lnTo>
                  <a:close/>
                </a:path>
              </a:pathLst>
            </a:custGeom>
            <a:solidFill>
              <a:srgbClr val="FFE14D"/>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1101327" y="392206"/>
            <a:ext cx="12480201" cy="919164"/>
          </a:xfrm>
          <a:prstGeom prst="rect">
            <a:avLst/>
          </a:prstGeom>
        </p:spPr>
        <p:txBody>
          <a:bodyPr anchor="t" rtlCol="false" tIns="0" lIns="0" bIns="0" rIns="0">
            <a:spAutoFit/>
          </a:bodyPr>
          <a:lstStyle/>
          <a:p>
            <a:pPr algn="l">
              <a:lnSpc>
                <a:spcPts val="6000"/>
              </a:lnSpc>
            </a:pPr>
            <a:r>
              <a:rPr lang="en-US" b="true" sz="4812" spc="86">
                <a:solidFill>
                  <a:srgbClr val="FFE14D"/>
                </a:solidFill>
                <a:latin typeface="Baskerville Display PT Bold"/>
                <a:ea typeface="Baskerville Display PT Bold"/>
                <a:cs typeface="Baskerville Display PT Bold"/>
                <a:sym typeface="Baskerville Display PT Bold"/>
              </a:rPr>
              <a:t>                                       Reference</a:t>
            </a:r>
          </a:p>
        </p:txBody>
      </p:sp>
      <p:sp>
        <p:nvSpPr>
          <p:cNvPr name="TextBox 7" id="7"/>
          <p:cNvSpPr txBox="true"/>
          <p:nvPr/>
        </p:nvSpPr>
        <p:spPr>
          <a:xfrm rot="0">
            <a:off x="1101329" y="1740834"/>
            <a:ext cx="16085344" cy="928687"/>
          </a:xfrm>
          <a:prstGeom prst="rect">
            <a:avLst/>
          </a:prstGeom>
        </p:spPr>
        <p:txBody>
          <a:bodyPr anchor="t" rtlCol="false" tIns="0" lIns="0" bIns="0" rIns="0">
            <a:spAutoFit/>
          </a:bodyPr>
          <a:lstStyle/>
          <a:p>
            <a:pPr algn="l" marL="377031" indent="-188516" lvl="1">
              <a:lnSpc>
                <a:spcPts val="3437"/>
              </a:lnSpc>
              <a:buFont typeface="Arial"/>
              <a:buChar char="•"/>
            </a:pPr>
            <a:r>
              <a:rPr lang="en-US" sz="2499" spc="44">
                <a:solidFill>
                  <a:srgbClr val="D7D4CC"/>
                </a:solidFill>
                <a:latin typeface="Baskerville Display PT"/>
                <a:ea typeface="Baskerville Display PT"/>
                <a:cs typeface="Baskerville Display PT"/>
                <a:sym typeface="Baskerville Display PT"/>
              </a:rPr>
              <a:t>Sharma, Y.C., Singh, B. (2009). Development of biodiesel: current scenario. Renewable and Sustainable Energy Reviews.</a:t>
            </a:r>
          </a:p>
        </p:txBody>
      </p:sp>
      <p:sp>
        <p:nvSpPr>
          <p:cNvPr name="TextBox 8" id="8"/>
          <p:cNvSpPr txBox="true"/>
          <p:nvPr/>
        </p:nvSpPr>
        <p:spPr>
          <a:xfrm rot="0">
            <a:off x="1101329" y="2965996"/>
            <a:ext cx="16085344" cy="928687"/>
          </a:xfrm>
          <a:prstGeom prst="rect">
            <a:avLst/>
          </a:prstGeom>
        </p:spPr>
        <p:txBody>
          <a:bodyPr anchor="t" rtlCol="false" tIns="0" lIns="0" bIns="0" rIns="0">
            <a:spAutoFit/>
          </a:bodyPr>
          <a:lstStyle/>
          <a:p>
            <a:pPr algn="l" marL="377031" indent="-188516" lvl="1">
              <a:lnSpc>
                <a:spcPts val="3437"/>
              </a:lnSpc>
              <a:buFont typeface="Arial"/>
              <a:buChar char="•"/>
            </a:pPr>
            <a:r>
              <a:rPr lang="en-US" sz="2499" spc="44">
                <a:solidFill>
                  <a:srgbClr val="D7D4CC"/>
                </a:solidFill>
                <a:latin typeface="Baskerville Display PT"/>
                <a:ea typeface="Baskerville Display PT"/>
                <a:cs typeface="Baskerville Display PT"/>
                <a:sym typeface="Baskerville Display PT"/>
              </a:rPr>
              <a:t>ScienceDirect – Biodiesel Overview</a:t>
            </a:r>
          </a:p>
        </p:txBody>
      </p:sp>
      <p:sp>
        <p:nvSpPr>
          <p:cNvPr name="TextBox 9" id="9"/>
          <p:cNvSpPr txBox="true"/>
          <p:nvPr/>
        </p:nvSpPr>
        <p:spPr>
          <a:xfrm rot="0">
            <a:off x="1101327" y="3750627"/>
            <a:ext cx="16085344" cy="928687"/>
          </a:xfrm>
          <a:prstGeom prst="rect">
            <a:avLst/>
          </a:prstGeom>
        </p:spPr>
        <p:txBody>
          <a:bodyPr anchor="t" rtlCol="false" tIns="0" lIns="0" bIns="0" rIns="0">
            <a:spAutoFit/>
          </a:bodyPr>
          <a:lstStyle/>
          <a:p>
            <a:pPr algn="l" marL="377031" indent="-188516" lvl="1">
              <a:lnSpc>
                <a:spcPts val="3437"/>
              </a:lnSpc>
              <a:buFont typeface="Arial"/>
              <a:buChar char="•"/>
            </a:pPr>
            <a:r>
              <a:rPr lang="en-US" sz="2499" spc="44" u="sng">
                <a:solidFill>
                  <a:srgbClr val="FFE14D"/>
                </a:solidFill>
                <a:latin typeface="Baskerville Display PT"/>
                <a:ea typeface="Baskerville Display PT"/>
                <a:cs typeface="Baskerville Display PT"/>
                <a:sym typeface="Baskerville Display PT"/>
                <a:hlinkClick r:id="rId2" tooltip="http://Energy.gov"/>
              </a:rPr>
              <a:t>Energy.gov</a:t>
            </a:r>
            <a:r>
              <a:rPr lang="en-US" sz="2499" spc="44">
                <a:solidFill>
                  <a:srgbClr val="D7D4CC"/>
                </a:solidFill>
                <a:latin typeface="Baskerville Display PT"/>
                <a:ea typeface="Baskerville Display PT"/>
                <a:cs typeface="Baskerville Display PT"/>
                <a:sym typeface="Baskerville Display PT"/>
              </a:rPr>
              <a:t> – Biodiesel Production</a:t>
            </a:r>
          </a:p>
        </p:txBody>
      </p:sp>
      <p:sp>
        <p:nvSpPr>
          <p:cNvPr name="TextBox 10" id="10"/>
          <p:cNvSpPr txBox="true"/>
          <p:nvPr/>
        </p:nvSpPr>
        <p:spPr>
          <a:xfrm rot="0">
            <a:off x="1101326" y="4728907"/>
            <a:ext cx="16085344" cy="928687"/>
          </a:xfrm>
          <a:prstGeom prst="rect">
            <a:avLst/>
          </a:prstGeom>
        </p:spPr>
        <p:txBody>
          <a:bodyPr anchor="t" rtlCol="false" tIns="0" lIns="0" bIns="0" rIns="0">
            <a:spAutoFit/>
          </a:bodyPr>
          <a:lstStyle/>
          <a:p>
            <a:pPr algn="l" marL="377031" indent="-188516" lvl="1">
              <a:lnSpc>
                <a:spcPts val="3437"/>
              </a:lnSpc>
              <a:buFont typeface="Arial"/>
              <a:buChar char="•"/>
            </a:pPr>
            <a:r>
              <a:rPr lang="en-US" sz="2499" spc="44">
                <a:solidFill>
                  <a:srgbClr val="D7D4CC"/>
                </a:solidFill>
                <a:latin typeface="Baskerville Display PT"/>
                <a:ea typeface="Baskerville Display PT"/>
                <a:cs typeface="Baskerville Display PT"/>
                <a:sym typeface="Baskerville Display PT"/>
              </a:rPr>
              <a:t>Statista – Global Biodiesel Production</a:t>
            </a:r>
          </a:p>
        </p:txBody>
      </p:sp>
      <p:sp>
        <p:nvSpPr>
          <p:cNvPr name="TextBox 11" id="11"/>
          <p:cNvSpPr txBox="true"/>
          <p:nvPr/>
        </p:nvSpPr>
        <p:spPr>
          <a:xfrm rot="0">
            <a:off x="1101325" y="5650250"/>
            <a:ext cx="16085344" cy="928687"/>
          </a:xfrm>
          <a:prstGeom prst="rect">
            <a:avLst/>
          </a:prstGeom>
        </p:spPr>
        <p:txBody>
          <a:bodyPr anchor="t" rtlCol="false" tIns="0" lIns="0" bIns="0" rIns="0">
            <a:spAutoFit/>
          </a:bodyPr>
          <a:lstStyle/>
          <a:p>
            <a:pPr algn="l" marL="377031" indent="-188516" lvl="1">
              <a:lnSpc>
                <a:spcPts val="3437"/>
              </a:lnSpc>
              <a:buFont typeface="Arial"/>
              <a:buChar char="•"/>
            </a:pPr>
            <a:r>
              <a:rPr lang="en-US" sz="2499" spc="44">
                <a:solidFill>
                  <a:srgbClr val="D7D4CC"/>
                </a:solidFill>
                <a:latin typeface="Baskerville Display PT"/>
                <a:ea typeface="Baskerville Display PT"/>
                <a:cs typeface="Baskerville Display PT"/>
                <a:sym typeface="Baskerville Display PT"/>
              </a:rPr>
              <a:t>ResearchGate – Lipase Structure</a:t>
            </a:r>
          </a:p>
        </p:txBody>
      </p:sp>
      <p:sp>
        <p:nvSpPr>
          <p:cNvPr name="TextBox 12" id="12"/>
          <p:cNvSpPr txBox="true"/>
          <p:nvPr/>
        </p:nvSpPr>
        <p:spPr>
          <a:xfrm rot="0">
            <a:off x="1101324" y="6576399"/>
            <a:ext cx="16085344" cy="928687"/>
          </a:xfrm>
          <a:prstGeom prst="rect">
            <a:avLst/>
          </a:prstGeom>
        </p:spPr>
        <p:txBody>
          <a:bodyPr anchor="t" rtlCol="false" tIns="0" lIns="0" bIns="0" rIns="0">
            <a:spAutoFit/>
          </a:bodyPr>
          <a:lstStyle/>
          <a:p>
            <a:pPr algn="l" marL="377031" indent="-188516" lvl="1">
              <a:lnSpc>
                <a:spcPts val="3437"/>
              </a:lnSpc>
              <a:buFont typeface="Arial"/>
              <a:buChar char="•"/>
            </a:pPr>
            <a:r>
              <a:rPr lang="en-US" sz="2499" spc="44">
                <a:solidFill>
                  <a:srgbClr val="D7D4CC"/>
                </a:solidFill>
                <a:latin typeface="Baskerville Display PT"/>
                <a:ea typeface="Baskerville Display PT"/>
                <a:cs typeface="Baskerville Display PT"/>
                <a:sym typeface="Baskerville Display PT"/>
              </a:rPr>
              <a:t>Google Scholar </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642512" y="4190338"/>
            <a:ext cx="16869659" cy="2459417"/>
          </a:xfrm>
          <a:prstGeom prst="rect">
            <a:avLst/>
          </a:prstGeom>
        </p:spPr>
        <p:txBody>
          <a:bodyPr anchor="t" rtlCol="false" tIns="0" lIns="0" bIns="0" rIns="0">
            <a:spAutoFit/>
          </a:bodyPr>
          <a:lstStyle/>
          <a:p>
            <a:pPr algn="ctr">
              <a:lnSpc>
                <a:spcPts val="19586"/>
              </a:lnSpc>
            </a:pPr>
            <a:r>
              <a:rPr lang="en-US" b="true" sz="15710" spc="282">
                <a:solidFill>
                  <a:srgbClr val="FFE14D"/>
                </a:solidFill>
                <a:latin typeface="Baskerville Display PT Bold"/>
                <a:ea typeface="Baskerville Display PT Bold"/>
                <a:cs typeface="Baskerville Display PT Bold"/>
                <a:sym typeface="Baskerville Display P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DAGznLBhjLM</dc:identifier>
  <dcterms:modified xsi:type="dcterms:W3CDTF">2011-08-01T06:04:30Z</dcterms:modified>
  <cp:revision>1</cp:revision>
  <dc:title>The core of lipase-catalyzed biodiesel production lies in the transesterification reaction:</dc:title>
</cp:coreProperties>
</file>