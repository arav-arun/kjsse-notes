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Corben"/>
      <p:bold r:id="rId13"/>
    </p:embeddedFont>
    <p:embeddedFont>
      <p:font typeface="Open Sans"/>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jKyPOl4GDcr3wAgjgF+vFJCj8C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Corben-bold.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OpenSans-bold.fntdata"/><Relationship Id="rId14" Type="http://schemas.openxmlformats.org/officeDocument/2006/relationships/font" Target="fonts/OpenSans-regular.fntdata"/><Relationship Id="rId17" Type="http://schemas.openxmlformats.org/officeDocument/2006/relationships/font" Target="fonts/OpenSans-boldItalic.fntdata"/><Relationship Id="rId16" Type="http://schemas.openxmlformats.org/officeDocument/2006/relationships/font" Target="fonts/OpenSans-italic.fntdata"/><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1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8"/>
          <p:cNvSpPr/>
          <p:nvPr>
            <p:ph idx="2" type="pic"/>
          </p:nvPr>
        </p:nvSpPr>
        <p:spPr>
          <a:xfrm>
            <a:off x="5183188" y="987425"/>
            <a:ext cx="6172200" cy="4873625"/>
          </a:xfrm>
          <a:prstGeom prst="rect">
            <a:avLst/>
          </a:prstGeom>
          <a:noFill/>
          <a:ln>
            <a:noFill/>
          </a:ln>
        </p:spPr>
      </p:sp>
      <p:sp>
        <p:nvSpPr>
          <p:cNvPr id="68" name="Google Shape;68;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hyperlink" Target="https://taylorandfrancis.com/knowledge/Engineering_and_technology/Chemical_engineering/Xylanase" TargetMode="External"/><Relationship Id="rId5" Type="http://schemas.openxmlformats.org/officeDocument/2006/relationships/image" Target="../media/image15.jpg"/><Relationship Id="rId6" Type="http://schemas.openxmlformats.org/officeDocument/2006/relationships/hyperlink" Target="https://sites.ffclrp.usp.br/pbbg/english/research/xylanase/xylanase_structure.ht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10.jpg"/><Relationship Id="rId6" Type="http://schemas.openxmlformats.org/officeDocument/2006/relationships/hyperlink" Target="https://jabonline.in/jab_demo/ckfinder/images/JABB-11-2-41-g006.jpg" TargetMode="External"/><Relationship Id="rId7" Type="http://schemas.openxmlformats.org/officeDocument/2006/relationships/hyperlink" Target="https://inrorwxhkokklm5p.ldycdn.com/cloud/jpBpkKpkljSRrkpqnpprjq/Fungal-Xylanase-640-640.jp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hyperlink" Target="https://infinitabiotech.com/blog/xylanase-enzyme-in-pulp-paper-industry/#:~:text=To%20solve%20this%20problem%2C%20xylanase%20enzymes%20can%20be,%E2%80%98bio-bleaching%E2%80%99%20helps%20prevent%20the%20production%20of%20organochlorine%20compounds." TargetMode="External"/><Relationship Id="rId5" Type="http://schemas.openxmlformats.org/officeDocument/2006/relationships/hyperlink" Target="https://th.bing.com/th/id/R.f2ca17574a6be2772a67e96074d17c92?rik=Sf8WZWZtzqxuiQ&amp;riu=http%3a%2f%2fonlineingredient.com%2fcdn%2fshop%2ffiles%2fApplicationofBacterialXylanaseEnzyme-BiovenIngredients_1200x1200.jpg%3fv%3d1718875164&amp;ehk=fGIy77g4uoYMcZ54MgaOKZvVlz5WdJDkhjZssfRm1L0%3d&amp;risl=&amp;pid=ImgRaw&amp;r=0" TargetMode="External"/><Relationship Id="rId6" Type="http://schemas.openxmlformats.org/officeDocument/2006/relationships/image" Target="../media/image7.jpg"/></Relationships>
</file>

<file path=ppt/slides/_rels/slide6.xml.rels><?xml version="1.0" encoding="UTF-8" standalone="yes"?><Relationships xmlns="http://schemas.openxmlformats.org/package/2006/relationships"><Relationship Id="rId11" Type="http://schemas.openxmlformats.org/officeDocument/2006/relationships/hyperlink" Target="https://th.bing.com/th/id/OIP.U-nIzEhuHV3QMEziNfQ8lgHaE8?w=262&amp;h=180&amp;c=7&amp;r=0&amp;o=7&amp;dpr=1.3&amp;pid=1.7&amp;rm=3" TargetMode="External"/><Relationship Id="rId10" Type="http://schemas.openxmlformats.org/officeDocument/2006/relationships/hyperlink" Target="https://th.bing.com/th/id/OIP.G_al0L7auiLLmmZQgwljVQHaE8?w=270&amp;h=180&amp;c=7&amp;r=0&amp;o=7&amp;dpr=1.3&amp;pid=1.7&amp;rm=3" TargetMode="External"/><Relationship Id="rId13" Type="http://schemas.openxmlformats.org/officeDocument/2006/relationships/image" Target="../media/image2.png"/><Relationship Id="rId12" Type="http://schemas.openxmlformats.org/officeDocument/2006/relationships/hyperlink" Target="https://tiimg.tistatic.com/fp/1/007/364/fruit-juice-without-added-preservative-and-artificial-flavour-661.jpg" TargetMode="External"/><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hyperlink" Target="https://www.onceuponachef.com/images/2020/03/Crusty-Bread-1200x1553.jpg" TargetMode="External"/><Relationship Id="rId9" Type="http://schemas.openxmlformats.org/officeDocument/2006/relationships/hyperlink" Target="https://www.verywellhealth.com/thmb/P8mUyyzJ9ERP57K7_7COb8iSAhc=/1500x0/filters:no_upscale():max_bytes(150000):strip_icc()/GettyImages-186846700-56a05f193df78cafdaa14c87.jpg" TargetMode="External"/><Relationship Id="rId15" Type="http://schemas.openxmlformats.org/officeDocument/2006/relationships/image" Target="../media/image5.png"/><Relationship Id="rId14" Type="http://schemas.openxmlformats.org/officeDocument/2006/relationships/image" Target="../media/image8.png"/><Relationship Id="rId17" Type="http://schemas.openxmlformats.org/officeDocument/2006/relationships/image" Target="../media/image17.png"/><Relationship Id="rId16"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hyperlink" Target="https://cdn.zeebiz.com/sites/default/files/2018/12/07/63235-paper-pixabay.jpg" TargetMode="External"/><Relationship Id="rId8" Type="http://schemas.openxmlformats.org/officeDocument/2006/relationships/hyperlink" Target="https://i.etsystatic.com/19319752/r/il/e8bbf6/4097387117/il_fullxfull.4097387117_f8tr.jp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13.jpg"/></Relationships>
</file>

<file path=ppt/slides/_rels/slide8.xml.rels><?xml version="1.0" encoding="UTF-8" standalone="yes"?><Relationships xmlns="http://schemas.openxmlformats.org/package/2006/relationships"><Relationship Id="rId20" Type="http://schemas.openxmlformats.org/officeDocument/2006/relationships/hyperlink" Target="https://www.maxzosim.com/content/images/size/w1200/2023/03/Process-Modelling-logo.jpeg" TargetMode="External"/><Relationship Id="rId11" Type="http://schemas.openxmlformats.org/officeDocument/2006/relationships/hyperlink" Target="https://www.onceuponachef.com/images/2020/03/Crusty-Bread-1200x1553.jpg" TargetMode="External"/><Relationship Id="rId10" Type="http://schemas.openxmlformats.org/officeDocument/2006/relationships/hyperlink" Target="https://th.bing.com/th/id/R.f2ca17574a6be2772a67e96074d17c92?rik=Sf8WZWZtzqxuiQ&amp;riu=http%3a%2f%2fonlineingredient.com%2fcdn%2fshop%2ffiles%2fApplicationofBacterialXylanaseEnzyme-BiovenIngredients_1200x1200.jpg%3fv%3d1718875164&amp;ehk=fGIy77g4uoYMcZ54MgaOKZvVlz5WdJDkhjZssfRm1L0%3d&amp;risl=&amp;pid=ImgRaw&amp;r=0" TargetMode="External"/><Relationship Id="rId21" Type="http://schemas.openxmlformats.org/officeDocument/2006/relationships/hyperlink" Target="https://tse4.mm.bing.net/th/id/OIP.M-af86xBinB142heC6iR-AHaEK?rs=1&amp;pid=ImgDetMain&amp;o=7&amp;rm=3" TargetMode="External"/><Relationship Id="rId13" Type="http://schemas.openxmlformats.org/officeDocument/2006/relationships/hyperlink" Target="https://th.bing.com/th/id/OIP.UnIzEhuHV3QMEziNfQ8lgHaE8?w=262&amp;h=180&amp;c=7&amp;r=0&amp;o=7&amp;dpr=1.3&amp;pid=1.7&amp;rm=3" TargetMode="External"/><Relationship Id="rId12" Type="http://schemas.openxmlformats.org/officeDocument/2006/relationships/hyperlink" Target="https://cdn.zeebiz.com/sites/default/files/2018/12/07/63235-paper-pixabay.jpg" TargetMode="External"/><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hyperlink" Target="https://taylorandfrancis.com/knowledge/Engineering_and_technology/Chemical_engineering/Xylanase" TargetMode="External"/><Relationship Id="rId9" Type="http://schemas.openxmlformats.org/officeDocument/2006/relationships/hyperlink" Target="https://inrorwxhkokklm5p.ldycdn.com/cloud/jpBpkKpkljSRrkpqnpprjq/Fungal-Xylanase-640-640.jpg" TargetMode="External"/><Relationship Id="rId15" Type="http://schemas.openxmlformats.org/officeDocument/2006/relationships/hyperlink" Target="https://www.verywellhealth.com/thmb/P8mUyyzJ9ERP57K7_7COb8iSAhc=/1500x0/filters:no_upscale():max_bytes(150000):strip_icc()/GettyImages-186846700-56a05f193df78cafdaa14c87.jpg" TargetMode="External"/><Relationship Id="rId14" Type="http://schemas.openxmlformats.org/officeDocument/2006/relationships/hyperlink" Target="https://th.bing.com/th/id/OIP.G_al0L7auiLLmmZQgwljVQHaE8?w=270&amp;h=180&amp;c=7&amp;r=0&amp;o=7&amp;dpr=1.3&amp;pid=1.7&amp;rm=3" TargetMode="External"/><Relationship Id="rId17" Type="http://schemas.openxmlformats.org/officeDocument/2006/relationships/hyperlink" Target="https://tiimg.tistatic.com/fp/1/007/364/fruit-juice-without-added-preservative-and-artificial-flavour-661.jpg" TargetMode="External"/><Relationship Id="rId16" Type="http://schemas.openxmlformats.org/officeDocument/2006/relationships/hyperlink" Target="https://i.etsystatic.com/19319752/r/il/e8bbf6/4097387117/il_fullxfull.4097387117_f8tr.jpg" TargetMode="External"/><Relationship Id="rId5" Type="http://schemas.openxmlformats.org/officeDocument/2006/relationships/hyperlink" Target="https://www.intechopen.com/chapters/71830" TargetMode="External"/><Relationship Id="rId19" Type="http://schemas.openxmlformats.org/officeDocument/2006/relationships/hyperlink" Target="https://assets.datamation.com/uploads/2024/01/dm_20240102-types-of-data-analytics.png" TargetMode="External"/><Relationship Id="rId6" Type="http://schemas.openxmlformats.org/officeDocument/2006/relationships/hyperlink" Target="https://infinitabiotech.com/blog/xylanase-enzyme-in-pulp-paper-industry/#:~:text=To%20solve%20this%20problem%2C%20xylanase%20enzymes%20can%20be,%E2%80%98bio-bleaching%E2%80%99%20helps%20prevent%20the%20production%20of%20organochlorine%20compounds." TargetMode="External"/><Relationship Id="rId18" Type="http://schemas.openxmlformats.org/officeDocument/2006/relationships/hyperlink" Target="https://tse3.mm.bing.net/th/id/OIP.3406cPhjQcmQLtytgJnlrAHaEK?rs=1&amp;pid=ImgDetMain&amp;o=7&amp;rm=3" TargetMode="External"/><Relationship Id="rId7" Type="http://schemas.openxmlformats.org/officeDocument/2006/relationships/hyperlink" Target="https://sites.ffclrp.usp.br/pbbg/english/research/xylanase/xylanase_structure.htm" TargetMode="External"/><Relationship Id="rId8" Type="http://schemas.openxmlformats.org/officeDocument/2006/relationships/hyperlink" Target="https://jabonline.in/jab_demo/ckfinder/images/JABB-11-2-41-g006.jp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b="0" l="0" r="0" t="0"/>
          <a:stretch/>
        </p:blipFill>
        <p:spPr>
          <a:xfrm>
            <a:off x="1" y="0"/>
            <a:ext cx="12192000" cy="6858000"/>
          </a:xfrm>
          <a:prstGeom prst="rect">
            <a:avLst/>
          </a:prstGeom>
          <a:noFill/>
          <a:ln>
            <a:noFill/>
          </a:ln>
        </p:spPr>
      </p:pic>
      <p:sp>
        <p:nvSpPr>
          <p:cNvPr id="89" name="Google Shape;89;p1"/>
          <p:cNvSpPr txBox="1"/>
          <p:nvPr/>
        </p:nvSpPr>
        <p:spPr>
          <a:xfrm>
            <a:off x="1037300" y="731600"/>
            <a:ext cx="5925600" cy="1108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6600" u="none" cap="none" strike="noStrike">
                <a:solidFill>
                  <a:srgbClr val="FF0000"/>
                </a:solidFill>
                <a:latin typeface="Corben"/>
                <a:ea typeface="Corben"/>
                <a:cs typeface="Corben"/>
                <a:sym typeface="Corben"/>
              </a:rPr>
              <a:t>X</a:t>
            </a:r>
            <a:r>
              <a:rPr b="0" i="0" lang="en-IN" sz="6600" u="none" cap="none" strike="noStrike">
                <a:solidFill>
                  <a:schemeClr val="lt1"/>
                </a:solidFill>
                <a:latin typeface="Corben"/>
                <a:ea typeface="Corben"/>
                <a:cs typeface="Corben"/>
                <a:sym typeface="Corben"/>
              </a:rPr>
              <a:t>YLANA</a:t>
            </a:r>
            <a:r>
              <a:rPr lang="en-IN" sz="6600">
                <a:solidFill>
                  <a:schemeClr val="lt1"/>
                </a:solidFill>
                <a:latin typeface="Corben"/>
                <a:ea typeface="Corben"/>
                <a:cs typeface="Corben"/>
                <a:sym typeface="Corben"/>
              </a:rPr>
              <a:t>S</a:t>
            </a:r>
            <a:r>
              <a:rPr b="0" i="0" lang="en-IN" sz="6600" u="none" cap="none" strike="noStrike">
                <a:solidFill>
                  <a:schemeClr val="lt1"/>
                </a:solidFill>
                <a:latin typeface="Corben"/>
                <a:ea typeface="Corben"/>
                <a:cs typeface="Corben"/>
                <a:sym typeface="Corben"/>
              </a:rPr>
              <a:t>E</a:t>
            </a:r>
            <a:endParaRPr/>
          </a:p>
        </p:txBody>
      </p:sp>
      <p:sp>
        <p:nvSpPr>
          <p:cNvPr id="90" name="Google Shape;90;p1"/>
          <p:cNvSpPr txBox="1"/>
          <p:nvPr/>
        </p:nvSpPr>
        <p:spPr>
          <a:xfrm>
            <a:off x="1794385" y="2113936"/>
            <a:ext cx="3765756"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2400">
                <a:solidFill>
                  <a:schemeClr val="lt1"/>
                </a:solidFill>
                <a:latin typeface="Calibri"/>
                <a:ea typeface="Calibri"/>
                <a:cs typeface="Calibri"/>
                <a:sym typeface="Calibri"/>
              </a:rPr>
              <a:t>Used for bleaching pulp in paper industry</a:t>
            </a:r>
            <a:endParaRPr/>
          </a:p>
        </p:txBody>
      </p:sp>
      <p:sp>
        <p:nvSpPr>
          <p:cNvPr id="91" name="Google Shape;91;p1"/>
          <p:cNvSpPr txBox="1"/>
          <p:nvPr/>
        </p:nvSpPr>
        <p:spPr>
          <a:xfrm>
            <a:off x="2369573" y="5110730"/>
            <a:ext cx="2615380"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2000">
                <a:solidFill>
                  <a:schemeClr val="lt1"/>
                </a:solidFill>
                <a:latin typeface="Arial"/>
                <a:ea typeface="Arial"/>
                <a:cs typeface="Arial"/>
                <a:sym typeface="Arial"/>
              </a:rPr>
              <a:t>By Asmit Samanta</a:t>
            </a:r>
            <a:endParaRPr/>
          </a:p>
          <a:p>
            <a:pPr indent="0" lvl="0" marL="0" marR="0" rtl="0" algn="ctr">
              <a:spcBef>
                <a:spcPts val="0"/>
              </a:spcBef>
              <a:spcAft>
                <a:spcPts val="0"/>
              </a:spcAft>
              <a:buNone/>
            </a:pPr>
            <a:r>
              <a:rPr lang="en-IN" sz="2000">
                <a:solidFill>
                  <a:schemeClr val="lt1"/>
                </a:solidFill>
                <a:latin typeface="Arial"/>
                <a:ea typeface="Arial"/>
                <a:cs typeface="Arial"/>
                <a:sym typeface="Arial"/>
              </a:rPr>
              <a:t>(COMPS)</a:t>
            </a:r>
            <a:endParaRPr/>
          </a:p>
          <a:p>
            <a:pPr indent="0" lvl="0" marL="0" marR="0" rtl="0" algn="ctr">
              <a:spcBef>
                <a:spcPts val="0"/>
              </a:spcBef>
              <a:spcAft>
                <a:spcPts val="0"/>
              </a:spcAft>
              <a:buNone/>
            </a:pPr>
            <a:r>
              <a:rPr lang="en-IN" sz="2000">
                <a:solidFill>
                  <a:schemeClr val="lt1"/>
                </a:solidFill>
                <a:latin typeface="Arial"/>
                <a:ea typeface="Arial"/>
                <a:cs typeface="Arial"/>
                <a:sym typeface="Arial"/>
              </a:rPr>
              <a:t>D-06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7" name="Google Shape;97;p2"/>
          <p:cNvSpPr txBox="1"/>
          <p:nvPr/>
        </p:nvSpPr>
        <p:spPr>
          <a:xfrm>
            <a:off x="1966452" y="462116"/>
            <a:ext cx="2713703"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4400">
                <a:solidFill>
                  <a:schemeClr val="lt1"/>
                </a:solidFill>
                <a:latin typeface="Calibri"/>
                <a:ea typeface="Calibri"/>
                <a:cs typeface="Calibri"/>
                <a:sym typeface="Calibri"/>
              </a:rPr>
              <a:t>CONTENTS</a:t>
            </a:r>
            <a:endParaRPr/>
          </a:p>
        </p:txBody>
      </p:sp>
      <p:sp>
        <p:nvSpPr>
          <p:cNvPr id="98" name="Google Shape;98;p2"/>
          <p:cNvSpPr txBox="1"/>
          <p:nvPr/>
        </p:nvSpPr>
        <p:spPr>
          <a:xfrm>
            <a:off x="1769806" y="1524000"/>
            <a:ext cx="529958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lt1"/>
                </a:solidFill>
                <a:latin typeface="Calibri"/>
                <a:ea typeface="Calibri"/>
                <a:cs typeface="Calibri"/>
                <a:sym typeface="Calibri"/>
              </a:rPr>
              <a:t>01. Introduction</a:t>
            </a:r>
            <a:endParaRPr/>
          </a:p>
        </p:txBody>
      </p:sp>
      <p:sp>
        <p:nvSpPr>
          <p:cNvPr id="99" name="Google Shape;99;p2"/>
          <p:cNvSpPr txBox="1"/>
          <p:nvPr/>
        </p:nvSpPr>
        <p:spPr>
          <a:xfrm>
            <a:off x="1769806" y="1985665"/>
            <a:ext cx="529958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lt1"/>
                </a:solidFill>
                <a:latin typeface="Calibri"/>
                <a:ea typeface="Calibri"/>
                <a:cs typeface="Calibri"/>
                <a:sym typeface="Calibri"/>
              </a:rPr>
              <a:t>02. Objectives</a:t>
            </a:r>
            <a:endParaRPr/>
          </a:p>
        </p:txBody>
      </p:sp>
      <p:sp>
        <p:nvSpPr>
          <p:cNvPr id="100" name="Google Shape;100;p2"/>
          <p:cNvSpPr txBox="1"/>
          <p:nvPr/>
        </p:nvSpPr>
        <p:spPr>
          <a:xfrm>
            <a:off x="1769806" y="2447330"/>
            <a:ext cx="529958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lt1"/>
                </a:solidFill>
                <a:latin typeface="Calibri"/>
                <a:ea typeface="Calibri"/>
                <a:cs typeface="Calibri"/>
                <a:sym typeface="Calibri"/>
              </a:rPr>
              <a:t>03. Industrial Application</a:t>
            </a:r>
            <a:endParaRPr/>
          </a:p>
        </p:txBody>
      </p:sp>
      <p:sp>
        <p:nvSpPr>
          <p:cNvPr id="101" name="Google Shape;101;p2"/>
          <p:cNvSpPr txBox="1"/>
          <p:nvPr/>
        </p:nvSpPr>
        <p:spPr>
          <a:xfrm>
            <a:off x="1769806" y="3832325"/>
            <a:ext cx="529958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lt1"/>
                </a:solidFill>
                <a:latin typeface="Calibri"/>
                <a:ea typeface="Calibri"/>
                <a:cs typeface="Calibri"/>
                <a:sym typeface="Calibri"/>
              </a:rPr>
              <a:t>06. References</a:t>
            </a:r>
            <a:endParaRPr/>
          </a:p>
        </p:txBody>
      </p:sp>
      <p:sp>
        <p:nvSpPr>
          <p:cNvPr id="102" name="Google Shape;102;p2"/>
          <p:cNvSpPr txBox="1"/>
          <p:nvPr/>
        </p:nvSpPr>
        <p:spPr>
          <a:xfrm>
            <a:off x="1769806" y="3370660"/>
            <a:ext cx="529958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lt1"/>
                </a:solidFill>
                <a:latin typeface="Calibri"/>
                <a:ea typeface="Calibri"/>
                <a:cs typeface="Calibri"/>
                <a:sym typeface="Calibri"/>
              </a:rPr>
              <a:t>05. Role of Computer Engineer</a:t>
            </a:r>
            <a:endParaRPr/>
          </a:p>
        </p:txBody>
      </p:sp>
      <p:sp>
        <p:nvSpPr>
          <p:cNvPr id="103" name="Google Shape;103;p2"/>
          <p:cNvSpPr txBox="1"/>
          <p:nvPr/>
        </p:nvSpPr>
        <p:spPr>
          <a:xfrm>
            <a:off x="1769806" y="2908995"/>
            <a:ext cx="529958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lt1"/>
                </a:solidFill>
                <a:latin typeface="Calibri"/>
                <a:ea typeface="Calibri"/>
                <a:cs typeface="Calibri"/>
                <a:sym typeface="Calibri"/>
              </a:rPr>
              <a:t>04. Products made using Xylanase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9" name="Google Shape;109;p3"/>
          <p:cNvSpPr txBox="1"/>
          <p:nvPr/>
        </p:nvSpPr>
        <p:spPr>
          <a:xfrm>
            <a:off x="1966452" y="462116"/>
            <a:ext cx="3805083"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4400">
                <a:solidFill>
                  <a:schemeClr val="lt1"/>
                </a:solidFill>
                <a:latin typeface="Calibri"/>
                <a:ea typeface="Calibri"/>
                <a:cs typeface="Calibri"/>
                <a:sym typeface="Calibri"/>
              </a:rPr>
              <a:t>INTRODUCTION</a:t>
            </a:r>
            <a:endParaRPr/>
          </a:p>
        </p:txBody>
      </p:sp>
      <p:sp>
        <p:nvSpPr>
          <p:cNvPr id="110" name="Google Shape;110;p3"/>
          <p:cNvSpPr txBox="1"/>
          <p:nvPr/>
        </p:nvSpPr>
        <p:spPr>
          <a:xfrm>
            <a:off x="1700981" y="1231557"/>
            <a:ext cx="6096000" cy="38472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FFFFFF"/>
              </a:buClr>
              <a:buSzPts val="2800"/>
              <a:buFont typeface="Open Sans"/>
              <a:buNone/>
            </a:pPr>
            <a:r>
              <a:rPr lang="en-IN" sz="2800">
                <a:solidFill>
                  <a:srgbClr val="FFFFFF"/>
                </a:solidFill>
                <a:latin typeface="Open Sans"/>
                <a:ea typeface="Open Sans"/>
                <a:cs typeface="Open Sans"/>
                <a:sym typeface="Open Sans"/>
              </a:rPr>
              <a:t>   </a:t>
            </a:r>
            <a:r>
              <a:rPr b="0" i="0" lang="en-IN" sz="2800">
                <a:solidFill>
                  <a:srgbClr val="FF0000"/>
                </a:solidFill>
                <a:latin typeface="Open Sans"/>
                <a:ea typeface="Open Sans"/>
                <a:cs typeface="Open Sans"/>
                <a:sym typeface="Open Sans"/>
              </a:rPr>
              <a:t>X</a:t>
            </a:r>
            <a:r>
              <a:rPr b="0" i="0" lang="en-IN" sz="2800">
                <a:solidFill>
                  <a:srgbClr val="FFFFFF"/>
                </a:solidFill>
                <a:latin typeface="Open Sans"/>
                <a:ea typeface="Open Sans"/>
                <a:cs typeface="Open Sans"/>
                <a:sym typeface="Open Sans"/>
              </a:rPr>
              <a:t>ylanase</a:t>
            </a:r>
            <a:endParaRPr/>
          </a:p>
          <a:p>
            <a:pPr indent="-285750" lvl="0" marL="285750" marR="0" rtl="0" algn="l">
              <a:spcBef>
                <a:spcPts val="0"/>
              </a:spcBef>
              <a:spcAft>
                <a:spcPts val="0"/>
              </a:spcAft>
              <a:buClr>
                <a:srgbClr val="FFFFFF"/>
              </a:buClr>
              <a:buSzPts val="1800"/>
              <a:buFont typeface="Arial"/>
              <a:buChar char="•"/>
            </a:pPr>
            <a:r>
              <a:rPr b="0" i="0" lang="en-IN" sz="1800">
                <a:solidFill>
                  <a:srgbClr val="FFFFFF"/>
                </a:solidFill>
                <a:latin typeface="Open Sans"/>
                <a:ea typeface="Open Sans"/>
                <a:cs typeface="Open Sans"/>
                <a:sym typeface="Open Sans"/>
              </a:rPr>
              <a:t>Xylanase is an enzyme that specifically targets and breaks down </a:t>
            </a:r>
            <a:r>
              <a:rPr lang="en-IN" sz="1800">
                <a:solidFill>
                  <a:srgbClr val="FFFFFF"/>
                </a:solidFill>
                <a:latin typeface="Open Sans"/>
                <a:ea typeface="Open Sans"/>
                <a:cs typeface="Open Sans"/>
                <a:sym typeface="Open Sans"/>
              </a:rPr>
              <a:t>Xylan</a:t>
            </a:r>
            <a:r>
              <a:rPr b="0" i="0" lang="en-IN" sz="1800">
                <a:solidFill>
                  <a:srgbClr val="FFFFFF"/>
                </a:solidFill>
                <a:latin typeface="Open Sans"/>
                <a:ea typeface="Open Sans"/>
                <a:cs typeface="Open Sans"/>
                <a:sym typeface="Open Sans"/>
              </a:rPr>
              <a:t>, a major component of plant cell walls. </a:t>
            </a:r>
            <a:endParaRPr/>
          </a:p>
          <a:p>
            <a:pPr indent="0" lvl="0" marL="0" marR="0" rtl="0" algn="l">
              <a:spcBef>
                <a:spcPts val="0"/>
              </a:spcBef>
              <a:spcAft>
                <a:spcPts val="0"/>
              </a:spcAft>
              <a:buNone/>
            </a:pPr>
            <a:r>
              <a:t/>
            </a:r>
            <a:endParaRPr b="0" i="0" sz="1800">
              <a:solidFill>
                <a:srgbClr val="FFFFFF"/>
              </a:solidFill>
              <a:latin typeface="Open Sans"/>
              <a:ea typeface="Open Sans"/>
              <a:cs typeface="Open Sans"/>
              <a:sym typeface="Open Sans"/>
            </a:endParaRPr>
          </a:p>
          <a:p>
            <a:pPr indent="-285750" lvl="0" marL="285750" marR="0" rtl="0" algn="l">
              <a:spcBef>
                <a:spcPts val="0"/>
              </a:spcBef>
              <a:spcAft>
                <a:spcPts val="0"/>
              </a:spcAft>
              <a:buClr>
                <a:srgbClr val="FFFFFF"/>
              </a:buClr>
              <a:buSzPts val="1800"/>
              <a:buFont typeface="Arial"/>
              <a:buChar char="•"/>
            </a:pPr>
            <a:r>
              <a:rPr b="0" i="0" lang="en-IN" sz="1800">
                <a:solidFill>
                  <a:srgbClr val="FFFFFF"/>
                </a:solidFill>
                <a:latin typeface="Open Sans"/>
                <a:ea typeface="Open Sans"/>
                <a:cs typeface="Open Sans"/>
                <a:sym typeface="Open Sans"/>
              </a:rPr>
              <a:t>It hydrolyses the xylan component of the biomass and its activity can be evaluated by its impact on xylan serving as the substrate. </a:t>
            </a:r>
            <a:endParaRPr/>
          </a:p>
          <a:p>
            <a:pPr indent="0" lvl="0" marL="0" marR="0" rtl="0" algn="l">
              <a:spcBef>
                <a:spcPts val="0"/>
              </a:spcBef>
              <a:spcAft>
                <a:spcPts val="0"/>
              </a:spcAft>
              <a:buNone/>
            </a:pPr>
            <a:r>
              <a:t/>
            </a:r>
            <a:endParaRPr b="0" i="0" sz="1800">
              <a:solidFill>
                <a:srgbClr val="FFFFFF"/>
              </a:solidFill>
              <a:latin typeface="Open Sans"/>
              <a:ea typeface="Open Sans"/>
              <a:cs typeface="Open Sans"/>
              <a:sym typeface="Open Sans"/>
            </a:endParaRPr>
          </a:p>
          <a:p>
            <a:pPr indent="-285750" lvl="0" marL="285750" marR="0" rtl="0" algn="l">
              <a:spcBef>
                <a:spcPts val="0"/>
              </a:spcBef>
              <a:spcAft>
                <a:spcPts val="0"/>
              </a:spcAft>
              <a:buClr>
                <a:srgbClr val="FFFFFF"/>
              </a:buClr>
              <a:buSzPts val="1800"/>
              <a:buFont typeface="Arial"/>
              <a:buChar char="•"/>
            </a:pPr>
            <a:r>
              <a:rPr b="0" i="0" lang="en-IN" sz="1800">
                <a:solidFill>
                  <a:srgbClr val="FFFFFF"/>
                </a:solidFill>
                <a:latin typeface="Open Sans"/>
                <a:ea typeface="Open Sans"/>
                <a:cs typeface="Open Sans"/>
                <a:sym typeface="Open Sans"/>
              </a:rPr>
              <a:t>Xylanase production has been reported from various microorganisms including bacteria, fungi, and actinomycetes, and can be produced using both prokaryotes and eukaryotes such as bacteria, cyanobacteria, yeast, and fungi.</a:t>
            </a:r>
            <a:endParaRPr/>
          </a:p>
        </p:txBody>
      </p:sp>
      <p:sp>
        <p:nvSpPr>
          <p:cNvPr id="111" name="Google Shape;111;p3"/>
          <p:cNvSpPr txBox="1"/>
          <p:nvPr/>
        </p:nvSpPr>
        <p:spPr>
          <a:xfrm>
            <a:off x="4820264" y="6395884"/>
            <a:ext cx="190254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lt1"/>
                </a:solidFill>
                <a:latin typeface="Calibri"/>
                <a:ea typeface="Calibri"/>
                <a:cs typeface="Calibri"/>
                <a:sym typeface="Calibri"/>
              </a:rPr>
              <a:t>Reference : </a:t>
            </a:r>
            <a:r>
              <a:rPr lang="en-IN" sz="1200" u="sng">
                <a:solidFill>
                  <a:srgbClr val="FF0000"/>
                </a:solidFill>
                <a:latin typeface="Calibri"/>
                <a:ea typeface="Calibri"/>
                <a:cs typeface="Calibri"/>
                <a:sym typeface="Calibri"/>
                <a:hlinkClick r:id="rId4">
                  <a:extLst>
                    <a:ext uri="{A12FA001-AC4F-418D-AE19-62706E023703}">
                      <ahyp:hlinkClr val="tx"/>
                    </a:ext>
                  </a:extLst>
                </a:hlinkClick>
              </a:rPr>
              <a:t>Taylor &amp; Francis</a:t>
            </a:r>
            <a:endParaRPr sz="1200">
              <a:solidFill>
                <a:srgbClr val="FF0000"/>
              </a:solidFill>
              <a:latin typeface="Calibri"/>
              <a:ea typeface="Calibri"/>
              <a:cs typeface="Calibri"/>
              <a:sym typeface="Calibri"/>
            </a:endParaRPr>
          </a:p>
        </p:txBody>
      </p:sp>
      <p:pic>
        <p:nvPicPr>
          <p:cNvPr id="112" name="Google Shape;112;p3"/>
          <p:cNvPicPr preferRelativeResize="0"/>
          <p:nvPr/>
        </p:nvPicPr>
        <p:blipFill rotWithShape="1">
          <a:blip r:embed="rId5">
            <a:alphaModFix/>
          </a:blip>
          <a:srcRect b="0" l="0" r="0" t="0"/>
          <a:stretch/>
        </p:blipFill>
        <p:spPr>
          <a:xfrm>
            <a:off x="8656394" y="3134523"/>
            <a:ext cx="2577871" cy="2780485"/>
          </a:xfrm>
          <a:prstGeom prst="rect">
            <a:avLst/>
          </a:prstGeom>
          <a:noFill/>
          <a:ln>
            <a:noFill/>
          </a:ln>
        </p:spPr>
      </p:pic>
      <p:sp>
        <p:nvSpPr>
          <p:cNvPr id="113" name="Google Shape;113;p3"/>
          <p:cNvSpPr txBox="1"/>
          <p:nvPr/>
        </p:nvSpPr>
        <p:spPr>
          <a:xfrm>
            <a:off x="8949358" y="6057330"/>
            <a:ext cx="199194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600">
                <a:solidFill>
                  <a:schemeClr val="lt1"/>
                </a:solidFill>
                <a:latin typeface="Calibri"/>
                <a:ea typeface="Calibri"/>
                <a:cs typeface="Calibri"/>
                <a:sym typeface="Calibri"/>
              </a:rPr>
              <a:t>Structure of Xylanase</a:t>
            </a:r>
            <a:endParaRPr/>
          </a:p>
        </p:txBody>
      </p:sp>
      <p:sp>
        <p:nvSpPr>
          <p:cNvPr id="114" name="Google Shape;114;p3"/>
          <p:cNvSpPr txBox="1"/>
          <p:nvPr/>
        </p:nvSpPr>
        <p:spPr>
          <a:xfrm>
            <a:off x="8902653" y="6395883"/>
            <a:ext cx="208534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lt1"/>
                </a:solidFill>
                <a:latin typeface="Calibri"/>
                <a:ea typeface="Calibri"/>
                <a:cs typeface="Calibri"/>
                <a:sym typeface="Calibri"/>
              </a:rPr>
              <a:t>Source: </a:t>
            </a:r>
            <a:r>
              <a:rPr lang="en-IN" sz="1200" u="sng">
                <a:solidFill>
                  <a:srgbClr val="FF0000"/>
                </a:solidFill>
                <a:latin typeface="Calibri"/>
                <a:ea typeface="Calibri"/>
                <a:cs typeface="Calibri"/>
                <a:sym typeface="Calibri"/>
                <a:hlinkClick r:id="rId6">
                  <a:extLst>
                    <a:ext uri="{A12FA001-AC4F-418D-AE19-62706E023703}">
                      <ahyp:hlinkClr val="tx"/>
                    </a:ext>
                  </a:extLst>
                </a:hlinkClick>
              </a:rPr>
              <a:t>Xylanase 3D Structure</a:t>
            </a:r>
            <a:endParaRPr sz="1200">
              <a:solidFill>
                <a:srgbClr val="FF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0" name="Google Shape;120;p4"/>
          <p:cNvSpPr txBox="1"/>
          <p:nvPr/>
        </p:nvSpPr>
        <p:spPr>
          <a:xfrm>
            <a:off x="1966452" y="462116"/>
            <a:ext cx="3805083"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4400">
                <a:solidFill>
                  <a:schemeClr val="lt1"/>
                </a:solidFill>
                <a:latin typeface="Calibri"/>
                <a:ea typeface="Calibri"/>
                <a:cs typeface="Calibri"/>
                <a:sym typeface="Calibri"/>
              </a:rPr>
              <a:t>OBJECTIVES</a:t>
            </a:r>
            <a:endParaRPr/>
          </a:p>
        </p:txBody>
      </p:sp>
      <p:sp>
        <p:nvSpPr>
          <p:cNvPr id="121" name="Google Shape;121;p4"/>
          <p:cNvSpPr txBox="1"/>
          <p:nvPr/>
        </p:nvSpPr>
        <p:spPr>
          <a:xfrm>
            <a:off x="1533832" y="1366684"/>
            <a:ext cx="7423355" cy="230832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800"/>
              <a:buFont typeface="Arial"/>
              <a:buChar char="•"/>
            </a:pPr>
            <a:r>
              <a:rPr lang="en-IN" sz="1800">
                <a:solidFill>
                  <a:schemeClr val="lt1"/>
                </a:solidFill>
                <a:latin typeface="Calibri"/>
                <a:ea typeface="Calibri"/>
                <a:cs typeface="Calibri"/>
                <a:sym typeface="Calibri"/>
              </a:rPr>
              <a:t>Xylanase’s main objective is to breakdown Xylan for using plant based raw materials in industries.</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800"/>
              <a:buFont typeface="Arial"/>
              <a:buChar char="•"/>
            </a:pPr>
            <a:r>
              <a:rPr lang="en-IN" sz="1800">
                <a:solidFill>
                  <a:schemeClr val="lt1"/>
                </a:solidFill>
                <a:latin typeface="Calibri"/>
                <a:ea typeface="Calibri"/>
                <a:cs typeface="Calibri"/>
                <a:sym typeface="Calibri"/>
              </a:rPr>
              <a:t>Microbial xylanase is suitable for applications in </a:t>
            </a:r>
            <a:r>
              <a:rPr b="1" lang="en-IN" sz="1800">
                <a:solidFill>
                  <a:schemeClr val="lt1"/>
                </a:solidFill>
                <a:latin typeface="Calibri"/>
                <a:ea typeface="Calibri"/>
                <a:cs typeface="Calibri"/>
                <a:sym typeface="Calibri"/>
              </a:rPr>
              <a:t>food and feed, paper and pulp, textile, pharmaceutical, and biorefining industries</a:t>
            </a:r>
            <a:r>
              <a:rPr lang="en-IN" sz="1800">
                <a:solidFill>
                  <a:schemeClr val="lt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800"/>
              <a:buFont typeface="Arial"/>
              <a:buChar char="•"/>
            </a:pPr>
            <a:r>
              <a:rPr lang="en-IN" sz="1800">
                <a:solidFill>
                  <a:schemeClr val="lt1"/>
                </a:solidFill>
                <a:latin typeface="Calibri"/>
                <a:ea typeface="Calibri"/>
                <a:cs typeface="Calibri"/>
                <a:sym typeface="Calibri"/>
              </a:rPr>
              <a:t>It has gained global attention due to its substrate specificities, biochemical properties, and various biotechnological applications.</a:t>
            </a:r>
            <a:endParaRPr sz="1800">
              <a:solidFill>
                <a:schemeClr val="lt1"/>
              </a:solidFill>
              <a:latin typeface="Calibri"/>
              <a:ea typeface="Calibri"/>
              <a:cs typeface="Calibri"/>
              <a:sym typeface="Calibri"/>
            </a:endParaRPr>
          </a:p>
        </p:txBody>
      </p:sp>
      <p:pic>
        <p:nvPicPr>
          <p:cNvPr id="122" name="Google Shape;122;p4"/>
          <p:cNvPicPr preferRelativeResize="0"/>
          <p:nvPr/>
        </p:nvPicPr>
        <p:blipFill rotWithShape="1">
          <a:blip r:embed="rId4">
            <a:alphaModFix/>
          </a:blip>
          <a:srcRect b="0" l="0" r="0" t="0"/>
          <a:stretch/>
        </p:blipFill>
        <p:spPr>
          <a:xfrm>
            <a:off x="8602699" y="3675008"/>
            <a:ext cx="2586412" cy="2713993"/>
          </a:xfrm>
          <a:prstGeom prst="rect">
            <a:avLst/>
          </a:prstGeom>
          <a:noFill/>
          <a:ln>
            <a:noFill/>
          </a:ln>
        </p:spPr>
      </p:pic>
      <p:pic>
        <p:nvPicPr>
          <p:cNvPr id="123" name="Google Shape;123;p4"/>
          <p:cNvPicPr preferRelativeResize="0"/>
          <p:nvPr/>
        </p:nvPicPr>
        <p:blipFill rotWithShape="1">
          <a:blip r:embed="rId5">
            <a:alphaModFix/>
          </a:blip>
          <a:srcRect b="0" l="0" r="0" t="0"/>
          <a:stretch/>
        </p:blipFill>
        <p:spPr>
          <a:xfrm>
            <a:off x="3787484" y="3971844"/>
            <a:ext cx="3712464" cy="2139696"/>
          </a:xfrm>
          <a:prstGeom prst="rect">
            <a:avLst/>
          </a:prstGeom>
          <a:noFill/>
          <a:ln>
            <a:noFill/>
          </a:ln>
        </p:spPr>
      </p:pic>
      <p:sp>
        <p:nvSpPr>
          <p:cNvPr id="124" name="Google Shape;124;p4"/>
          <p:cNvSpPr txBox="1"/>
          <p:nvPr/>
        </p:nvSpPr>
        <p:spPr>
          <a:xfrm>
            <a:off x="4729316" y="6207770"/>
            <a:ext cx="18288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lt1"/>
                </a:solidFill>
                <a:latin typeface="Calibri"/>
                <a:ea typeface="Calibri"/>
                <a:cs typeface="Calibri"/>
                <a:sym typeface="Calibri"/>
              </a:rPr>
              <a:t>Source: </a:t>
            </a:r>
            <a:r>
              <a:rPr lang="en-IN" sz="1200" u="sng">
                <a:solidFill>
                  <a:srgbClr val="FF0000"/>
                </a:solidFill>
                <a:latin typeface="Calibri"/>
                <a:ea typeface="Calibri"/>
                <a:cs typeface="Calibri"/>
                <a:sym typeface="Calibri"/>
                <a:hlinkClick r:id="rId6">
                  <a:extLst>
                    <a:ext uri="{A12FA001-AC4F-418D-AE19-62706E023703}">
                      <ahyp:hlinkClr val="tx"/>
                    </a:ext>
                  </a:extLst>
                </a:hlinkClick>
              </a:rPr>
              <a:t>Scope of Xylanase</a:t>
            </a:r>
            <a:endParaRPr sz="1200">
              <a:solidFill>
                <a:srgbClr val="FF0000"/>
              </a:solidFill>
              <a:latin typeface="Calibri"/>
              <a:ea typeface="Calibri"/>
              <a:cs typeface="Calibri"/>
              <a:sym typeface="Calibri"/>
            </a:endParaRPr>
          </a:p>
        </p:txBody>
      </p:sp>
      <p:sp>
        <p:nvSpPr>
          <p:cNvPr id="125" name="Google Shape;125;p4"/>
          <p:cNvSpPr txBox="1"/>
          <p:nvPr/>
        </p:nvSpPr>
        <p:spPr>
          <a:xfrm>
            <a:off x="9089660" y="6389001"/>
            <a:ext cx="18288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lt1"/>
                </a:solidFill>
                <a:latin typeface="Calibri"/>
                <a:ea typeface="Calibri"/>
                <a:cs typeface="Calibri"/>
                <a:sym typeface="Calibri"/>
              </a:rPr>
              <a:t>Source: </a:t>
            </a:r>
            <a:r>
              <a:rPr lang="en-IN" sz="1200" u="sng">
                <a:solidFill>
                  <a:srgbClr val="FF0000"/>
                </a:solidFill>
                <a:latin typeface="Calibri"/>
                <a:ea typeface="Calibri"/>
                <a:cs typeface="Calibri"/>
                <a:sym typeface="Calibri"/>
                <a:hlinkClick r:id="rId7">
                  <a:extLst>
                    <a:ext uri="{A12FA001-AC4F-418D-AE19-62706E023703}">
                      <ahyp:hlinkClr val="tx"/>
                    </a:ext>
                  </a:extLst>
                </a:hlinkClick>
              </a:rPr>
              <a:t>Fungal Xylanase</a:t>
            </a:r>
            <a:endParaRPr sz="1200">
              <a:solidFill>
                <a:srgbClr val="FF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1" name="Google Shape;131;p5"/>
          <p:cNvSpPr txBox="1"/>
          <p:nvPr/>
        </p:nvSpPr>
        <p:spPr>
          <a:xfrm>
            <a:off x="1966452" y="462116"/>
            <a:ext cx="6135329"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4400">
                <a:solidFill>
                  <a:schemeClr val="lt1"/>
                </a:solidFill>
                <a:latin typeface="Calibri"/>
                <a:ea typeface="Calibri"/>
                <a:cs typeface="Calibri"/>
                <a:sym typeface="Calibri"/>
              </a:rPr>
              <a:t>INDUSTRIAL APPLICATION</a:t>
            </a:r>
            <a:endParaRPr/>
          </a:p>
        </p:txBody>
      </p:sp>
      <p:sp>
        <p:nvSpPr>
          <p:cNvPr id="132" name="Google Shape;132;p5"/>
          <p:cNvSpPr txBox="1"/>
          <p:nvPr/>
        </p:nvSpPr>
        <p:spPr>
          <a:xfrm>
            <a:off x="1179872" y="1481395"/>
            <a:ext cx="6135328" cy="453970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700"/>
              <a:buFont typeface="Arial"/>
              <a:buChar char="•"/>
            </a:pPr>
            <a:r>
              <a:rPr lang="en-IN" sz="1700">
                <a:solidFill>
                  <a:schemeClr val="lt1"/>
                </a:solidFill>
                <a:latin typeface="Calibri"/>
                <a:ea typeface="Calibri"/>
                <a:cs typeface="Calibri"/>
                <a:sym typeface="Calibri"/>
              </a:rPr>
              <a:t>The pulp and paper industry uses chlorine for bleaching purposes. The bleaching process results in the creation of organochlorine compounds. These are generated by the reactions between chlorine and residual lignin present in wood fibers. </a:t>
            </a:r>
            <a:endParaRPr/>
          </a:p>
          <a:p>
            <a:pPr indent="-285750" lvl="0" marL="285750" marR="0" rtl="0" algn="l">
              <a:spcBef>
                <a:spcPts val="0"/>
              </a:spcBef>
              <a:spcAft>
                <a:spcPts val="0"/>
              </a:spcAft>
              <a:buClr>
                <a:schemeClr val="lt1"/>
              </a:buClr>
              <a:buSzPts val="1700"/>
              <a:buFont typeface="Arial"/>
              <a:buChar char="•"/>
            </a:pPr>
            <a:r>
              <a:rPr lang="en-IN" sz="1700">
                <a:solidFill>
                  <a:schemeClr val="lt1"/>
                </a:solidFill>
                <a:latin typeface="Calibri"/>
                <a:ea typeface="Calibri"/>
                <a:cs typeface="Calibri"/>
                <a:sym typeface="Calibri"/>
              </a:rPr>
              <a:t>Many of these compounds harm the environment as they are mutagenic, toxic, persistent, and bioaccumulating. The discharge of wastewater containing these compounds into water bodies results in the elimination of aquatic species, pollution of potable water, and accumulation of toxins in the body of fishes. </a:t>
            </a:r>
            <a:endParaRPr/>
          </a:p>
          <a:p>
            <a:pPr indent="-285750" lvl="0" marL="285750" marR="0" rtl="0" algn="l">
              <a:spcBef>
                <a:spcPts val="0"/>
              </a:spcBef>
              <a:spcAft>
                <a:spcPts val="0"/>
              </a:spcAft>
              <a:buClr>
                <a:schemeClr val="lt1"/>
              </a:buClr>
              <a:buSzPts val="1700"/>
              <a:buFont typeface="Arial"/>
              <a:buChar char="•"/>
            </a:pPr>
            <a:r>
              <a:rPr lang="en-IN" sz="1700">
                <a:solidFill>
                  <a:schemeClr val="lt1"/>
                </a:solidFill>
                <a:latin typeface="Calibri"/>
                <a:ea typeface="Calibri"/>
                <a:cs typeface="Calibri"/>
                <a:sym typeface="Calibri"/>
              </a:rPr>
              <a:t>Due to these factors, the industry has to face certain limits and restrictions on the discharge of these compounds. To solve this problem, xylanase enzymes can be used in the pulp bleaching process which works both for woody pulps and non-woody pulps made from fibers like jute, wheat straw, and rice straw. </a:t>
            </a:r>
            <a:endParaRPr/>
          </a:p>
          <a:p>
            <a:pPr indent="-285750" lvl="0" marL="285750" marR="0" rtl="0" algn="l">
              <a:spcBef>
                <a:spcPts val="0"/>
              </a:spcBef>
              <a:spcAft>
                <a:spcPts val="0"/>
              </a:spcAft>
              <a:buClr>
                <a:schemeClr val="lt1"/>
              </a:buClr>
              <a:buSzPts val="1700"/>
              <a:buFont typeface="Arial"/>
              <a:buChar char="•"/>
            </a:pPr>
            <a:r>
              <a:rPr lang="en-IN" sz="1700">
                <a:solidFill>
                  <a:schemeClr val="lt1"/>
                </a:solidFill>
                <a:latin typeface="Calibri"/>
                <a:ea typeface="Calibri"/>
                <a:cs typeface="Calibri"/>
                <a:sym typeface="Calibri"/>
              </a:rPr>
              <a:t>This process is known as ‘bio-bleaching’ helps prevent the production of organochlorine compounds.</a:t>
            </a:r>
            <a:endParaRPr b="0" i="0" sz="1700">
              <a:solidFill>
                <a:schemeClr val="lt1"/>
              </a:solidFill>
              <a:latin typeface="Arial"/>
              <a:ea typeface="Arial"/>
              <a:cs typeface="Arial"/>
              <a:sym typeface="Arial"/>
            </a:endParaRPr>
          </a:p>
        </p:txBody>
      </p:sp>
      <p:sp>
        <p:nvSpPr>
          <p:cNvPr id="133" name="Google Shape;133;p5"/>
          <p:cNvSpPr txBox="1"/>
          <p:nvPr/>
        </p:nvSpPr>
        <p:spPr>
          <a:xfrm>
            <a:off x="5034116" y="6504278"/>
            <a:ext cx="420820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lt1"/>
                </a:solidFill>
                <a:latin typeface="Calibri"/>
                <a:ea typeface="Calibri"/>
                <a:cs typeface="Calibri"/>
                <a:sym typeface="Calibri"/>
              </a:rPr>
              <a:t>Reference: </a:t>
            </a:r>
            <a:r>
              <a:rPr lang="en-IN" sz="1200" u="sng">
                <a:solidFill>
                  <a:srgbClr val="FF0000"/>
                </a:solidFill>
                <a:latin typeface="Calibri"/>
                <a:ea typeface="Calibri"/>
                <a:cs typeface="Calibri"/>
                <a:sym typeface="Calibri"/>
                <a:hlinkClick r:id="rId4">
                  <a:extLst>
                    <a:ext uri="{A12FA001-AC4F-418D-AE19-62706E023703}">
                      <ahyp:hlinkClr val="tx"/>
                    </a:ext>
                  </a:extLst>
                </a:hlinkClick>
              </a:rPr>
              <a:t>infinabiotech.com</a:t>
            </a:r>
            <a:endParaRPr sz="1200">
              <a:solidFill>
                <a:srgbClr val="FF0000"/>
              </a:solidFill>
              <a:latin typeface="Calibri"/>
              <a:ea typeface="Calibri"/>
              <a:cs typeface="Calibri"/>
              <a:sym typeface="Calibri"/>
            </a:endParaRPr>
          </a:p>
        </p:txBody>
      </p:sp>
      <p:sp>
        <p:nvSpPr>
          <p:cNvPr id="134" name="Google Shape;134;p5"/>
          <p:cNvSpPr txBox="1"/>
          <p:nvPr/>
        </p:nvSpPr>
        <p:spPr>
          <a:xfrm>
            <a:off x="8617975" y="5577998"/>
            <a:ext cx="227125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lt1"/>
                </a:solidFill>
                <a:latin typeface="Calibri"/>
                <a:ea typeface="Calibri"/>
                <a:cs typeface="Calibri"/>
                <a:sym typeface="Calibri"/>
              </a:rPr>
              <a:t>Source: </a:t>
            </a:r>
            <a:r>
              <a:rPr lang="en-IN" sz="1200" u="sng">
                <a:solidFill>
                  <a:srgbClr val="FF0000"/>
                </a:solidFill>
                <a:latin typeface="Calibri"/>
                <a:ea typeface="Calibri"/>
                <a:cs typeface="Calibri"/>
                <a:sym typeface="Calibri"/>
                <a:hlinkClick r:id="rId5">
                  <a:extLst>
                    <a:ext uri="{A12FA001-AC4F-418D-AE19-62706E023703}">
                      <ahyp:hlinkClr val="tx"/>
                    </a:ext>
                  </a:extLst>
                </a:hlinkClick>
              </a:rPr>
              <a:t>Application of Xylanase</a:t>
            </a:r>
            <a:endParaRPr sz="1200">
              <a:solidFill>
                <a:srgbClr val="FF0000"/>
              </a:solidFill>
              <a:latin typeface="Calibri"/>
              <a:ea typeface="Calibri"/>
              <a:cs typeface="Calibri"/>
              <a:sym typeface="Calibri"/>
            </a:endParaRPr>
          </a:p>
        </p:txBody>
      </p:sp>
      <p:pic>
        <p:nvPicPr>
          <p:cNvPr id="135" name="Google Shape;135;p5"/>
          <p:cNvPicPr preferRelativeResize="0"/>
          <p:nvPr/>
        </p:nvPicPr>
        <p:blipFill rotWithShape="1">
          <a:blip r:embed="rId6">
            <a:alphaModFix/>
          </a:blip>
          <a:srcRect b="0" l="0" r="0" t="0"/>
          <a:stretch/>
        </p:blipFill>
        <p:spPr>
          <a:xfrm>
            <a:off x="7801897" y="1796845"/>
            <a:ext cx="3657600" cy="3657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2" name="Google Shape;142;p6"/>
          <p:cNvSpPr txBox="1"/>
          <p:nvPr/>
        </p:nvSpPr>
        <p:spPr>
          <a:xfrm>
            <a:off x="1710814" y="304800"/>
            <a:ext cx="7757651" cy="144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4400">
                <a:solidFill>
                  <a:schemeClr val="lt1"/>
                </a:solidFill>
                <a:latin typeface="Calibri"/>
                <a:ea typeface="Calibri"/>
                <a:cs typeface="Calibri"/>
                <a:sym typeface="Calibri"/>
              </a:rPr>
              <a:t>PRODUCTS MADE BY USING </a:t>
            </a:r>
            <a:r>
              <a:rPr lang="en-IN" sz="4400">
                <a:solidFill>
                  <a:srgbClr val="FF0000"/>
                </a:solidFill>
                <a:latin typeface="Corben"/>
                <a:ea typeface="Corben"/>
                <a:cs typeface="Corben"/>
                <a:sym typeface="Corben"/>
              </a:rPr>
              <a:t>X</a:t>
            </a:r>
            <a:r>
              <a:rPr lang="en-IN" sz="4400">
                <a:solidFill>
                  <a:schemeClr val="lt1"/>
                </a:solidFill>
                <a:latin typeface="Corben"/>
                <a:ea typeface="Corben"/>
                <a:cs typeface="Corben"/>
                <a:sym typeface="Corben"/>
              </a:rPr>
              <a:t>YLANASE</a:t>
            </a:r>
            <a:endParaRPr/>
          </a:p>
        </p:txBody>
      </p:sp>
      <p:sp>
        <p:nvSpPr>
          <p:cNvPr id="143" name="Google Shape;143;p6"/>
          <p:cNvSpPr txBox="1"/>
          <p:nvPr/>
        </p:nvSpPr>
        <p:spPr>
          <a:xfrm>
            <a:off x="2116339" y="3714027"/>
            <a:ext cx="118970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lt1"/>
                </a:solidFill>
                <a:latin typeface="Calibri"/>
                <a:ea typeface="Calibri"/>
                <a:cs typeface="Calibri"/>
                <a:sym typeface="Calibri"/>
              </a:rPr>
              <a:t>Source:</a:t>
            </a:r>
            <a:r>
              <a:rPr lang="en-IN" sz="1200">
                <a:solidFill>
                  <a:schemeClr val="dk1"/>
                </a:solidFill>
                <a:latin typeface="Calibri"/>
                <a:ea typeface="Calibri"/>
                <a:cs typeface="Calibri"/>
                <a:sym typeface="Calibri"/>
              </a:rPr>
              <a:t> </a:t>
            </a:r>
            <a:r>
              <a:rPr lang="en-IN" sz="1200" u="sng">
                <a:solidFill>
                  <a:srgbClr val="FF0000"/>
                </a:solidFill>
                <a:latin typeface="Calibri"/>
                <a:ea typeface="Calibri"/>
                <a:cs typeface="Calibri"/>
                <a:sym typeface="Calibri"/>
                <a:hlinkClick r:id="rId4">
                  <a:extLst>
                    <a:ext uri="{A12FA001-AC4F-418D-AE19-62706E023703}">
                      <ahyp:hlinkClr val="tx"/>
                    </a:ext>
                  </a:extLst>
                </a:hlinkClick>
              </a:rPr>
              <a:t>Image1</a:t>
            </a:r>
            <a:endParaRPr sz="1200">
              <a:solidFill>
                <a:srgbClr val="FF0000"/>
              </a:solidFill>
              <a:latin typeface="Calibri"/>
              <a:ea typeface="Calibri"/>
              <a:cs typeface="Calibri"/>
              <a:sym typeface="Calibri"/>
            </a:endParaRPr>
          </a:p>
        </p:txBody>
      </p:sp>
      <p:pic>
        <p:nvPicPr>
          <p:cNvPr id="144" name="Google Shape;144;p6"/>
          <p:cNvPicPr preferRelativeResize="0"/>
          <p:nvPr/>
        </p:nvPicPr>
        <p:blipFill rotWithShape="1">
          <a:blip r:embed="rId5">
            <a:alphaModFix/>
          </a:blip>
          <a:srcRect b="0" l="0" r="0" t="0"/>
          <a:stretch/>
        </p:blipFill>
        <p:spPr>
          <a:xfrm>
            <a:off x="1932404" y="2062055"/>
            <a:ext cx="1557574" cy="1575991"/>
          </a:xfrm>
          <a:prstGeom prst="rect">
            <a:avLst/>
          </a:prstGeom>
          <a:noFill/>
          <a:ln>
            <a:noFill/>
          </a:ln>
        </p:spPr>
      </p:pic>
      <p:pic>
        <p:nvPicPr>
          <p:cNvPr id="145" name="Google Shape;145;p6"/>
          <p:cNvPicPr preferRelativeResize="0"/>
          <p:nvPr/>
        </p:nvPicPr>
        <p:blipFill rotWithShape="1">
          <a:blip r:embed="rId6">
            <a:alphaModFix/>
          </a:blip>
          <a:srcRect b="0" l="0" r="0" t="0"/>
          <a:stretch/>
        </p:blipFill>
        <p:spPr>
          <a:xfrm>
            <a:off x="4229173" y="2062055"/>
            <a:ext cx="1630379" cy="1581896"/>
          </a:xfrm>
          <a:prstGeom prst="rect">
            <a:avLst/>
          </a:prstGeom>
          <a:noFill/>
          <a:ln>
            <a:noFill/>
          </a:ln>
        </p:spPr>
      </p:pic>
      <p:sp>
        <p:nvSpPr>
          <p:cNvPr id="146" name="Google Shape;146;p6"/>
          <p:cNvSpPr txBox="1"/>
          <p:nvPr/>
        </p:nvSpPr>
        <p:spPr>
          <a:xfrm>
            <a:off x="4471283" y="3714026"/>
            <a:ext cx="118970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lt1"/>
                </a:solidFill>
                <a:latin typeface="Calibri"/>
                <a:ea typeface="Calibri"/>
                <a:cs typeface="Calibri"/>
                <a:sym typeface="Calibri"/>
              </a:rPr>
              <a:t>Source:</a:t>
            </a:r>
            <a:r>
              <a:rPr lang="en-IN" sz="1200">
                <a:solidFill>
                  <a:schemeClr val="dk1"/>
                </a:solidFill>
                <a:latin typeface="Calibri"/>
                <a:ea typeface="Calibri"/>
                <a:cs typeface="Calibri"/>
                <a:sym typeface="Calibri"/>
              </a:rPr>
              <a:t> </a:t>
            </a:r>
            <a:r>
              <a:rPr lang="en-IN" sz="1200" u="sng">
                <a:solidFill>
                  <a:srgbClr val="FF0000"/>
                </a:solidFill>
                <a:latin typeface="Calibri"/>
                <a:ea typeface="Calibri"/>
                <a:cs typeface="Calibri"/>
                <a:sym typeface="Calibri"/>
                <a:hlinkClick r:id="rId7">
                  <a:extLst>
                    <a:ext uri="{A12FA001-AC4F-418D-AE19-62706E023703}">
                      <ahyp:hlinkClr val="tx"/>
                    </a:ext>
                  </a:extLst>
                </a:hlinkClick>
              </a:rPr>
              <a:t>Image2</a:t>
            </a:r>
            <a:endParaRPr sz="1200">
              <a:solidFill>
                <a:srgbClr val="FF0000"/>
              </a:solidFill>
              <a:latin typeface="Calibri"/>
              <a:ea typeface="Calibri"/>
              <a:cs typeface="Calibri"/>
              <a:sym typeface="Calibri"/>
            </a:endParaRPr>
          </a:p>
        </p:txBody>
      </p:sp>
      <p:sp>
        <p:nvSpPr>
          <p:cNvPr id="147" name="Google Shape;147;p6"/>
          <p:cNvSpPr txBox="1"/>
          <p:nvPr/>
        </p:nvSpPr>
        <p:spPr>
          <a:xfrm>
            <a:off x="5751633" y="5718186"/>
            <a:ext cx="118970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lt1"/>
                </a:solidFill>
                <a:latin typeface="Calibri"/>
                <a:ea typeface="Calibri"/>
                <a:cs typeface="Calibri"/>
                <a:sym typeface="Calibri"/>
              </a:rPr>
              <a:t>Source:</a:t>
            </a:r>
            <a:r>
              <a:rPr lang="en-IN" sz="1200">
                <a:solidFill>
                  <a:schemeClr val="dk1"/>
                </a:solidFill>
                <a:latin typeface="Calibri"/>
                <a:ea typeface="Calibri"/>
                <a:cs typeface="Calibri"/>
                <a:sym typeface="Calibri"/>
              </a:rPr>
              <a:t> </a:t>
            </a:r>
            <a:r>
              <a:rPr lang="en-IN" sz="1200" u="sng">
                <a:solidFill>
                  <a:srgbClr val="FF0000"/>
                </a:solidFill>
                <a:latin typeface="Calibri"/>
                <a:ea typeface="Calibri"/>
                <a:cs typeface="Calibri"/>
                <a:sym typeface="Calibri"/>
                <a:hlinkClick r:id="rId8">
                  <a:extLst>
                    <a:ext uri="{A12FA001-AC4F-418D-AE19-62706E023703}">
                      <ahyp:hlinkClr val="tx"/>
                    </a:ext>
                  </a:extLst>
                </a:hlinkClick>
              </a:rPr>
              <a:t>Image6</a:t>
            </a:r>
            <a:endParaRPr sz="1200">
              <a:solidFill>
                <a:srgbClr val="FF0000"/>
              </a:solidFill>
              <a:latin typeface="Calibri"/>
              <a:ea typeface="Calibri"/>
              <a:cs typeface="Calibri"/>
              <a:sym typeface="Calibri"/>
            </a:endParaRPr>
          </a:p>
        </p:txBody>
      </p:sp>
      <p:sp>
        <p:nvSpPr>
          <p:cNvPr id="148" name="Google Shape;148;p6"/>
          <p:cNvSpPr txBox="1"/>
          <p:nvPr/>
        </p:nvSpPr>
        <p:spPr>
          <a:xfrm>
            <a:off x="3397458" y="5767274"/>
            <a:ext cx="118970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lt1"/>
                </a:solidFill>
                <a:latin typeface="Calibri"/>
                <a:ea typeface="Calibri"/>
                <a:cs typeface="Calibri"/>
                <a:sym typeface="Calibri"/>
              </a:rPr>
              <a:t>Source:</a:t>
            </a:r>
            <a:r>
              <a:rPr lang="en-IN" sz="1200">
                <a:solidFill>
                  <a:schemeClr val="dk1"/>
                </a:solidFill>
                <a:latin typeface="Calibri"/>
                <a:ea typeface="Calibri"/>
                <a:cs typeface="Calibri"/>
                <a:sym typeface="Calibri"/>
              </a:rPr>
              <a:t> </a:t>
            </a:r>
            <a:r>
              <a:rPr lang="en-IN" sz="1200" u="sng">
                <a:solidFill>
                  <a:srgbClr val="FF0000"/>
                </a:solidFill>
                <a:latin typeface="Calibri"/>
                <a:ea typeface="Calibri"/>
                <a:cs typeface="Calibri"/>
                <a:sym typeface="Calibri"/>
                <a:hlinkClick r:id="rId9">
                  <a:extLst>
                    <a:ext uri="{A12FA001-AC4F-418D-AE19-62706E023703}">
                      <ahyp:hlinkClr val="tx"/>
                    </a:ext>
                  </a:extLst>
                </a:hlinkClick>
              </a:rPr>
              <a:t>Image5</a:t>
            </a:r>
            <a:endParaRPr sz="1200">
              <a:solidFill>
                <a:srgbClr val="FF0000"/>
              </a:solidFill>
              <a:latin typeface="Calibri"/>
              <a:ea typeface="Calibri"/>
              <a:cs typeface="Calibri"/>
              <a:sym typeface="Calibri"/>
            </a:endParaRPr>
          </a:p>
        </p:txBody>
      </p:sp>
      <p:sp>
        <p:nvSpPr>
          <p:cNvPr id="149" name="Google Shape;149;p6"/>
          <p:cNvSpPr txBox="1"/>
          <p:nvPr/>
        </p:nvSpPr>
        <p:spPr>
          <a:xfrm>
            <a:off x="9181171" y="3708122"/>
            <a:ext cx="118970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lt1"/>
                </a:solidFill>
                <a:latin typeface="Calibri"/>
                <a:ea typeface="Calibri"/>
                <a:cs typeface="Calibri"/>
                <a:sym typeface="Calibri"/>
              </a:rPr>
              <a:t>Source:</a:t>
            </a:r>
            <a:r>
              <a:rPr lang="en-IN" sz="1200">
                <a:solidFill>
                  <a:schemeClr val="dk1"/>
                </a:solidFill>
                <a:latin typeface="Calibri"/>
                <a:ea typeface="Calibri"/>
                <a:cs typeface="Calibri"/>
                <a:sym typeface="Calibri"/>
              </a:rPr>
              <a:t> </a:t>
            </a:r>
            <a:r>
              <a:rPr lang="en-IN" sz="1200" u="sng">
                <a:solidFill>
                  <a:srgbClr val="FF0000"/>
                </a:solidFill>
                <a:latin typeface="Calibri"/>
                <a:ea typeface="Calibri"/>
                <a:cs typeface="Calibri"/>
                <a:sym typeface="Calibri"/>
                <a:hlinkClick r:id="rId10">
                  <a:extLst>
                    <a:ext uri="{A12FA001-AC4F-418D-AE19-62706E023703}">
                      <ahyp:hlinkClr val="tx"/>
                    </a:ext>
                  </a:extLst>
                </a:hlinkClick>
              </a:rPr>
              <a:t>Image4</a:t>
            </a:r>
            <a:endParaRPr sz="1200">
              <a:solidFill>
                <a:srgbClr val="FF0000"/>
              </a:solidFill>
              <a:latin typeface="Calibri"/>
              <a:ea typeface="Calibri"/>
              <a:cs typeface="Calibri"/>
              <a:sym typeface="Calibri"/>
            </a:endParaRPr>
          </a:p>
        </p:txBody>
      </p:sp>
      <p:sp>
        <p:nvSpPr>
          <p:cNvPr id="150" name="Google Shape;150;p6"/>
          <p:cNvSpPr txBox="1"/>
          <p:nvPr/>
        </p:nvSpPr>
        <p:spPr>
          <a:xfrm>
            <a:off x="6826227" y="3731361"/>
            <a:ext cx="118970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lt1"/>
                </a:solidFill>
                <a:latin typeface="Calibri"/>
                <a:ea typeface="Calibri"/>
                <a:cs typeface="Calibri"/>
                <a:sym typeface="Calibri"/>
              </a:rPr>
              <a:t>Source:</a:t>
            </a:r>
            <a:r>
              <a:rPr lang="en-IN" sz="1200">
                <a:solidFill>
                  <a:schemeClr val="dk1"/>
                </a:solidFill>
                <a:latin typeface="Calibri"/>
                <a:ea typeface="Calibri"/>
                <a:cs typeface="Calibri"/>
                <a:sym typeface="Calibri"/>
              </a:rPr>
              <a:t> </a:t>
            </a:r>
            <a:r>
              <a:rPr lang="en-IN" sz="1200" u="sng">
                <a:solidFill>
                  <a:srgbClr val="FF0000"/>
                </a:solidFill>
                <a:latin typeface="Calibri"/>
                <a:ea typeface="Calibri"/>
                <a:cs typeface="Calibri"/>
                <a:sym typeface="Calibri"/>
                <a:hlinkClick r:id="rId11">
                  <a:extLst>
                    <a:ext uri="{A12FA001-AC4F-418D-AE19-62706E023703}">
                      <ahyp:hlinkClr val="tx"/>
                    </a:ext>
                  </a:extLst>
                </a:hlinkClick>
              </a:rPr>
              <a:t>Image3</a:t>
            </a:r>
            <a:endParaRPr sz="1200">
              <a:solidFill>
                <a:srgbClr val="FF0000"/>
              </a:solidFill>
              <a:latin typeface="Calibri"/>
              <a:ea typeface="Calibri"/>
              <a:cs typeface="Calibri"/>
              <a:sym typeface="Calibri"/>
            </a:endParaRPr>
          </a:p>
        </p:txBody>
      </p:sp>
      <p:sp>
        <p:nvSpPr>
          <p:cNvPr id="151" name="Google Shape;151;p6"/>
          <p:cNvSpPr txBox="1"/>
          <p:nvPr/>
        </p:nvSpPr>
        <p:spPr>
          <a:xfrm>
            <a:off x="8139118" y="5767274"/>
            <a:ext cx="118970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chemeClr val="lt1"/>
                </a:solidFill>
                <a:latin typeface="Calibri"/>
                <a:ea typeface="Calibri"/>
                <a:cs typeface="Calibri"/>
                <a:sym typeface="Calibri"/>
              </a:rPr>
              <a:t>Source:</a:t>
            </a:r>
            <a:r>
              <a:rPr lang="en-IN" sz="1200">
                <a:solidFill>
                  <a:schemeClr val="dk1"/>
                </a:solidFill>
                <a:latin typeface="Calibri"/>
                <a:ea typeface="Calibri"/>
                <a:cs typeface="Calibri"/>
                <a:sym typeface="Calibri"/>
              </a:rPr>
              <a:t> </a:t>
            </a:r>
            <a:r>
              <a:rPr lang="en-IN" sz="1200" u="sng">
                <a:solidFill>
                  <a:srgbClr val="FF0000"/>
                </a:solidFill>
                <a:latin typeface="Calibri"/>
                <a:ea typeface="Calibri"/>
                <a:cs typeface="Calibri"/>
                <a:sym typeface="Calibri"/>
                <a:hlinkClick r:id="rId12">
                  <a:extLst>
                    <a:ext uri="{A12FA001-AC4F-418D-AE19-62706E023703}">
                      <ahyp:hlinkClr val="tx"/>
                    </a:ext>
                  </a:extLst>
                </a:hlinkClick>
              </a:rPr>
              <a:t>Image7</a:t>
            </a:r>
            <a:endParaRPr sz="1200">
              <a:solidFill>
                <a:srgbClr val="FF0000"/>
              </a:solidFill>
              <a:latin typeface="Calibri"/>
              <a:ea typeface="Calibri"/>
              <a:cs typeface="Calibri"/>
              <a:sym typeface="Calibri"/>
            </a:endParaRPr>
          </a:p>
        </p:txBody>
      </p:sp>
      <p:pic>
        <p:nvPicPr>
          <p:cNvPr id="152" name="Google Shape;152;p6"/>
          <p:cNvPicPr preferRelativeResize="0"/>
          <p:nvPr/>
        </p:nvPicPr>
        <p:blipFill rotWithShape="1">
          <a:blip r:embed="rId13">
            <a:alphaModFix/>
          </a:blip>
          <a:srcRect b="0" l="0" r="0" t="0"/>
          <a:stretch/>
        </p:blipFill>
        <p:spPr>
          <a:xfrm>
            <a:off x="6598747" y="2059102"/>
            <a:ext cx="1644664" cy="1581896"/>
          </a:xfrm>
          <a:prstGeom prst="rect">
            <a:avLst/>
          </a:prstGeom>
          <a:noFill/>
          <a:ln>
            <a:noFill/>
          </a:ln>
        </p:spPr>
      </p:pic>
      <p:pic>
        <p:nvPicPr>
          <p:cNvPr id="153" name="Google Shape;153;p6"/>
          <p:cNvPicPr preferRelativeResize="0"/>
          <p:nvPr/>
        </p:nvPicPr>
        <p:blipFill rotWithShape="1">
          <a:blip r:embed="rId14">
            <a:alphaModFix/>
          </a:blip>
          <a:srcRect b="0" l="0" r="0" t="0"/>
          <a:stretch/>
        </p:blipFill>
        <p:spPr>
          <a:xfrm>
            <a:off x="8982606" y="2056150"/>
            <a:ext cx="1557574" cy="1581896"/>
          </a:xfrm>
          <a:prstGeom prst="rect">
            <a:avLst/>
          </a:prstGeom>
          <a:noFill/>
          <a:ln>
            <a:noFill/>
          </a:ln>
        </p:spPr>
      </p:pic>
      <p:pic>
        <p:nvPicPr>
          <p:cNvPr id="154" name="Google Shape;154;p6"/>
          <p:cNvPicPr preferRelativeResize="0"/>
          <p:nvPr/>
        </p:nvPicPr>
        <p:blipFill rotWithShape="1">
          <a:blip r:embed="rId15">
            <a:alphaModFix/>
          </a:blip>
          <a:srcRect b="0" l="0" r="0" t="0"/>
          <a:stretch/>
        </p:blipFill>
        <p:spPr>
          <a:xfrm>
            <a:off x="3059133" y="4088202"/>
            <a:ext cx="1630379" cy="1581896"/>
          </a:xfrm>
          <a:prstGeom prst="rect">
            <a:avLst/>
          </a:prstGeom>
          <a:noFill/>
          <a:ln>
            <a:noFill/>
          </a:ln>
        </p:spPr>
      </p:pic>
      <p:pic>
        <p:nvPicPr>
          <p:cNvPr id="155" name="Google Shape;155;p6"/>
          <p:cNvPicPr preferRelativeResize="0"/>
          <p:nvPr/>
        </p:nvPicPr>
        <p:blipFill rotWithShape="1">
          <a:blip r:embed="rId16">
            <a:alphaModFix/>
          </a:blip>
          <a:srcRect b="0" l="0" r="0" t="0"/>
          <a:stretch/>
        </p:blipFill>
        <p:spPr>
          <a:xfrm>
            <a:off x="5567698" y="4105537"/>
            <a:ext cx="1557574" cy="1581896"/>
          </a:xfrm>
          <a:prstGeom prst="rect">
            <a:avLst/>
          </a:prstGeom>
          <a:noFill/>
          <a:ln>
            <a:noFill/>
          </a:ln>
        </p:spPr>
      </p:pic>
      <p:pic>
        <p:nvPicPr>
          <p:cNvPr id="156" name="Google Shape;156;p6"/>
          <p:cNvPicPr preferRelativeResize="0"/>
          <p:nvPr/>
        </p:nvPicPr>
        <p:blipFill rotWithShape="1">
          <a:blip r:embed="rId17">
            <a:alphaModFix/>
          </a:blip>
          <a:srcRect b="0" l="0" r="0" t="0"/>
          <a:stretch/>
        </p:blipFill>
        <p:spPr>
          <a:xfrm>
            <a:off x="7955183" y="4080115"/>
            <a:ext cx="1557574" cy="158998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2" name="Google Shape;162;p7"/>
          <p:cNvSpPr txBox="1"/>
          <p:nvPr/>
        </p:nvSpPr>
        <p:spPr>
          <a:xfrm>
            <a:off x="1120878" y="294968"/>
            <a:ext cx="8239432"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4400">
                <a:solidFill>
                  <a:schemeClr val="lt1"/>
                </a:solidFill>
                <a:latin typeface="Calibri"/>
                <a:ea typeface="Calibri"/>
                <a:cs typeface="Calibri"/>
                <a:sym typeface="Calibri"/>
              </a:rPr>
              <a:t>ROLE OF COMPUTER ENGINEERING </a:t>
            </a:r>
            <a:endParaRPr/>
          </a:p>
        </p:txBody>
      </p:sp>
      <p:sp>
        <p:nvSpPr>
          <p:cNvPr id="163" name="Google Shape;163;p7"/>
          <p:cNvSpPr txBox="1"/>
          <p:nvPr/>
        </p:nvSpPr>
        <p:spPr>
          <a:xfrm>
            <a:off x="1514167" y="2859613"/>
            <a:ext cx="1966452" cy="113877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000">
                <a:solidFill>
                  <a:srgbClr val="FF0000"/>
                </a:solidFill>
                <a:latin typeface="Calibri"/>
                <a:ea typeface="Calibri"/>
                <a:cs typeface="Calibri"/>
                <a:sym typeface="Calibri"/>
              </a:rPr>
              <a:t>Automation</a:t>
            </a:r>
            <a:r>
              <a:rPr lang="en-IN" sz="1800">
                <a:solidFill>
                  <a:schemeClr val="dk1"/>
                </a:solidFill>
                <a:latin typeface="Calibri"/>
                <a:ea typeface="Calibri"/>
                <a:cs typeface="Calibri"/>
                <a:sym typeface="Calibri"/>
              </a:rPr>
              <a:t> </a:t>
            </a:r>
            <a:endParaRPr/>
          </a:p>
          <a:p>
            <a:pPr indent="0" lvl="0" marL="0" marR="0" rtl="0" algn="ctr">
              <a:spcBef>
                <a:spcPts val="0"/>
              </a:spcBef>
              <a:spcAft>
                <a:spcPts val="0"/>
              </a:spcAft>
              <a:buNone/>
            </a:pPr>
            <a:r>
              <a:rPr lang="en-IN" sz="1600">
                <a:solidFill>
                  <a:schemeClr val="lt1"/>
                </a:solidFill>
                <a:latin typeface="Calibri"/>
                <a:ea typeface="Calibri"/>
                <a:cs typeface="Calibri"/>
                <a:sym typeface="Calibri"/>
              </a:rPr>
              <a:t>Create software that tracks enzyme activity in real time.</a:t>
            </a:r>
            <a:endParaRPr sz="1800">
              <a:solidFill>
                <a:schemeClr val="lt1"/>
              </a:solidFill>
              <a:latin typeface="Calibri"/>
              <a:ea typeface="Calibri"/>
              <a:cs typeface="Calibri"/>
              <a:sym typeface="Calibri"/>
            </a:endParaRPr>
          </a:p>
        </p:txBody>
      </p:sp>
      <p:sp>
        <p:nvSpPr>
          <p:cNvPr id="164" name="Google Shape;164;p7"/>
          <p:cNvSpPr txBox="1"/>
          <p:nvPr/>
        </p:nvSpPr>
        <p:spPr>
          <a:xfrm>
            <a:off x="5885496" y="2880515"/>
            <a:ext cx="2507226" cy="113877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000">
                <a:solidFill>
                  <a:srgbClr val="FF0000"/>
                </a:solidFill>
                <a:latin typeface="Calibri"/>
                <a:ea typeface="Calibri"/>
                <a:cs typeface="Calibri"/>
                <a:sym typeface="Calibri"/>
              </a:rPr>
              <a:t>Data Analysis </a:t>
            </a:r>
            <a:endParaRPr/>
          </a:p>
          <a:p>
            <a:pPr indent="0" lvl="0" marL="0" marR="0" rtl="0" algn="ctr">
              <a:spcBef>
                <a:spcPts val="0"/>
              </a:spcBef>
              <a:spcAft>
                <a:spcPts val="0"/>
              </a:spcAft>
              <a:buNone/>
            </a:pPr>
            <a:r>
              <a:rPr lang="en-IN" sz="1600">
                <a:solidFill>
                  <a:schemeClr val="lt1"/>
                </a:solidFill>
                <a:latin typeface="Calibri"/>
                <a:ea typeface="Calibri"/>
                <a:cs typeface="Calibri"/>
                <a:sym typeface="Calibri"/>
              </a:rPr>
              <a:t>Examine product’s quality, and efficiency using machine learning.</a:t>
            </a:r>
            <a:endParaRPr sz="1800">
              <a:solidFill>
                <a:schemeClr val="lt1"/>
              </a:solidFill>
              <a:latin typeface="Calibri"/>
              <a:ea typeface="Calibri"/>
              <a:cs typeface="Calibri"/>
              <a:sym typeface="Calibri"/>
            </a:endParaRPr>
          </a:p>
        </p:txBody>
      </p:sp>
      <p:sp>
        <p:nvSpPr>
          <p:cNvPr id="165" name="Google Shape;165;p7"/>
          <p:cNvSpPr txBox="1"/>
          <p:nvPr/>
        </p:nvSpPr>
        <p:spPr>
          <a:xfrm>
            <a:off x="3618423" y="5101247"/>
            <a:ext cx="2349909" cy="113877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000">
                <a:solidFill>
                  <a:srgbClr val="FF0000"/>
                </a:solidFill>
                <a:latin typeface="Calibri"/>
                <a:ea typeface="Calibri"/>
                <a:cs typeface="Calibri"/>
                <a:sym typeface="Calibri"/>
              </a:rPr>
              <a:t>Process modelling </a:t>
            </a:r>
            <a:endParaRPr/>
          </a:p>
          <a:p>
            <a:pPr indent="0" lvl="0" marL="0" marR="0" rtl="0" algn="ctr">
              <a:spcBef>
                <a:spcPts val="0"/>
              </a:spcBef>
              <a:spcAft>
                <a:spcPts val="0"/>
              </a:spcAft>
              <a:buNone/>
            </a:pPr>
            <a:r>
              <a:rPr lang="en-IN" sz="1600">
                <a:solidFill>
                  <a:schemeClr val="lt1"/>
                </a:solidFill>
                <a:latin typeface="Calibri"/>
                <a:ea typeface="Calibri"/>
                <a:cs typeface="Calibri"/>
                <a:sym typeface="Calibri"/>
              </a:rPr>
              <a:t>To maximize yield and efficiency, model the activity of enzymes. </a:t>
            </a:r>
            <a:endParaRPr sz="1800">
              <a:solidFill>
                <a:schemeClr val="lt1"/>
              </a:solidFill>
              <a:latin typeface="Calibri"/>
              <a:ea typeface="Calibri"/>
              <a:cs typeface="Calibri"/>
              <a:sym typeface="Calibri"/>
            </a:endParaRPr>
          </a:p>
        </p:txBody>
      </p:sp>
      <p:sp>
        <p:nvSpPr>
          <p:cNvPr id="166" name="Google Shape;166;p7"/>
          <p:cNvSpPr txBox="1"/>
          <p:nvPr/>
        </p:nvSpPr>
        <p:spPr>
          <a:xfrm>
            <a:off x="8264013" y="5101247"/>
            <a:ext cx="2192594" cy="113877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000">
                <a:solidFill>
                  <a:srgbClr val="FF0000"/>
                </a:solidFill>
                <a:latin typeface="Calibri"/>
                <a:ea typeface="Calibri"/>
                <a:cs typeface="Calibri"/>
                <a:sym typeface="Calibri"/>
              </a:rPr>
              <a:t>IoT Integration </a:t>
            </a:r>
            <a:endParaRPr/>
          </a:p>
          <a:p>
            <a:pPr indent="0" lvl="0" marL="0" marR="0" rtl="0" algn="ctr">
              <a:spcBef>
                <a:spcPts val="0"/>
              </a:spcBef>
              <a:spcAft>
                <a:spcPts val="0"/>
              </a:spcAft>
              <a:buNone/>
            </a:pPr>
            <a:r>
              <a:rPr lang="en-IN" sz="1600">
                <a:solidFill>
                  <a:schemeClr val="lt1"/>
                </a:solidFill>
                <a:latin typeface="Calibri"/>
                <a:ea typeface="Calibri"/>
                <a:cs typeface="Calibri"/>
                <a:sym typeface="Calibri"/>
              </a:rPr>
              <a:t>AI and sensors for automated production of products.</a:t>
            </a:r>
            <a:endParaRPr sz="1800">
              <a:solidFill>
                <a:schemeClr val="lt1"/>
              </a:solidFill>
              <a:latin typeface="Calibri"/>
              <a:ea typeface="Calibri"/>
              <a:cs typeface="Calibri"/>
              <a:sym typeface="Calibri"/>
            </a:endParaRPr>
          </a:p>
        </p:txBody>
      </p:sp>
      <p:pic>
        <p:nvPicPr>
          <p:cNvPr id="167" name="Google Shape;167;p7"/>
          <p:cNvPicPr preferRelativeResize="0"/>
          <p:nvPr/>
        </p:nvPicPr>
        <p:blipFill rotWithShape="1">
          <a:blip r:embed="rId4">
            <a:alphaModFix/>
          </a:blip>
          <a:srcRect b="0" l="0" r="0" t="0"/>
          <a:stretch/>
        </p:blipFill>
        <p:spPr>
          <a:xfrm>
            <a:off x="1376362" y="1282859"/>
            <a:ext cx="2242061" cy="1486239"/>
          </a:xfrm>
          <a:prstGeom prst="roundRect">
            <a:avLst>
              <a:gd fmla="val 8594" name="adj"/>
            </a:avLst>
          </a:prstGeom>
          <a:solidFill>
            <a:srgbClr val="ECECEC"/>
          </a:solidFill>
          <a:ln cap="flat" cmpd="sng" w="28575">
            <a:solidFill>
              <a:schemeClr val="lt1"/>
            </a:solidFill>
            <a:prstDash val="solid"/>
            <a:round/>
            <a:headEnd len="sm" w="sm" type="none"/>
            <a:tailEnd len="sm" w="sm" type="none"/>
          </a:ln>
          <a:effectLst>
            <a:reflection blurRad="0" dir="5400000" dist="5000" endA="0" endPos="28000" kx="0" rotWithShape="0" algn="bl" stA="38000" stPos="0" sy="-100000" ky="0"/>
          </a:effectLst>
        </p:spPr>
      </p:pic>
      <p:pic>
        <p:nvPicPr>
          <p:cNvPr id="168" name="Google Shape;168;p7"/>
          <p:cNvPicPr preferRelativeResize="0"/>
          <p:nvPr/>
        </p:nvPicPr>
        <p:blipFill rotWithShape="1">
          <a:blip r:embed="rId5">
            <a:alphaModFix/>
          </a:blip>
          <a:srcRect b="0" l="0" r="0" t="0"/>
          <a:stretch/>
        </p:blipFill>
        <p:spPr>
          <a:xfrm>
            <a:off x="6014206" y="1282859"/>
            <a:ext cx="2249807" cy="1486239"/>
          </a:xfrm>
          <a:prstGeom prst="roundRect">
            <a:avLst>
              <a:gd fmla="val 8594" name="adj"/>
            </a:avLst>
          </a:prstGeom>
          <a:solidFill>
            <a:srgbClr val="ECECEC"/>
          </a:solidFill>
          <a:ln cap="flat" cmpd="sng" w="28575">
            <a:solidFill>
              <a:schemeClr val="lt1"/>
            </a:solidFill>
            <a:prstDash val="solid"/>
            <a:round/>
            <a:headEnd len="sm" w="sm" type="none"/>
            <a:tailEnd len="sm" w="sm" type="none"/>
          </a:ln>
          <a:effectLst>
            <a:reflection blurRad="0" dir="5400000" dist="5000" endA="0" endPos="28000" kx="0" rotWithShape="0" algn="bl" stA="38000" stPos="0" sy="-100000" ky="0"/>
          </a:effectLst>
        </p:spPr>
      </p:pic>
      <p:pic>
        <p:nvPicPr>
          <p:cNvPr id="169" name="Google Shape;169;p7"/>
          <p:cNvPicPr preferRelativeResize="0"/>
          <p:nvPr/>
        </p:nvPicPr>
        <p:blipFill rotWithShape="1">
          <a:blip r:embed="rId6">
            <a:alphaModFix/>
          </a:blip>
          <a:srcRect b="0" l="0" r="0" t="0"/>
          <a:stretch/>
        </p:blipFill>
        <p:spPr>
          <a:xfrm>
            <a:off x="8264013" y="3752857"/>
            <a:ext cx="2242061" cy="1348390"/>
          </a:xfrm>
          <a:prstGeom prst="roundRect">
            <a:avLst>
              <a:gd fmla="val 8594" name="adj"/>
            </a:avLst>
          </a:prstGeom>
          <a:solidFill>
            <a:srgbClr val="ECECEC"/>
          </a:solidFill>
          <a:ln cap="flat" cmpd="sng" w="28575">
            <a:solidFill>
              <a:schemeClr val="lt1"/>
            </a:solidFill>
            <a:prstDash val="solid"/>
            <a:round/>
            <a:headEnd len="sm" w="sm" type="none"/>
            <a:tailEnd len="sm" w="sm" type="none"/>
          </a:ln>
          <a:effectLst>
            <a:reflection blurRad="0" dir="5400000" dist="5000" endA="0" endPos="28000" kx="0" rotWithShape="0" algn="bl" stA="38000" stPos="0" sy="-100000" ky="0"/>
          </a:effectLst>
        </p:spPr>
      </p:pic>
      <p:pic>
        <p:nvPicPr>
          <p:cNvPr id="170" name="Google Shape;170;p7"/>
          <p:cNvPicPr preferRelativeResize="0"/>
          <p:nvPr/>
        </p:nvPicPr>
        <p:blipFill rotWithShape="1">
          <a:blip r:embed="rId7">
            <a:alphaModFix/>
          </a:blip>
          <a:srcRect b="0" l="0" r="0" t="0"/>
          <a:stretch/>
        </p:blipFill>
        <p:spPr>
          <a:xfrm>
            <a:off x="3729188" y="3884979"/>
            <a:ext cx="2128377" cy="1196576"/>
          </a:xfrm>
          <a:prstGeom prst="roundRect">
            <a:avLst>
              <a:gd fmla="val 8594" name="adj"/>
            </a:avLst>
          </a:prstGeom>
          <a:solidFill>
            <a:srgbClr val="ECECEC"/>
          </a:solidFill>
          <a:ln cap="flat" cmpd="sng" w="28575">
            <a:solidFill>
              <a:schemeClr val="lt1"/>
            </a:solidFill>
            <a:prstDash val="solid"/>
            <a:round/>
            <a:headEnd len="sm" w="sm" type="none"/>
            <a:tailEnd len="sm" w="sm" type="none"/>
          </a:ln>
          <a:effectLst>
            <a:reflection blurRad="0" dir="5400000" dist="5000" endA="0" endPos="28000" kx="0" rotWithShape="0" algn="bl" stA="38000" stPos="0" sy="-100000" ky="0"/>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6" name="Google Shape;176;p8"/>
          <p:cNvSpPr txBox="1"/>
          <p:nvPr/>
        </p:nvSpPr>
        <p:spPr>
          <a:xfrm>
            <a:off x="1966452" y="462116"/>
            <a:ext cx="3805083"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4400">
                <a:solidFill>
                  <a:schemeClr val="lt1"/>
                </a:solidFill>
                <a:latin typeface="Calibri"/>
                <a:ea typeface="Calibri"/>
                <a:cs typeface="Calibri"/>
                <a:sym typeface="Calibri"/>
              </a:rPr>
              <a:t>REFERENCE</a:t>
            </a:r>
            <a:endParaRPr/>
          </a:p>
        </p:txBody>
      </p:sp>
      <p:sp>
        <p:nvSpPr>
          <p:cNvPr id="177" name="Google Shape;177;p8"/>
          <p:cNvSpPr txBox="1"/>
          <p:nvPr/>
        </p:nvSpPr>
        <p:spPr>
          <a:xfrm>
            <a:off x="1401096" y="1052020"/>
            <a:ext cx="10181304" cy="14927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rgbClr val="FF0000"/>
                </a:solidFill>
                <a:latin typeface="Calibri"/>
                <a:ea typeface="Calibri"/>
                <a:cs typeface="Calibri"/>
                <a:sym typeface="Calibri"/>
              </a:rPr>
              <a:t>Information:</a:t>
            </a:r>
            <a:endParaRPr sz="18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4">
                  <a:extLst>
                    <a:ext uri="{A12FA001-AC4F-418D-AE19-62706E023703}">
                      <ahyp:hlinkClr val="tx"/>
                    </a:ext>
                  </a:extLst>
                </a:hlinkClick>
              </a:rPr>
              <a:t>https://taylorandfrancis.com/knowledge/Engineering_and_technology/Chemical_engineering/Xylanase</a:t>
            </a:r>
            <a:endParaRPr sz="7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5">
                  <a:extLst>
                    <a:ext uri="{A12FA001-AC4F-418D-AE19-62706E023703}">
                      <ahyp:hlinkClr val="tx"/>
                    </a:ext>
                  </a:extLst>
                </a:hlinkClick>
              </a:rPr>
              <a:t>https://www.intechopen.com/chapters/71830</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000"/>
              <a:buFont typeface="Arial"/>
              <a:buChar char="•"/>
            </a:pPr>
            <a:r>
              <a:rPr lang="en-IN" sz="1000" u="sng">
                <a:solidFill>
                  <a:schemeClr val="lt1"/>
                </a:solidFill>
                <a:latin typeface="Calibri"/>
                <a:ea typeface="Calibri"/>
                <a:cs typeface="Calibri"/>
                <a:sym typeface="Calibri"/>
                <a:hlinkClick r:id="rId6">
                  <a:extLst>
                    <a:ext uri="{A12FA001-AC4F-418D-AE19-62706E023703}">
                      <ahyp:hlinkClr val="tx"/>
                    </a:ext>
                  </a:extLst>
                </a:hlinkClick>
              </a:rPr>
              <a:t>https://infinitabiotech.com/blog/xylanase-enzyme-in-pulp-paper-industry/#:~:text=To%20solve%20this%20problem%2C%20xylanase%20enzymes%20can%20be,%E2%80%98bio-bleaching%E2%80%99%20helps%20prevent%20the%20production%20of%20organochlorine%20compounds.</a:t>
            </a:r>
            <a:endParaRPr sz="1000">
              <a:solidFill>
                <a:schemeClr val="lt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78" name="Google Shape;178;p8"/>
          <p:cNvSpPr txBox="1"/>
          <p:nvPr/>
        </p:nvSpPr>
        <p:spPr>
          <a:xfrm>
            <a:off x="1401096" y="2105561"/>
            <a:ext cx="10294374" cy="455509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rgbClr val="FF0000"/>
                </a:solidFill>
                <a:latin typeface="Calibri"/>
                <a:ea typeface="Calibri"/>
                <a:cs typeface="Calibri"/>
                <a:sym typeface="Calibri"/>
              </a:rPr>
              <a:t>Images:</a:t>
            </a:r>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7">
                  <a:extLst>
                    <a:ext uri="{A12FA001-AC4F-418D-AE19-62706E023703}">
                      <ahyp:hlinkClr val="tx"/>
                    </a:ext>
                  </a:extLst>
                </a:hlinkClick>
              </a:rPr>
              <a:t>https://sites.ffclrp.usp.br/pbbg/english/research/xylanase/xylanase_structure.htm</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8">
                  <a:extLst>
                    <a:ext uri="{A12FA001-AC4F-418D-AE19-62706E023703}">
                      <ahyp:hlinkClr val="tx"/>
                    </a:ext>
                  </a:extLst>
                </a:hlinkClick>
              </a:rPr>
              <a:t>https://jabonline.in/jab_demo/ckfinder/images/JABB-11-2-41-g006.jpg</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9">
                  <a:extLst>
                    <a:ext uri="{A12FA001-AC4F-418D-AE19-62706E023703}">
                      <ahyp:hlinkClr val="tx"/>
                    </a:ext>
                  </a:extLst>
                </a:hlinkClick>
              </a:rPr>
              <a:t>https://inrorwxhkokklm5p.ldycdn.com/cloud/jpBpkKpkljSRrkpqnpprjq/Fungal-Xylanase-640-640.jpg</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10">
                  <a:extLst>
                    <a:ext uri="{A12FA001-AC4F-418D-AE19-62706E023703}">
                      <ahyp:hlinkClr val="tx"/>
                    </a:ext>
                  </a:extLst>
                </a:hlinkClick>
              </a:rPr>
              <a:t>https://th.bing.com/th/id/R.f2ca17574a6be2772a67e96074d17c92?rik=Sf8WZWZtzqxuiQ&amp;riu=http%3a%2f%2fonlineingredient.com%2fcdn%2fshop%2ffiles%2fApplicationofBacterialXylanaseEnzyme-BiovenIngredients_1200x1200.jpg%3fv%3d1718875164&amp;ehk=fGIy77g4uoYMcZ54MgaOKZvVlz5WdJDkhjZssfRm1L0%3d&amp;risl=&amp;pid=ImgRaw&amp;r=0</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11">
                  <a:extLst>
                    <a:ext uri="{A12FA001-AC4F-418D-AE19-62706E023703}">
                      <ahyp:hlinkClr val="tx"/>
                    </a:ext>
                  </a:extLst>
                </a:hlinkClick>
              </a:rPr>
              <a:t>https://www.onceuponachef.com/images/2020/03/Crusty-Bread-1200x1553.jpg</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12">
                  <a:extLst>
                    <a:ext uri="{A12FA001-AC4F-418D-AE19-62706E023703}">
                      <ahyp:hlinkClr val="tx"/>
                    </a:ext>
                  </a:extLst>
                </a:hlinkClick>
              </a:rPr>
              <a:t>https://cdn.zeebiz.com/sites/default/files/2018/12/07/63235-paper-pixabay.jpg</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13">
                  <a:extLst>
                    <a:ext uri="{A12FA001-AC4F-418D-AE19-62706E023703}">
                      <ahyp:hlinkClr val="tx"/>
                    </a:ext>
                  </a:extLst>
                </a:hlinkClick>
              </a:rPr>
              <a:t>https://th.bing.com/th/id/OIP.UnIzEhuHV3QMEziNfQ8lgHaE8?w=262&amp;h=180&amp;c=7&amp;r=0&amp;o=7&amp;dpr=1.3&amp;pid=1.7&amp;rm=3</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14">
                  <a:extLst>
                    <a:ext uri="{A12FA001-AC4F-418D-AE19-62706E023703}">
                      <ahyp:hlinkClr val="tx"/>
                    </a:ext>
                  </a:extLst>
                </a:hlinkClick>
              </a:rPr>
              <a:t>https://th.bing.com/th/id/OIP.G_al0L7auiLLmmZQgwljVQHaE8?w=270&amp;h=180&amp;c=7&amp;r=0&amp;o=7&amp;dpr=1.3&amp;pid=1.7&amp;rm=3</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15">
                  <a:extLst>
                    <a:ext uri="{A12FA001-AC4F-418D-AE19-62706E023703}">
                      <ahyp:hlinkClr val="tx"/>
                    </a:ext>
                  </a:extLst>
                </a:hlinkClick>
              </a:rPr>
              <a:t>https://www.verywellhealth.com/thmb/P8mUyyzJ9ERP57K7_7COb8iSAhc=/1500x0/filters:no_upscale():max_bytes(150000):strip_icc()/GettyImages-186846700-56a05f193df78cafdaa14c87.jpg</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16">
                  <a:extLst>
                    <a:ext uri="{A12FA001-AC4F-418D-AE19-62706E023703}">
                      <ahyp:hlinkClr val="tx"/>
                    </a:ext>
                  </a:extLst>
                </a:hlinkClick>
              </a:rPr>
              <a:t>https://i.etsystatic.com/19319752/r/il/e8bbf6/4097387117/il_fullxfull.4097387117_f8tr.jpg</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17">
                  <a:extLst>
                    <a:ext uri="{A12FA001-AC4F-418D-AE19-62706E023703}">
                      <ahyp:hlinkClr val="tx"/>
                    </a:ext>
                  </a:extLst>
                </a:hlinkClick>
              </a:rPr>
              <a:t>https://tiimg.tistatic.com/fp/1/007/364/fruit-juice-without-added-preservative-and-artificial-flavour-661.jpg</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18">
                  <a:extLst>
                    <a:ext uri="{A12FA001-AC4F-418D-AE19-62706E023703}">
                      <ahyp:hlinkClr val="tx"/>
                    </a:ext>
                  </a:extLst>
                </a:hlinkClick>
              </a:rPr>
              <a:t>https://tse3.mm.bing.net/th/id/OIP.3406cPhjQcmQLtytgJnlrAHaEK?rs=1&amp;pid=ImgDetMain&amp;o=7&amp;rm=3</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19">
                  <a:extLst>
                    <a:ext uri="{A12FA001-AC4F-418D-AE19-62706E023703}">
                      <ahyp:hlinkClr val="tx"/>
                    </a:ext>
                  </a:extLst>
                </a:hlinkClick>
              </a:rPr>
              <a:t>https://assets.datamation.com/uploads/2024/01/dm_20240102-types-of-data-analytics.png</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20">
                  <a:extLst>
                    <a:ext uri="{A12FA001-AC4F-418D-AE19-62706E023703}">
                      <ahyp:hlinkClr val="tx"/>
                    </a:ext>
                  </a:extLst>
                </a:hlinkClick>
              </a:rPr>
              <a:t>https://www.maxzosim.com/content/images/size/w1200/2023/03/Process-Modelling-logo.jpeg</a:t>
            </a:r>
            <a:endParaRPr sz="14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400"/>
              <a:buFont typeface="Arial"/>
              <a:buChar char="•"/>
            </a:pPr>
            <a:r>
              <a:rPr lang="en-IN" sz="1400" u="sng">
                <a:solidFill>
                  <a:schemeClr val="lt1"/>
                </a:solidFill>
                <a:latin typeface="Calibri"/>
                <a:ea typeface="Calibri"/>
                <a:cs typeface="Calibri"/>
                <a:sym typeface="Calibri"/>
                <a:hlinkClick r:id="rId21">
                  <a:extLst>
                    <a:ext uri="{A12FA001-AC4F-418D-AE19-62706E023703}">
                      <ahyp:hlinkClr val="tx"/>
                    </a:ext>
                  </a:extLst>
                </a:hlinkClick>
              </a:rPr>
              <a:t>https://tse4.mm.bing.net/th/id/OIP.M-af86xBinB142heC6iR-AHaEK?rs=1&amp;pid=ImgDetMain&amp;o=7&amp;rm=3</a:t>
            </a:r>
            <a:endParaRPr sz="14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2025-09-14T17:53:52Z</dcterms:created>
  <dc:creator>Asmit Samanta</dc:creator>
</cp:coreProperties>
</file>