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F0C7"/>
    <a:srgbClr val="BDA8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EDF34-EF04-0528-2567-8245731E2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ADEB6-DFDC-A9D1-8D5C-1BE58C909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4D54E-9AC8-3AF8-BCD2-898C5B82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13BB-C4EE-1F8D-2D8F-77369043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B2A83-ECCD-B29F-CC58-77E86097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76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64E4-89F1-8D1D-765E-4FCB7CED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EC61D-F8C6-64DB-DBEF-34BE299E7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07028-F907-5ACD-FC30-7A33E629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4B34E-6D5B-AD88-2BDB-4BA36EE3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75E8B-BB8E-1F7F-E824-C8348829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04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A522-EC7D-1F6D-7E8F-973B6949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92483-569A-1B24-62C6-E701660B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AF380-8DEB-0FB2-670C-3EBA5811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785B5-C0D7-3D55-30F1-B1FB6D60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48529-85D8-3B35-6F4A-6E47B9CB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85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F29AA-E1FE-E26C-7611-93EC2BB7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349B6-4947-9453-ACBE-38B7F4EE6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A25B5-7C55-FA8E-5B79-6EA4AE1FC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408DD-AA1D-988D-C857-F24B3CE0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9E2CB-F3CF-2F25-7DB9-D596B7A6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D1BD5-5B57-C6AC-84BE-C3215F7A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18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8D05-5DAA-1DDB-CF6D-694AAA6C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6D226-904B-AFA2-BD7E-5E2B8C2B5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CDA9B-0451-6D6E-6625-BDDC35889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989AA-B070-FB50-037C-99B56AF5C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01127-3460-7179-C51C-D30B29F17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56A32-79B8-42E9-D884-06D5B130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0A75B9-D4D0-EC09-D790-4C1A72A2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F714A-B49C-354F-0828-3D7B4923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45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A977-5A7F-DD22-FD26-5B695C03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FC6AA-9A2A-B625-AAAA-EC40A324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E64F4-7A1B-0444-FAE4-5E5A8634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392B0-6A8D-2362-5B41-11029495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70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E71F-6BA0-2D75-0B0C-A8D406122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5BDA7-B560-EB57-D93B-5A775586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8A4FE-B7FF-CB5D-CEAE-ACA83BB9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20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19E2-2CAD-AEB5-89D8-DEE293F1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B51B-61B7-FF74-8E7A-BA7187681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DC7A4-6132-9230-4C1A-7DD6E0621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18309-EE39-8521-CB10-99FA9FA5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3A4F3-9F27-7976-AE27-29187132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123D2-A734-13E6-0B1B-8831112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08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384D-1183-6A8C-94C3-33C8C502A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E0AD0C-A7CE-D7C8-B542-435D7C0C7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21486-DBC7-E9FA-F4C7-DD4E545C8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4E3D1-B00D-3BB6-DFD3-C0F803E8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168F4-9141-1124-73C6-35C0C8A3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FF2EA-6778-3123-204D-2C871BD7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27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0204-CE5F-5C8F-9403-9303963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50745-AC82-1D48-0A5E-9CE507C41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1FCB1-005B-EFFB-E14B-433B05CC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7B95B-BE2C-6360-D063-E2C61C5F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3198-1CF9-6D8F-9161-C1FE0572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2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E557E-D1FD-2396-AFFD-66D3B6495E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DA2AA-BF90-8665-EA6E-21DB7F399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01D82-7393-15D5-5875-38CD643A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8C082-41D7-7A1F-CBB6-74D17B69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BC2A9-588A-2449-192B-E830E279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54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71718-BA20-C271-442B-D049CF701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D7449-54BD-E70E-6CFE-03ED8A2A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D8208-6BAB-2B1D-3FA0-024FCBF6D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9E94E-BE65-44A1-8D94-5F55C7417B9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302D8-611B-A502-1BA9-398A2EAC9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4FD89-AACA-B716-D81A-789C40D5F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8EC3F-24A5-41C8-ABFD-CF0FC0DA9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110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ugssquare.com/others/stpase-1500000iu-injection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reptokinase" TargetMode="External"/><Relationship Id="rId2" Type="http://schemas.openxmlformats.org/officeDocument/2006/relationships/hyperlink" Target="https://www.sciencedirect.com/topics/biochemistry-genetics-and-molecular-biology/streptokinase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lideshare.net/slideshow/streptokinase-66365127/66365127" TargetMode="External"/><Relationship Id="rId5" Type="http://schemas.openxmlformats.org/officeDocument/2006/relationships/hyperlink" Target="https://www.drugssquare.com/others/stpase-1500000iu-injection/" TargetMode="External"/><Relationship Id="rId4" Type="http://schemas.openxmlformats.org/officeDocument/2006/relationships/hyperlink" Target="https://www.mayoclinic.org/drugs-supplements/streptokinase-intravenous-route-intracoronary-route/description/drg-20070834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058" name="Rectangle 1057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5EC15-0546-B3AF-3E44-4EB8D3270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2609849"/>
            <a:ext cx="11277600" cy="163830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12500" dirty="0"/>
              <a:t>Streptokinase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BA0F71-1767-00AD-3383-7411E0F99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48692" y="6175332"/>
            <a:ext cx="1686317" cy="225469"/>
          </a:xfr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r>
              <a:rPr lang="en-US" sz="3200" dirty="0">
                <a:solidFill>
                  <a:schemeClr val="tx1">
                    <a:alpha val="55000"/>
                  </a:schemeClr>
                </a:solidFill>
              </a:rPr>
              <a:t>Anoushka Varerkar D-57</a:t>
            </a:r>
          </a:p>
          <a:p>
            <a:endParaRPr lang="en-US" sz="3200" dirty="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062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497B6-C835-C802-BC61-08C318E1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D0AE5D1A-3EE5-66DE-E51B-ADB57F70C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2D9F1730-6D4F-A946-4FCC-F33510AC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4779B16B-4058-43DB-272F-FA6F5B1B9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9A7D678C-C7E0-0B2F-34DE-A3AA9BF7F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CAF1C52B-F76F-CFA4-FBF2-E9BED87D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058" name="Rectangle 1057">
            <a:extLst>
              <a:ext uri="{FF2B5EF4-FFF2-40B4-BE49-F238E27FC236}">
                <a16:creationId xmlns:a16="http://schemas.microsoft.com/office/drawing/2014/main" id="{6C9433AB-2BE5-AC79-6106-BFD903CD1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B9C04-B9F6-3534-8960-AEFD84C5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16" y="1244887"/>
            <a:ext cx="4495801" cy="7661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Streptokinase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A30713-1D01-8543-BE09-5895D13D5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48692" y="6175332"/>
            <a:ext cx="1686317" cy="225469"/>
          </a:xfr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r>
              <a:rPr lang="en-US" sz="3200" dirty="0">
                <a:solidFill>
                  <a:schemeClr val="tx1">
                    <a:alpha val="55000"/>
                  </a:schemeClr>
                </a:solidFill>
              </a:rPr>
              <a:t>Anoushka Varerkar A-18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6B31C-B74E-143E-7751-E609E583A6F6}"/>
              </a:ext>
            </a:extLst>
          </p:cNvPr>
          <p:cNvSpPr txBox="1"/>
          <p:nvPr/>
        </p:nvSpPr>
        <p:spPr>
          <a:xfrm>
            <a:off x="767216" y="1850799"/>
            <a:ext cx="48736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Streptokinase is used to dissolve blood clots that have formed in the blood vessels. It is used immediately after symptoms of a heart attack occur to improve patient survival. This medicine may also be used to treat blood clots in the lungs (pulmonary embolism) and in the legs (deep venous thrombosis).</a:t>
            </a:r>
          </a:p>
          <a:p>
            <a:endParaRPr lang="en-US" dirty="0"/>
          </a:p>
          <a:p>
            <a:r>
              <a:rPr lang="en-US" b="1" dirty="0"/>
              <a:t>Industry Example:</a:t>
            </a:r>
          </a:p>
          <a:p>
            <a:br>
              <a:rPr lang="en-US" dirty="0"/>
            </a:br>
            <a:r>
              <a:rPr lang="en-US" dirty="0"/>
              <a:t>Companies like </a:t>
            </a:r>
            <a:r>
              <a:rPr lang="en-US" b="1" dirty="0"/>
              <a:t>Sanofi, Cadila Pharmaceuticals, and Sun Pharma</a:t>
            </a:r>
            <a:r>
              <a:rPr lang="en-US" dirty="0"/>
              <a:t> manufacture streptokinase formulations.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BD90C0-1F66-6F3E-F451-6D8F749FCF11}"/>
              </a:ext>
            </a:extLst>
          </p:cNvPr>
          <p:cNvSpPr txBox="1">
            <a:spLocks/>
          </p:cNvSpPr>
          <p:nvPr/>
        </p:nvSpPr>
        <p:spPr>
          <a:xfrm>
            <a:off x="5849655" y="1244888"/>
            <a:ext cx="5885145" cy="7661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Manufacturing Process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30A5147-7B12-1EC3-A985-E7F4F954F9A8}"/>
              </a:ext>
            </a:extLst>
          </p:cNvPr>
          <p:cNvSpPr txBox="1">
            <a:spLocks/>
          </p:cNvSpPr>
          <p:nvPr/>
        </p:nvSpPr>
        <p:spPr>
          <a:xfrm>
            <a:off x="5836445" y="1850799"/>
            <a:ext cx="3932237" cy="409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It’s a 3-step process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4B66D-C7B8-A52B-AC14-B265DF1CAD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9"/>
          <a:stretch>
            <a:fillRect/>
          </a:stretch>
        </p:blipFill>
        <p:spPr>
          <a:xfrm>
            <a:off x="5786018" y="2280359"/>
            <a:ext cx="5516982" cy="383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9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27874-9008-9FEF-318F-16EF5836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BE3D5452-CD94-87F7-2CEE-01A9862F0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A7427CD6-9C91-E6DA-097D-50CA638C9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26E4881B-BAE9-E6D1-DE81-B1F7A4B86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496F9511-5801-1308-7DCC-C6FD62F75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D8446319-62E1-350E-7BF7-DD459A636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058" name="Rectangle 1057">
            <a:extLst>
              <a:ext uri="{FF2B5EF4-FFF2-40B4-BE49-F238E27FC236}">
                <a16:creationId xmlns:a16="http://schemas.microsoft.com/office/drawing/2014/main" id="{254DF736-917F-2D21-8092-C01CC005C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EDFAF-A248-95D2-00C2-45C42E9B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18" y="910226"/>
            <a:ext cx="4495801" cy="7661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Final Product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D2BB7B-0846-DD4E-E2ED-7A6A4A025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530" y="1572779"/>
            <a:ext cx="4857879" cy="3533647"/>
          </a:xfrm>
        </p:spPr>
        <p:txBody>
          <a:bodyPr>
            <a:normAutofit/>
          </a:bodyPr>
          <a:lstStyle/>
          <a:p>
            <a:r>
              <a:rPr lang="en-US" sz="2000" b="1" dirty="0"/>
              <a:t>Final Product:</a:t>
            </a:r>
            <a:r>
              <a:rPr lang="en-US" sz="2000" dirty="0"/>
              <a:t> Streptokinase Injection (Clot-buster)</a:t>
            </a:r>
          </a:p>
          <a:p>
            <a:r>
              <a:rPr lang="en-US" sz="2000" b="1" dirty="0"/>
              <a:t>Industrial Applications:</a:t>
            </a:r>
            <a:endParaRPr lang="en-US" sz="2000" dirty="0"/>
          </a:p>
          <a:p>
            <a:r>
              <a:rPr lang="en-US" sz="2000" b="1" dirty="0"/>
              <a:t>Cardiology</a:t>
            </a:r>
            <a:r>
              <a:rPr lang="en-US" sz="2000" dirty="0"/>
              <a:t>: Heart attack treatment (restores blood flow).</a:t>
            </a:r>
          </a:p>
          <a:p>
            <a:r>
              <a:rPr lang="en-US" sz="2000" b="1" dirty="0"/>
              <a:t>Pulmonology</a:t>
            </a:r>
            <a:r>
              <a:rPr lang="en-US" sz="2000" dirty="0"/>
              <a:t>: Dissolves pulmonary emboli.</a:t>
            </a:r>
          </a:p>
          <a:p>
            <a:r>
              <a:rPr lang="en-US" sz="2000" b="1" dirty="0"/>
              <a:t>Emergency medicine</a:t>
            </a:r>
            <a:r>
              <a:rPr lang="en-US" sz="2000" dirty="0"/>
              <a:t>: First-line therapy in hospitals worldwide.</a:t>
            </a:r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9" name="Picture 4" descr="Stpase Streptokinase Injection 1500000IU | Buy Prescription &amp; OTC Drugs">
            <a:extLst>
              <a:ext uri="{FF2B5EF4-FFF2-40B4-BE49-F238E27FC236}">
                <a16:creationId xmlns:a16="http://schemas.microsoft.com/office/drawing/2014/main" id="{437F77F7-7052-0BC3-F91C-A0002F7F1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71500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82077B-002C-98AB-476B-D5BE787FB51C}"/>
              </a:ext>
            </a:extLst>
          </p:cNvPr>
          <p:cNvSpPr txBox="1"/>
          <p:nvPr/>
        </p:nvSpPr>
        <p:spPr>
          <a:xfrm>
            <a:off x="6253165" y="5945654"/>
            <a:ext cx="5594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dirty="0"/>
          </a:p>
          <a:p>
            <a:r>
              <a:rPr lang="en-IN" sz="1200" dirty="0">
                <a:hlinkClick r:id="rId3"/>
              </a:rPr>
              <a:t>https://www.drugssquare.com/others/stpase-1500000iu-injection/</a:t>
            </a:r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1234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98DAF-7FCF-82FB-93A2-C70FF1EB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2D1AD0D-881C-7B9F-5493-D00FF8398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25ED48FB-4965-E3CA-F9A3-2DB0F1C12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3FD5DEF0-66F4-AFE8-FE3A-7195C180F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F1CEE779-5673-DF6F-49DE-08F13BF24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F279BD9A-634E-B71B-4459-7E3ADB303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058" name="Rectangle 1057">
            <a:extLst>
              <a:ext uri="{FF2B5EF4-FFF2-40B4-BE49-F238E27FC236}">
                <a16:creationId xmlns:a16="http://schemas.microsoft.com/office/drawing/2014/main" id="{1B2A7B0D-D10F-CB30-6985-4285885EA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F2533-FC22-C515-D9B4-BB063ECB0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72" y="731837"/>
            <a:ext cx="10571251" cy="7661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Role  of Computer Engineers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E0E5E73-265B-3639-F2E9-9C5E6F262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2418" y="2293306"/>
            <a:ext cx="3932237" cy="2654475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35DD485-B67B-A3DD-9388-878BBC6A6E89}"/>
              </a:ext>
            </a:extLst>
          </p:cNvPr>
          <p:cNvSpPr txBox="1">
            <a:spLocks/>
          </p:cNvSpPr>
          <p:nvPr/>
        </p:nvSpPr>
        <p:spPr>
          <a:xfrm>
            <a:off x="627603" y="1395661"/>
            <a:ext cx="10936787" cy="44497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Computer engineers contribute significantly to pharmaceutical enzyme production:</a:t>
            </a:r>
            <a:b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IoT-based Process Automation: </a:t>
            </a:r>
            <a:r>
              <a:rPr lang="en-IN" dirty="0">
                <a:solidFill>
                  <a:sysClr val="windowText" lastClr="000000"/>
                </a:solidFill>
                <a:latin typeface="Calibri"/>
              </a:rPr>
              <a:t>Using sensors to sense, detect, and control the manufacturing process.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Supervising bioreactors and fermentation using control systems.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Data Analysis: Monitoring pH, temperature, oxygen levels, and enzyme yield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Quality Control: Using AI/ML models to detect anomalies and ensure product consistency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Cybersecurity: Protecting sensitive pharma production data and systems</a:t>
            </a:r>
          </a:p>
        </p:txBody>
      </p:sp>
    </p:spTree>
    <p:extLst>
      <p:ext uri="{BB962C8B-B14F-4D97-AF65-F5344CB8AC3E}">
        <p14:creationId xmlns:p14="http://schemas.microsoft.com/office/powerpoint/2010/main" val="1948085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8D4A9-A778-0290-C2F6-7198F60C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C134830-C9AA-362A-89DC-FB679627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90AA3D30-9FFB-A921-9290-98A221812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B9431A86-2D1E-4B4D-40E7-04C4B58A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9B2FC414-A969-E85F-031D-E7BE58588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226F1C60-2F4C-AA6A-E87A-FAFDEFD3F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058" name="Rectangle 1057">
            <a:extLst>
              <a:ext uri="{FF2B5EF4-FFF2-40B4-BE49-F238E27FC236}">
                <a16:creationId xmlns:a16="http://schemas.microsoft.com/office/drawing/2014/main" id="{BBE91127-54BE-B101-25E3-1CF1A8803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F5663-66F4-F3D5-5D8A-7D4C9D381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72" y="910225"/>
            <a:ext cx="10571251" cy="7661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References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C4733B2-472A-4DBB-9EA5-E7E798570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2418" y="2293306"/>
            <a:ext cx="3932237" cy="2654475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D03502-A699-FC31-4D5C-843EDF5BDC11}"/>
              </a:ext>
            </a:extLst>
          </p:cNvPr>
          <p:cNvSpPr txBox="1">
            <a:spLocks/>
          </p:cNvSpPr>
          <p:nvPr/>
        </p:nvSpPr>
        <p:spPr>
          <a:xfrm>
            <a:off x="612210" y="1676400"/>
            <a:ext cx="10936787" cy="44497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dirty="0">
                <a:solidFill>
                  <a:sysClr val="windowText" lastClr="000000"/>
                </a:solidFill>
                <a:latin typeface="Calibri"/>
                <a:hlinkClick r:id="rId2"/>
              </a:rPr>
              <a:t>https://www.sciencedirect.com/topics/biochemistry-genetics-and-molecular-biology/streptokinase</a:t>
            </a:r>
            <a:endParaRPr lang="en-IN" dirty="0">
              <a:solidFill>
                <a:sysClr val="windowText" lastClr="000000"/>
              </a:solidFill>
              <a:latin typeface="Calibri"/>
            </a:endParaRPr>
          </a:p>
          <a:p>
            <a:pPr>
              <a:defRPr/>
            </a:pPr>
            <a:r>
              <a:rPr lang="en-IN" dirty="0">
                <a:solidFill>
                  <a:sysClr val="windowText" lastClr="000000"/>
                </a:solidFill>
                <a:latin typeface="Calibri"/>
                <a:hlinkClick r:id="rId3"/>
              </a:rPr>
              <a:t>https://en.wikipedia.org/wiki/Streptokinase</a:t>
            </a:r>
            <a:endParaRPr lang="en-IN" dirty="0">
              <a:solidFill>
                <a:sysClr val="windowText" lastClr="000000"/>
              </a:solidFill>
              <a:latin typeface="Calibri"/>
            </a:endParaRPr>
          </a:p>
          <a:p>
            <a:pPr>
              <a:defRPr/>
            </a:pPr>
            <a:r>
              <a:rPr lang="en-IN" dirty="0">
                <a:solidFill>
                  <a:sysClr val="windowText" lastClr="000000"/>
                </a:solidFill>
                <a:latin typeface="Calibri"/>
                <a:hlinkClick r:id="rId4"/>
              </a:rPr>
              <a:t>https://www.mayoclinic.org/drugs-supplements/streptokinase-intravenous-route-intracoronary-route/description/drg-20070834</a:t>
            </a:r>
            <a:endParaRPr lang="en-IN" dirty="0">
              <a:solidFill>
                <a:sysClr val="windowText" lastClr="000000"/>
              </a:solidFill>
              <a:latin typeface="Calibri"/>
            </a:endParaRPr>
          </a:p>
          <a:p>
            <a:pPr>
              <a:defRPr/>
            </a:pPr>
            <a:r>
              <a:rPr lang="en-IN" dirty="0">
                <a:solidFill>
                  <a:sysClr val="windowText" lastClr="000000"/>
                </a:solidFill>
                <a:latin typeface="Calibri"/>
                <a:hlinkClick r:id="rId5"/>
              </a:rPr>
              <a:t>https://www.drugssquare.com/others/stpase-1500000iu-injection/</a:t>
            </a:r>
            <a:endParaRPr lang="en-IN" dirty="0">
              <a:solidFill>
                <a:sysClr val="windowText" lastClr="000000"/>
              </a:solidFill>
              <a:latin typeface="Calibri"/>
            </a:endParaRPr>
          </a:p>
          <a:p>
            <a:pPr>
              <a:defRPr/>
            </a:pPr>
            <a:r>
              <a:rPr lang="en-IN" dirty="0">
                <a:solidFill>
                  <a:sysClr val="windowText" lastClr="000000"/>
                </a:solidFill>
                <a:latin typeface="Calibri"/>
                <a:hlinkClick r:id="rId6"/>
              </a:rPr>
              <a:t>https://www.slideshare.net/slideshow/streptokinase-66365127/66365127</a:t>
            </a:r>
            <a:endParaRPr lang="en-IN" dirty="0">
              <a:solidFill>
                <a:sysClr val="windowText" lastClr="000000"/>
              </a:solidFill>
              <a:latin typeface="Calibri"/>
            </a:endParaRPr>
          </a:p>
          <a:p>
            <a:pPr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25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75D18-F45D-7F1D-5901-32BA22CED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A70EC396-7183-5CFD-24B0-E7E7C49F5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83E49C23-61A7-6718-7164-7EA71F380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140D6957-832B-B82F-11AA-08C8725C3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78E008D4-7E18-DABA-285E-4B2D93487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38D03FBD-14D0-0730-269A-B81A3F5C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058" name="Rectangle 1057">
            <a:extLst>
              <a:ext uri="{FF2B5EF4-FFF2-40B4-BE49-F238E27FC236}">
                <a16:creationId xmlns:a16="http://schemas.microsoft.com/office/drawing/2014/main" id="{072D41D7-CB01-3240-B017-9665D15C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171F0-61C6-F4EF-9869-C33BC489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72" y="2830013"/>
            <a:ext cx="10571251" cy="76617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029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286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Streptokinase</vt:lpstr>
      <vt:lpstr>Streptokinase</vt:lpstr>
      <vt:lpstr>Final Product</vt:lpstr>
      <vt:lpstr>Role  of Computer Engineers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Anoushka Varerkar</dc:creator>
  <cp:lastModifiedBy>Anoushka Varerkar</cp:lastModifiedBy>
  <cp:revision>9</cp:revision>
  <dcterms:created xsi:type="dcterms:W3CDTF">2025-09-05T05:48:30Z</dcterms:created>
  <dcterms:modified xsi:type="dcterms:W3CDTF">2025-09-15T18:34:07Z</dcterms:modified>
</cp:coreProperties>
</file>