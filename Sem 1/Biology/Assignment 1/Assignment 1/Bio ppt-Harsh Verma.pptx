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Century Gothic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qj3cQzVVaTWUEtYb/PEi/VdYX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Gothic-italic.fntdata"/><Relationship Id="rId10" Type="http://schemas.openxmlformats.org/officeDocument/2006/relationships/font" Target="fonts/CenturyGothic-bold.fntdata"/><Relationship Id="rId13" Type="http://customschemas.google.com/relationships/presentationmetadata" Target="metadata"/><Relationship Id="rId12" Type="http://schemas.openxmlformats.org/officeDocument/2006/relationships/font" Target="fonts/CenturyGothic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CenturyGothic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6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7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8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10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0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3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4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1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9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 txBox="1"/>
          <p:nvPr>
            <p:ph type="ctrTitle"/>
          </p:nvPr>
        </p:nvSpPr>
        <p:spPr>
          <a:xfrm>
            <a:off x="1741599" y="1602557"/>
            <a:ext cx="8708797" cy="261122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ct val="100000"/>
              <a:buFont typeface="Century Gothic"/>
              <a:buNone/>
            </a:pPr>
            <a:r>
              <a:rPr lang="en-US" sz="6000"/>
              <a:t>Enzymatic Processes in Industrial Production &amp; its application</a:t>
            </a:r>
            <a:endParaRPr sz="6000"/>
          </a:p>
        </p:txBody>
      </p:sp>
      <p:sp>
        <p:nvSpPr>
          <p:cNvPr id="116" name="Google Shape;116;p1"/>
          <p:cNvSpPr txBox="1"/>
          <p:nvPr>
            <p:ph idx="1" type="subTitle"/>
          </p:nvPr>
        </p:nvSpPr>
        <p:spPr>
          <a:xfrm>
            <a:off x="3681657" y="468267"/>
            <a:ext cx="4679918" cy="81377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Biomolecules and Enzymes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8851769" y="5335572"/>
            <a:ext cx="298992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Name- Harsh Ravi Verma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Branch- Comps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Div- D Sr.no- 59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type="title"/>
          </p:nvPr>
        </p:nvSpPr>
        <p:spPr>
          <a:xfrm>
            <a:off x="226242" y="234650"/>
            <a:ext cx="9939779" cy="105682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n-US" sz="5400"/>
              <a:t>CELLULASE</a:t>
            </a:r>
            <a:endParaRPr/>
          </a:p>
        </p:txBody>
      </p:sp>
      <p:sp>
        <p:nvSpPr>
          <p:cNvPr id="123" name="Google Shape;123;p2"/>
          <p:cNvSpPr txBox="1"/>
          <p:nvPr>
            <p:ph idx="1" type="body"/>
          </p:nvPr>
        </p:nvSpPr>
        <p:spPr>
          <a:xfrm>
            <a:off x="0" y="2060776"/>
            <a:ext cx="12188397" cy="489149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Cellulase is a complex enzyme or a mixture of enzymes produced by microorganisms like fungi and bacteria that breaks down cellulose, a major component of plant cell walls, into simpler sugars.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Cellulase acts as a biocatalyst to facilitate the hydrolysis (breaking) of cellulose into simpler sugars like glucose and shorter polysaccharides.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Noto Sans Symbols"/>
              <a:buChar char="❑"/>
            </a:pPr>
            <a:r>
              <a:rPr b="1" i="0" lang="en-US" sz="3000" u="sng" cap="none" strike="noStrike">
                <a:latin typeface="Arial"/>
                <a:ea typeface="Arial"/>
                <a:cs typeface="Arial"/>
                <a:sym typeface="Arial"/>
              </a:rPr>
              <a:t>Industrial Applications-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i="0" sz="1300" u="sng" cap="none" strike="noStrike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b="1" i="0" lang="en-US" sz="1900" u="none" cap="none" strike="noStrike">
                <a:latin typeface="Arial"/>
                <a:ea typeface="Arial"/>
                <a:cs typeface="Arial"/>
                <a:sym typeface="Arial"/>
              </a:rPr>
              <a:t>Biofuels:</a:t>
            </a:r>
            <a:r>
              <a:rPr b="0" i="0" lang="en-US" sz="1900" u="none" cap="none" strike="noStrike">
                <a:latin typeface="Arial"/>
                <a:ea typeface="Arial"/>
                <a:cs typeface="Arial"/>
                <a:sym typeface="Arial"/>
              </a:rPr>
              <a:t> It converts cellulosic biomass into fuels and energy.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b="1" i="0" lang="en-US" sz="1900" u="none" cap="none" strike="noStrike">
                <a:latin typeface="Arial"/>
                <a:ea typeface="Arial"/>
                <a:cs typeface="Arial"/>
                <a:sym typeface="Arial"/>
              </a:rPr>
              <a:t>Textiles:</a:t>
            </a:r>
            <a:r>
              <a:rPr b="0" i="0" lang="en-US" sz="1900" u="none" cap="none" strike="noStrike">
                <a:latin typeface="Arial"/>
                <a:ea typeface="Arial"/>
                <a:cs typeface="Arial"/>
                <a:sym typeface="Arial"/>
              </a:rPr>
              <a:t> Used for fabric maintenance, quality enhancement, and environmentally friendly textile processing. 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b="1" i="0" lang="en-US" sz="1900" u="none" cap="none" strike="noStrike">
                <a:latin typeface="Arial"/>
                <a:ea typeface="Arial"/>
                <a:cs typeface="Arial"/>
                <a:sym typeface="Arial"/>
              </a:rPr>
              <a:t>Animal Feed:</a:t>
            </a:r>
            <a:r>
              <a:rPr b="0" i="0" lang="en-US" sz="1900" u="none" cap="none" strike="noStrike">
                <a:latin typeface="Arial"/>
                <a:ea typeface="Arial"/>
                <a:cs typeface="Arial"/>
                <a:sym typeface="Arial"/>
              </a:rPr>
              <a:t> Improves the consistency and digestibility of animal feed.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b="1" i="0" lang="en-US" sz="1900" u="none" cap="none" strike="noStrike">
                <a:latin typeface="Arial"/>
                <a:ea typeface="Arial"/>
                <a:cs typeface="Arial"/>
                <a:sym typeface="Arial"/>
              </a:rPr>
              <a:t>Agriculture:</a:t>
            </a:r>
            <a:r>
              <a:rPr b="0" i="0" lang="en-US" sz="1900" u="none" cap="none" strike="noStrike">
                <a:latin typeface="Arial"/>
                <a:ea typeface="Arial"/>
                <a:cs typeface="Arial"/>
                <a:sym typeface="Arial"/>
              </a:rPr>
              <a:t> Essential for recycling cellulose in the biosphere and for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0" i="0" lang="en-US" sz="1900" u="none" cap="none" strike="noStrike">
                <a:latin typeface="Arial"/>
                <a:ea typeface="Arial"/>
                <a:cs typeface="Arial"/>
                <a:sym typeface="Arial"/>
              </a:rPr>
              <a:t>       utilizing lignocellulosic biomass. 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Char char="❑"/>
            </a:pPr>
            <a:r>
              <a:rPr b="1" lang="en-US" sz="2800" u="sng">
                <a:latin typeface="Arial"/>
                <a:ea typeface="Arial"/>
                <a:cs typeface="Arial"/>
                <a:sym typeface="Arial"/>
              </a:rPr>
              <a:t>Conditions –</a:t>
            </a:r>
            <a:endParaRPr/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The optimal temperature is generally 45-50 °C </a:t>
            </a:r>
            <a:endParaRPr/>
          </a:p>
          <a:p>
            <a:pPr indent="-285750" lvl="0" marL="285750" rtl="0" algn="l">
              <a:spcBef>
                <a:spcPts val="98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The optimal pH is around 4.5-5.5.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65100" lvl="0" marL="285750" rtl="0" algn="l">
              <a:spcBef>
                <a:spcPts val="980"/>
              </a:spcBef>
              <a:spcAft>
                <a:spcPts val="0"/>
              </a:spcAft>
              <a:buSzPts val="1900"/>
              <a:buFont typeface="Noto Sans Symbols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0" y="-234649"/>
            <a:ext cx="65" cy="469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6950" lIns="0" spcFirstLastPara="1" rIns="0" wrap="square" tIns="63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2"/>
          <p:cNvPicPr preferRelativeResize="0"/>
          <p:nvPr/>
        </p:nvPicPr>
        <p:blipFill rotWithShape="1">
          <a:blip r:embed="rId3">
            <a:alphaModFix/>
          </a:blip>
          <a:srcRect b="37709" l="0" r="0" t="0"/>
          <a:stretch/>
        </p:blipFill>
        <p:spPr>
          <a:xfrm>
            <a:off x="7842638" y="4597869"/>
            <a:ext cx="4261377" cy="218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>
            <p:ph idx="1" type="body"/>
          </p:nvPr>
        </p:nvSpPr>
        <p:spPr>
          <a:xfrm>
            <a:off x="127263" y="1979629"/>
            <a:ext cx="11840065" cy="471836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❑"/>
            </a:pPr>
            <a:r>
              <a:rPr lang="en-US" sz="1600"/>
              <a:t>Biofuels are fuels derived from biomass, such as plants, waste, and algae, and are a renewable alternative to fossil fuels, used for transportation and energy. Common examples include bioethanol (produced from sugar, starch, or cellulose) and biodiesel (from oils and animal fats).</a:t>
            </a:r>
            <a:endParaRPr/>
          </a:p>
          <a:p>
            <a:pPr indent="-285750" lvl="0" marL="285750" rtl="0" algn="l">
              <a:spcBef>
                <a:spcPts val="920"/>
              </a:spcBef>
              <a:spcAft>
                <a:spcPts val="0"/>
              </a:spcAft>
              <a:buSzPts val="1600"/>
              <a:buFont typeface="Noto Sans Symbols"/>
              <a:buChar char="❑"/>
            </a:pPr>
            <a:r>
              <a:rPr lang="en-US" sz="1600"/>
              <a:t> Biofuels can reduce greenhouse gas emissions and enhance energy security, though their production can face challenges, such as competition with food crops or the need for advanced conversion technologies.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600"/>
              <a:buNone/>
            </a:pPr>
            <a:r>
              <a:rPr b="1" lang="en-US" sz="1600" u="sng">
                <a:latin typeface="Arial"/>
                <a:ea typeface="Arial"/>
                <a:cs typeface="Arial"/>
                <a:sym typeface="Arial"/>
              </a:rPr>
              <a:t>HOW IS IT PRODUCED?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In the biofuels industry, cellulase enzymes break down complex lignocellulosic biomass into simpler fermentable sugars. This critical step, known as enzymatic hydrolysis or saccharification.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i="0" lang="en-US" sz="1600" cap="none" strike="noStrike">
                <a:latin typeface="Arial"/>
                <a:ea typeface="Arial"/>
                <a:cs typeface="Arial"/>
                <a:sym typeface="Arial"/>
              </a:rPr>
              <a:t>Hydrolysis of Cellulose:Cellulases hydrolyze (breaks down) cellulose, the main component of plant cell walls, into glucose molecules.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i="0" lang="en-US" sz="1600" cap="none" strike="noStrike">
                <a:latin typeface="Arial"/>
                <a:ea typeface="Arial"/>
                <a:cs typeface="Arial"/>
                <a:sym typeface="Arial"/>
              </a:rPr>
              <a:t>Multi-Enzyme System:A cocktail of cellulase enzymes is typically used: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i="0" lang="en-US" sz="1600" cap="none" strike="noStrike">
                <a:latin typeface="Arial"/>
                <a:ea typeface="Arial"/>
                <a:cs typeface="Arial"/>
                <a:sym typeface="Arial"/>
              </a:rPr>
              <a:t>Endoglucanases create initial breaks in the long cellulose chains.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i="0" lang="en-US" sz="1600" cap="none" strike="noStrike">
                <a:latin typeface="Arial"/>
                <a:ea typeface="Arial"/>
                <a:cs typeface="Arial"/>
                <a:sym typeface="Arial"/>
              </a:rPr>
              <a:t>Exoglucanases then cleave cellobiose units from the ends of these chains.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i="0" lang="en-US" sz="1600" cap="none" strike="noStrike">
                <a:latin typeface="Arial"/>
                <a:ea typeface="Arial"/>
                <a:cs typeface="Arial"/>
                <a:sym typeface="Arial"/>
              </a:rPr>
              <a:t>β-glucosidase breaks down cellobiose into glucose, which is then readily fermentable. 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69683" y="89654"/>
            <a:ext cx="9021452" cy="175432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b="1" lang="en-US" sz="54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BIOFUELS- INDUSTRIAL PRODUCT OF CELLULASE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113122" y="186016"/>
            <a:ext cx="9402452" cy="662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ct val="100000"/>
              <a:buFont typeface="Century Gothic"/>
              <a:buNone/>
            </a:pPr>
            <a:r>
              <a:rPr lang="en-US"/>
              <a:t>Reference Slide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03695" y="1841242"/>
            <a:ext cx="11984610" cy="4124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Image Link- </a:t>
            </a:r>
            <a:r>
              <a:rPr lang="en-U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ttps://www.google.com/imgres?q=cellulase%20enzyme%20in%20biofuels&amp;imgurl=https%3A%2F%2Fmedia.springernature.com%2Flw685%2Fspringer-static%2Fimage%2Fart%253A10.1007%252Fs12155-022-10431-3%2FMediaObjects%2F12155_2022_10431_Fig1_HTML.png&amp;imgrefurl=https%3A%2F%2Flink.springer.com%2Farticle%2F10.1007%2Fs12155-022-10431-3&amp;docid=j0w3sj5y7ZhqFM&amp;tbnid=vCIP_8CWr2jdIM&amp;vet=12ahUKEwjrq6iuk86PAxUp4zgGHYAIB4UQM3oECBgQAA..i&amp;w=685&amp;h=694&amp;hcb=2&amp;ved=2ahUKEwjrq6iuk86PAxUp4zgGHYAIB4UQM3oECBgQA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Cellulase Information-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ttps://www.google.com/search?q=cellulase+&amp;sca_esv=83d0c91f956a6f84&amp;rlz=1C1JZAP_enIN851IN852&amp;sxsrf=AE3TifOw5Z8b8sfWIw0YZPQ37zrq5-BtNA%3A1757506164651&amp;ei=dGrBaLzAJ-CI4-EPlcKoWQ&amp;ved=0ahUKEwi8yonVlM6PAxVgxDgGHRUhKgsQ4dUDCBA&amp;uact=5&amp;oq=cellulase+&amp;gs_lp=Egxnd3Mtd2l6LXNlcnAiCmNlbGx1bGFzZSAyBBAjGCcyBxAjGPAFGCcyChAjGPAFGCcYyQIyChAAGIAEGEMYigUyCxAAGIAEGJECGIoFMgsQABiABBiRAhiKBTILEAAYgAQYkQIYigUyCxAAGIAEGJECGIoFMgoQABiABBgUGIcCMgUQABiABEihB1DvBFjvBHABeACQAQCYAaIBoAGkAqoBAzAuMrgBA8gBAPgBAZgCAqACsgHCAgoQABiwAxjWBBhHmAMAiAYBkAYIkgcDMS4xoAeVELIHAzAuMbgHqgHCBwMyLTLIBw0&amp;sclient=gws-wiz-ser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Biofuels Information-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ttps://www.google.com/search?sca_esv=fc0fadca8d161a09&amp;rlz=1C1JZAP_enIN851IN852&amp;sxsrf=AE3TifN23_IEdDPInNoq7Cq3nqV5eaJG3g:1757506419427&amp;q=cellulase+enzyme+function+in+biofuels&amp;source=lnms&amp;fbs=AIIjpHz2LkAPJDdeiKYzFgacvjxVCCXt2_rn5WCap3LXcg4MWimX5xVC8lXXVk1dsWFqCuMBXzaZ9L1RrKpOjqyAEIMcV9UQ02cZh7wskfH6H9SPSqXY2VwFTVv6T9SVLStNW9P4h337sLzfXGhu8DmzjnDhO9O7Z2yfnrTQt4Wt0Jf9aWFRxAiioihlydtIVqkrlWDMxdhbSLG_k3lI-9eRAaKsy4SW-NDinwU8vOv2ZbIaghl9Dv4&amp;sa=X&amp;ved=2ahUKEwjA4MfOlc6PAxUz4zgGHUCOFssQ0pQJegQIChAB&amp;biw=1536&amp;bih=695&amp;dpr=1.25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2025-09-05T09:09:49Z</dcterms:created>
  <dc:creator>RAVI VERMA</dc:creator>
</cp:coreProperties>
</file>