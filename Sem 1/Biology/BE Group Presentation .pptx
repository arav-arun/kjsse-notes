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lice" pitchFamily="2" charset="77"/>
      <p:regular r:id="rId19"/>
    </p:embeddedFont>
    <p:embeddedFont>
      <p:font typeface="Alice Bold" pitchFamily="2" charset="77"/>
      <p:regular r:id="rId20"/>
      <p:bold r:id="rId21"/>
    </p:embeddedFont>
    <p:embeddedFont>
      <p:font typeface="Canva Sans" panose="020B0503030501040103" pitchFamily="34" charset="0"/>
      <p:regular r:id="rId22"/>
    </p:embeddedFont>
    <p:embeddedFont>
      <p:font typeface="Canva Sans Bold" panose="020B0803030501040103" pitchFamily="34" charset="0"/>
      <p:regular r:id="rId23"/>
      <p:bold r:id="rId24"/>
    </p:embeddedFont>
    <p:embeddedFont>
      <p:font typeface="Horizon" panose="02000500000000000000" pitchFamily="2" charset="7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3/5/2509" TargetMode="External"/><Relationship Id="rId3" Type="http://schemas.openxmlformats.org/officeDocument/2006/relationships/hyperlink" Target="https://en.wikipedia.org/wiki/Chemical_sensor" TargetMode="External"/><Relationship Id="rId7" Type="http://schemas.openxmlformats.org/officeDocument/2006/relationships/hyperlink" Target="https://www.nature.com/articles/s41570-021-00272-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topics/chemistry/electrochemical-sensor" TargetMode="External"/><Relationship Id="rId5" Type="http://schemas.openxmlformats.org/officeDocument/2006/relationships/hyperlink" Target="https://www.azosensors.com/article.aspx?ArticleID=3120&amp;utm_source=chatgpt.com" TargetMode="External"/><Relationship Id="rId10" Type="http://schemas.openxmlformats.org/officeDocument/2006/relationships/hyperlink" Target="https://www.nature.com/articles/s41928-022-00738-5" TargetMode="External"/><Relationship Id="rId4" Type="http://schemas.openxmlformats.org/officeDocument/2006/relationships/hyperlink" Target="https://en.wikipedia.org/wiki/Biosensor" TargetMode="External"/><Relationship Id="rId9" Type="http://schemas.openxmlformats.org/officeDocument/2006/relationships/hyperlink" Target="https://www.sciencedirect.com/science/article/pii/S09254005210091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77180" y="1213418"/>
            <a:ext cx="9202700" cy="3884695"/>
            <a:chOff x="0" y="0"/>
            <a:chExt cx="633833" cy="267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3833" cy="267557"/>
            </a:xfrm>
            <a:custGeom>
              <a:avLst/>
              <a:gdLst/>
              <a:ahLst/>
              <a:cxnLst/>
              <a:rect l="l" t="t" r="r" b="b"/>
              <a:pathLst>
                <a:path w="633833" h="267557">
                  <a:moveTo>
                    <a:pt x="32862" y="0"/>
                  </a:moveTo>
                  <a:lnTo>
                    <a:pt x="600971" y="0"/>
                  </a:lnTo>
                  <a:cubicBezTo>
                    <a:pt x="609686" y="0"/>
                    <a:pt x="618045" y="3462"/>
                    <a:pt x="624208" y="9625"/>
                  </a:cubicBezTo>
                  <a:cubicBezTo>
                    <a:pt x="630370" y="15788"/>
                    <a:pt x="633833" y="24146"/>
                    <a:pt x="633833" y="32862"/>
                  </a:cubicBezTo>
                  <a:lnTo>
                    <a:pt x="633833" y="234695"/>
                  </a:lnTo>
                  <a:cubicBezTo>
                    <a:pt x="633833" y="243411"/>
                    <a:pt x="630370" y="251769"/>
                    <a:pt x="624208" y="257932"/>
                  </a:cubicBezTo>
                  <a:cubicBezTo>
                    <a:pt x="618045" y="264095"/>
                    <a:pt x="609686" y="267557"/>
                    <a:pt x="600971" y="267557"/>
                  </a:cubicBezTo>
                  <a:lnTo>
                    <a:pt x="32862" y="267557"/>
                  </a:lnTo>
                  <a:cubicBezTo>
                    <a:pt x="24146" y="267557"/>
                    <a:pt x="15788" y="264095"/>
                    <a:pt x="9625" y="257932"/>
                  </a:cubicBezTo>
                  <a:cubicBezTo>
                    <a:pt x="3462" y="251769"/>
                    <a:pt x="0" y="243411"/>
                    <a:pt x="0" y="234695"/>
                  </a:cubicBezTo>
                  <a:lnTo>
                    <a:pt x="0" y="32862"/>
                  </a:lnTo>
                  <a:cubicBezTo>
                    <a:pt x="0" y="24146"/>
                    <a:pt x="3462" y="15788"/>
                    <a:pt x="9625" y="9625"/>
                  </a:cubicBezTo>
                  <a:cubicBezTo>
                    <a:pt x="15788" y="3462"/>
                    <a:pt x="24146" y="0"/>
                    <a:pt x="32862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3833" cy="305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7180" y="5304715"/>
            <a:ext cx="9202700" cy="1438985"/>
            <a:chOff x="0" y="0"/>
            <a:chExt cx="645436" cy="2568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5436" cy="256871"/>
            </a:xfrm>
            <a:custGeom>
              <a:avLst/>
              <a:gdLst/>
              <a:ahLst/>
              <a:cxnLst/>
              <a:rect l="l" t="t" r="r" b="b"/>
              <a:pathLst>
                <a:path w="645436" h="256871">
                  <a:moveTo>
                    <a:pt x="32862" y="0"/>
                  </a:moveTo>
                  <a:lnTo>
                    <a:pt x="612574" y="0"/>
                  </a:lnTo>
                  <a:cubicBezTo>
                    <a:pt x="621290" y="0"/>
                    <a:pt x="629649" y="3462"/>
                    <a:pt x="635811" y="9625"/>
                  </a:cubicBezTo>
                  <a:cubicBezTo>
                    <a:pt x="641974" y="15788"/>
                    <a:pt x="645436" y="24146"/>
                    <a:pt x="645436" y="32862"/>
                  </a:cubicBezTo>
                  <a:lnTo>
                    <a:pt x="645436" y="224009"/>
                  </a:lnTo>
                  <a:cubicBezTo>
                    <a:pt x="645436" y="242158"/>
                    <a:pt x="630724" y="256871"/>
                    <a:pt x="612574" y="256871"/>
                  </a:cubicBezTo>
                  <a:lnTo>
                    <a:pt x="32862" y="256871"/>
                  </a:lnTo>
                  <a:cubicBezTo>
                    <a:pt x="24146" y="256871"/>
                    <a:pt x="15788" y="253409"/>
                    <a:pt x="9625" y="247246"/>
                  </a:cubicBezTo>
                  <a:cubicBezTo>
                    <a:pt x="3462" y="241083"/>
                    <a:pt x="0" y="232725"/>
                    <a:pt x="0" y="224009"/>
                  </a:cubicBezTo>
                  <a:lnTo>
                    <a:pt x="0" y="32862"/>
                  </a:lnTo>
                  <a:cubicBezTo>
                    <a:pt x="0" y="24146"/>
                    <a:pt x="3462" y="15788"/>
                    <a:pt x="9625" y="9625"/>
                  </a:cubicBezTo>
                  <a:cubicBezTo>
                    <a:pt x="15788" y="3462"/>
                    <a:pt x="24146" y="0"/>
                    <a:pt x="32862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45436" cy="294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43189" y="1213418"/>
            <a:ext cx="5869821" cy="7776905"/>
            <a:chOff x="0" y="0"/>
            <a:chExt cx="404282" cy="5356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4282" cy="535632"/>
            </a:xfrm>
            <a:custGeom>
              <a:avLst/>
              <a:gdLst/>
              <a:ahLst/>
              <a:cxnLst/>
              <a:rect l="l" t="t" r="r" b="b"/>
              <a:pathLst>
                <a:path w="404282" h="535632">
                  <a:moveTo>
                    <a:pt x="51521" y="0"/>
                  </a:moveTo>
                  <a:lnTo>
                    <a:pt x="352761" y="0"/>
                  </a:lnTo>
                  <a:cubicBezTo>
                    <a:pt x="381215" y="0"/>
                    <a:pt x="404282" y="23067"/>
                    <a:pt x="404282" y="51521"/>
                  </a:cubicBezTo>
                  <a:lnTo>
                    <a:pt x="404282" y="484111"/>
                  </a:lnTo>
                  <a:cubicBezTo>
                    <a:pt x="404282" y="497775"/>
                    <a:pt x="398854" y="510879"/>
                    <a:pt x="389192" y="520541"/>
                  </a:cubicBezTo>
                  <a:cubicBezTo>
                    <a:pt x="379530" y="530203"/>
                    <a:pt x="366425" y="535632"/>
                    <a:pt x="352761" y="535632"/>
                  </a:cubicBezTo>
                  <a:lnTo>
                    <a:pt x="51521" y="535632"/>
                  </a:lnTo>
                  <a:cubicBezTo>
                    <a:pt x="37857" y="535632"/>
                    <a:pt x="24752" y="530203"/>
                    <a:pt x="15090" y="520541"/>
                  </a:cubicBezTo>
                  <a:cubicBezTo>
                    <a:pt x="5428" y="510879"/>
                    <a:pt x="0" y="497775"/>
                    <a:pt x="0" y="484111"/>
                  </a:cubicBezTo>
                  <a:lnTo>
                    <a:pt x="0" y="51521"/>
                  </a:lnTo>
                  <a:cubicBezTo>
                    <a:pt x="0" y="37857"/>
                    <a:pt x="5428" y="24752"/>
                    <a:pt x="15090" y="15090"/>
                  </a:cubicBezTo>
                  <a:cubicBezTo>
                    <a:pt x="24752" y="5428"/>
                    <a:pt x="37857" y="0"/>
                    <a:pt x="51521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4282" cy="573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444478" y="1509801"/>
            <a:ext cx="5267243" cy="7176623"/>
          </a:xfrm>
          <a:custGeom>
            <a:avLst/>
            <a:gdLst/>
            <a:ahLst/>
            <a:cxnLst/>
            <a:rect l="l" t="t" r="r" b="b"/>
            <a:pathLst>
              <a:path w="5267243" h="7176623">
                <a:moveTo>
                  <a:pt x="0" y="0"/>
                </a:moveTo>
                <a:lnTo>
                  <a:pt x="5267243" y="0"/>
                </a:lnTo>
                <a:lnTo>
                  <a:pt x="5267243" y="7176623"/>
                </a:lnTo>
                <a:lnTo>
                  <a:pt x="0" y="717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99" r="-4616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24625" y="1658157"/>
            <a:ext cx="8307809" cy="24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18"/>
              </a:lnSpc>
            </a:pPr>
            <a:r>
              <a:rPr lang="en-US" sz="6941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Chemical Sensors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62712" y="4222454"/>
            <a:ext cx="7831636" cy="48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Biology for Engineers - Group 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5016" y="5353949"/>
            <a:ext cx="8558493" cy="1084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2988" dirty="0">
                <a:solidFill>
                  <a:srgbClr val="FFFFFF"/>
                </a:solidFill>
                <a:latin typeface="Alice Bold"/>
                <a:ea typeface="Alice Bold"/>
                <a:cs typeface="Alice Bold"/>
                <a:sym typeface="Alice Bold"/>
              </a:rPr>
              <a:t>Presented by :</a:t>
            </a:r>
          </a:p>
          <a:p>
            <a:pPr marL="354989" lvl="1" algn="l">
              <a:lnSpc>
                <a:spcPts val="4603"/>
              </a:lnSpc>
            </a:pPr>
            <a:r>
              <a:rPr lang="en-US" sz="3288" dirty="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Arav, Eshika, Areeb, Mohammed, Omkar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013010" y="-787671"/>
            <a:ext cx="2393606" cy="2393606"/>
            <a:chOff x="0" y="0"/>
            <a:chExt cx="660400" cy="660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610159" y="8495070"/>
            <a:ext cx="2855494" cy="2855494"/>
            <a:chOff x="0" y="0"/>
            <a:chExt cx="6985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734404" y="8455818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63965" y="1985429"/>
            <a:ext cx="9324197" cy="3028759"/>
          </a:xfrm>
          <a:custGeom>
            <a:avLst/>
            <a:gdLst/>
            <a:ahLst/>
            <a:cxnLst/>
            <a:rect l="l" t="t" r="r" b="b"/>
            <a:pathLst>
              <a:path w="9324197" h="3028759">
                <a:moveTo>
                  <a:pt x="0" y="0"/>
                </a:moveTo>
                <a:lnTo>
                  <a:pt x="9324197" y="0"/>
                </a:lnTo>
                <a:lnTo>
                  <a:pt x="9324197" y="3028758"/>
                </a:lnTo>
                <a:lnTo>
                  <a:pt x="0" y="3028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5701" y="5193196"/>
            <a:ext cx="4477652" cy="3698142"/>
          </a:xfrm>
          <a:custGeom>
            <a:avLst/>
            <a:gdLst/>
            <a:ahLst/>
            <a:cxnLst/>
            <a:rect l="l" t="t" r="r" b="b"/>
            <a:pathLst>
              <a:path w="4477652" h="3698142">
                <a:moveTo>
                  <a:pt x="0" y="0"/>
                </a:moveTo>
                <a:lnTo>
                  <a:pt x="4477652" y="0"/>
                </a:lnTo>
                <a:lnTo>
                  <a:pt x="4477652" y="3698142"/>
                </a:lnTo>
                <a:lnTo>
                  <a:pt x="0" y="3698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326064" y="5193196"/>
            <a:ext cx="4662098" cy="3698142"/>
          </a:xfrm>
          <a:custGeom>
            <a:avLst/>
            <a:gdLst/>
            <a:ahLst/>
            <a:cxnLst/>
            <a:rect l="l" t="t" r="r" b="b"/>
            <a:pathLst>
              <a:path w="4662098" h="3698142">
                <a:moveTo>
                  <a:pt x="0" y="0"/>
                </a:moveTo>
                <a:lnTo>
                  <a:pt x="4662098" y="0"/>
                </a:lnTo>
                <a:lnTo>
                  <a:pt x="4662098" y="3698142"/>
                </a:lnTo>
                <a:lnTo>
                  <a:pt x="0" y="3698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039" b="-3039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169137" y="1985429"/>
            <a:ext cx="7152384" cy="6905911"/>
            <a:chOff x="0" y="0"/>
            <a:chExt cx="1883791" cy="18188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83791" cy="1818894"/>
            </a:xfrm>
            <a:custGeom>
              <a:avLst/>
              <a:gdLst/>
              <a:ahLst/>
              <a:cxnLst/>
              <a:rect l="l" t="t" r="r" b="b"/>
              <a:pathLst>
                <a:path w="1883791" h="1818894">
                  <a:moveTo>
                    <a:pt x="1883791" y="54121"/>
                  </a:moveTo>
                  <a:lnTo>
                    <a:pt x="1883791" y="1764773"/>
                  </a:lnTo>
                  <a:cubicBezTo>
                    <a:pt x="1883791" y="1794663"/>
                    <a:pt x="1859560" y="1818894"/>
                    <a:pt x="1829670" y="1818894"/>
                  </a:cubicBezTo>
                  <a:lnTo>
                    <a:pt x="54121" y="1818894"/>
                  </a:lnTo>
                  <a:cubicBezTo>
                    <a:pt x="24231" y="1818894"/>
                    <a:pt x="0" y="1794663"/>
                    <a:pt x="0" y="1764773"/>
                  </a:cubicBezTo>
                  <a:lnTo>
                    <a:pt x="0" y="54121"/>
                  </a:lnTo>
                  <a:cubicBezTo>
                    <a:pt x="0" y="24231"/>
                    <a:pt x="24231" y="0"/>
                    <a:pt x="54121" y="0"/>
                  </a:cubicBezTo>
                  <a:lnTo>
                    <a:pt x="1829670" y="0"/>
                  </a:lnTo>
                  <a:cubicBezTo>
                    <a:pt x="1859560" y="0"/>
                    <a:pt x="1883791" y="24231"/>
                    <a:pt x="1883791" y="54121"/>
                  </a:cubicBezTo>
                  <a:close/>
                </a:path>
              </a:pathLst>
            </a:custGeom>
            <a:solidFill>
              <a:srgbClr val="6FB6C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83791" cy="1856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308541" y="2223875"/>
            <a:ext cx="6873577" cy="6429017"/>
          </a:xfrm>
          <a:custGeom>
            <a:avLst/>
            <a:gdLst/>
            <a:ahLst/>
            <a:cxnLst/>
            <a:rect l="l" t="t" r="r" b="b"/>
            <a:pathLst>
              <a:path w="6873577" h="6429017">
                <a:moveTo>
                  <a:pt x="0" y="0"/>
                </a:moveTo>
                <a:lnTo>
                  <a:pt x="6873577" y="0"/>
                </a:lnTo>
                <a:lnTo>
                  <a:pt x="6873577" y="6429018"/>
                </a:lnTo>
                <a:lnTo>
                  <a:pt x="0" y="6429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606823" y="448281"/>
            <a:ext cx="15074354" cy="85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What are Chemical Sensors?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48327" y="2980804"/>
            <a:ext cx="6615152" cy="2162696"/>
            <a:chOff x="0" y="0"/>
            <a:chExt cx="1742262" cy="5695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42262" cy="569599"/>
            </a:xfrm>
            <a:custGeom>
              <a:avLst/>
              <a:gdLst/>
              <a:ahLst/>
              <a:cxnLst/>
              <a:rect l="l" t="t" r="r" b="b"/>
              <a:pathLst>
                <a:path w="1742262" h="569599">
                  <a:moveTo>
                    <a:pt x="35110" y="0"/>
                  </a:moveTo>
                  <a:lnTo>
                    <a:pt x="1707152" y="0"/>
                  </a:lnTo>
                  <a:cubicBezTo>
                    <a:pt x="1716464" y="0"/>
                    <a:pt x="1725394" y="3699"/>
                    <a:pt x="1731979" y="10283"/>
                  </a:cubicBezTo>
                  <a:cubicBezTo>
                    <a:pt x="1738563" y="16868"/>
                    <a:pt x="1742262" y="25798"/>
                    <a:pt x="1742262" y="35110"/>
                  </a:cubicBezTo>
                  <a:lnTo>
                    <a:pt x="1742262" y="534489"/>
                  </a:lnTo>
                  <a:cubicBezTo>
                    <a:pt x="1742262" y="553880"/>
                    <a:pt x="1726543" y="569599"/>
                    <a:pt x="1707152" y="569599"/>
                  </a:cubicBezTo>
                  <a:lnTo>
                    <a:pt x="35110" y="569599"/>
                  </a:lnTo>
                  <a:cubicBezTo>
                    <a:pt x="25798" y="569599"/>
                    <a:pt x="16868" y="565900"/>
                    <a:pt x="10283" y="559315"/>
                  </a:cubicBezTo>
                  <a:cubicBezTo>
                    <a:pt x="3699" y="552731"/>
                    <a:pt x="0" y="543801"/>
                    <a:pt x="0" y="534489"/>
                  </a:cubicBezTo>
                  <a:lnTo>
                    <a:pt x="0" y="35110"/>
                  </a:lnTo>
                  <a:cubicBezTo>
                    <a:pt x="0" y="25798"/>
                    <a:pt x="3699" y="16868"/>
                    <a:pt x="10283" y="10283"/>
                  </a:cubicBezTo>
                  <a:cubicBezTo>
                    <a:pt x="16868" y="3699"/>
                    <a:pt x="25798" y="0"/>
                    <a:pt x="35110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1742262" cy="674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2980804"/>
            <a:ext cx="6513421" cy="2162696"/>
            <a:chOff x="0" y="0"/>
            <a:chExt cx="1715469" cy="5695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15469" cy="569599"/>
            </a:xfrm>
            <a:custGeom>
              <a:avLst/>
              <a:gdLst/>
              <a:ahLst/>
              <a:cxnLst/>
              <a:rect l="l" t="t" r="r" b="b"/>
              <a:pathLst>
                <a:path w="1715469" h="569599">
                  <a:moveTo>
                    <a:pt x="35658" y="0"/>
                  </a:moveTo>
                  <a:lnTo>
                    <a:pt x="1679811" y="0"/>
                  </a:lnTo>
                  <a:cubicBezTo>
                    <a:pt x="1689268" y="0"/>
                    <a:pt x="1698338" y="3757"/>
                    <a:pt x="1705025" y="10444"/>
                  </a:cubicBezTo>
                  <a:cubicBezTo>
                    <a:pt x="1711712" y="17131"/>
                    <a:pt x="1715469" y="26201"/>
                    <a:pt x="1715469" y="35658"/>
                  </a:cubicBezTo>
                  <a:lnTo>
                    <a:pt x="1715469" y="533941"/>
                  </a:lnTo>
                  <a:cubicBezTo>
                    <a:pt x="1715469" y="543398"/>
                    <a:pt x="1711712" y="552468"/>
                    <a:pt x="1705025" y="559155"/>
                  </a:cubicBezTo>
                  <a:cubicBezTo>
                    <a:pt x="1698338" y="565842"/>
                    <a:pt x="1689268" y="569599"/>
                    <a:pt x="1679811" y="569599"/>
                  </a:cubicBezTo>
                  <a:lnTo>
                    <a:pt x="35658" y="569599"/>
                  </a:lnTo>
                  <a:cubicBezTo>
                    <a:pt x="26201" y="569599"/>
                    <a:pt x="17131" y="565842"/>
                    <a:pt x="10444" y="559155"/>
                  </a:cubicBezTo>
                  <a:cubicBezTo>
                    <a:pt x="3757" y="552468"/>
                    <a:pt x="0" y="543398"/>
                    <a:pt x="0" y="533941"/>
                  </a:cubicBezTo>
                  <a:lnTo>
                    <a:pt x="0" y="35658"/>
                  </a:lnTo>
                  <a:cubicBezTo>
                    <a:pt x="0" y="26201"/>
                    <a:pt x="3757" y="17131"/>
                    <a:pt x="10444" y="10444"/>
                  </a:cubicBezTo>
                  <a:cubicBezTo>
                    <a:pt x="17131" y="3757"/>
                    <a:pt x="26201" y="0"/>
                    <a:pt x="35658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715469" cy="674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245731" y="3352186"/>
            <a:ext cx="6309958" cy="136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59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Transducer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Converts chemical interaction into measurable electrical or optical signals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8327" y="5553602"/>
            <a:ext cx="6615152" cy="2162696"/>
            <a:chOff x="0" y="0"/>
            <a:chExt cx="1742262" cy="5695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2262" cy="569599"/>
            </a:xfrm>
            <a:custGeom>
              <a:avLst/>
              <a:gdLst/>
              <a:ahLst/>
              <a:cxnLst/>
              <a:rect l="l" t="t" r="r" b="b"/>
              <a:pathLst>
                <a:path w="1742262" h="569599">
                  <a:moveTo>
                    <a:pt x="35110" y="0"/>
                  </a:moveTo>
                  <a:lnTo>
                    <a:pt x="1707152" y="0"/>
                  </a:lnTo>
                  <a:cubicBezTo>
                    <a:pt x="1716464" y="0"/>
                    <a:pt x="1725394" y="3699"/>
                    <a:pt x="1731979" y="10283"/>
                  </a:cubicBezTo>
                  <a:cubicBezTo>
                    <a:pt x="1738563" y="16868"/>
                    <a:pt x="1742262" y="25798"/>
                    <a:pt x="1742262" y="35110"/>
                  </a:cubicBezTo>
                  <a:lnTo>
                    <a:pt x="1742262" y="534489"/>
                  </a:lnTo>
                  <a:cubicBezTo>
                    <a:pt x="1742262" y="553880"/>
                    <a:pt x="1726543" y="569599"/>
                    <a:pt x="1707152" y="569599"/>
                  </a:cubicBezTo>
                  <a:lnTo>
                    <a:pt x="35110" y="569599"/>
                  </a:lnTo>
                  <a:cubicBezTo>
                    <a:pt x="25798" y="569599"/>
                    <a:pt x="16868" y="565900"/>
                    <a:pt x="10283" y="559315"/>
                  </a:cubicBezTo>
                  <a:cubicBezTo>
                    <a:pt x="3699" y="552731"/>
                    <a:pt x="0" y="543801"/>
                    <a:pt x="0" y="534489"/>
                  </a:cubicBezTo>
                  <a:lnTo>
                    <a:pt x="0" y="35110"/>
                  </a:lnTo>
                  <a:cubicBezTo>
                    <a:pt x="0" y="25798"/>
                    <a:pt x="3699" y="16868"/>
                    <a:pt x="10283" y="10283"/>
                  </a:cubicBezTo>
                  <a:cubicBezTo>
                    <a:pt x="16868" y="3699"/>
                    <a:pt x="25798" y="0"/>
                    <a:pt x="35110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742262" cy="674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5553602"/>
            <a:ext cx="6513421" cy="2162696"/>
            <a:chOff x="0" y="0"/>
            <a:chExt cx="1715469" cy="5695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5469" cy="569599"/>
            </a:xfrm>
            <a:custGeom>
              <a:avLst/>
              <a:gdLst/>
              <a:ahLst/>
              <a:cxnLst/>
              <a:rect l="l" t="t" r="r" b="b"/>
              <a:pathLst>
                <a:path w="1715469" h="569599">
                  <a:moveTo>
                    <a:pt x="35658" y="0"/>
                  </a:moveTo>
                  <a:lnTo>
                    <a:pt x="1679811" y="0"/>
                  </a:lnTo>
                  <a:cubicBezTo>
                    <a:pt x="1689268" y="0"/>
                    <a:pt x="1698338" y="3757"/>
                    <a:pt x="1705025" y="10444"/>
                  </a:cubicBezTo>
                  <a:cubicBezTo>
                    <a:pt x="1711712" y="17131"/>
                    <a:pt x="1715469" y="26201"/>
                    <a:pt x="1715469" y="35658"/>
                  </a:cubicBezTo>
                  <a:lnTo>
                    <a:pt x="1715469" y="533941"/>
                  </a:lnTo>
                  <a:cubicBezTo>
                    <a:pt x="1715469" y="543398"/>
                    <a:pt x="1711712" y="552468"/>
                    <a:pt x="1705025" y="559155"/>
                  </a:cubicBezTo>
                  <a:cubicBezTo>
                    <a:pt x="1698338" y="565842"/>
                    <a:pt x="1689268" y="569599"/>
                    <a:pt x="1679811" y="569599"/>
                  </a:cubicBezTo>
                  <a:lnTo>
                    <a:pt x="35658" y="569599"/>
                  </a:lnTo>
                  <a:cubicBezTo>
                    <a:pt x="26201" y="569599"/>
                    <a:pt x="17131" y="565842"/>
                    <a:pt x="10444" y="559155"/>
                  </a:cubicBezTo>
                  <a:cubicBezTo>
                    <a:pt x="3757" y="552468"/>
                    <a:pt x="0" y="543398"/>
                    <a:pt x="0" y="533941"/>
                  </a:cubicBezTo>
                  <a:lnTo>
                    <a:pt x="0" y="35658"/>
                  </a:lnTo>
                  <a:cubicBezTo>
                    <a:pt x="0" y="26201"/>
                    <a:pt x="3757" y="17131"/>
                    <a:pt x="10444" y="10444"/>
                  </a:cubicBezTo>
                  <a:cubicBezTo>
                    <a:pt x="17131" y="3757"/>
                    <a:pt x="26201" y="0"/>
                    <a:pt x="35658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1715469" cy="674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66547" y="3135214"/>
            <a:ext cx="6076979" cy="225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59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Receptor</a:t>
            </a: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Senses material that selectively interacts with target analyte molecules</a:t>
            </a:r>
          </a:p>
          <a:p>
            <a:pPr algn="l">
              <a:lnSpc>
                <a:spcPts val="3493"/>
              </a:lnSpc>
            </a:pPr>
            <a:endParaRPr lang="en-US" sz="259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66547" y="5896388"/>
            <a:ext cx="6615152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Interface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Displays results through digital screens or transmits data wirelessly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45731" y="5896388"/>
            <a:ext cx="6513421" cy="181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Signal Processor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Amplifies and processes signals for accurate data interpretation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17309" y="612504"/>
            <a:ext cx="15528781" cy="85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5"/>
              </a:lnSpc>
              <a:spcBef>
                <a:spcPct val="0"/>
              </a:spcBef>
            </a:pPr>
            <a:r>
              <a:rPr lang="en-US" sz="4703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Chemical Sensor Components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2814" y="2948759"/>
            <a:ext cx="4042047" cy="1684816"/>
            <a:chOff x="0" y="0"/>
            <a:chExt cx="1064572" cy="4437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4572" cy="443738"/>
            </a:xfrm>
            <a:custGeom>
              <a:avLst/>
              <a:gdLst/>
              <a:ahLst/>
              <a:cxnLst/>
              <a:rect l="l" t="t" r="r" b="b"/>
              <a:pathLst>
                <a:path w="1064572" h="443738">
                  <a:moveTo>
                    <a:pt x="32561" y="0"/>
                  </a:moveTo>
                  <a:lnTo>
                    <a:pt x="1032011" y="0"/>
                  </a:lnTo>
                  <a:cubicBezTo>
                    <a:pt x="1049994" y="0"/>
                    <a:pt x="1064572" y="14578"/>
                    <a:pt x="1064572" y="32561"/>
                  </a:cubicBezTo>
                  <a:lnTo>
                    <a:pt x="1064572" y="411177"/>
                  </a:lnTo>
                  <a:cubicBezTo>
                    <a:pt x="1064572" y="419812"/>
                    <a:pt x="1061141" y="428094"/>
                    <a:pt x="1055035" y="434201"/>
                  </a:cubicBezTo>
                  <a:cubicBezTo>
                    <a:pt x="1048929" y="440307"/>
                    <a:pt x="1040647" y="443738"/>
                    <a:pt x="1032011" y="443738"/>
                  </a:cubicBezTo>
                  <a:lnTo>
                    <a:pt x="32561" y="443738"/>
                  </a:lnTo>
                  <a:cubicBezTo>
                    <a:pt x="23925" y="443738"/>
                    <a:pt x="15643" y="440307"/>
                    <a:pt x="9537" y="434201"/>
                  </a:cubicBezTo>
                  <a:cubicBezTo>
                    <a:pt x="3431" y="428094"/>
                    <a:pt x="0" y="419812"/>
                    <a:pt x="0" y="411177"/>
                  </a:cubicBezTo>
                  <a:lnTo>
                    <a:pt x="0" y="32561"/>
                  </a:lnTo>
                  <a:cubicBezTo>
                    <a:pt x="0" y="23925"/>
                    <a:pt x="3431" y="15643"/>
                    <a:pt x="9537" y="9537"/>
                  </a:cubicBezTo>
                  <a:cubicBezTo>
                    <a:pt x="15643" y="3431"/>
                    <a:pt x="23925" y="0"/>
                    <a:pt x="32561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64572" cy="481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u="sng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RECOGNITION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Receptor interacts with target molecule through adsorption or binding.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84062" y="2948759"/>
            <a:ext cx="3909794" cy="1684816"/>
            <a:chOff x="0" y="0"/>
            <a:chExt cx="1029740" cy="4437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9740" cy="443738"/>
            </a:xfrm>
            <a:custGeom>
              <a:avLst/>
              <a:gdLst/>
              <a:ahLst/>
              <a:cxnLst/>
              <a:rect l="l" t="t" r="r" b="b"/>
              <a:pathLst>
                <a:path w="1029740" h="443738">
                  <a:moveTo>
                    <a:pt x="33662" y="0"/>
                  </a:moveTo>
                  <a:lnTo>
                    <a:pt x="996078" y="0"/>
                  </a:lnTo>
                  <a:cubicBezTo>
                    <a:pt x="1014669" y="0"/>
                    <a:pt x="1029740" y="15071"/>
                    <a:pt x="1029740" y="33662"/>
                  </a:cubicBezTo>
                  <a:lnTo>
                    <a:pt x="1029740" y="410075"/>
                  </a:lnTo>
                  <a:cubicBezTo>
                    <a:pt x="1029740" y="419003"/>
                    <a:pt x="1026193" y="427565"/>
                    <a:pt x="1019880" y="433878"/>
                  </a:cubicBezTo>
                  <a:cubicBezTo>
                    <a:pt x="1013568" y="440191"/>
                    <a:pt x="1005005" y="443738"/>
                    <a:pt x="996078" y="443738"/>
                  </a:cubicBezTo>
                  <a:lnTo>
                    <a:pt x="33662" y="443738"/>
                  </a:lnTo>
                  <a:cubicBezTo>
                    <a:pt x="15071" y="443738"/>
                    <a:pt x="0" y="428666"/>
                    <a:pt x="0" y="410075"/>
                  </a:cubicBezTo>
                  <a:lnTo>
                    <a:pt x="0" y="33662"/>
                  </a:lnTo>
                  <a:cubicBezTo>
                    <a:pt x="0" y="15071"/>
                    <a:pt x="15071" y="0"/>
                    <a:pt x="33662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029740" cy="472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 u="sng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TRANSDUCTION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Interaction produces measurablechange (potential, current, frequency)converted to output signal.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84062" y="6311499"/>
            <a:ext cx="3909794" cy="1782121"/>
            <a:chOff x="0" y="0"/>
            <a:chExt cx="1029740" cy="4693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9740" cy="469365"/>
            </a:xfrm>
            <a:custGeom>
              <a:avLst/>
              <a:gdLst/>
              <a:ahLst/>
              <a:cxnLst/>
              <a:rect l="l" t="t" r="r" b="b"/>
              <a:pathLst>
                <a:path w="1029740" h="469365">
                  <a:moveTo>
                    <a:pt x="33662" y="0"/>
                  </a:moveTo>
                  <a:lnTo>
                    <a:pt x="996078" y="0"/>
                  </a:lnTo>
                  <a:cubicBezTo>
                    <a:pt x="1014669" y="0"/>
                    <a:pt x="1029740" y="15071"/>
                    <a:pt x="1029740" y="33662"/>
                  </a:cubicBezTo>
                  <a:lnTo>
                    <a:pt x="1029740" y="435703"/>
                  </a:lnTo>
                  <a:cubicBezTo>
                    <a:pt x="1029740" y="454294"/>
                    <a:pt x="1014669" y="469365"/>
                    <a:pt x="996078" y="469365"/>
                  </a:cubicBezTo>
                  <a:lnTo>
                    <a:pt x="33662" y="469365"/>
                  </a:lnTo>
                  <a:cubicBezTo>
                    <a:pt x="15071" y="469365"/>
                    <a:pt x="0" y="454294"/>
                    <a:pt x="0" y="435703"/>
                  </a:cubicBezTo>
                  <a:lnTo>
                    <a:pt x="0" y="33662"/>
                  </a:lnTo>
                  <a:cubicBezTo>
                    <a:pt x="0" y="15071"/>
                    <a:pt x="15071" y="0"/>
                    <a:pt x="33662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29740" cy="507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 u="sng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SIGNAL PROCESSING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Electrical signal amplified and processed to show readable data(concentration/detection results).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2814" y="6311499"/>
            <a:ext cx="4042047" cy="1782121"/>
            <a:chOff x="0" y="0"/>
            <a:chExt cx="1064572" cy="4693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4572" cy="469365"/>
            </a:xfrm>
            <a:custGeom>
              <a:avLst/>
              <a:gdLst/>
              <a:ahLst/>
              <a:cxnLst/>
              <a:rect l="l" t="t" r="r" b="b"/>
              <a:pathLst>
                <a:path w="1064572" h="469365">
                  <a:moveTo>
                    <a:pt x="32561" y="0"/>
                  </a:moveTo>
                  <a:lnTo>
                    <a:pt x="1032011" y="0"/>
                  </a:lnTo>
                  <a:cubicBezTo>
                    <a:pt x="1049994" y="0"/>
                    <a:pt x="1064572" y="14578"/>
                    <a:pt x="1064572" y="32561"/>
                  </a:cubicBezTo>
                  <a:lnTo>
                    <a:pt x="1064572" y="436804"/>
                  </a:lnTo>
                  <a:cubicBezTo>
                    <a:pt x="1064572" y="445440"/>
                    <a:pt x="1061141" y="453722"/>
                    <a:pt x="1055035" y="459828"/>
                  </a:cubicBezTo>
                  <a:cubicBezTo>
                    <a:pt x="1048929" y="465935"/>
                    <a:pt x="1040647" y="469365"/>
                    <a:pt x="1032011" y="469365"/>
                  </a:cubicBezTo>
                  <a:lnTo>
                    <a:pt x="32561" y="469365"/>
                  </a:lnTo>
                  <a:cubicBezTo>
                    <a:pt x="23925" y="469365"/>
                    <a:pt x="15643" y="465935"/>
                    <a:pt x="9537" y="459828"/>
                  </a:cubicBezTo>
                  <a:cubicBezTo>
                    <a:pt x="3431" y="453722"/>
                    <a:pt x="0" y="445440"/>
                    <a:pt x="0" y="436804"/>
                  </a:cubicBezTo>
                  <a:lnTo>
                    <a:pt x="0" y="32561"/>
                  </a:lnTo>
                  <a:cubicBezTo>
                    <a:pt x="0" y="23925"/>
                    <a:pt x="3431" y="15643"/>
                    <a:pt x="9537" y="9537"/>
                  </a:cubicBezTo>
                  <a:cubicBezTo>
                    <a:pt x="15643" y="3431"/>
                    <a:pt x="23925" y="0"/>
                    <a:pt x="32561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64572" cy="507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u="sng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 OUTPUT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Results displayed,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which are ready for use.</a:t>
              </a:r>
            </a:p>
            <a:p>
              <a:pPr algn="ctr">
                <a:lnSpc>
                  <a:spcPts val="2659"/>
                </a:lnSpc>
              </a:pPr>
              <a:endPara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5314860" y="3791168"/>
            <a:ext cx="246920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>
            <a:off x="9738959" y="4633576"/>
            <a:ext cx="0" cy="167792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 flipH="1">
            <a:off x="5314860" y="7202559"/>
            <a:ext cx="246920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12600090" y="3791168"/>
            <a:ext cx="4699232" cy="3498324"/>
            <a:chOff x="0" y="0"/>
            <a:chExt cx="1237658" cy="9213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7658" cy="921369"/>
            </a:xfrm>
            <a:custGeom>
              <a:avLst/>
              <a:gdLst/>
              <a:ahLst/>
              <a:cxnLst/>
              <a:rect l="l" t="t" r="r" b="b"/>
              <a:pathLst>
                <a:path w="1237658" h="921369">
                  <a:moveTo>
                    <a:pt x="84022" y="0"/>
                  </a:moveTo>
                  <a:lnTo>
                    <a:pt x="1153636" y="0"/>
                  </a:lnTo>
                  <a:cubicBezTo>
                    <a:pt x="1175920" y="0"/>
                    <a:pt x="1197291" y="8852"/>
                    <a:pt x="1213048" y="24609"/>
                  </a:cubicBezTo>
                  <a:cubicBezTo>
                    <a:pt x="1228806" y="40367"/>
                    <a:pt x="1237658" y="61738"/>
                    <a:pt x="1237658" y="84022"/>
                  </a:cubicBezTo>
                  <a:lnTo>
                    <a:pt x="1237658" y="837348"/>
                  </a:lnTo>
                  <a:cubicBezTo>
                    <a:pt x="1237658" y="859632"/>
                    <a:pt x="1228806" y="881003"/>
                    <a:pt x="1213048" y="896760"/>
                  </a:cubicBezTo>
                  <a:cubicBezTo>
                    <a:pt x="1197291" y="912517"/>
                    <a:pt x="1175920" y="921369"/>
                    <a:pt x="1153636" y="921369"/>
                  </a:cubicBezTo>
                  <a:lnTo>
                    <a:pt x="84022" y="921369"/>
                  </a:lnTo>
                  <a:cubicBezTo>
                    <a:pt x="61738" y="921369"/>
                    <a:pt x="40367" y="912517"/>
                    <a:pt x="24609" y="896760"/>
                  </a:cubicBezTo>
                  <a:cubicBezTo>
                    <a:pt x="8852" y="881003"/>
                    <a:pt x="0" y="859632"/>
                    <a:pt x="0" y="837348"/>
                  </a:cubicBezTo>
                  <a:lnTo>
                    <a:pt x="0" y="84022"/>
                  </a:lnTo>
                  <a:cubicBezTo>
                    <a:pt x="0" y="61738"/>
                    <a:pt x="8852" y="40367"/>
                    <a:pt x="24609" y="24609"/>
                  </a:cubicBezTo>
                  <a:cubicBezTo>
                    <a:pt x="40367" y="8852"/>
                    <a:pt x="61738" y="0"/>
                    <a:pt x="84022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237658" cy="959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43050" y="612504"/>
            <a:ext cx="14555986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400" dirty="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How Chemical sensors work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63593" y="3878255"/>
            <a:ext cx="5567716" cy="371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6"/>
              </a:lnSpc>
            </a:pPr>
            <a:r>
              <a:rPr lang="en-US" sz="27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enzyme glucose oxidase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reacts with glucose in a glucose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sensor to produce electrons,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which are then detected as an electrical signal that is 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proportional to glucose 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concentration.</a:t>
            </a:r>
          </a:p>
          <a:p>
            <a:pPr algn="ctr">
              <a:lnSpc>
                <a:spcPts val="3234"/>
              </a:lnSpc>
              <a:spcBef>
                <a:spcPct val="0"/>
              </a:spcBef>
            </a:pPr>
            <a:endParaRPr lang="en-US" sz="231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4110" y="2041880"/>
            <a:ext cx="15459780" cy="6955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6"/>
              </a:lnSpc>
            </a:pP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Chemical sensors can be classified in two major ways:</a:t>
            </a:r>
          </a:p>
          <a:p>
            <a:pPr algn="l">
              <a:lnSpc>
                <a:spcPts val="4626"/>
              </a:lnSpc>
            </a:pPr>
            <a:r>
              <a:rPr lang="en-US" sz="33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A. Based on Transduction Principle: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Electrochemical 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detect electrical changes (current, potential, impedance).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Optical 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detect changes in light (absorbance, fluorescence).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Mass-sensitive 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detect changes in mass or acoustic properties.</a:t>
            </a:r>
          </a:p>
          <a:p>
            <a:pPr algn="l">
              <a:lnSpc>
                <a:spcPts val="4626"/>
              </a:lnSpc>
            </a:pPr>
            <a:endParaRPr lang="en-US" sz="330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626"/>
              </a:lnSpc>
            </a:pPr>
            <a:r>
              <a:rPr lang="en-US" sz="33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B. Based on Target Analyte: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Gas 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detect gases such as CO₂, O₂, NH₃.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Ion-selective 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used for detecting specific ions (e.g., Na⁺, K⁺).</a:t>
            </a:r>
          </a:p>
          <a:p>
            <a:pPr marL="713474" lvl="1" indent="-356737" algn="l">
              <a:lnSpc>
                <a:spcPts val="4626"/>
              </a:lnSpc>
              <a:buFont typeface="Arial"/>
              <a:buChar char="•"/>
            </a:pPr>
            <a:r>
              <a:rPr lang="en-US" sz="33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Biosensors</a:t>
            </a:r>
            <a:r>
              <a:rPr lang="en-US" sz="33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use biological materials (enzymes, antibodies, cells).</a:t>
            </a:r>
          </a:p>
          <a:p>
            <a:pPr algn="l">
              <a:lnSpc>
                <a:spcPts val="4626"/>
              </a:lnSpc>
            </a:pPr>
            <a:endParaRPr lang="en-US" sz="330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46263" y="531178"/>
            <a:ext cx="13795474" cy="85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 Types of Chemical Sensors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4926" y="1718684"/>
            <a:ext cx="10649427" cy="745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Electrochemical sensors operate by measuring electrical signals resulting from a chemical reaction.</a:t>
            </a:r>
          </a:p>
          <a:p>
            <a:pPr algn="l">
              <a:lnSpc>
                <a:spcPts val="3729"/>
              </a:lnSpc>
            </a:pPr>
            <a:endParaRPr lang="en-US" sz="266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29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These sensors usually have electrodes immersed in an electrolyte where the analyte undergoes oxidation or reduction.</a:t>
            </a:r>
          </a:p>
          <a:p>
            <a:pPr algn="l">
              <a:lnSpc>
                <a:spcPts val="3729"/>
              </a:lnSpc>
            </a:pPr>
            <a:endParaRPr lang="en-US" sz="266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29"/>
              </a:lnSpc>
            </a:pPr>
            <a:r>
              <a:rPr lang="en-US" sz="266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Types:</a:t>
            </a:r>
          </a:p>
          <a:p>
            <a:pPr marL="575206" lvl="1" indent="-287603" algn="l">
              <a:lnSpc>
                <a:spcPts val="3729"/>
              </a:lnSpc>
              <a:buFont typeface="Arial"/>
              <a:buChar char="•"/>
            </a:pPr>
            <a:r>
              <a:rPr lang="en-US" sz="266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Amperometric Sensors:</a:t>
            </a:r>
            <a:r>
              <a:rPr lang="en-US" sz="266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Measure current at a fixed potential (e.g., glucose sensor).</a:t>
            </a:r>
          </a:p>
          <a:p>
            <a:pPr marL="575206" lvl="1" indent="-287603" algn="l">
              <a:lnSpc>
                <a:spcPts val="3729"/>
              </a:lnSpc>
              <a:buFont typeface="Arial"/>
              <a:buChar char="•"/>
            </a:pPr>
            <a:r>
              <a:rPr lang="en-US" sz="266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Potentiometric Sensors:</a:t>
            </a: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Measure voltage difference between working and reference electrodes (e.g., pH electrode).</a:t>
            </a:r>
          </a:p>
          <a:p>
            <a:pPr marL="575206" lvl="1" indent="-287603" algn="l">
              <a:lnSpc>
                <a:spcPts val="3729"/>
              </a:lnSpc>
              <a:buFont typeface="Arial"/>
              <a:buChar char="•"/>
            </a:pPr>
            <a:r>
              <a:rPr lang="en-US" sz="266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Conductometric Sensors:</a:t>
            </a:r>
            <a:r>
              <a:rPr lang="en-US" sz="266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Measure changes in conductivity caused by ion concentration.</a:t>
            </a:r>
          </a:p>
          <a:p>
            <a:pPr algn="l">
              <a:lnSpc>
                <a:spcPts val="3729"/>
              </a:lnSpc>
            </a:pPr>
            <a:endParaRPr lang="en-US" sz="266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29"/>
              </a:lnSpc>
            </a:pPr>
            <a:r>
              <a:rPr lang="en-US" sz="266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Applications: </a:t>
            </a: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Blood glucose monitoring, water pH measurement, and gas detection.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63297" y="2737387"/>
            <a:ext cx="6344906" cy="4306292"/>
            <a:chOff x="0" y="0"/>
            <a:chExt cx="1671086" cy="11341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1086" cy="1134167"/>
            </a:xfrm>
            <a:custGeom>
              <a:avLst/>
              <a:gdLst/>
              <a:ahLst/>
              <a:cxnLst/>
              <a:rect l="l" t="t" r="r" b="b"/>
              <a:pathLst>
                <a:path w="1671086" h="1134167">
                  <a:moveTo>
                    <a:pt x="61009" y="0"/>
                  </a:moveTo>
                  <a:lnTo>
                    <a:pt x="1610077" y="0"/>
                  </a:lnTo>
                  <a:cubicBezTo>
                    <a:pt x="1626258" y="0"/>
                    <a:pt x="1641776" y="6428"/>
                    <a:pt x="1653217" y="17869"/>
                  </a:cubicBezTo>
                  <a:cubicBezTo>
                    <a:pt x="1664658" y="29311"/>
                    <a:pt x="1671086" y="44828"/>
                    <a:pt x="1671086" y="61009"/>
                  </a:cubicBezTo>
                  <a:lnTo>
                    <a:pt x="1671086" y="1073159"/>
                  </a:lnTo>
                  <a:cubicBezTo>
                    <a:pt x="1671086" y="1106853"/>
                    <a:pt x="1643772" y="1134167"/>
                    <a:pt x="1610077" y="1134167"/>
                  </a:cubicBezTo>
                  <a:lnTo>
                    <a:pt x="61009" y="1134167"/>
                  </a:lnTo>
                  <a:cubicBezTo>
                    <a:pt x="44828" y="1134167"/>
                    <a:pt x="29311" y="1127740"/>
                    <a:pt x="17869" y="1116298"/>
                  </a:cubicBezTo>
                  <a:cubicBezTo>
                    <a:pt x="6428" y="1104857"/>
                    <a:pt x="0" y="1089339"/>
                    <a:pt x="0" y="1073159"/>
                  </a:cubicBezTo>
                  <a:lnTo>
                    <a:pt x="0" y="61009"/>
                  </a:lnTo>
                  <a:cubicBezTo>
                    <a:pt x="0" y="27315"/>
                    <a:pt x="27315" y="0"/>
                    <a:pt x="61009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71086" cy="1172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846773" y="2880066"/>
            <a:ext cx="6016793" cy="4019840"/>
          </a:xfrm>
          <a:custGeom>
            <a:avLst/>
            <a:gdLst/>
            <a:ahLst/>
            <a:cxnLst/>
            <a:rect l="l" t="t" r="r" b="b"/>
            <a:pathLst>
              <a:path w="6016793" h="4019840">
                <a:moveTo>
                  <a:pt x="0" y="0"/>
                </a:moveTo>
                <a:lnTo>
                  <a:pt x="6016793" y="0"/>
                </a:lnTo>
                <a:lnTo>
                  <a:pt x="6016793" y="4019840"/>
                </a:lnTo>
                <a:lnTo>
                  <a:pt x="0" y="4019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244330" y="444245"/>
            <a:ext cx="13306723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400" dirty="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Electrochemical Sensors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93206" y="6996054"/>
            <a:ext cx="3323927" cy="38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Electrochemical Sensor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494790"/>
            <a:ext cx="12392227" cy="776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Changes in the properties of light, including absorption, emission, or reflection, are observed by optical sensors when the analyte interacts with the sensing surface.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0"/>
              </a:lnSpc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Mechanisms: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Colorimetric sensors</a:t>
            </a:r>
            <a:r>
              <a:rPr lang="en-US" sz="2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They change color when a target gas or ion is present.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Fluorescent sensors:</a:t>
            </a:r>
            <a:r>
              <a:rPr lang="en-US" sz="2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intensity of fluorescence varies with the concentration of the analyte.</a:t>
            </a:r>
          </a:p>
          <a:p>
            <a:pPr marL="561342" lvl="1" indent="-280671" algn="l">
              <a:lnSpc>
                <a:spcPts val="3640"/>
              </a:lnSpc>
              <a:buFont typeface="Arial"/>
              <a:buChar char="•"/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Surface Plasmon Resonance</a:t>
            </a:r>
            <a:r>
              <a:rPr lang="en-US" sz="2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Detects minute changes in refractive index, utilized in biomolecular interaction studies.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0"/>
              </a:lnSpc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Advantages: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High sensitivity, remote sensing capability, and immunity to electrical noise.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40"/>
              </a:lnSpc>
            </a:pPr>
            <a:r>
              <a:rPr lang="en-US" sz="26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2600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Optical oxygen sensors employed in biomedical and environmental monitoring.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495329" y="3513270"/>
            <a:ext cx="4462753" cy="2967057"/>
            <a:chOff x="0" y="0"/>
            <a:chExt cx="1175375" cy="78144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5375" cy="781447"/>
            </a:xfrm>
            <a:custGeom>
              <a:avLst/>
              <a:gdLst/>
              <a:ahLst/>
              <a:cxnLst/>
              <a:rect l="l" t="t" r="r" b="b"/>
              <a:pathLst>
                <a:path w="1175375" h="781447">
                  <a:moveTo>
                    <a:pt x="86739" y="0"/>
                  </a:moveTo>
                  <a:lnTo>
                    <a:pt x="1088636" y="0"/>
                  </a:lnTo>
                  <a:cubicBezTo>
                    <a:pt x="1136541" y="0"/>
                    <a:pt x="1175375" y="38835"/>
                    <a:pt x="1175375" y="86739"/>
                  </a:cubicBezTo>
                  <a:lnTo>
                    <a:pt x="1175375" y="694708"/>
                  </a:lnTo>
                  <a:cubicBezTo>
                    <a:pt x="1175375" y="717712"/>
                    <a:pt x="1166237" y="739775"/>
                    <a:pt x="1149970" y="756042"/>
                  </a:cubicBezTo>
                  <a:cubicBezTo>
                    <a:pt x="1133703" y="772308"/>
                    <a:pt x="1111641" y="781447"/>
                    <a:pt x="1088636" y="781447"/>
                  </a:cubicBezTo>
                  <a:lnTo>
                    <a:pt x="86739" y="781447"/>
                  </a:lnTo>
                  <a:cubicBezTo>
                    <a:pt x="63735" y="781447"/>
                    <a:pt x="41672" y="772308"/>
                    <a:pt x="25405" y="756042"/>
                  </a:cubicBezTo>
                  <a:cubicBezTo>
                    <a:pt x="9139" y="739775"/>
                    <a:pt x="0" y="717712"/>
                    <a:pt x="0" y="694708"/>
                  </a:cubicBezTo>
                  <a:lnTo>
                    <a:pt x="0" y="86739"/>
                  </a:lnTo>
                  <a:cubicBezTo>
                    <a:pt x="0" y="63735"/>
                    <a:pt x="9139" y="41672"/>
                    <a:pt x="25405" y="25405"/>
                  </a:cubicBezTo>
                  <a:cubicBezTo>
                    <a:pt x="41672" y="9139"/>
                    <a:pt x="63735" y="0"/>
                    <a:pt x="86739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75375" cy="819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572251" y="3574264"/>
            <a:ext cx="4291315" cy="2845071"/>
          </a:xfrm>
          <a:custGeom>
            <a:avLst/>
            <a:gdLst/>
            <a:ahLst/>
            <a:cxnLst/>
            <a:rect l="l" t="t" r="r" b="b"/>
            <a:pathLst>
              <a:path w="4291315" h="2845071">
                <a:moveTo>
                  <a:pt x="0" y="0"/>
                </a:moveTo>
                <a:lnTo>
                  <a:pt x="4291315" y="0"/>
                </a:lnTo>
                <a:lnTo>
                  <a:pt x="4291315" y="2845070"/>
                </a:lnTo>
                <a:lnTo>
                  <a:pt x="0" y="2845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8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003602" y="257857"/>
            <a:ext cx="8280797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400" dirty="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Optical Sensors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52262" y="6554432"/>
            <a:ext cx="1531293" cy="28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Optical Sensor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62100" y="8428482"/>
            <a:ext cx="3086100" cy="3086100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91941" y="-787671"/>
            <a:ext cx="3086100" cy="3086100"/>
            <a:chOff x="0" y="0"/>
            <a:chExt cx="660400" cy="66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3021" y="1886344"/>
            <a:ext cx="16292407" cy="431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working principle of mass-sensitive sensors, like QCM or microcantilever sensors, relies on the fact that the resonant frequency of a crystal changes upon adding mass to its surface.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a chemical substance binds to the surface of the sensor, even minute changes in mass create measurable frequency shifts.</a:t>
            </a:r>
          </a:p>
          <a:p>
            <a:pPr algn="l">
              <a:lnSpc>
                <a:spcPts val="4900"/>
              </a:lnSpc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136329" y="380684"/>
            <a:ext cx="12015341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400" dirty="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Mass-sensitive sensors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021" y="6098588"/>
            <a:ext cx="16292407" cy="307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</a:t>
            </a:r>
            <a:r>
              <a:rPr lang="en-US" sz="3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Air pollution detection: particulates and VOCs.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Monitoring of surface adsorption in biological or chemical reactions.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Thin film deposition control in industries.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052877"/>
            <a:ext cx="15851075" cy="868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biosensor refers to a chemical sensor that utilizes a biological element, such as enzymes, antibodies, or DNA, for the recognition component.</a:t>
            </a:r>
          </a:p>
          <a:p>
            <a:pPr algn="l">
              <a:lnSpc>
                <a:spcPts val="4031"/>
              </a:lnSpc>
            </a:pPr>
            <a:endParaRPr lang="en-US" sz="28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31"/>
              </a:lnSpc>
            </a:pPr>
            <a:r>
              <a:rPr lang="en-US" sz="2879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Parts:</a:t>
            </a:r>
          </a:p>
          <a:p>
            <a:pPr marL="621656" lvl="1" indent="-310828" algn="l">
              <a:lnSpc>
                <a:spcPts val="4031"/>
              </a:lnSpc>
              <a:buFont typeface="Arial"/>
              <a:buChar char="•"/>
            </a:pPr>
            <a:r>
              <a:rPr lang="en-US" sz="28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Biological Component:</a:t>
            </a: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Conveys specificity; </a:t>
            </a:r>
          </a:p>
          <a:p>
            <a:pPr algn="l">
              <a:lnSpc>
                <a:spcPts val="4031"/>
              </a:lnSpc>
            </a:pP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that is, the enzyme reacts with substrate.</a:t>
            </a:r>
          </a:p>
          <a:p>
            <a:pPr algn="l">
              <a:lnSpc>
                <a:spcPts val="4031"/>
              </a:lnSpc>
            </a:pPr>
            <a:endParaRPr lang="en-US" sz="28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1656" lvl="1" indent="-310828" algn="l">
              <a:lnSpc>
                <a:spcPts val="4031"/>
              </a:lnSpc>
              <a:buFont typeface="Arial"/>
              <a:buChar char="•"/>
            </a:pPr>
            <a:r>
              <a:rPr lang="en-US" sz="28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Transducer:</a:t>
            </a: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Biological reaction converted to </a:t>
            </a:r>
          </a:p>
          <a:p>
            <a:pPr algn="l">
              <a:lnSpc>
                <a:spcPts val="4031"/>
              </a:lnSpc>
            </a:pP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measurable signal.</a:t>
            </a:r>
          </a:p>
          <a:p>
            <a:pPr algn="l">
              <a:lnSpc>
                <a:spcPts val="4031"/>
              </a:lnSpc>
            </a:pPr>
            <a:endParaRPr lang="en-US" sz="28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31"/>
              </a:lnSpc>
            </a:pPr>
            <a:r>
              <a:rPr lang="en-US" sz="2879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l">
              <a:lnSpc>
                <a:spcPts val="4031"/>
              </a:lnSpc>
            </a:pP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enzyme glucose oxidase, employed by the glucose biosensor, reacts with glucose to produce hydrogen peroxide. The resulting current is proportional to glucose concentration.</a:t>
            </a:r>
          </a:p>
          <a:p>
            <a:pPr algn="l">
              <a:lnSpc>
                <a:spcPts val="4031"/>
              </a:lnSpc>
            </a:pPr>
            <a:endParaRPr lang="en-US" sz="28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31"/>
              </a:lnSpc>
            </a:pPr>
            <a:r>
              <a:rPr lang="en-US" sz="2879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Applications:</a:t>
            </a:r>
          </a:p>
          <a:p>
            <a:pPr algn="l">
              <a:lnSpc>
                <a:spcPts val="4031"/>
              </a:lnSpc>
            </a:pPr>
            <a:r>
              <a:rPr lang="en-US" sz="28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Medical diagnosis, quality control of food, and environmental monitoring.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803248" y="2336172"/>
            <a:ext cx="7609739" cy="4038445"/>
            <a:chOff x="0" y="0"/>
            <a:chExt cx="2004211" cy="10636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04211" cy="1063623"/>
            </a:xfrm>
            <a:custGeom>
              <a:avLst/>
              <a:gdLst/>
              <a:ahLst/>
              <a:cxnLst/>
              <a:rect l="l" t="t" r="r" b="b"/>
              <a:pathLst>
                <a:path w="2004211" h="1063623">
                  <a:moveTo>
                    <a:pt x="29504" y="0"/>
                  </a:moveTo>
                  <a:lnTo>
                    <a:pt x="1974707" y="0"/>
                  </a:lnTo>
                  <a:cubicBezTo>
                    <a:pt x="1982532" y="0"/>
                    <a:pt x="1990036" y="3108"/>
                    <a:pt x="1995569" y="8641"/>
                  </a:cubicBezTo>
                  <a:cubicBezTo>
                    <a:pt x="2001103" y="14174"/>
                    <a:pt x="2004211" y="21679"/>
                    <a:pt x="2004211" y="29504"/>
                  </a:cubicBezTo>
                  <a:lnTo>
                    <a:pt x="2004211" y="1034120"/>
                  </a:lnTo>
                  <a:cubicBezTo>
                    <a:pt x="2004211" y="1050414"/>
                    <a:pt x="1991002" y="1063623"/>
                    <a:pt x="1974707" y="1063623"/>
                  </a:cubicBezTo>
                  <a:lnTo>
                    <a:pt x="29504" y="1063623"/>
                  </a:lnTo>
                  <a:cubicBezTo>
                    <a:pt x="13209" y="1063623"/>
                    <a:pt x="0" y="1050414"/>
                    <a:pt x="0" y="1034120"/>
                  </a:cubicBezTo>
                  <a:lnTo>
                    <a:pt x="0" y="29504"/>
                  </a:lnTo>
                  <a:cubicBezTo>
                    <a:pt x="0" y="13209"/>
                    <a:pt x="13209" y="0"/>
                    <a:pt x="29504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04211" cy="1101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962511" y="2469523"/>
            <a:ext cx="7291213" cy="3771743"/>
          </a:xfrm>
          <a:custGeom>
            <a:avLst/>
            <a:gdLst/>
            <a:ahLst/>
            <a:cxnLst/>
            <a:rect l="l" t="t" r="r" b="b"/>
            <a:pathLst>
              <a:path w="7291213" h="3771743">
                <a:moveTo>
                  <a:pt x="0" y="0"/>
                </a:moveTo>
                <a:lnTo>
                  <a:pt x="7291213" y="0"/>
                </a:lnTo>
                <a:lnTo>
                  <a:pt x="7291213" y="3771743"/>
                </a:lnTo>
                <a:lnTo>
                  <a:pt x="0" y="3771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85" b="-98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174581" y="83992"/>
            <a:ext cx="5938838" cy="85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BIO SENSORS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59924" y="1970993"/>
            <a:ext cx="3191348" cy="3029790"/>
            <a:chOff x="0" y="0"/>
            <a:chExt cx="903894" cy="8581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3894" cy="858135"/>
            </a:xfrm>
            <a:custGeom>
              <a:avLst/>
              <a:gdLst/>
              <a:ahLst/>
              <a:cxnLst/>
              <a:rect l="l" t="t" r="r" b="b"/>
              <a:pathLst>
                <a:path w="903894" h="858135">
                  <a:moveTo>
                    <a:pt x="65500" y="0"/>
                  </a:moveTo>
                  <a:lnTo>
                    <a:pt x="838394" y="0"/>
                  </a:lnTo>
                  <a:cubicBezTo>
                    <a:pt x="874569" y="0"/>
                    <a:pt x="903894" y="29325"/>
                    <a:pt x="903894" y="65500"/>
                  </a:cubicBezTo>
                  <a:lnTo>
                    <a:pt x="903894" y="792636"/>
                  </a:lnTo>
                  <a:cubicBezTo>
                    <a:pt x="903894" y="810007"/>
                    <a:pt x="896993" y="826667"/>
                    <a:pt x="884709" y="838951"/>
                  </a:cubicBezTo>
                  <a:cubicBezTo>
                    <a:pt x="872426" y="851234"/>
                    <a:pt x="855766" y="858135"/>
                    <a:pt x="838394" y="858135"/>
                  </a:cubicBezTo>
                  <a:lnTo>
                    <a:pt x="65500" y="858135"/>
                  </a:lnTo>
                  <a:cubicBezTo>
                    <a:pt x="29325" y="858135"/>
                    <a:pt x="0" y="828810"/>
                    <a:pt x="0" y="792636"/>
                  </a:cubicBezTo>
                  <a:lnTo>
                    <a:pt x="0" y="65500"/>
                  </a:lnTo>
                  <a:cubicBezTo>
                    <a:pt x="0" y="29325"/>
                    <a:pt x="29325" y="0"/>
                    <a:pt x="65500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3894" cy="8962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952967" y="2060679"/>
            <a:ext cx="3005261" cy="2860389"/>
          </a:xfrm>
          <a:custGeom>
            <a:avLst/>
            <a:gdLst/>
            <a:ahLst/>
            <a:cxnLst/>
            <a:rect l="l" t="t" r="r" b="b"/>
            <a:pathLst>
              <a:path w="3005261" h="2860389">
                <a:moveTo>
                  <a:pt x="0" y="0"/>
                </a:moveTo>
                <a:lnTo>
                  <a:pt x="3005261" y="0"/>
                </a:lnTo>
                <a:lnTo>
                  <a:pt x="3005261" y="2860389"/>
                </a:lnTo>
                <a:lnTo>
                  <a:pt x="0" y="2860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39" r="-369" b="-10432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214899" y="5399861"/>
            <a:ext cx="4481398" cy="3229872"/>
            <a:chOff x="0" y="0"/>
            <a:chExt cx="1269278" cy="9148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9278" cy="914805"/>
            </a:xfrm>
            <a:custGeom>
              <a:avLst/>
              <a:gdLst/>
              <a:ahLst/>
              <a:cxnLst/>
              <a:rect l="l" t="t" r="r" b="b"/>
              <a:pathLst>
                <a:path w="1269278" h="914805">
                  <a:moveTo>
                    <a:pt x="46644" y="0"/>
                  </a:moveTo>
                  <a:lnTo>
                    <a:pt x="1222633" y="0"/>
                  </a:lnTo>
                  <a:cubicBezTo>
                    <a:pt x="1248394" y="0"/>
                    <a:pt x="1269278" y="20883"/>
                    <a:pt x="1269278" y="46644"/>
                  </a:cubicBezTo>
                  <a:lnTo>
                    <a:pt x="1269278" y="868160"/>
                  </a:lnTo>
                  <a:cubicBezTo>
                    <a:pt x="1269278" y="893921"/>
                    <a:pt x="1248394" y="914805"/>
                    <a:pt x="1222633" y="914805"/>
                  </a:cubicBezTo>
                  <a:lnTo>
                    <a:pt x="46644" y="914805"/>
                  </a:lnTo>
                  <a:cubicBezTo>
                    <a:pt x="20883" y="914805"/>
                    <a:pt x="0" y="893921"/>
                    <a:pt x="0" y="868160"/>
                  </a:cubicBezTo>
                  <a:lnTo>
                    <a:pt x="0" y="46644"/>
                  </a:lnTo>
                  <a:cubicBezTo>
                    <a:pt x="0" y="20883"/>
                    <a:pt x="20883" y="0"/>
                    <a:pt x="46644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269278" cy="952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325017" y="5485586"/>
            <a:ext cx="4200207" cy="3057113"/>
          </a:xfrm>
          <a:custGeom>
            <a:avLst/>
            <a:gdLst/>
            <a:ahLst/>
            <a:cxnLst/>
            <a:rect l="l" t="t" r="r" b="b"/>
            <a:pathLst>
              <a:path w="4200207" h="3057113">
                <a:moveTo>
                  <a:pt x="0" y="0"/>
                </a:moveTo>
                <a:lnTo>
                  <a:pt x="4200208" y="0"/>
                </a:lnTo>
                <a:lnTo>
                  <a:pt x="4200208" y="3057113"/>
                </a:lnTo>
                <a:lnTo>
                  <a:pt x="0" y="305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61819" y="295640"/>
            <a:ext cx="13764361" cy="78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Environmental Applications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9891" y="1781850"/>
            <a:ext cx="11623412" cy="236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Chemical sensors are the backbone in detection and observation of environmental pollutants and the upkeep of ecosystem health. These sensors provide a key platform during environmental monitoring for the identification and quantification of hazardous materials in air, water, and soil with accuracy and speed.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9891" y="4523145"/>
            <a:ext cx="11705929" cy="475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 u="sng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Their applications are :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i) </a:t>
            </a:r>
            <a:r>
              <a:rPr lang="en-US" sz="2699" b="1" u="sng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Air Quality Monitoring:</a:t>
            </a: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It detects the presence of toxic gases like carbon monoxide (CO), nitrogen dioxide (NO₂), and sulfur dioxide (SO₂), generally emitted from vehicles and industries, which are major air pollutants.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ii) </a:t>
            </a:r>
            <a:r>
              <a:rPr lang="en-US" sz="2699" b="1" u="sng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Water Quality: </a:t>
            </a: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collection of information about heavy metal ions (such as lead, mercury, cadmium), dissolved oxygen, and pH in water bodies helps track contamination levels and ensures appropriate management of water.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723463" y="4962683"/>
            <a:ext cx="3231853" cy="32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1910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AQM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65612" y="8667833"/>
            <a:ext cx="7547556" cy="32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sz="1911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CHEMICAL SENSORS FOR WATER QUALITY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785878" y="8411075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97417" y="1895475"/>
            <a:ext cx="6136580" cy="3248025"/>
            <a:chOff x="0" y="0"/>
            <a:chExt cx="1616219" cy="8554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16219" cy="855447"/>
            </a:xfrm>
            <a:custGeom>
              <a:avLst/>
              <a:gdLst/>
              <a:ahLst/>
              <a:cxnLst/>
              <a:rect l="l" t="t" r="r" b="b"/>
              <a:pathLst>
                <a:path w="1616219" h="855447">
                  <a:moveTo>
                    <a:pt x="63080" y="0"/>
                  </a:moveTo>
                  <a:lnTo>
                    <a:pt x="1553139" y="0"/>
                  </a:lnTo>
                  <a:cubicBezTo>
                    <a:pt x="1587977" y="0"/>
                    <a:pt x="1616219" y="28242"/>
                    <a:pt x="1616219" y="63080"/>
                  </a:cubicBezTo>
                  <a:lnTo>
                    <a:pt x="1616219" y="792367"/>
                  </a:lnTo>
                  <a:cubicBezTo>
                    <a:pt x="1616219" y="809097"/>
                    <a:pt x="1609573" y="825141"/>
                    <a:pt x="1597743" y="836971"/>
                  </a:cubicBezTo>
                  <a:cubicBezTo>
                    <a:pt x="1585913" y="848801"/>
                    <a:pt x="1569868" y="855447"/>
                    <a:pt x="1553139" y="855447"/>
                  </a:cubicBezTo>
                  <a:lnTo>
                    <a:pt x="63080" y="855447"/>
                  </a:lnTo>
                  <a:cubicBezTo>
                    <a:pt x="28242" y="855447"/>
                    <a:pt x="0" y="827205"/>
                    <a:pt x="0" y="792367"/>
                  </a:cubicBezTo>
                  <a:lnTo>
                    <a:pt x="0" y="63080"/>
                  </a:lnTo>
                  <a:cubicBezTo>
                    <a:pt x="0" y="28242"/>
                    <a:pt x="28242" y="0"/>
                    <a:pt x="63080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16219" cy="89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627005" y="2006290"/>
            <a:ext cx="5872976" cy="3029694"/>
          </a:xfrm>
          <a:custGeom>
            <a:avLst/>
            <a:gdLst/>
            <a:ahLst/>
            <a:cxnLst/>
            <a:rect l="l" t="t" r="r" b="b"/>
            <a:pathLst>
              <a:path w="5872976" h="3029694">
                <a:moveTo>
                  <a:pt x="0" y="0"/>
                </a:moveTo>
                <a:lnTo>
                  <a:pt x="5872975" y="0"/>
                </a:lnTo>
                <a:lnTo>
                  <a:pt x="5872975" y="3029694"/>
                </a:lnTo>
                <a:lnTo>
                  <a:pt x="0" y="3029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35" t="-3235" r="-6190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1497417" y="5566408"/>
            <a:ext cx="6136580" cy="3248025"/>
            <a:chOff x="0" y="0"/>
            <a:chExt cx="1616219" cy="85544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6219" cy="855447"/>
            </a:xfrm>
            <a:custGeom>
              <a:avLst/>
              <a:gdLst/>
              <a:ahLst/>
              <a:cxnLst/>
              <a:rect l="l" t="t" r="r" b="b"/>
              <a:pathLst>
                <a:path w="1616219" h="855447">
                  <a:moveTo>
                    <a:pt x="63080" y="0"/>
                  </a:moveTo>
                  <a:lnTo>
                    <a:pt x="1553139" y="0"/>
                  </a:lnTo>
                  <a:cubicBezTo>
                    <a:pt x="1587977" y="0"/>
                    <a:pt x="1616219" y="28242"/>
                    <a:pt x="1616219" y="63080"/>
                  </a:cubicBezTo>
                  <a:lnTo>
                    <a:pt x="1616219" y="792367"/>
                  </a:lnTo>
                  <a:cubicBezTo>
                    <a:pt x="1616219" y="809097"/>
                    <a:pt x="1609573" y="825141"/>
                    <a:pt x="1597743" y="836971"/>
                  </a:cubicBezTo>
                  <a:cubicBezTo>
                    <a:pt x="1585913" y="848801"/>
                    <a:pt x="1569868" y="855447"/>
                    <a:pt x="1553139" y="855447"/>
                  </a:cubicBezTo>
                  <a:lnTo>
                    <a:pt x="63080" y="855447"/>
                  </a:lnTo>
                  <a:cubicBezTo>
                    <a:pt x="28242" y="855447"/>
                    <a:pt x="0" y="827205"/>
                    <a:pt x="0" y="792367"/>
                  </a:cubicBezTo>
                  <a:lnTo>
                    <a:pt x="0" y="63080"/>
                  </a:lnTo>
                  <a:cubicBezTo>
                    <a:pt x="0" y="28242"/>
                    <a:pt x="28242" y="0"/>
                    <a:pt x="63080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16219" cy="893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1627005" y="5664777"/>
            <a:ext cx="5850177" cy="3051287"/>
          </a:xfrm>
          <a:custGeom>
            <a:avLst/>
            <a:gdLst/>
            <a:ahLst/>
            <a:cxnLst/>
            <a:rect l="l" t="t" r="r" b="b"/>
            <a:pathLst>
              <a:path w="5850177" h="3051287">
                <a:moveTo>
                  <a:pt x="0" y="0"/>
                </a:moveTo>
                <a:lnTo>
                  <a:pt x="5850176" y="0"/>
                </a:lnTo>
                <a:lnTo>
                  <a:pt x="5850176" y="3051287"/>
                </a:lnTo>
                <a:lnTo>
                  <a:pt x="0" y="3051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864" b="-45864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76810" y="2025015"/>
            <a:ext cx="10498082" cy="665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iii) </a:t>
            </a:r>
            <a:r>
              <a:rPr lang="en-US" sz="2699" b="1" u="sng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Soil Contamination Studies:</a:t>
            </a:r>
            <a:r>
              <a:rPr lang="en-US" sz="2699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Measuring pesticide residues, fertilizers, and other agrochemical traces that can degrade soil health and affect crop productivity.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iv) </a:t>
            </a:r>
            <a:r>
              <a:rPr lang="en-US" sz="2699" b="1" u="sng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Industrial Emission Control:</a:t>
            </a:r>
            <a:r>
              <a:rPr lang="en-US" sz="2699" b="1" u="none" strike="noStrik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Continuous real-time monitoring of industrial exhaust and effluents for compliance with environmental regulations, minimization of ecological harm.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sz="2699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Offering fast, on-site, and inexpensive evaluations, chemical sensors eliminate dependence on elaborate and time-consuming laboratory analyses. Chemical sensors, which can be applied to early pollution detection and environmental protection, are thus indispensable for adequate management of ecosystems in a sustainable manner.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50759" y="295640"/>
            <a:ext cx="13764361" cy="786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Environmental Applications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7005" y="5104029"/>
            <a:ext cx="6201525" cy="35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CHEMICAL SENSORS FOR SOIL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77107" y="8881108"/>
            <a:ext cx="637720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SENSORS FOR INDUSTRIAL EMISSION CONTROL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81748" y="296822"/>
            <a:ext cx="13124504" cy="1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Industrial and Engineering Applications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1241" y="2477793"/>
            <a:ext cx="14845519" cy="649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Chemical sensors are integrated into automated systems for process optimization and quality control.</a:t>
            </a:r>
          </a:p>
          <a:p>
            <a:pPr algn="l">
              <a:lnSpc>
                <a:spcPts val="4334"/>
              </a:lnSpc>
            </a:pPr>
            <a:endParaRPr lang="en-US" sz="309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34"/>
              </a:lnSpc>
            </a:pPr>
            <a:r>
              <a:rPr lang="en-US" sz="3095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include:</a:t>
            </a:r>
          </a:p>
          <a:p>
            <a:pPr marL="668407" lvl="1" indent="-334203" algn="l">
              <a:lnSpc>
                <a:spcPts val="4334"/>
              </a:lnSpc>
              <a:buFont typeface="Arial"/>
              <a:buChar char="•"/>
            </a:pPr>
            <a:r>
              <a:rPr lang="en-US" sz="309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Control:</a:t>
            </a: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Concentration monitoring of chemical reactors.</a:t>
            </a:r>
          </a:p>
          <a:p>
            <a:pPr marL="668407" lvl="1" indent="-334203" algn="l">
              <a:lnSpc>
                <a:spcPts val="4334"/>
              </a:lnSpc>
              <a:buFont typeface="Arial"/>
              <a:buChar char="•"/>
            </a:pPr>
            <a:r>
              <a:rPr lang="en-US" sz="309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Leak Detection: </a:t>
            </a: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Gas or chemical leak detection within pipelines.</a:t>
            </a:r>
          </a:p>
          <a:p>
            <a:pPr marL="668407" lvl="1" indent="-334203" algn="l">
              <a:lnSpc>
                <a:spcPts val="4334"/>
              </a:lnSpc>
              <a:buFont typeface="Arial"/>
              <a:buChar char="•"/>
            </a:pPr>
            <a:r>
              <a:rPr lang="en-US" sz="309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Food and Beverage Industry</a:t>
            </a: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Monitoring fermentation and spoilage indicators.</a:t>
            </a:r>
          </a:p>
          <a:p>
            <a:pPr marL="668407" lvl="1" indent="-334203" algn="l">
              <a:lnSpc>
                <a:spcPts val="4334"/>
              </a:lnSpc>
              <a:buFont typeface="Arial"/>
              <a:buChar char="•"/>
            </a:pPr>
            <a:r>
              <a:rPr lang="en-US" sz="309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Petrochemical Plants:</a:t>
            </a: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Hydrocarbon and combustion gas measurement.</a:t>
            </a:r>
          </a:p>
          <a:p>
            <a:pPr algn="l">
              <a:lnSpc>
                <a:spcPts val="4334"/>
              </a:lnSpc>
            </a:pPr>
            <a:endParaRPr lang="en-US" sz="309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334"/>
              </a:lnSpc>
            </a:pP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They help industries to reduce waste, improve safety, and maintain consistent product quality.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81748" y="292123"/>
            <a:ext cx="13124504" cy="1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Emerging Technologies in Chemical Sensing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050" y="2336788"/>
            <a:ext cx="15201900" cy="595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31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</a:t>
            </a:r>
            <a:r>
              <a:rPr lang="en-US" sz="31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Nanomaterials:</a:t>
            </a:r>
          </a:p>
          <a:p>
            <a:pPr algn="l">
              <a:lnSpc>
                <a:spcPts val="4345"/>
              </a:lnSpc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Advanced materials like graphene, carbon nanotubes, and metal nanoparticles enhance sensitivity, selectivity, and response time due to their high surface area and conductivity, enabling trace-level detection.</a:t>
            </a:r>
          </a:p>
          <a:p>
            <a:pPr algn="l">
              <a:lnSpc>
                <a:spcPts val="4345"/>
              </a:lnSpc>
            </a:pPr>
            <a:r>
              <a:rPr lang="en-US" sz="31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31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MEMS and NEMS Integration</a:t>
            </a:r>
            <a:r>
              <a:rPr lang="en-US" sz="31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4345"/>
              </a:lnSpc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Miniaturized sensors using MEMS and NEMS are making portable and wearable chemical sensors possible, widely used in environmental and biomedical monitoring.</a:t>
            </a:r>
          </a:p>
          <a:p>
            <a:pPr algn="l">
              <a:lnSpc>
                <a:spcPts val="4345"/>
              </a:lnSpc>
            </a:pPr>
            <a:r>
              <a:rPr lang="en-US" sz="31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</a:t>
            </a:r>
            <a:r>
              <a:rPr lang="en-US" sz="31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Wireless &amp; IoT Sensors</a:t>
            </a:r>
            <a:r>
              <a:rPr lang="en-US" sz="31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4345"/>
              </a:lnSpc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IoT platforms enables real-time data transmission, remote monitoring, and cloud-based analysis, improving accessibility and automation.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81748" y="187960"/>
            <a:ext cx="13124504" cy="1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Emerging Technologies in Chemical Sensing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050" y="1976863"/>
            <a:ext cx="15201900" cy="728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</a:t>
            </a:r>
            <a:r>
              <a:rPr lang="en-US" sz="32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 (AI)</a:t>
            </a: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and machine learning assist in pattern recognition, noise reduction, and predictive analysis, helping sensors self-calibrate and improve accuracy over time.</a:t>
            </a:r>
          </a:p>
          <a:p>
            <a:pPr algn="l">
              <a:lnSpc>
                <a:spcPts val="4485"/>
              </a:lnSpc>
            </a:pPr>
            <a:endParaRPr lang="en-US" sz="320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485"/>
              </a:lnSpc>
            </a:pP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</a:t>
            </a:r>
            <a:r>
              <a:rPr lang="en-US" sz="32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Ahead</a:t>
            </a: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issues include sensor fouling, long-term stability, and calibration in complex biological samples, which limit large-scale applications.</a:t>
            </a:r>
          </a:p>
          <a:p>
            <a:pPr algn="l">
              <a:lnSpc>
                <a:spcPts val="4485"/>
              </a:lnSpc>
            </a:pPr>
            <a:endParaRPr lang="en-US" sz="320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485"/>
              </a:lnSpc>
            </a:pP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</a:t>
            </a:r>
            <a:r>
              <a:rPr lang="en-US" sz="3204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Future</a:t>
            </a:r>
            <a:r>
              <a:rPr lang="en-US" sz="320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4485"/>
              </a:lnSpc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next generation of sensors will be self-calibrating, networked, and intelligent, driving advancements in healthcare, industry, and environmental protection.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532332"/>
            <a:ext cx="12101300" cy="7521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92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&amp; Development: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development of efficient, miniaturized low-cost chemical sensors relies on the contribution of engineers in terms of using advanced materials and technologies.</a:t>
            </a:r>
          </a:p>
          <a:p>
            <a:pPr algn="l">
              <a:lnSpc>
                <a:spcPts val="3349"/>
              </a:lnSpc>
            </a:pPr>
            <a:r>
              <a:rPr lang="en-US" sz="2392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Automation &amp; Integration: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computer and electronics engineers integrate sensors into automated systems, IoT networks, and smart devices for real-time monitoring and control.</a:t>
            </a:r>
          </a:p>
          <a:p>
            <a:pPr algn="l">
              <a:lnSpc>
                <a:spcPts val="3349"/>
              </a:lnSpc>
            </a:pPr>
            <a:r>
              <a:rPr lang="en-US" sz="2392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 &amp; AI: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Computer engineers develop algorithms for signal analysis, calibration, and pattern recognition using AI and machine learning in order to enhance sensor accuracy and reliability.</a:t>
            </a:r>
          </a:p>
          <a:p>
            <a:pPr algn="l">
              <a:lnSpc>
                <a:spcPts val="3349"/>
              </a:lnSpc>
            </a:pPr>
            <a:r>
              <a:rPr lang="en-US" sz="2392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Sustainability &amp; Safety: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work of the engineer guarantees that sensor systems contribute to environmental protection, industrial safety, and sustainable development by allowing early detection of pollutants and hazardous substances.</a:t>
            </a:r>
          </a:p>
          <a:p>
            <a:pPr algn="l">
              <a:lnSpc>
                <a:spcPts val="3349"/>
              </a:lnSpc>
            </a:pPr>
            <a:r>
              <a:rPr lang="en-US" sz="2392" b="1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Interdisciplinary Collaboration: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Chemical, electrical, and computer engineers come together in order to bridge material science with data analytics and system design, enabling state-of-the-art technologies that are smarter, greener, and more connected.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216933" y="3044484"/>
            <a:ext cx="4559701" cy="4725880"/>
            <a:chOff x="0" y="0"/>
            <a:chExt cx="1200909" cy="12446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0909" cy="1244676"/>
            </a:xfrm>
            <a:custGeom>
              <a:avLst/>
              <a:gdLst/>
              <a:ahLst/>
              <a:cxnLst/>
              <a:rect l="l" t="t" r="r" b="b"/>
              <a:pathLst>
                <a:path w="1200909" h="1244676">
                  <a:moveTo>
                    <a:pt x="22073" y="0"/>
                  </a:moveTo>
                  <a:lnTo>
                    <a:pt x="1178836" y="0"/>
                  </a:lnTo>
                  <a:cubicBezTo>
                    <a:pt x="1191027" y="0"/>
                    <a:pt x="1200909" y="9882"/>
                    <a:pt x="1200909" y="22073"/>
                  </a:cubicBezTo>
                  <a:lnTo>
                    <a:pt x="1200909" y="1222603"/>
                  </a:lnTo>
                  <a:cubicBezTo>
                    <a:pt x="1200909" y="1234794"/>
                    <a:pt x="1191027" y="1244676"/>
                    <a:pt x="1178836" y="1244676"/>
                  </a:cubicBezTo>
                  <a:lnTo>
                    <a:pt x="22073" y="1244676"/>
                  </a:lnTo>
                  <a:cubicBezTo>
                    <a:pt x="9882" y="1244676"/>
                    <a:pt x="0" y="1234794"/>
                    <a:pt x="0" y="1222603"/>
                  </a:cubicBezTo>
                  <a:lnTo>
                    <a:pt x="0" y="22073"/>
                  </a:lnTo>
                  <a:cubicBezTo>
                    <a:pt x="0" y="9882"/>
                    <a:pt x="9882" y="0"/>
                    <a:pt x="22073" y="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00909" cy="12827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323212" y="3139958"/>
            <a:ext cx="4347142" cy="4534931"/>
          </a:xfrm>
          <a:custGeom>
            <a:avLst/>
            <a:gdLst/>
            <a:ahLst/>
            <a:cxnLst/>
            <a:rect l="l" t="t" r="r" b="b"/>
            <a:pathLst>
              <a:path w="4347142" h="4534931">
                <a:moveTo>
                  <a:pt x="0" y="0"/>
                </a:moveTo>
                <a:lnTo>
                  <a:pt x="4347142" y="0"/>
                </a:lnTo>
                <a:lnTo>
                  <a:pt x="4347142" y="4534931"/>
                </a:lnTo>
                <a:lnTo>
                  <a:pt x="0" y="4534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406" r="-1621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05354" y="346016"/>
            <a:ext cx="16077292" cy="69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sz="3766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Role of Engineers in Sensor Innovation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1725930"/>
            <a:ext cx="18288000" cy="7018020"/>
          </a:xfrm>
          <a:custGeom>
            <a:avLst/>
            <a:gdLst/>
            <a:ahLst/>
            <a:cxnLst/>
            <a:rect l="l" t="t" r="r" b="b"/>
            <a:pathLst>
              <a:path w="18288000" h="7018020">
                <a:moveTo>
                  <a:pt x="0" y="0"/>
                </a:moveTo>
                <a:lnTo>
                  <a:pt x="18288000" y="0"/>
                </a:lnTo>
                <a:lnTo>
                  <a:pt x="18288000" y="7018020"/>
                </a:lnTo>
                <a:lnTo>
                  <a:pt x="0" y="7018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-888472" y="321675"/>
            <a:ext cx="20064943" cy="74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The Road Ahead for Chemical Sensing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320516" y="-787671"/>
            <a:ext cx="3086100" cy="3086100"/>
            <a:chOff x="0" y="0"/>
            <a:chExt cx="660400" cy="66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660400"/>
            </a:xfrm>
            <a:custGeom>
              <a:avLst/>
              <a:gdLst/>
              <a:ahLst/>
              <a:cxnLst/>
              <a:rect l="l" t="t" r="r" b="b"/>
              <a:pathLst>
                <a:path w="660400" h="660400">
                  <a:moveTo>
                    <a:pt x="660400" y="167989"/>
                  </a:moveTo>
                  <a:cubicBezTo>
                    <a:pt x="569492" y="77081"/>
                    <a:pt x="423464" y="75292"/>
                    <a:pt x="330286" y="162297"/>
                  </a:cubicBezTo>
                  <a:lnTo>
                    <a:pt x="167989" y="0"/>
                  </a:lnTo>
                  <a:cubicBezTo>
                    <a:pt x="77081" y="90908"/>
                    <a:pt x="75292" y="236936"/>
                    <a:pt x="162297" y="330114"/>
                  </a:cubicBezTo>
                  <a:lnTo>
                    <a:pt x="0" y="492411"/>
                  </a:lnTo>
                  <a:cubicBezTo>
                    <a:pt x="90908" y="583319"/>
                    <a:pt x="236936" y="585108"/>
                    <a:pt x="330114" y="498103"/>
                  </a:cubicBezTo>
                  <a:lnTo>
                    <a:pt x="492411" y="660400"/>
                  </a:lnTo>
                  <a:cubicBezTo>
                    <a:pt x="583319" y="569492"/>
                    <a:pt x="585108" y="423464"/>
                    <a:pt x="498103" y="330286"/>
                  </a:cubicBezTo>
                  <a:lnTo>
                    <a:pt x="660400" y="167989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65100" y="1270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8428482"/>
            <a:ext cx="3086100" cy="3086100"/>
            <a:chOff x="0" y="0"/>
            <a:chExt cx="6985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500" y="349250"/>
                  </a:moveTo>
                  <a:cubicBezTo>
                    <a:pt x="588476" y="313379"/>
                    <a:pt x="502341" y="175825"/>
                    <a:pt x="479908" y="0"/>
                  </a:cubicBezTo>
                  <a:cubicBezTo>
                    <a:pt x="463950" y="125312"/>
                    <a:pt x="415552" y="231178"/>
                    <a:pt x="349250" y="294716"/>
                  </a:cubicBezTo>
                  <a:cubicBezTo>
                    <a:pt x="282948" y="231178"/>
                    <a:pt x="234550" y="125475"/>
                    <a:pt x="218592" y="0"/>
                  </a:cubicBezTo>
                  <a:cubicBezTo>
                    <a:pt x="196159" y="175825"/>
                    <a:pt x="110024" y="313379"/>
                    <a:pt x="0" y="349250"/>
                  </a:cubicBezTo>
                  <a:cubicBezTo>
                    <a:pt x="110024" y="385121"/>
                    <a:pt x="196159" y="522675"/>
                    <a:pt x="218592" y="698500"/>
                  </a:cubicBezTo>
                  <a:cubicBezTo>
                    <a:pt x="234550" y="573188"/>
                    <a:pt x="282948" y="467322"/>
                    <a:pt x="349250" y="403784"/>
                  </a:cubicBezTo>
                  <a:cubicBezTo>
                    <a:pt x="415552" y="467322"/>
                    <a:pt x="463950" y="573025"/>
                    <a:pt x="479908" y="698500"/>
                  </a:cubicBezTo>
                  <a:cubicBezTo>
                    <a:pt x="502341" y="522675"/>
                    <a:pt x="588476" y="385121"/>
                    <a:pt x="698500" y="349250"/>
                  </a:cubicBez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01600"/>
              <a:ext cx="5461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44950" y="8743950"/>
            <a:ext cx="3086100" cy="3086100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336550" y="0"/>
                  </a:moveTo>
                  <a:cubicBezTo>
                    <a:pt x="429486" y="0"/>
                    <a:pt x="504825" y="75339"/>
                    <a:pt x="504825" y="168275"/>
                  </a:cubicBezTo>
                  <a:cubicBezTo>
                    <a:pt x="597761" y="168275"/>
                    <a:pt x="673100" y="243614"/>
                    <a:pt x="673100" y="336550"/>
                  </a:cubicBezTo>
                  <a:cubicBezTo>
                    <a:pt x="673100" y="429486"/>
                    <a:pt x="597761" y="504825"/>
                    <a:pt x="504825" y="504825"/>
                  </a:cubicBezTo>
                  <a:cubicBezTo>
                    <a:pt x="504825" y="597761"/>
                    <a:pt x="429486" y="673100"/>
                    <a:pt x="336550" y="673100"/>
                  </a:cubicBezTo>
                  <a:cubicBezTo>
                    <a:pt x="243614" y="673100"/>
                    <a:pt x="168275" y="597761"/>
                    <a:pt x="168275" y="504825"/>
                  </a:cubicBezTo>
                  <a:cubicBezTo>
                    <a:pt x="75339" y="504825"/>
                    <a:pt x="0" y="429486"/>
                    <a:pt x="0" y="336550"/>
                  </a:cubicBezTo>
                  <a:cubicBezTo>
                    <a:pt x="0" y="243614"/>
                    <a:pt x="75339" y="168275"/>
                    <a:pt x="168275" y="168275"/>
                  </a:cubicBezTo>
                  <a:cubicBezTo>
                    <a:pt x="168275" y="75339"/>
                    <a:pt x="243614" y="0"/>
                    <a:pt x="336550" y="0"/>
                  </a:cubicBezTo>
                  <a:close/>
                  <a:moveTo>
                    <a:pt x="232997" y="232997"/>
                  </a:moveTo>
                  <a:lnTo>
                    <a:pt x="232997" y="440103"/>
                  </a:lnTo>
                  <a:lnTo>
                    <a:pt x="440103" y="440103"/>
                  </a:lnTo>
                  <a:lnTo>
                    <a:pt x="440103" y="232997"/>
                  </a:lnTo>
                  <a:lnTo>
                    <a:pt x="232997" y="232997"/>
                  </a:lnTo>
                  <a:close/>
                </a:path>
              </a:pathLst>
            </a:custGeom>
            <a:solidFill>
              <a:srgbClr val="4458B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65100" y="127000"/>
              <a:ext cx="342900" cy="381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15671" y="542925"/>
            <a:ext cx="13124504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E2A9F1"/>
                </a:solidFill>
                <a:latin typeface="Horizon"/>
                <a:ea typeface="Horizon"/>
                <a:cs typeface="Horizon"/>
                <a:sym typeface="Horizon"/>
              </a:rPr>
              <a:t>References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95745" y="1902649"/>
            <a:ext cx="14896509" cy="684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“Chemical Sensor – Definition, Working and Types.” Wikipedia: The Free Encyclopedia. Available at: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en.wikipedia.org/wiki/Chemical_sensor"/>
              </a:rPr>
              <a:t>https://en.wikipedia.org/wiki/Chemical_sensor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Eggins, B. R. (2002). Chemical Sensors and Biosensors. John Wiley &amp; Sons, UK.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“Biosensor – Principle, Types and Applications.” Wikipedia: The Free Encyclopedia. Available at: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en.wikipedia.org/wiki/Biosensor"/>
              </a:rPr>
              <a:t>https://en.wikipedia.org/wiki/Biosensor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“Chemical Sensors: An Overview.” AZoSensors (2024). Retrieved from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www.azosensors.com/article.aspx?ArticleID=3120&amp;utm_source=chatgpt.com"/>
              </a:rPr>
              <a:t>https://www.azosensors.com/article.aspx?ArticleID=3120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“Electrochemical Sensors Explained.” ScienceDirect Topics. Available at: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www.sciencedirect.com/topics/chemistry/electrochemical-sensor"/>
              </a:rPr>
              <a:t>https://www.sciencedirect.com/topics/chemistry/electrochemical-sensor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“Optical Chemical Sensors and Their Applications.” Nature Reviews Chemistry. Retrieved from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www.nature.com/articles/s41570-021-00272-5"/>
              </a:rPr>
              <a:t>https://www.nature.com/articles/s41570-021-00272-5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“Recent Advances in Nanomaterial-Based Chemical Sensors.” MDPI – Sensors Journal (2023). Available at: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www.mdpi.com/1424-8220/23/5/2509"/>
              </a:rPr>
              <a:t>https://www.mdpi.com/1424-8220/23/5/2509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“Environmental Applications of Chemical Sensors.” ScienceDirect – Analytical Chemistry Reviews. Available at: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sciencedirect.com/science/article/pii/S0925400521009125"/>
              </a:rPr>
              <a:t>https://www.sciencedirect.com/science/article/pii/S0925400521009125</a:t>
            </a:r>
          </a:p>
          <a:p>
            <a:pPr marL="465789" lvl="1" indent="-232894" algn="l">
              <a:lnSpc>
                <a:spcPts val="3020"/>
              </a:lnSpc>
              <a:buFont typeface="Arial"/>
              <a:buChar char="•"/>
            </a:pPr>
            <a:r>
              <a:rPr lang="en-US" sz="215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“Wearable Biosensors for Health Monitoring.” Nature Electronics. Retrieved from </a:t>
            </a:r>
            <a:r>
              <a:rPr lang="en-US" sz="2157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nature.com/articles/s41928-022-00738-5"/>
              </a:rPr>
              <a:t>https://www.nature.com/articles/s41928-022-00738-5</a:t>
            </a:r>
          </a:p>
          <a:p>
            <a:pPr algn="l">
              <a:lnSpc>
                <a:spcPts val="3020"/>
              </a:lnSpc>
            </a:pPr>
            <a:endParaRPr lang="en-US" sz="2157" u="sng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  <a:hlinkClick r:id="rId10" tooltip="https://www.nature.com/articles/s41928-022-00738-5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1604</Words>
  <Application>Microsoft Macintosh PowerPoint</Application>
  <PresentationFormat>Custom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Alice Bold</vt:lpstr>
      <vt:lpstr>Arial</vt:lpstr>
      <vt:lpstr>Canva Sans</vt:lpstr>
      <vt:lpstr>Horizon</vt:lpstr>
      <vt:lpstr>Calibri</vt:lpstr>
      <vt:lpstr>Canva Sans Bold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Group Presentation A-12 to A-16</dc:title>
  <cp:lastModifiedBy>Arav Arun</cp:lastModifiedBy>
  <cp:revision>3</cp:revision>
  <dcterms:created xsi:type="dcterms:W3CDTF">2006-08-16T00:00:00Z</dcterms:created>
  <dcterms:modified xsi:type="dcterms:W3CDTF">2025-12-05T13:25:18Z</dcterms:modified>
  <dc:identifier>DAG4K4GHjjI</dc:identifier>
</cp:coreProperties>
</file>