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425" r:id="rId3"/>
    <p:sldId id="409" r:id="rId4"/>
    <p:sldId id="436" r:id="rId5"/>
    <p:sldId id="439" r:id="rId6"/>
    <p:sldId id="440" r:id="rId7"/>
    <p:sldId id="441" r:id="rId8"/>
    <p:sldId id="442" r:id="rId9"/>
    <p:sldId id="258" r:id="rId10"/>
    <p:sldId id="424" r:id="rId11"/>
    <p:sldId id="417" r:id="rId12"/>
    <p:sldId id="426" r:id="rId13"/>
    <p:sldId id="429" r:id="rId14"/>
    <p:sldId id="438" r:id="rId15"/>
    <p:sldId id="432" r:id="rId16"/>
    <p:sldId id="433" r:id="rId17"/>
    <p:sldId id="434" r:id="rId18"/>
    <p:sldId id="435" r:id="rId19"/>
    <p:sldId id="427" r:id="rId20"/>
    <p:sldId id="428" r:id="rId21"/>
    <p:sldId id="430" r:id="rId22"/>
    <p:sldId id="431" r:id="rId23"/>
    <p:sldId id="410" r:id="rId24"/>
    <p:sldId id="26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3AAF27-CBE6-429C-86CA-97A1AEC28732}" v="2100" dt="2020-08-17T08:09:30.0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74" autoAdjust="0"/>
    <p:restoredTop sz="94660"/>
  </p:normalViewPr>
  <p:slideViewPr>
    <p:cSldViewPr snapToGrid="0">
      <p:cViewPr varScale="1">
        <p:scale>
          <a:sx n="128" d="100"/>
          <a:sy n="128" d="100"/>
        </p:scale>
        <p:origin x="608"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4DAE4E-7E98-4A65-90DC-FAE04F84AFE2}" type="datetimeFigureOut">
              <a:rPr lang="en-IN" smtClean="0"/>
              <a:t>02/12/25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2830DF-B8DF-4DB7-9814-8D6CD4C004FD}" type="slidenum">
              <a:rPr lang="en-IN" smtClean="0"/>
              <a:t>‹#›</a:t>
            </a:fld>
            <a:endParaRPr lang="en-IN"/>
          </a:p>
        </p:txBody>
      </p:sp>
    </p:spTree>
    <p:extLst>
      <p:ext uri="{BB962C8B-B14F-4D97-AF65-F5344CB8AC3E}">
        <p14:creationId xmlns:p14="http://schemas.microsoft.com/office/powerpoint/2010/main" val="3795889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38230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689816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F213FC-66C6-4930-AAD8-6C0E37E6E5CB}" type="datetimeFigureOut">
              <a:rPr lang="en-US" smtClean="0"/>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191694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F213FC-66C6-4930-AAD8-6C0E37E6E5CB}" type="datetimeFigureOut">
              <a:rPr lang="en-US" smtClean="0"/>
              <a:t>12/2/25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892962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F213FC-66C6-4930-AAD8-6C0E37E6E5CB}" type="datetimeFigureOut">
              <a:rPr lang="en-US" smtClean="0"/>
              <a:t>12/2/25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4246048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F213FC-66C6-4930-AAD8-6C0E37E6E5CB}" type="datetimeFigureOut">
              <a:rPr lang="en-US" smtClean="0"/>
              <a:t>12/2/25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3156709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F213FC-66C6-4930-AAD8-6C0E37E6E5CB}" type="datetimeFigureOut">
              <a:rPr lang="en-US" smtClean="0"/>
              <a:t>12/2/25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747013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F213FC-66C6-4930-AAD8-6C0E37E6E5CB}" type="datetimeFigureOut">
              <a:rPr lang="en-US" smtClean="0"/>
              <a:t>12/2/25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695381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F213FC-66C6-4930-AAD8-6C0E37E6E5CB}" type="datetimeFigureOut">
              <a:rPr lang="en-US" smtClean="0"/>
              <a:t>12/2/25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352868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66667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F213FC-66C6-4930-AAD8-6C0E37E6E5CB}" type="datetimeFigureOut">
              <a:rPr lang="en-US" smtClean="0"/>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025960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F213FC-66C6-4930-AAD8-6C0E37E6E5CB}" type="datetimeFigureOut">
              <a:rPr lang="en-US" smtClean="0"/>
              <a:t>12/2/25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5E5CB-9241-4665-889D-78B918CC363E}" type="slidenum">
              <a:rPr lang="en-US" smtClean="0"/>
              <a:t>‹#›</a:t>
            </a:fld>
            <a:endParaRPr lang="en-US"/>
          </a:p>
        </p:txBody>
      </p:sp>
    </p:spTree>
    <p:extLst>
      <p:ext uri="{BB962C8B-B14F-4D97-AF65-F5344CB8AC3E}">
        <p14:creationId xmlns:p14="http://schemas.microsoft.com/office/powerpoint/2010/main" val="3473006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jpe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4.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4.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4.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4.jp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4.jp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4.jp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838200" y="365125"/>
            <a:ext cx="10515600" cy="1020055"/>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Autofit/>
          </a:bodyPr>
          <a:lstStyle/>
          <a:p>
            <a:pPr algn="ctr">
              <a:lnSpc>
                <a:spcPct val="100000"/>
              </a:lnSpc>
            </a:pPr>
            <a:r>
              <a:rPr lang="en-US" sz="4000" dirty="0">
                <a:solidFill>
                  <a:srgbClr val="C00000"/>
                </a:solidFill>
                <a:latin typeface="Arial" panose="020B0604020202020204" pitchFamily="34" charset="0"/>
                <a:cs typeface="Arial" panose="020B0604020202020204" pitchFamily="34" charset="0"/>
              </a:rPr>
              <a:t>216U06C105 – Engineering Drawing</a:t>
            </a:r>
            <a:endParaRPr lang="en-US" sz="40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D9CEDE5-3115-42FB-90A3-0727B8EEECC0}"/>
              </a:ext>
            </a:extLst>
          </p:cNvPr>
          <p:cNvSpPr>
            <a:spLocks noGrp="1"/>
          </p:cNvSpPr>
          <p:nvPr>
            <p:ph idx="1"/>
          </p:nvPr>
        </p:nvSpPr>
        <p:spPr>
          <a:xfrm>
            <a:off x="918481" y="1695178"/>
            <a:ext cx="11077575" cy="736600"/>
          </a:xfrm>
        </p:spPr>
        <p:txBody>
          <a:bodyPr>
            <a:noAutofit/>
          </a:bodyPr>
          <a:lstStyle/>
          <a:p>
            <a:pPr marL="0" indent="0">
              <a:buNone/>
            </a:pPr>
            <a:r>
              <a:rPr lang="en-US" sz="6000" dirty="0">
                <a:solidFill>
                  <a:srgbClr val="C00000"/>
                </a:solidFill>
                <a:latin typeface="Marcellus"/>
                <a:cs typeface="Arial" panose="020B0604020202020204" pitchFamily="34" charset="0"/>
              </a:rPr>
              <a:t>Module – I: Projection of planes  </a:t>
            </a:r>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605" y="2219"/>
            <a:ext cx="566958"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567563" y="0"/>
            <a:ext cx="209677"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39" y="5830821"/>
            <a:ext cx="868683" cy="647487"/>
          </a:xfrm>
          <a:prstGeom prst="rect">
            <a:avLst/>
          </a:prstGeom>
        </p:spPr>
      </p:pic>
      <p:pic>
        <p:nvPicPr>
          <p:cNvPr id="6" name="Picture 5" descr="A picture containing drawing&#10;&#10;Description automatically generated">
            <a:extLst>
              <a:ext uri="{FF2B5EF4-FFF2-40B4-BE49-F238E27FC236}">
                <a16:creationId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
        <p:nvSpPr>
          <p:cNvPr id="9" name="Rectangle 8">
            <a:extLst>
              <a:ext uri="{FF2B5EF4-FFF2-40B4-BE49-F238E27FC236}">
                <a16:creationId xmlns:a16="http://schemas.microsoft.com/office/drawing/2014/main" id="{6776D771-9F01-41FC-A564-96E9FB43069D}"/>
              </a:ext>
            </a:extLst>
          </p:cNvPr>
          <p:cNvSpPr/>
          <p:nvPr/>
        </p:nvSpPr>
        <p:spPr>
          <a:xfrm>
            <a:off x="6793547" y="4738549"/>
            <a:ext cx="4245073" cy="1938992"/>
          </a:xfrm>
          <a:prstGeom prst="rect">
            <a:avLst/>
          </a:prstGeom>
        </p:spPr>
        <p:txBody>
          <a:bodyPr wrap="none">
            <a:spAutoFit/>
          </a:bodyPr>
          <a:lstStyle/>
          <a:p>
            <a:r>
              <a:rPr lang="en-US" sz="2000" b="1" dirty="0">
                <a:effectLst>
                  <a:outerShdw blurRad="38100" dist="38100" dir="2700000" algn="tl">
                    <a:srgbClr val="000000">
                      <a:alpha val="43137"/>
                    </a:srgbClr>
                  </a:outerShdw>
                </a:effectLst>
                <a:latin typeface="Times New Roman" pitchFamily="18" charset="0"/>
                <a:cs typeface="Times New Roman" pitchFamily="18" charset="0"/>
              </a:rPr>
              <a:t>Prof. Nidhi Singh</a:t>
            </a:r>
            <a:endParaRPr lang="en-IN" sz="2000" b="1" dirty="0">
              <a:effectLst>
                <a:outerShdw blurRad="38100" dist="38100" dir="2700000" algn="tl">
                  <a:srgbClr val="000000">
                    <a:alpha val="43137"/>
                  </a:srgbClr>
                </a:outerShdw>
              </a:effectLst>
              <a:latin typeface="Times New Roman" pitchFamily="18" charset="0"/>
              <a:cs typeface="Times New Roman" pitchFamily="18" charset="0"/>
            </a:endParaRPr>
          </a:p>
          <a:p>
            <a:r>
              <a:rPr lang="en-US" sz="2000" dirty="0">
                <a:latin typeface="Times New Roman" pitchFamily="18" charset="0"/>
                <a:cs typeface="Times New Roman" pitchFamily="18" charset="0"/>
              </a:rPr>
              <a:t>Assistant Professor</a:t>
            </a:r>
            <a:endParaRPr lang="en-IN" sz="2000" dirty="0">
              <a:latin typeface="Times New Roman" pitchFamily="18" charset="0"/>
              <a:cs typeface="Times New Roman" pitchFamily="18" charset="0"/>
            </a:endParaRPr>
          </a:p>
          <a:p>
            <a:r>
              <a:rPr lang="en-IN" sz="2000" dirty="0">
                <a:latin typeface="Times New Roman" pitchFamily="18" charset="0"/>
                <a:cs typeface="Times New Roman" pitchFamily="18" charset="0"/>
              </a:rPr>
              <a:t>Department of Mechanical Engineering</a:t>
            </a:r>
          </a:p>
          <a:p>
            <a:r>
              <a:rPr lang="en-IN" sz="2000" dirty="0">
                <a:latin typeface="Times New Roman" pitchFamily="18" charset="0"/>
                <a:cs typeface="Times New Roman" pitchFamily="18" charset="0"/>
              </a:rPr>
              <a:t>Room – A301</a:t>
            </a:r>
          </a:p>
          <a:p>
            <a:r>
              <a:rPr lang="en-IN" sz="2000" dirty="0">
                <a:latin typeface="Times New Roman" pitchFamily="18" charset="0"/>
                <a:cs typeface="Times New Roman" pitchFamily="18" charset="0"/>
              </a:rPr>
              <a:t>e-mail – nidhi.singh3@somaiya.edu</a:t>
            </a:r>
          </a:p>
          <a:p>
            <a:r>
              <a:rPr lang="en-IN" sz="2000" dirty="0">
                <a:latin typeface="Times New Roman" pitchFamily="18" charset="0"/>
                <a:cs typeface="Times New Roman" pitchFamily="18" charset="0"/>
              </a:rPr>
              <a:t>Mob. No. 9892678850</a:t>
            </a:r>
          </a:p>
        </p:txBody>
      </p:sp>
    </p:spTree>
    <p:extLst>
      <p:ext uri="{BB962C8B-B14F-4D97-AF65-F5344CB8AC3E}">
        <p14:creationId xmlns:p14="http://schemas.microsoft.com/office/powerpoint/2010/main" val="1855703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382395" y="164348"/>
            <a:ext cx="10674626" cy="1325563"/>
          </a:xfrm>
        </p:spPr>
        <p:txBody>
          <a:bodyPr>
            <a:noAutofit/>
          </a:bodyPr>
          <a:lstStyle/>
          <a:p>
            <a:pPr algn="ctr"/>
            <a:r>
              <a:rPr lang="en-US" sz="3600" dirty="0">
                <a:solidFill>
                  <a:srgbClr val="C00000"/>
                </a:solidFill>
                <a:latin typeface="Arial" panose="020B0604020202020204" pitchFamily="34" charset="0"/>
                <a:cs typeface="Arial" panose="020B0604020202020204" pitchFamily="34" charset="0"/>
              </a:rPr>
              <a:t>Projection of Plane Syllabus</a:t>
            </a:r>
            <a:endParaRPr lang="en-US" sz="3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8153400" y="5696667"/>
            <a:ext cx="525379" cy="1159114"/>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29029" y="6000216"/>
            <a:ext cx="868683" cy="647487"/>
          </a:xfrm>
          <a:prstGeom prst="rect">
            <a:avLst/>
          </a:prstGeom>
        </p:spPr>
      </p:pic>
      <p:pic>
        <p:nvPicPr>
          <p:cNvPr id="2" name="Picture 1">
            <a:extLst>
              <a:ext uri="{FF2B5EF4-FFF2-40B4-BE49-F238E27FC236}">
                <a16:creationId xmlns:a16="http://schemas.microsoft.com/office/drawing/2014/main" id="{C5A6F64A-EE0E-49F0-8E81-2403F1DCE39B}"/>
              </a:ext>
            </a:extLst>
          </p:cNvPr>
          <p:cNvPicPr>
            <a:picLocks noChangeAspect="1"/>
          </p:cNvPicPr>
          <p:nvPr/>
        </p:nvPicPr>
        <p:blipFill>
          <a:blip r:embed="rId5"/>
          <a:stretch>
            <a:fillRect/>
          </a:stretch>
        </p:blipFill>
        <p:spPr>
          <a:xfrm rot="5400000">
            <a:off x="9288343" y="5088647"/>
            <a:ext cx="1159114" cy="2378242"/>
          </a:xfrm>
          <a:prstGeom prst="rect">
            <a:avLst/>
          </a:prstGeom>
        </p:spPr>
      </p:pic>
      <p:pic>
        <p:nvPicPr>
          <p:cNvPr id="10" name="Picture 9" descr="A picture containing drawing&#10;&#10;Description automatically generated">
            <a:extLst>
              <a:ext uri="{FF2B5EF4-FFF2-40B4-BE49-F238E27FC236}">
                <a16:creationId xmlns:a16="http://schemas.microsoft.com/office/drawing/2014/main" id="{6099DB7D-5170-4968-88DD-77E254A0AF1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1602" y="6000216"/>
            <a:ext cx="2656121" cy="664030"/>
          </a:xfrm>
          <a:prstGeom prst="rect">
            <a:avLst/>
          </a:prstGeom>
        </p:spPr>
      </p:pic>
      <p:sp>
        <p:nvSpPr>
          <p:cNvPr id="6" name="Rectangle 5"/>
          <p:cNvSpPr/>
          <p:nvPr/>
        </p:nvSpPr>
        <p:spPr>
          <a:xfrm>
            <a:off x="716280" y="1859280"/>
            <a:ext cx="9784080" cy="1815882"/>
          </a:xfrm>
          <a:prstGeom prst="rect">
            <a:avLst/>
          </a:prstGeom>
        </p:spPr>
        <p:txBody>
          <a:bodyPr wrap="square">
            <a:spAutoFit/>
          </a:bodyPr>
          <a:lstStyle/>
          <a:p>
            <a:pPr algn="just"/>
            <a:r>
              <a:rPr lang="en-US" sz="2800" b="1" dirty="0">
                <a:latin typeface="Marcellus"/>
              </a:rPr>
              <a:t>Projection of Planes: </a:t>
            </a:r>
          </a:p>
          <a:p>
            <a:pPr algn="just"/>
            <a:r>
              <a:rPr lang="en-US" sz="2800" dirty="0">
                <a:latin typeface="Marcellus"/>
              </a:rPr>
              <a:t>Triangular, Square, Rectangular, Pentagonal, Hexagonal and Circular planes inclined to one reference plane only and perpendicular to other.</a:t>
            </a:r>
            <a:endParaRPr lang="en-IN" sz="2800" dirty="0">
              <a:latin typeface="Marcellus"/>
            </a:endParaRPr>
          </a:p>
        </p:txBody>
      </p:sp>
    </p:spTree>
    <p:extLst>
      <p:ext uri="{BB962C8B-B14F-4D97-AF65-F5344CB8AC3E}">
        <p14:creationId xmlns:p14="http://schemas.microsoft.com/office/powerpoint/2010/main" val="1228567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382395" y="164349"/>
            <a:ext cx="4721233" cy="781950"/>
          </a:xfrm>
        </p:spPr>
        <p:txBody>
          <a:bodyPr>
            <a:noAutofit/>
          </a:bodyPr>
          <a:lstStyle/>
          <a:p>
            <a:pPr algn="ct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2892056" y="6332231"/>
            <a:ext cx="5797356" cy="523550"/>
          </a:xfrm>
          <a:prstGeom prst="rect">
            <a:avLst/>
          </a:prstGeom>
        </p:spPr>
      </p:pic>
      <p:pic>
        <p:nvPicPr>
          <p:cNvPr id="2" name="Picture 1">
            <a:extLst>
              <a:ext uri="{FF2B5EF4-FFF2-40B4-BE49-F238E27FC236}">
                <a16:creationId xmlns:a16="http://schemas.microsoft.com/office/drawing/2014/main" id="{C5A6F64A-EE0E-49F0-8E81-2403F1DCE39B}"/>
              </a:ext>
            </a:extLst>
          </p:cNvPr>
          <p:cNvPicPr>
            <a:picLocks noChangeAspect="1"/>
          </p:cNvPicPr>
          <p:nvPr/>
        </p:nvPicPr>
        <p:blipFill>
          <a:blip r:embed="rId4"/>
          <a:stretch>
            <a:fillRect/>
          </a:stretch>
        </p:blipFill>
        <p:spPr>
          <a:xfrm rot="5400000">
            <a:off x="7658289" y="3458593"/>
            <a:ext cx="525094" cy="6272370"/>
          </a:xfrm>
          <a:prstGeom prst="rect">
            <a:avLst/>
          </a:prstGeom>
        </p:spPr>
      </p:pic>
      <p:pic>
        <p:nvPicPr>
          <p:cNvPr id="10" name="Picture 9" descr="A picture containing drawing&#10;&#10;Description automatically generated">
            <a:extLst>
              <a:ext uri="{FF2B5EF4-FFF2-40B4-BE49-F238E27FC236}">
                <a16:creationId xmlns:a16="http://schemas.microsoft.com/office/drawing/2014/main" id="{6099DB7D-5170-4968-88DD-77E254A0AF1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1602" y="6000216"/>
            <a:ext cx="2656121" cy="664030"/>
          </a:xfrm>
          <a:prstGeom prst="rect">
            <a:avLst/>
          </a:prstGeom>
        </p:spPr>
      </p:pic>
      <p:sp>
        <p:nvSpPr>
          <p:cNvPr id="9" name="TextBox 2"/>
          <p:cNvSpPr txBox="1"/>
          <p:nvPr/>
        </p:nvSpPr>
        <p:spPr>
          <a:xfrm>
            <a:off x="2538764" y="6014948"/>
            <a:ext cx="5614636"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dirty="0"/>
              <a:t>Fig. 1 Projection of points w.r.t. Principal Planes </a:t>
            </a:r>
            <a:endParaRPr lang="en-IN" baseline="30000" dirty="0"/>
          </a:p>
        </p:txBody>
      </p:sp>
      <p:grpSp>
        <p:nvGrpSpPr>
          <p:cNvPr id="12" name="Group 11"/>
          <p:cNvGrpSpPr/>
          <p:nvPr/>
        </p:nvGrpSpPr>
        <p:grpSpPr>
          <a:xfrm>
            <a:off x="3263370" y="308344"/>
            <a:ext cx="6603644" cy="5618558"/>
            <a:chOff x="8803272" y="1242955"/>
            <a:chExt cx="3247558" cy="2705702"/>
          </a:xfrm>
        </p:grpSpPr>
        <p:pic>
          <p:nvPicPr>
            <p:cNvPr id="14" name="Picture 2" descr="C:\Users\Admin\Pictures\all planes in 3Da.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03272" y="1242955"/>
              <a:ext cx="3247558" cy="2705702"/>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10689704" y="1974231"/>
              <a:ext cx="492443" cy="369332"/>
            </a:xfrm>
            <a:prstGeom prst="rect">
              <a:avLst/>
            </a:prstGeom>
          </p:spPr>
          <p:txBody>
            <a:bodyPr wrap="none">
              <a:spAutoFit/>
            </a:bodyPr>
            <a:lstStyle/>
            <a:p>
              <a:r>
                <a:rPr lang="en-US" dirty="0">
                  <a:solidFill>
                    <a:srgbClr val="C00000"/>
                  </a:solidFill>
                  <a:latin typeface="Arial" panose="020B0604020202020204" pitchFamily="34" charset="0"/>
                  <a:cs typeface="Arial" panose="020B0604020202020204" pitchFamily="34" charset="0"/>
                </a:rPr>
                <a:t>VP</a:t>
              </a:r>
              <a:endParaRPr lang="en-IN" dirty="0"/>
            </a:p>
          </p:txBody>
        </p:sp>
        <p:sp>
          <p:nvSpPr>
            <p:cNvPr id="16" name="Rectangle 15"/>
            <p:cNvSpPr/>
            <p:nvPr/>
          </p:nvSpPr>
          <p:spPr>
            <a:xfrm>
              <a:off x="10513254" y="2802136"/>
              <a:ext cx="505267" cy="369332"/>
            </a:xfrm>
            <a:prstGeom prst="rect">
              <a:avLst/>
            </a:prstGeom>
          </p:spPr>
          <p:txBody>
            <a:bodyPr wrap="none">
              <a:spAutoFit/>
            </a:bodyPr>
            <a:lstStyle/>
            <a:p>
              <a:r>
                <a:rPr lang="en-US" dirty="0">
                  <a:solidFill>
                    <a:srgbClr val="C00000"/>
                  </a:solidFill>
                  <a:latin typeface="Arial" panose="020B0604020202020204" pitchFamily="34" charset="0"/>
                  <a:cs typeface="Arial" panose="020B0604020202020204" pitchFamily="34" charset="0"/>
                </a:rPr>
                <a:t>HP</a:t>
              </a:r>
              <a:endParaRPr lang="en-IN" dirty="0"/>
            </a:p>
          </p:txBody>
        </p:sp>
      </p:grpSp>
      <p:sp>
        <p:nvSpPr>
          <p:cNvPr id="3" name="Rectangle 2"/>
          <p:cNvSpPr/>
          <p:nvPr/>
        </p:nvSpPr>
        <p:spPr>
          <a:xfrm rot="11040620">
            <a:off x="6096201" y="2254449"/>
            <a:ext cx="1648118" cy="1078851"/>
          </a:xfrm>
          <a:prstGeom prst="rect">
            <a:avLst/>
          </a:prstGeom>
          <a:scene3d>
            <a:camera prst="orthographicFront">
              <a:rot lat="0" lon="300002"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5840824" y="2601470"/>
            <a:ext cx="2181147" cy="1307523"/>
          </a:xfrm>
          <a:prstGeom prst="rect">
            <a:avLst/>
          </a:prstGeom>
          <a:scene3d>
            <a:camera prst="orthographicFront">
              <a:rot lat="2498456" lon="17834157" rev="17032873"/>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p:cNvSpPr/>
          <p:nvPr/>
        </p:nvSpPr>
        <p:spPr>
          <a:xfrm>
            <a:off x="6731409" y="2347847"/>
            <a:ext cx="2181147" cy="1012243"/>
          </a:xfrm>
          <a:prstGeom prst="rect">
            <a:avLst/>
          </a:prstGeom>
          <a:scene3d>
            <a:camera prst="orthographicFront">
              <a:rot lat="1506140" lon="12639680" rev="1686096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22679" y="5942280"/>
            <a:ext cx="868683" cy="647487"/>
          </a:xfrm>
          <a:prstGeom prst="rect">
            <a:avLst/>
          </a:prstGeom>
        </p:spPr>
      </p:pic>
      <p:sp>
        <p:nvSpPr>
          <p:cNvPr id="21" name="Rectangle 20"/>
          <p:cNvSpPr/>
          <p:nvPr/>
        </p:nvSpPr>
        <p:spPr>
          <a:xfrm rot="1608456">
            <a:off x="6572951" y="494941"/>
            <a:ext cx="1492716" cy="369332"/>
          </a:xfrm>
          <a:prstGeom prst="rect">
            <a:avLst/>
          </a:prstGeom>
        </p:spPr>
        <p:txBody>
          <a:bodyPr wrap="none">
            <a:spAutoFit/>
          </a:bodyPr>
          <a:lstStyle/>
          <a:p>
            <a:r>
              <a:rPr lang="en-US" dirty="0">
                <a:solidFill>
                  <a:srgbClr val="C00000"/>
                </a:solidFill>
                <a:latin typeface="Arial" panose="020B0604020202020204" pitchFamily="34" charset="0"/>
                <a:cs typeface="Arial" panose="020B0604020202020204" pitchFamily="34" charset="0"/>
              </a:rPr>
              <a:t>Profile Plane</a:t>
            </a:r>
            <a:endParaRPr lang="en-IN" dirty="0"/>
          </a:p>
        </p:txBody>
      </p:sp>
    </p:spTree>
    <p:extLst>
      <p:ext uri="{BB962C8B-B14F-4D97-AF65-F5344CB8AC3E}">
        <p14:creationId xmlns:p14="http://schemas.microsoft.com/office/powerpoint/2010/main" val="199657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1" nodeType="clickEffect">
                                  <p:stCondLst>
                                    <p:cond delay="0"/>
                                  </p:stCondLst>
                                  <p:childTnLst>
                                    <p:animEffect transition="out" filter="fade">
                                      <p:cBhvr>
                                        <p:cTn id="10" dur="500"/>
                                        <p:tgtEl>
                                          <p:spTgt spid="7"/>
                                        </p:tgtEl>
                                      </p:cBhvr>
                                    </p:animEffect>
                                    <p:set>
                                      <p:cBhvr>
                                        <p:cTn id="11" dur="1" fill="hold">
                                          <p:stCondLst>
                                            <p:cond delay="499"/>
                                          </p:stCondLst>
                                        </p:cTn>
                                        <p:tgtEl>
                                          <p:spTgt spid="7"/>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5" presetClass="exit" presetSubtype="0" fill="hold" grpId="1" nodeType="clickEffect">
                                  <p:stCondLst>
                                    <p:cond delay="0"/>
                                  </p:stCondLst>
                                  <p:childTnLst>
                                    <p:animEffect transition="out" filter="fade">
                                      <p:cBhvr>
                                        <p:cTn id="19" dur="2000"/>
                                        <p:tgtEl>
                                          <p:spTgt spid="20"/>
                                        </p:tgtEl>
                                      </p:cBhvr>
                                    </p:animEffect>
                                    <p:anim calcmode="lin" valueType="num">
                                      <p:cBhvr>
                                        <p:cTn id="20" dur="2000"/>
                                        <p:tgtEl>
                                          <p:spTgt spid="2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1" dur="2000"/>
                                        <p:tgtEl>
                                          <p:spTgt spid="20"/>
                                        </p:tgtEl>
                                        <p:attrNameLst>
                                          <p:attrName>ppt_h</p:attrName>
                                        </p:attrNameLst>
                                      </p:cBhvr>
                                      <p:tavLst>
                                        <p:tav tm="0">
                                          <p:val>
                                            <p:strVal val="ppt_h"/>
                                          </p:val>
                                        </p:tav>
                                        <p:tav tm="100000">
                                          <p:val>
                                            <p:strVal val="ppt_h"/>
                                          </p:val>
                                        </p:tav>
                                      </p:tavLst>
                                    </p:anim>
                                    <p:set>
                                      <p:cBhvr>
                                        <p:cTn id="22" dur="1" fill="hold">
                                          <p:stCondLst>
                                            <p:cond delay="1999"/>
                                          </p:stCondLst>
                                        </p:cTn>
                                        <p:tgtEl>
                                          <p:spTgt spid="2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7" grpId="1" animBg="1"/>
      <p:bldP spid="20" grpId="0" animBg="1"/>
      <p:bldP spid="20"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382395" y="0"/>
            <a:ext cx="10674626" cy="604136"/>
          </a:xfrm>
        </p:spPr>
        <p:txBody>
          <a:bodyPr>
            <a:noAutofit/>
          </a:bodyPr>
          <a:lstStyle/>
          <a:p>
            <a:pPr algn="ctr"/>
            <a:r>
              <a:rPr lang="en-US" sz="3600" dirty="0">
                <a:solidFill>
                  <a:srgbClr val="C00000"/>
                </a:solidFill>
                <a:latin typeface="Arial" panose="020B0604020202020204" pitchFamily="34" charset="0"/>
                <a:cs typeface="Arial" panose="020B0604020202020204" pitchFamily="34" charset="0"/>
              </a:rPr>
              <a:t>Projection of Plane</a:t>
            </a:r>
            <a:endParaRPr lang="en-US" sz="3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8153400" y="5696667"/>
            <a:ext cx="525379" cy="1159114"/>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82147" y="16543"/>
            <a:ext cx="868683" cy="647487"/>
          </a:xfrm>
          <a:prstGeom prst="rect">
            <a:avLst/>
          </a:prstGeom>
        </p:spPr>
      </p:pic>
      <p:pic>
        <p:nvPicPr>
          <p:cNvPr id="2" name="Picture 1">
            <a:extLst>
              <a:ext uri="{FF2B5EF4-FFF2-40B4-BE49-F238E27FC236}">
                <a16:creationId xmlns:a16="http://schemas.microsoft.com/office/drawing/2014/main" id="{C5A6F64A-EE0E-49F0-8E81-2403F1DCE39B}"/>
              </a:ext>
            </a:extLst>
          </p:cNvPr>
          <p:cNvPicPr>
            <a:picLocks noChangeAspect="1"/>
          </p:cNvPicPr>
          <p:nvPr/>
        </p:nvPicPr>
        <p:blipFill>
          <a:blip r:embed="rId5"/>
          <a:stretch>
            <a:fillRect/>
          </a:stretch>
        </p:blipFill>
        <p:spPr>
          <a:xfrm rot="5400000">
            <a:off x="9288343" y="5088647"/>
            <a:ext cx="1159114" cy="2378242"/>
          </a:xfrm>
          <a:prstGeom prst="rect">
            <a:avLst/>
          </a:prstGeom>
        </p:spPr>
      </p:pic>
      <p:pic>
        <p:nvPicPr>
          <p:cNvPr id="10" name="Picture 9" descr="A picture containing drawing&#10;&#10;Description automatically generated">
            <a:extLst>
              <a:ext uri="{FF2B5EF4-FFF2-40B4-BE49-F238E27FC236}">
                <a16:creationId xmlns:a16="http://schemas.microsoft.com/office/drawing/2014/main" id="{6099DB7D-5170-4968-88DD-77E254A0AF1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2656121" cy="664030"/>
          </a:xfrm>
          <a:prstGeom prst="rect">
            <a:avLst/>
          </a:prstGeom>
        </p:spPr>
      </p:pic>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8816" y="635327"/>
            <a:ext cx="3021856" cy="3047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31840" y="524673"/>
            <a:ext cx="2882880" cy="304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20439" y="524673"/>
            <a:ext cx="2864654" cy="304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8816" y="3683309"/>
            <a:ext cx="3030976" cy="3011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75373" y="3658987"/>
            <a:ext cx="3015255" cy="3035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59351" y="3658987"/>
            <a:ext cx="2867643" cy="3001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8599" y="664030"/>
            <a:ext cx="10985093" cy="5983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618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030"/>
                                        </p:tgtEl>
                                        <p:attrNameLst>
                                          <p:attrName>style.visibility</p:attrName>
                                        </p:attrNameLst>
                                      </p:cBhvr>
                                      <p:to>
                                        <p:strVal val="visible"/>
                                      </p:to>
                                    </p:set>
                                    <p:animEffect transition="in" filter="wipe(down)">
                                      <p:cBhvr>
                                        <p:cTn id="15" dur="500"/>
                                        <p:tgtEl>
                                          <p:spTgt spid="103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2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031"/>
                                        </p:tgtEl>
                                        <p:attrNameLst>
                                          <p:attrName>style.visibility</p:attrName>
                                        </p:attrNameLst>
                                      </p:cBhvr>
                                      <p:to>
                                        <p:strVal val="visible"/>
                                      </p:to>
                                    </p:set>
                                    <p:anim calcmode="lin" valueType="num">
                                      <p:cBhvr additive="base">
                                        <p:cTn id="24" dur="500" fill="hold"/>
                                        <p:tgtEl>
                                          <p:spTgt spid="1031"/>
                                        </p:tgtEl>
                                        <p:attrNameLst>
                                          <p:attrName>ppt_x</p:attrName>
                                        </p:attrNameLst>
                                      </p:cBhvr>
                                      <p:tavLst>
                                        <p:tav tm="0">
                                          <p:val>
                                            <p:strVal val="#ppt_x"/>
                                          </p:val>
                                        </p:tav>
                                        <p:tav tm="100000">
                                          <p:val>
                                            <p:strVal val="#ppt_x"/>
                                          </p:val>
                                        </p:tav>
                                      </p:tavLst>
                                    </p:anim>
                                    <p:anim calcmode="lin" valueType="num">
                                      <p:cBhvr additive="base">
                                        <p:cTn id="25" dur="500" fill="hold"/>
                                        <p:tgtEl>
                                          <p:spTgt spid="103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0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Lines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2369880"/>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V.P. and perpendicular to H.P.</a:t>
            </a:r>
          </a:p>
          <a:p>
            <a:pPr marL="457200" indent="-457200">
              <a:buFont typeface="Wingdings" panose="05000000000000000000" pitchFamily="2" charset="2"/>
              <a:buChar char="q"/>
            </a:pPr>
            <a:endParaRPr lang="en-IN" sz="2800" dirty="0">
              <a:solidFill>
                <a:srgbClr val="C00000"/>
              </a:solidFill>
              <a:latin typeface="Marcellus"/>
            </a:endParaRPr>
          </a:p>
        </p:txBody>
      </p:sp>
      <p:pic>
        <p:nvPicPr>
          <p:cNvPr id="1026" name="Picture 2"/>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t="3078"/>
          <a:stretch/>
        </p:blipFill>
        <p:spPr bwMode="auto">
          <a:xfrm>
            <a:off x="3178629" y="3182818"/>
            <a:ext cx="6001156" cy="3250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337312" y="6433457"/>
            <a:ext cx="4197607" cy="369332"/>
          </a:xfrm>
          <a:prstGeom prst="rect">
            <a:avLst/>
          </a:prstGeom>
          <a:noFill/>
        </p:spPr>
        <p:txBody>
          <a:bodyPr wrap="square" rtlCol="0">
            <a:spAutoFit/>
          </a:bodyPr>
          <a:lstStyle/>
          <a:p>
            <a:r>
              <a:rPr lang="en-IN" dirty="0"/>
              <a:t>Fig. 2 projections of Triangle, Rectangle </a:t>
            </a:r>
            <a:r>
              <a:rPr lang="en-IN" baseline="30000" dirty="0"/>
              <a:t>[1]</a:t>
            </a:r>
          </a:p>
        </p:txBody>
      </p:sp>
    </p:spTree>
    <p:extLst>
      <p:ext uri="{BB962C8B-B14F-4D97-AF65-F5344CB8AC3E}">
        <p14:creationId xmlns:p14="http://schemas.microsoft.com/office/powerpoint/2010/main" val="1194834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Lines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2369880"/>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V.P. and perpendicular to H.P.</a:t>
            </a:r>
          </a:p>
          <a:p>
            <a:pPr marL="457200" indent="-457200">
              <a:buFont typeface="Wingdings" panose="05000000000000000000" pitchFamily="2" charset="2"/>
              <a:buChar char="q"/>
            </a:pPr>
            <a:endParaRPr lang="en-IN" sz="2800" dirty="0">
              <a:solidFill>
                <a:srgbClr val="C00000"/>
              </a:solidFill>
              <a:latin typeface="Marcellus"/>
            </a:endParaRPr>
          </a:p>
        </p:txBody>
      </p:sp>
      <p:pic>
        <p:nvPicPr>
          <p:cNvPr id="2050" name="Picture 2"/>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1832"/>
          <a:stretch/>
        </p:blipFill>
        <p:spPr bwMode="auto">
          <a:xfrm>
            <a:off x="3243655" y="3128925"/>
            <a:ext cx="6202537" cy="3380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5337312" y="6433457"/>
            <a:ext cx="4197607" cy="369332"/>
          </a:xfrm>
          <a:prstGeom prst="rect">
            <a:avLst/>
          </a:prstGeom>
          <a:noFill/>
        </p:spPr>
        <p:txBody>
          <a:bodyPr wrap="square" rtlCol="0">
            <a:spAutoFit/>
          </a:bodyPr>
          <a:lstStyle/>
          <a:p>
            <a:r>
              <a:rPr lang="en-IN" dirty="0"/>
              <a:t>Fig. 3 projections of square, Hexagon </a:t>
            </a:r>
            <a:r>
              <a:rPr lang="en-IN" baseline="30000" dirty="0"/>
              <a:t>[1]</a:t>
            </a:r>
          </a:p>
        </p:txBody>
      </p:sp>
    </p:spTree>
    <p:extLst>
      <p:ext uri="{BB962C8B-B14F-4D97-AF65-F5344CB8AC3E}">
        <p14:creationId xmlns:p14="http://schemas.microsoft.com/office/powerpoint/2010/main" val="1720890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Lines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2369880"/>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V.P. and perpendicular to H.P.</a:t>
            </a:r>
          </a:p>
          <a:p>
            <a:pPr marL="457200" indent="-457200">
              <a:buFont typeface="Wingdings" panose="05000000000000000000" pitchFamily="2" charset="2"/>
              <a:buChar char="q"/>
            </a:pPr>
            <a:endParaRPr lang="en-IN" sz="2800" dirty="0">
              <a:solidFill>
                <a:srgbClr val="C00000"/>
              </a:solidFill>
              <a:latin typeface="Marcellus"/>
            </a:endParaRPr>
          </a:p>
        </p:txBody>
      </p:sp>
      <p:pic>
        <p:nvPicPr>
          <p:cNvPr id="3074" name="Picture 2"/>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777342" y="3267123"/>
            <a:ext cx="47244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5337312" y="6433457"/>
            <a:ext cx="4197607" cy="369332"/>
          </a:xfrm>
          <a:prstGeom prst="rect">
            <a:avLst/>
          </a:prstGeom>
          <a:noFill/>
        </p:spPr>
        <p:txBody>
          <a:bodyPr wrap="square" rtlCol="0">
            <a:spAutoFit/>
          </a:bodyPr>
          <a:lstStyle/>
          <a:p>
            <a:r>
              <a:rPr lang="en-IN" dirty="0"/>
              <a:t>Fig. 4 projections of pentagon, Rhombus </a:t>
            </a:r>
            <a:r>
              <a:rPr lang="en-IN" baseline="30000" dirty="0"/>
              <a:t>[1]</a:t>
            </a:r>
          </a:p>
        </p:txBody>
      </p:sp>
    </p:spTree>
    <p:extLst>
      <p:ext uri="{BB962C8B-B14F-4D97-AF65-F5344CB8AC3E}">
        <p14:creationId xmlns:p14="http://schemas.microsoft.com/office/powerpoint/2010/main" val="392196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Lines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2369880"/>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V.P. and perpendicular to H.P.</a:t>
            </a:r>
          </a:p>
          <a:p>
            <a:pPr marL="457200" indent="-457200">
              <a:buFont typeface="Wingdings" panose="05000000000000000000" pitchFamily="2" charset="2"/>
              <a:buChar char="q"/>
            </a:pPr>
            <a:endParaRPr lang="en-IN" sz="2800" dirty="0">
              <a:solidFill>
                <a:srgbClr val="C00000"/>
              </a:solidFill>
              <a:latin typeface="Marcellus"/>
            </a:endParaRP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8419" y="3427890"/>
            <a:ext cx="7550842" cy="2459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2"/>
          <p:cNvSpPr txBox="1"/>
          <p:nvPr/>
        </p:nvSpPr>
        <p:spPr>
          <a:xfrm>
            <a:off x="4639454" y="6108685"/>
            <a:ext cx="4197607"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dirty="0"/>
              <a:t>Fig. 5 projections of Semicircle</a:t>
            </a:r>
            <a:r>
              <a:rPr lang="en-IN"/>
              <a:t>, Circle </a:t>
            </a:r>
            <a:r>
              <a:rPr lang="en-IN" baseline="30000" dirty="0"/>
              <a:t>[1]</a:t>
            </a:r>
          </a:p>
        </p:txBody>
      </p:sp>
    </p:spTree>
    <p:extLst>
      <p:ext uri="{BB962C8B-B14F-4D97-AF65-F5344CB8AC3E}">
        <p14:creationId xmlns:p14="http://schemas.microsoft.com/office/powerpoint/2010/main" val="399243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10055260" cy="4401205"/>
          </a:xfrm>
          <a:prstGeom prst="rect">
            <a:avLst/>
          </a:prstGeom>
          <a:noFill/>
        </p:spPr>
        <p:txBody>
          <a:bodyPr wrap="square" rtlCol="0">
            <a:spAutoFit/>
          </a:bodyPr>
          <a:lstStyle/>
          <a:p>
            <a:pPr marL="342900" indent="-342900">
              <a:buFont typeface="Wingdings" panose="05000000000000000000" pitchFamily="2" charset="2"/>
              <a:buChar char="§"/>
            </a:pPr>
            <a:r>
              <a:rPr lang="en-IN" sz="2800" dirty="0">
                <a:solidFill>
                  <a:srgbClr val="C00000"/>
                </a:solidFill>
                <a:latin typeface="Marcellus"/>
              </a:rPr>
              <a:t>Projection of plane with reference to Principal Planes</a:t>
            </a:r>
          </a:p>
          <a:p>
            <a:pPr marL="457200" indent="-457200">
              <a:buFont typeface="Wingdings" panose="05000000000000000000" pitchFamily="2" charset="2"/>
              <a:buChar char="q"/>
            </a:pPr>
            <a:r>
              <a:rPr lang="en-IN" sz="2800" dirty="0">
                <a:solidFill>
                  <a:srgbClr val="C00000"/>
                </a:solidFill>
                <a:latin typeface="Marcellus"/>
              </a:rPr>
              <a:t>Surface of plane parallel to one principal planes and Perpendicular to other two</a:t>
            </a:r>
          </a:p>
          <a:p>
            <a:pPr marL="812800" indent="-457200">
              <a:buFont typeface="Wingdings" panose="05000000000000000000" pitchFamily="2" charset="2"/>
              <a:buChar char="Ø"/>
            </a:pPr>
            <a:r>
              <a:rPr lang="en-IN" sz="2800" dirty="0">
                <a:solidFill>
                  <a:srgbClr val="C00000"/>
                </a:solidFill>
                <a:latin typeface="Marcellus"/>
              </a:rPr>
              <a:t>Surface of plane parallel to H.P. and Perpendicular V.P.  to Profile plane (P.P.)</a:t>
            </a:r>
          </a:p>
          <a:p>
            <a:pPr marL="1165225" indent="-809625" algn="just"/>
            <a:r>
              <a:rPr lang="en-IN" sz="2800" dirty="0">
                <a:solidFill>
                  <a:srgbClr val="002060"/>
                </a:solidFill>
                <a:latin typeface="Marcellus"/>
              </a:rPr>
              <a:t>Q. 1 A rectangular plane ABCD having length 60 mm and breadth 40 mm is parallel to the H.P. and perpendicular to the V.P. and the P.P. If the plane is 10 mm above the H.P. and one of the longest side (say AD) is 20 mm in front of the V.P. Draw the projections of the plane.</a:t>
            </a:r>
          </a:p>
        </p:txBody>
      </p:sp>
    </p:spTree>
    <p:extLst>
      <p:ext uri="{BB962C8B-B14F-4D97-AF65-F5344CB8AC3E}">
        <p14:creationId xmlns:p14="http://schemas.microsoft.com/office/powerpoint/2010/main" val="1749467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10055260" cy="4832092"/>
          </a:xfrm>
          <a:prstGeom prst="rect">
            <a:avLst/>
          </a:prstGeom>
          <a:noFill/>
        </p:spPr>
        <p:txBody>
          <a:bodyPr wrap="square" rtlCol="0">
            <a:spAutoFit/>
          </a:bodyPr>
          <a:lstStyle/>
          <a:p>
            <a:pPr marL="342900" indent="-342900">
              <a:buFont typeface="Wingdings" panose="05000000000000000000" pitchFamily="2" charset="2"/>
              <a:buChar char="§"/>
            </a:pPr>
            <a:r>
              <a:rPr lang="en-IN" sz="2800" dirty="0">
                <a:solidFill>
                  <a:srgbClr val="C00000"/>
                </a:solidFill>
                <a:latin typeface="Marcellus"/>
              </a:rPr>
              <a:t>Projection of plane with reference to Principal Planes</a:t>
            </a:r>
          </a:p>
          <a:p>
            <a:pPr marL="457200" indent="-457200">
              <a:buFont typeface="Wingdings" panose="05000000000000000000" pitchFamily="2" charset="2"/>
              <a:buChar char="q"/>
            </a:pPr>
            <a:r>
              <a:rPr lang="en-IN" sz="2800" dirty="0">
                <a:solidFill>
                  <a:srgbClr val="C00000"/>
                </a:solidFill>
                <a:latin typeface="Marcellus"/>
              </a:rPr>
              <a:t>Surface of plane parallel to one principal planes and Perpendicular to other two</a:t>
            </a:r>
          </a:p>
          <a:p>
            <a:pPr marL="812800" indent="-457200">
              <a:buFont typeface="Wingdings" panose="05000000000000000000" pitchFamily="2" charset="2"/>
              <a:buChar char="Ø"/>
            </a:pPr>
            <a:r>
              <a:rPr lang="en-IN" sz="2800" dirty="0">
                <a:solidFill>
                  <a:srgbClr val="C00000"/>
                </a:solidFill>
                <a:latin typeface="Marcellus"/>
              </a:rPr>
              <a:t>Surface of plane parallel to V.P. and Perpendicular H.P.  to Profile plane (P.P.)</a:t>
            </a:r>
          </a:p>
          <a:p>
            <a:pPr marL="990600" indent="-903288" algn="just"/>
            <a:r>
              <a:rPr lang="en-IN" sz="2800" dirty="0">
                <a:solidFill>
                  <a:srgbClr val="002060"/>
                </a:solidFill>
                <a:latin typeface="Marcellus"/>
              </a:rPr>
              <a:t>Q. 2 A rectangular plane ABCD having length 60 mm and breadth 40 mm is parallel to the V.P. and perpendicular to the H.P. and the P.P. If the plane is 20 mm in front of the V.P. and one of the longer edge side (say BC) is 10 above the H.P. Draw the projections of the plane.</a:t>
            </a:r>
          </a:p>
          <a:p>
            <a:pPr marL="355600"/>
            <a:endParaRPr lang="en-IN" sz="2800" dirty="0">
              <a:solidFill>
                <a:srgbClr val="C00000"/>
              </a:solidFill>
              <a:latin typeface="Marcellus"/>
            </a:endParaRPr>
          </a:p>
        </p:txBody>
      </p:sp>
    </p:spTree>
    <p:extLst>
      <p:ext uri="{BB962C8B-B14F-4D97-AF65-F5344CB8AC3E}">
        <p14:creationId xmlns:p14="http://schemas.microsoft.com/office/powerpoint/2010/main" val="48751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10167257" cy="5262979"/>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H.P. and perpendicular to V.P.</a:t>
            </a:r>
          </a:p>
          <a:p>
            <a:pPr marL="892175" indent="-892175" algn="just"/>
            <a:r>
              <a:rPr lang="en-IN" sz="2400" dirty="0">
                <a:solidFill>
                  <a:srgbClr val="002060"/>
                </a:solidFill>
                <a:latin typeface="Marcellus"/>
              </a:rPr>
              <a:t>Q. 3 </a:t>
            </a:r>
            <a:r>
              <a:rPr lang="en-IN" sz="2800" dirty="0">
                <a:solidFill>
                  <a:srgbClr val="002060"/>
                </a:solidFill>
                <a:latin typeface="Marcellus"/>
              </a:rPr>
              <a:t>A rectangular plane ABCD having length 70 mm and breadth 40 mm has its surface inclined to the H.P. at an angle 45</a:t>
            </a:r>
            <a:r>
              <a:rPr lang="en-IN" sz="2800" baseline="30000" dirty="0">
                <a:solidFill>
                  <a:srgbClr val="002060"/>
                </a:solidFill>
                <a:latin typeface="Marcellus"/>
              </a:rPr>
              <a:t>0</a:t>
            </a:r>
            <a:r>
              <a:rPr lang="en-IN" sz="2800" dirty="0">
                <a:solidFill>
                  <a:srgbClr val="002060"/>
                </a:solidFill>
                <a:latin typeface="Marcellus"/>
              </a:rPr>
              <a:t> and perpendicular to the V.P such that its shorter side AB of a rectangular plane is 10 mm above the H.P. and longer side AD of a rectangular plane is 20 mm in front of the V.P. Draw the projections of the plane.</a:t>
            </a:r>
            <a:endParaRPr lang="en-IN" sz="2800" baseline="30000" dirty="0">
              <a:solidFill>
                <a:srgbClr val="002060"/>
              </a:solidFill>
              <a:latin typeface="Marcellus"/>
            </a:endParaRPr>
          </a:p>
          <a:p>
            <a:pPr marL="719138" indent="-719138" algn="just">
              <a:tabLst>
                <a:tab pos="719138" algn="l"/>
              </a:tabLst>
            </a:pPr>
            <a:endParaRPr lang="en-IN" sz="2400" dirty="0">
              <a:solidFill>
                <a:srgbClr val="C00000"/>
              </a:solidFill>
              <a:latin typeface="Marcellus"/>
            </a:endParaRPr>
          </a:p>
          <a:p>
            <a:pPr marL="457200" indent="-457200">
              <a:buFont typeface="Wingdings" panose="05000000000000000000" pitchFamily="2" charset="2"/>
              <a:buChar char="Ø"/>
            </a:pPr>
            <a:endParaRPr lang="en-IN" sz="2400" dirty="0">
              <a:solidFill>
                <a:srgbClr val="C00000"/>
              </a:solidFill>
              <a:latin typeface="Marcellus"/>
            </a:endParaRPr>
          </a:p>
        </p:txBody>
      </p:sp>
    </p:spTree>
    <p:extLst>
      <p:ext uri="{BB962C8B-B14F-4D97-AF65-F5344CB8AC3E}">
        <p14:creationId xmlns:p14="http://schemas.microsoft.com/office/powerpoint/2010/main" val="4091279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2" name="TextBox 1"/>
          <p:cNvSpPr txBox="1"/>
          <p:nvPr/>
        </p:nvSpPr>
        <p:spPr>
          <a:xfrm>
            <a:off x="259204" y="897144"/>
            <a:ext cx="10144399" cy="3662541"/>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H.P. and perpendicular to V.P.</a:t>
            </a:r>
          </a:p>
          <a:p>
            <a:pPr marL="804863" indent="-804863" algn="just"/>
            <a:r>
              <a:rPr lang="en-IN" sz="2400" dirty="0">
                <a:solidFill>
                  <a:srgbClr val="002060"/>
                </a:solidFill>
                <a:latin typeface="Marcellus"/>
              </a:rPr>
              <a:t>Q. 4 </a:t>
            </a:r>
            <a:r>
              <a:rPr lang="en-IN" sz="2800" b="1" dirty="0">
                <a:solidFill>
                  <a:srgbClr val="002060"/>
                </a:solidFill>
                <a:latin typeface="Marcellus"/>
              </a:rPr>
              <a:t>A square </a:t>
            </a:r>
            <a:r>
              <a:rPr lang="en-IN" sz="2800" dirty="0">
                <a:solidFill>
                  <a:srgbClr val="002060"/>
                </a:solidFill>
                <a:latin typeface="Marcellus"/>
              </a:rPr>
              <a:t>ABCD with sides 40 mm has its surface inclined at an angle 45</a:t>
            </a:r>
            <a:r>
              <a:rPr lang="en-IN" sz="2800" baseline="30000" dirty="0">
                <a:solidFill>
                  <a:srgbClr val="002060"/>
                </a:solidFill>
                <a:latin typeface="Marcellus"/>
              </a:rPr>
              <a:t>0</a:t>
            </a:r>
            <a:r>
              <a:rPr lang="en-IN" sz="2800" dirty="0">
                <a:solidFill>
                  <a:srgbClr val="002060"/>
                </a:solidFill>
                <a:latin typeface="Marcellus"/>
              </a:rPr>
              <a:t>(</a:t>
            </a:r>
            <a:r>
              <a:rPr lang="el-GR" sz="2800" dirty="0">
                <a:solidFill>
                  <a:srgbClr val="002060"/>
                </a:solidFill>
                <a:latin typeface="Times New Roman"/>
                <a:cs typeface="Times New Roman"/>
              </a:rPr>
              <a:t>θ</a:t>
            </a:r>
            <a:r>
              <a:rPr lang="en-US" sz="2800" baseline="30000" dirty="0">
                <a:solidFill>
                  <a:srgbClr val="002060"/>
                </a:solidFill>
                <a:latin typeface="Marcellus"/>
                <a:cs typeface="Times New Roman"/>
              </a:rPr>
              <a:t>s</a:t>
            </a:r>
            <a:r>
              <a:rPr lang="en-US" sz="2800" dirty="0">
                <a:solidFill>
                  <a:srgbClr val="002060"/>
                </a:solidFill>
                <a:latin typeface="Marcellus"/>
                <a:cs typeface="Times New Roman"/>
              </a:rPr>
              <a:t>) with H.P. and perpendicular to the V.P. such that one of a side of a square plane is in the H.P. Draw its projections.</a:t>
            </a:r>
            <a:r>
              <a:rPr lang="en-IN" sz="2800" dirty="0">
                <a:solidFill>
                  <a:srgbClr val="002060"/>
                </a:solidFill>
                <a:latin typeface="Marcellus"/>
              </a:rPr>
              <a:t> </a:t>
            </a:r>
          </a:p>
        </p:txBody>
      </p:sp>
      <p:sp>
        <p:nvSpPr>
          <p:cNvPr id="9" name="Title 12">
            <a:extLst>
              <a:ext uri="{FF2B5EF4-FFF2-40B4-BE49-F238E27FC236}">
                <a16:creationId xmlns:a16="http://schemas.microsoft.com/office/drawing/2014/main" id="{98058B23-DDE2-4F62-9A2E-46739C3C685F}"/>
              </a:ext>
            </a:extLst>
          </p:cNvPr>
          <p:cNvSpPr txBox="1">
            <a:spLocks/>
          </p:cNvSpPr>
          <p:nvPr/>
        </p:nvSpPr>
        <p:spPr>
          <a:xfrm>
            <a:off x="103663" y="111905"/>
            <a:ext cx="10674626" cy="4086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6623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2" name="TextBox 1"/>
          <p:cNvSpPr txBox="1"/>
          <p:nvPr/>
        </p:nvSpPr>
        <p:spPr>
          <a:xfrm>
            <a:off x="433403" y="839171"/>
            <a:ext cx="9710057" cy="4462760"/>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H.P. and perpendicular to V.P.</a:t>
            </a:r>
          </a:p>
          <a:p>
            <a:pPr marL="719138" indent="-719138" algn="just"/>
            <a:r>
              <a:rPr lang="en-IN" sz="2400" dirty="0">
                <a:solidFill>
                  <a:schemeClr val="bg1">
                    <a:lumMod val="50000"/>
                  </a:schemeClr>
                </a:solidFill>
                <a:latin typeface="Marcellus"/>
              </a:rPr>
              <a:t>Q. 5 </a:t>
            </a:r>
            <a:r>
              <a:rPr lang="en-IN" sz="2800" dirty="0">
                <a:solidFill>
                  <a:srgbClr val="002060"/>
                </a:solidFill>
                <a:latin typeface="Marcellus"/>
              </a:rPr>
              <a:t>A </a:t>
            </a:r>
            <a:r>
              <a:rPr lang="en-IN" sz="2800" b="1" dirty="0">
                <a:solidFill>
                  <a:srgbClr val="002060"/>
                </a:solidFill>
                <a:latin typeface="Marcellus"/>
              </a:rPr>
              <a:t>square lamina </a:t>
            </a:r>
            <a:r>
              <a:rPr lang="en-IN" sz="2800" dirty="0">
                <a:solidFill>
                  <a:srgbClr val="002060"/>
                </a:solidFill>
                <a:latin typeface="Marcellus"/>
              </a:rPr>
              <a:t>ABCD of 50 mm side rest on the corner A is in the H.P. such that the plane is seen as a rhombus in the top view with diagonal contained by corner A measuring 25 mm. Draw its projections and determine surface inclination of the plane with the H.P.</a:t>
            </a:r>
          </a:p>
          <a:p>
            <a:pPr marL="719138" indent="-719138" algn="just"/>
            <a:endParaRPr lang="en-IN" sz="2400" dirty="0">
              <a:solidFill>
                <a:srgbClr val="C00000"/>
              </a:solidFill>
              <a:latin typeface="Marcellus"/>
            </a:endParaRPr>
          </a:p>
        </p:txBody>
      </p:sp>
      <p:sp>
        <p:nvSpPr>
          <p:cNvPr id="12" name="Title 12">
            <a:extLst>
              <a:ext uri="{FF2B5EF4-FFF2-40B4-BE49-F238E27FC236}">
                <a16:creationId xmlns:a16="http://schemas.microsoft.com/office/drawing/2014/main" id="{98058B23-DDE2-4F62-9A2E-46739C3C685F}"/>
              </a:ext>
            </a:extLst>
          </p:cNvPr>
          <p:cNvSpPr txBox="1">
            <a:spLocks/>
          </p:cNvSpPr>
          <p:nvPr/>
        </p:nvSpPr>
        <p:spPr>
          <a:xfrm>
            <a:off x="103663" y="111905"/>
            <a:ext cx="10674626" cy="4086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4804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103663" y="111905"/>
            <a:ext cx="10674626" cy="4086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444036" y="839171"/>
            <a:ext cx="9710057" cy="4462760"/>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H.P. and perpendicular to V.P.</a:t>
            </a:r>
          </a:p>
          <a:p>
            <a:pPr marL="719138" indent="-719138" algn="just"/>
            <a:r>
              <a:rPr lang="en-IN" sz="2800" dirty="0">
                <a:solidFill>
                  <a:srgbClr val="002060"/>
                </a:solidFill>
                <a:latin typeface="Marcellus"/>
              </a:rPr>
              <a:t>A rectangular plate 50mm x 70 mm stands on one of its shorter edges in H.P. and is raised about this edge so that the plane becomes a square of 50 mm. Draw the projections of plane and find inclination of the plane with H.P. </a:t>
            </a:r>
            <a:r>
              <a:rPr lang="en-IN" sz="2800" dirty="0">
                <a:solidFill>
                  <a:schemeClr val="bg1">
                    <a:lumMod val="50000"/>
                  </a:schemeClr>
                </a:solidFill>
                <a:latin typeface="Marcellus"/>
              </a:rPr>
              <a:t>(Q.1 Booklet) </a:t>
            </a:r>
            <a:endParaRPr lang="en-IN" sz="2800" dirty="0">
              <a:solidFill>
                <a:srgbClr val="002060"/>
              </a:solidFill>
              <a:latin typeface="Marcellus"/>
            </a:endParaRPr>
          </a:p>
          <a:p>
            <a:pPr marL="719138" indent="-719138" algn="just"/>
            <a:endParaRPr lang="en-IN" sz="2400" dirty="0">
              <a:solidFill>
                <a:srgbClr val="C00000"/>
              </a:solidFill>
              <a:latin typeface="Marcellus"/>
            </a:endParaRPr>
          </a:p>
        </p:txBody>
      </p:sp>
    </p:spTree>
    <p:extLst>
      <p:ext uri="{BB962C8B-B14F-4D97-AF65-F5344CB8AC3E}">
        <p14:creationId xmlns:p14="http://schemas.microsoft.com/office/powerpoint/2010/main" val="878458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3662541"/>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V.P. and perpendicular to H.P.</a:t>
            </a:r>
          </a:p>
          <a:p>
            <a:pPr marL="719138" indent="-719138" algn="just"/>
            <a:r>
              <a:rPr lang="en-IN" sz="2400" dirty="0">
                <a:solidFill>
                  <a:schemeClr val="bg1">
                    <a:lumMod val="50000"/>
                  </a:schemeClr>
                </a:solidFill>
                <a:latin typeface="Marcellus"/>
              </a:rPr>
              <a:t>Q. 6 </a:t>
            </a:r>
            <a:r>
              <a:rPr lang="en-IN" sz="2800" dirty="0">
                <a:solidFill>
                  <a:srgbClr val="002060"/>
                </a:solidFill>
                <a:latin typeface="Marcellus"/>
              </a:rPr>
              <a:t>A </a:t>
            </a:r>
            <a:r>
              <a:rPr lang="en-IN" sz="2800" b="1" dirty="0">
                <a:solidFill>
                  <a:srgbClr val="002060"/>
                </a:solidFill>
                <a:latin typeface="Marcellus"/>
              </a:rPr>
              <a:t>hexagonal lamina </a:t>
            </a:r>
            <a:r>
              <a:rPr lang="en-IN" sz="2800" dirty="0">
                <a:solidFill>
                  <a:srgbClr val="002060"/>
                </a:solidFill>
                <a:latin typeface="Marcellus"/>
              </a:rPr>
              <a:t>of side 25 mm is resting in the V.P. on one of its corner. Draw the three view, if the diagonal passing through that corner makes an angle 30</a:t>
            </a:r>
            <a:r>
              <a:rPr lang="en-IN" sz="2800" baseline="30000" dirty="0">
                <a:solidFill>
                  <a:srgbClr val="002060"/>
                </a:solidFill>
                <a:latin typeface="Marcellus"/>
              </a:rPr>
              <a:t>0 </a:t>
            </a:r>
            <a:r>
              <a:rPr lang="en-IN" sz="2800" dirty="0">
                <a:solidFill>
                  <a:srgbClr val="002060"/>
                </a:solidFill>
                <a:latin typeface="Marcellus"/>
              </a:rPr>
              <a:t>to the V.P. Draw using 1</a:t>
            </a:r>
            <a:r>
              <a:rPr lang="en-IN" sz="2800" baseline="30000" dirty="0">
                <a:solidFill>
                  <a:srgbClr val="002060"/>
                </a:solidFill>
                <a:latin typeface="Marcellus"/>
              </a:rPr>
              <a:t>st</a:t>
            </a:r>
            <a:r>
              <a:rPr lang="en-IN" sz="2800" dirty="0">
                <a:solidFill>
                  <a:srgbClr val="002060"/>
                </a:solidFill>
                <a:latin typeface="Marcellus"/>
              </a:rPr>
              <a:t> angle method of projection.</a:t>
            </a:r>
            <a:endParaRPr lang="en-IN" sz="2800" baseline="30000" dirty="0">
              <a:solidFill>
                <a:srgbClr val="002060"/>
              </a:solidFill>
              <a:latin typeface="Marcellus"/>
            </a:endParaRPr>
          </a:p>
        </p:txBody>
      </p:sp>
    </p:spTree>
    <p:extLst>
      <p:ext uri="{BB962C8B-B14F-4D97-AF65-F5344CB8AC3E}">
        <p14:creationId xmlns:p14="http://schemas.microsoft.com/office/powerpoint/2010/main" val="2096048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4093428"/>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H.P. and perpendicular to V.P.</a:t>
            </a:r>
          </a:p>
          <a:p>
            <a:pPr marL="719138" indent="-719138" algn="just"/>
            <a:r>
              <a:rPr lang="en-IN" sz="2400" dirty="0">
                <a:solidFill>
                  <a:schemeClr val="bg1">
                    <a:lumMod val="50000"/>
                  </a:schemeClr>
                </a:solidFill>
                <a:latin typeface="Marcellus"/>
              </a:rPr>
              <a:t>Q. 7 </a:t>
            </a:r>
            <a:r>
              <a:rPr lang="en-IN" sz="2800" dirty="0">
                <a:solidFill>
                  <a:srgbClr val="002060"/>
                </a:solidFill>
                <a:latin typeface="Marcellus"/>
              </a:rPr>
              <a:t>An </a:t>
            </a:r>
            <a:r>
              <a:rPr lang="en-IN" sz="2800" b="1" dirty="0">
                <a:solidFill>
                  <a:srgbClr val="002060"/>
                </a:solidFill>
                <a:latin typeface="Marcellus"/>
              </a:rPr>
              <a:t>isosceles triangular </a:t>
            </a:r>
            <a:r>
              <a:rPr lang="en-IN" sz="2800" dirty="0">
                <a:solidFill>
                  <a:srgbClr val="002060"/>
                </a:solidFill>
                <a:latin typeface="Marcellus"/>
              </a:rPr>
              <a:t>plate of 50 mm and 75 altitude appears as and equilateral triangle of 50 mm in top view. Draw the projection of a plate if its 50 mm long edge is on the H.P. What is the inclination of a plate with the H.P.?</a:t>
            </a:r>
          </a:p>
        </p:txBody>
      </p:sp>
    </p:spTree>
    <p:extLst>
      <p:ext uri="{BB962C8B-B14F-4D97-AF65-F5344CB8AC3E}">
        <p14:creationId xmlns:p14="http://schemas.microsoft.com/office/powerpoint/2010/main" val="3703825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4093428"/>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V.P. and perpendicular to H.P.</a:t>
            </a:r>
          </a:p>
          <a:p>
            <a:pPr marL="719138" indent="-719138" algn="just"/>
            <a:r>
              <a:rPr lang="en-IN" sz="2400" dirty="0">
                <a:solidFill>
                  <a:schemeClr val="bg1">
                    <a:lumMod val="50000"/>
                  </a:schemeClr>
                </a:solidFill>
                <a:latin typeface="Marcellus"/>
              </a:rPr>
              <a:t>Q. 8 </a:t>
            </a:r>
            <a:r>
              <a:rPr lang="en-IN" sz="2800" dirty="0">
                <a:solidFill>
                  <a:srgbClr val="002060"/>
                </a:solidFill>
                <a:latin typeface="Marcellus"/>
              </a:rPr>
              <a:t>A </a:t>
            </a:r>
            <a:r>
              <a:rPr lang="en-IN" sz="2800" b="1" dirty="0">
                <a:solidFill>
                  <a:srgbClr val="002060"/>
                </a:solidFill>
                <a:latin typeface="Marcellus"/>
              </a:rPr>
              <a:t>pentagonal plate </a:t>
            </a:r>
            <a:r>
              <a:rPr lang="en-IN" sz="2800" dirty="0">
                <a:solidFill>
                  <a:srgbClr val="002060"/>
                </a:solidFill>
                <a:latin typeface="Marcellus"/>
              </a:rPr>
              <a:t>of 30 mm side has one of its side in the V.P. The corner opposite to the this side contained by the H.P. is 20 mm in front of the V.P. Draw the projections and find the inclination of a surface with the V.P. </a:t>
            </a:r>
            <a:endParaRPr lang="en-IN" sz="2800" baseline="30000" dirty="0">
              <a:solidFill>
                <a:srgbClr val="002060"/>
              </a:solidFill>
              <a:latin typeface="Marcellus"/>
            </a:endParaRPr>
          </a:p>
        </p:txBody>
      </p:sp>
    </p:spTree>
    <p:extLst>
      <p:ext uri="{BB962C8B-B14F-4D97-AF65-F5344CB8AC3E}">
        <p14:creationId xmlns:p14="http://schemas.microsoft.com/office/powerpoint/2010/main" val="2119491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Planes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3231654"/>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H.P. and perpendicular to V.P.</a:t>
            </a:r>
          </a:p>
          <a:p>
            <a:pPr marL="631825" indent="-631825" algn="just"/>
            <a:r>
              <a:rPr lang="en-IN" sz="2400" dirty="0">
                <a:solidFill>
                  <a:schemeClr val="bg1">
                    <a:lumMod val="50000"/>
                  </a:schemeClr>
                </a:solidFill>
                <a:latin typeface="Marcellus"/>
              </a:rPr>
              <a:t>Q. 9 </a:t>
            </a:r>
            <a:r>
              <a:rPr lang="en-IN" sz="2800" dirty="0">
                <a:solidFill>
                  <a:srgbClr val="002060"/>
                </a:solidFill>
                <a:latin typeface="Marcellus"/>
              </a:rPr>
              <a:t>A </a:t>
            </a:r>
            <a:r>
              <a:rPr lang="en-IN" sz="2800" b="1" dirty="0">
                <a:solidFill>
                  <a:srgbClr val="002060"/>
                </a:solidFill>
                <a:latin typeface="Marcellus"/>
              </a:rPr>
              <a:t>circular plate </a:t>
            </a:r>
            <a:r>
              <a:rPr lang="en-IN" sz="2800" dirty="0">
                <a:solidFill>
                  <a:srgbClr val="002060"/>
                </a:solidFill>
                <a:latin typeface="Marcellus"/>
              </a:rPr>
              <a:t>of 60 mm diameter is resting on point A of its rim with its surface inclined at 30</a:t>
            </a:r>
            <a:r>
              <a:rPr lang="en-IN" sz="2800" baseline="30000" dirty="0">
                <a:solidFill>
                  <a:srgbClr val="002060"/>
                </a:solidFill>
                <a:latin typeface="Marcellus"/>
              </a:rPr>
              <a:t>0 </a:t>
            </a:r>
            <a:r>
              <a:rPr lang="en-IN" sz="2800" dirty="0">
                <a:solidFill>
                  <a:srgbClr val="002060"/>
                </a:solidFill>
                <a:latin typeface="Marcellus"/>
              </a:rPr>
              <a:t>to the H.P. Draw the projections of the plate.</a:t>
            </a:r>
            <a:endParaRPr lang="en-IN" sz="2800" baseline="30000" dirty="0">
              <a:solidFill>
                <a:srgbClr val="002060"/>
              </a:solidFill>
              <a:latin typeface="Marcellus"/>
            </a:endParaRPr>
          </a:p>
        </p:txBody>
      </p:sp>
    </p:spTree>
    <p:extLst>
      <p:ext uri="{BB962C8B-B14F-4D97-AF65-F5344CB8AC3E}">
        <p14:creationId xmlns:p14="http://schemas.microsoft.com/office/powerpoint/2010/main" val="2524135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Lines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2369880"/>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V.P. and perpendicular to H.P.</a:t>
            </a:r>
          </a:p>
          <a:p>
            <a:pPr marL="457200" indent="-457200">
              <a:buFont typeface="Wingdings" panose="05000000000000000000" pitchFamily="2" charset="2"/>
              <a:buChar char="q"/>
            </a:pPr>
            <a:endParaRPr lang="en-IN" sz="2800" dirty="0">
              <a:solidFill>
                <a:srgbClr val="C00000"/>
              </a:solidFill>
              <a:latin typeface="Marcellus"/>
            </a:endParaRPr>
          </a:p>
        </p:txBody>
      </p:sp>
      <p:pic>
        <p:nvPicPr>
          <p:cNvPr id="1026" name="Picture 2"/>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t="3078"/>
          <a:stretch/>
        </p:blipFill>
        <p:spPr bwMode="auto">
          <a:xfrm>
            <a:off x="3178629" y="3182818"/>
            <a:ext cx="6001156" cy="3250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337312" y="6433457"/>
            <a:ext cx="4197607" cy="369332"/>
          </a:xfrm>
          <a:prstGeom prst="rect">
            <a:avLst/>
          </a:prstGeom>
          <a:noFill/>
        </p:spPr>
        <p:txBody>
          <a:bodyPr wrap="square" rtlCol="0">
            <a:spAutoFit/>
          </a:bodyPr>
          <a:lstStyle/>
          <a:p>
            <a:r>
              <a:rPr lang="en-IN" dirty="0"/>
              <a:t>Fig. 2 projections of Triangle, Rectangle </a:t>
            </a:r>
            <a:r>
              <a:rPr lang="en-IN" baseline="30000" dirty="0"/>
              <a:t>[1]</a:t>
            </a:r>
          </a:p>
        </p:txBody>
      </p:sp>
    </p:spTree>
    <p:extLst>
      <p:ext uri="{BB962C8B-B14F-4D97-AF65-F5344CB8AC3E}">
        <p14:creationId xmlns:p14="http://schemas.microsoft.com/office/powerpoint/2010/main" val="1191737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Lines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2369880"/>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V.P. and perpendicular to H.P.</a:t>
            </a:r>
          </a:p>
          <a:p>
            <a:pPr marL="457200" indent="-457200">
              <a:buFont typeface="Wingdings" panose="05000000000000000000" pitchFamily="2" charset="2"/>
              <a:buChar char="q"/>
            </a:pPr>
            <a:endParaRPr lang="en-IN" sz="2800" dirty="0">
              <a:solidFill>
                <a:srgbClr val="C00000"/>
              </a:solidFill>
              <a:latin typeface="Marcellus"/>
            </a:endParaRPr>
          </a:p>
        </p:txBody>
      </p:sp>
      <p:pic>
        <p:nvPicPr>
          <p:cNvPr id="2050" name="Picture 2"/>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1832"/>
          <a:stretch/>
        </p:blipFill>
        <p:spPr bwMode="auto">
          <a:xfrm>
            <a:off x="3243655" y="3128925"/>
            <a:ext cx="6202537" cy="3380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5337312" y="6433457"/>
            <a:ext cx="4197607" cy="369332"/>
          </a:xfrm>
          <a:prstGeom prst="rect">
            <a:avLst/>
          </a:prstGeom>
          <a:noFill/>
        </p:spPr>
        <p:txBody>
          <a:bodyPr wrap="square" rtlCol="0">
            <a:spAutoFit/>
          </a:bodyPr>
          <a:lstStyle/>
          <a:p>
            <a:r>
              <a:rPr lang="en-IN" dirty="0"/>
              <a:t>Fig. 3 projections of square, Hexagon </a:t>
            </a:r>
            <a:r>
              <a:rPr lang="en-IN" baseline="30000" dirty="0"/>
              <a:t>[1]</a:t>
            </a:r>
          </a:p>
        </p:txBody>
      </p:sp>
    </p:spTree>
    <p:extLst>
      <p:ext uri="{BB962C8B-B14F-4D97-AF65-F5344CB8AC3E}">
        <p14:creationId xmlns:p14="http://schemas.microsoft.com/office/powerpoint/2010/main" val="1495962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Lines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2369880"/>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V.P. and perpendicular to H.P.</a:t>
            </a:r>
          </a:p>
          <a:p>
            <a:pPr marL="457200" indent="-457200">
              <a:buFont typeface="Wingdings" panose="05000000000000000000" pitchFamily="2" charset="2"/>
              <a:buChar char="q"/>
            </a:pPr>
            <a:endParaRPr lang="en-IN" sz="2800" dirty="0">
              <a:solidFill>
                <a:srgbClr val="C00000"/>
              </a:solidFill>
              <a:latin typeface="Marcellus"/>
            </a:endParaRPr>
          </a:p>
        </p:txBody>
      </p:sp>
      <p:pic>
        <p:nvPicPr>
          <p:cNvPr id="3074" name="Picture 2"/>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777342" y="3267123"/>
            <a:ext cx="47244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5337312" y="6433457"/>
            <a:ext cx="4197607" cy="369332"/>
          </a:xfrm>
          <a:prstGeom prst="rect">
            <a:avLst/>
          </a:prstGeom>
          <a:noFill/>
        </p:spPr>
        <p:txBody>
          <a:bodyPr wrap="square" rtlCol="0">
            <a:spAutoFit/>
          </a:bodyPr>
          <a:lstStyle/>
          <a:p>
            <a:r>
              <a:rPr lang="en-IN" dirty="0"/>
              <a:t>Fig. 4 projections of pentagon, Rhombus </a:t>
            </a:r>
            <a:r>
              <a:rPr lang="en-IN" baseline="30000" dirty="0"/>
              <a:t>[1]</a:t>
            </a:r>
          </a:p>
        </p:txBody>
      </p:sp>
    </p:spTree>
    <p:extLst>
      <p:ext uri="{BB962C8B-B14F-4D97-AF65-F5344CB8AC3E}">
        <p14:creationId xmlns:p14="http://schemas.microsoft.com/office/powerpoint/2010/main" val="22472158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98058B23-DDE2-4F62-9A2E-46739C3C685F}"/>
              </a:ext>
            </a:extLst>
          </p:cNvPr>
          <p:cNvSpPr>
            <a:spLocks noGrp="1"/>
          </p:cNvSpPr>
          <p:nvPr>
            <p:ph type="title"/>
          </p:nvPr>
        </p:nvSpPr>
        <p:spPr>
          <a:xfrm>
            <a:off x="0" y="303829"/>
            <a:ext cx="10515600" cy="1325563"/>
          </a:xfrm>
        </p:spPr>
        <p:txBody>
          <a:bodyPr>
            <a:normAutofit/>
          </a:bodyPr>
          <a:lstStyle/>
          <a:p>
            <a:pPr algn="ctr"/>
            <a:br>
              <a:rPr lang="en-US" sz="4000" dirty="0">
                <a:solidFill>
                  <a:srgbClr val="C00000"/>
                </a:solidFill>
                <a:latin typeface="Marcellus" panose="020E0602050203020307" pitchFamily="34" charset="0"/>
              </a:rPr>
            </a:br>
            <a:endParaRPr lang="en-US" sz="4000" dirty="0"/>
          </a:p>
        </p:txBody>
      </p:sp>
      <p:pic>
        <p:nvPicPr>
          <p:cNvPr id="4" name="Picture 3">
            <a:extLst>
              <a:ext uri="{FF2B5EF4-FFF2-40B4-BE49-F238E27FC236}">
                <a16:creationId xmlns:a16="http://schemas.microsoft.com/office/drawing/2014/main" id="{8026AED6-E793-48A3-96AF-36A0D1FE2D70}"/>
              </a:ext>
            </a:extLst>
          </p:cNvPr>
          <p:cNvPicPr>
            <a:picLocks noChangeAspect="1"/>
          </p:cNvPicPr>
          <p:nvPr/>
        </p:nvPicPr>
        <p:blipFill>
          <a:blip r:embed="rId2"/>
          <a:stretch>
            <a:fillRect/>
          </a:stretch>
        </p:blipFill>
        <p:spPr>
          <a:xfrm>
            <a:off x="11040979" y="0"/>
            <a:ext cx="1151021" cy="6855781"/>
          </a:xfrm>
          <a:prstGeom prst="rect">
            <a:avLst/>
          </a:prstGeom>
        </p:spPr>
      </p:pic>
      <p:pic>
        <p:nvPicPr>
          <p:cNvPr id="5" name="Picture 4">
            <a:extLst>
              <a:ext uri="{FF2B5EF4-FFF2-40B4-BE49-F238E27FC236}">
                <a16:creationId xmlns:a16="http://schemas.microsoft.com/office/drawing/2014/main" id="{98F5ADD7-F579-4B31-B088-24730AEA76C9}"/>
              </a:ext>
            </a:extLst>
          </p:cNvPr>
          <p:cNvPicPr>
            <a:picLocks noChangeAspect="1"/>
          </p:cNvPicPr>
          <p:nvPr/>
        </p:nvPicPr>
        <p:blipFill>
          <a:blip r:embed="rId3"/>
          <a:stretch>
            <a:fillRect/>
          </a:stretch>
        </p:blipFill>
        <p:spPr>
          <a:xfrm>
            <a:off x="10515600" y="-19050"/>
            <a:ext cx="525379" cy="5440680"/>
          </a:xfrm>
          <a:prstGeom prst="rect">
            <a:avLst/>
          </a:prstGeom>
        </p:spPr>
      </p:pic>
      <p:pic>
        <p:nvPicPr>
          <p:cNvPr id="11" name="Picture 10" descr="A close up of a sign&#10;&#10;Description automatically generated">
            <a:extLst>
              <a:ext uri="{FF2B5EF4-FFF2-40B4-BE49-F238E27FC236}">
                <a16:creationId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34920" y="191684"/>
            <a:ext cx="868683" cy="647487"/>
          </a:xfrm>
          <a:prstGeom prst="rect">
            <a:avLst/>
          </a:prstGeom>
        </p:spPr>
      </p:pic>
      <p:pic>
        <p:nvPicPr>
          <p:cNvPr id="8" name="Picture 7" descr="A picture containing drawing&#10;&#10;Description automatically generated">
            <a:extLst>
              <a:ext uri="{FF2B5EF4-FFF2-40B4-BE49-F238E27FC236}">
                <a16:creationId xmlns:a16="http://schemas.microsoft.com/office/drawing/2014/main" id="{64C82230-DFDE-4833-BFB9-9F9B8AFD7B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452" y="5887634"/>
            <a:ext cx="3245736" cy="811434"/>
          </a:xfrm>
          <a:prstGeom prst="rect">
            <a:avLst/>
          </a:prstGeom>
        </p:spPr>
      </p:pic>
      <p:sp>
        <p:nvSpPr>
          <p:cNvPr id="10" name="Title 12">
            <a:extLst>
              <a:ext uri="{FF2B5EF4-FFF2-40B4-BE49-F238E27FC236}">
                <a16:creationId xmlns:a16="http://schemas.microsoft.com/office/drawing/2014/main" id="{98058B23-DDE2-4F62-9A2E-46739C3C685F}"/>
              </a:ext>
            </a:extLst>
          </p:cNvPr>
          <p:cNvSpPr txBox="1">
            <a:spLocks/>
          </p:cNvSpPr>
          <p:nvPr/>
        </p:nvSpPr>
        <p:spPr>
          <a:xfrm>
            <a:off x="0" y="430475"/>
            <a:ext cx="1067462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85800" indent="-685800" algn="ctr">
              <a:buFont typeface="Wingdings" panose="05000000000000000000" pitchFamily="2" charset="2"/>
              <a:buChar char="§"/>
            </a:pPr>
            <a:r>
              <a:rPr lang="en-US" sz="3600" dirty="0">
                <a:solidFill>
                  <a:srgbClr val="C00000"/>
                </a:solidFill>
                <a:latin typeface="Arial" panose="020B0604020202020204" pitchFamily="34" charset="0"/>
                <a:cs typeface="Arial" panose="020B0604020202020204" pitchFamily="34" charset="0"/>
              </a:rPr>
              <a:t>Projection of Lines</a:t>
            </a:r>
            <a:endParaRPr lang="en-US" sz="3600" dirty="0">
              <a:latin typeface="Arial" panose="020B0604020202020204" pitchFamily="34" charset="0"/>
              <a:cs typeface="Arial" panose="020B0604020202020204" pitchFamily="34" charset="0"/>
            </a:endParaRPr>
          </a:p>
        </p:txBody>
      </p:sp>
      <p:sp>
        <p:nvSpPr>
          <p:cNvPr id="2" name="TextBox 1"/>
          <p:cNvSpPr txBox="1"/>
          <p:nvPr/>
        </p:nvSpPr>
        <p:spPr>
          <a:xfrm>
            <a:off x="348343" y="1578429"/>
            <a:ext cx="9710057" cy="2369880"/>
          </a:xfrm>
          <a:prstGeom prst="rect">
            <a:avLst/>
          </a:prstGeom>
          <a:noFill/>
        </p:spPr>
        <p:txBody>
          <a:bodyPr wrap="square" rtlCol="0">
            <a:spAutoFit/>
          </a:bodyPr>
          <a:lstStyle/>
          <a:p>
            <a:pPr marL="342900" indent="-342900">
              <a:buFont typeface="Wingdings" panose="05000000000000000000" pitchFamily="2" charset="2"/>
              <a:buChar char="§"/>
            </a:pPr>
            <a:r>
              <a:rPr lang="en-IN" sz="3200" dirty="0">
                <a:solidFill>
                  <a:srgbClr val="C00000"/>
                </a:solidFill>
                <a:latin typeface="Marcellus"/>
              </a:rPr>
              <a:t>Projection of Plane perpendicular to one Principal Plane and inclined to the other</a:t>
            </a:r>
          </a:p>
          <a:p>
            <a:pPr marL="457200" indent="-457200">
              <a:buFont typeface="Wingdings" panose="05000000000000000000" pitchFamily="2" charset="2"/>
              <a:buChar char="q"/>
            </a:pPr>
            <a:r>
              <a:rPr lang="en-IN" sz="2800" dirty="0">
                <a:solidFill>
                  <a:srgbClr val="C00000"/>
                </a:solidFill>
                <a:latin typeface="Marcellus"/>
              </a:rPr>
              <a:t>Surface of plane inclined to the V.P. and perpendicular to H.P.</a:t>
            </a:r>
          </a:p>
          <a:p>
            <a:pPr marL="457200" indent="-457200">
              <a:buFont typeface="Wingdings" panose="05000000000000000000" pitchFamily="2" charset="2"/>
              <a:buChar char="q"/>
            </a:pPr>
            <a:endParaRPr lang="en-IN" sz="2800" dirty="0">
              <a:solidFill>
                <a:srgbClr val="C00000"/>
              </a:solidFill>
              <a:latin typeface="Marcellus"/>
            </a:endParaRP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8419" y="3427890"/>
            <a:ext cx="7550842" cy="2459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2"/>
          <p:cNvSpPr txBox="1"/>
          <p:nvPr/>
        </p:nvSpPr>
        <p:spPr>
          <a:xfrm>
            <a:off x="4639454" y="6108685"/>
            <a:ext cx="4197607"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dirty="0"/>
              <a:t>Fig. 5 projections of Semicircle</a:t>
            </a:r>
            <a:r>
              <a:rPr lang="en-IN"/>
              <a:t>, Circle </a:t>
            </a:r>
            <a:r>
              <a:rPr lang="en-IN" baseline="30000" dirty="0"/>
              <a:t>[1]</a:t>
            </a:r>
          </a:p>
        </p:txBody>
      </p:sp>
    </p:spTree>
    <p:extLst>
      <p:ext uri="{BB962C8B-B14F-4D97-AF65-F5344CB8AC3E}">
        <p14:creationId xmlns:p14="http://schemas.microsoft.com/office/powerpoint/2010/main" val="2995417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2AFA-9E80-4F87-B3B2-19708553D0D5}"/>
              </a:ext>
            </a:extLst>
          </p:cNvPr>
          <p:cNvSpPr>
            <a:spLocks noGrp="1"/>
          </p:cNvSpPr>
          <p:nvPr>
            <p:ph type="title"/>
          </p:nvPr>
        </p:nvSpPr>
        <p:spPr>
          <a:xfrm>
            <a:off x="3740694" y="0"/>
            <a:ext cx="7231533" cy="1325563"/>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References</a:t>
            </a:r>
            <a:endParaRPr lang="en-US" sz="4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rot="5400000">
            <a:off x="5722458" y="409318"/>
            <a:ext cx="702416" cy="12236665"/>
          </a:xfrm>
          <a:prstGeom prst="rect">
            <a:avLst/>
          </a:prstGeom>
        </p:spPr>
      </p:pic>
      <p:pic>
        <p:nvPicPr>
          <p:cNvPr id="5" name="Picture 4">
            <a:extLst>
              <a:ext uri="{FF2B5EF4-FFF2-40B4-BE49-F238E27FC236}">
                <a16:creationId xmlns:a16="http://schemas.microsoft.com/office/drawing/2014/main" id="{B15A553C-6E56-4E14-9B40-3D70033DB61F}"/>
              </a:ext>
            </a:extLst>
          </p:cNvPr>
          <p:cNvPicPr>
            <a:picLocks noChangeAspect="1"/>
          </p:cNvPicPr>
          <p:nvPr/>
        </p:nvPicPr>
        <p:blipFill>
          <a:blip r:embed="rId3"/>
          <a:stretch>
            <a:fillRect/>
          </a:stretch>
        </p:blipFill>
        <p:spPr>
          <a:xfrm rot="5400000">
            <a:off x="7421729" y="1406173"/>
            <a:ext cx="207493" cy="9333048"/>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44462" y="332681"/>
            <a:ext cx="968545" cy="721920"/>
          </a:xfrm>
          <a:prstGeom prst="rect">
            <a:avLst/>
          </a:prstGeom>
        </p:spPr>
      </p:pic>
      <p:pic>
        <p:nvPicPr>
          <p:cNvPr id="9" name="Picture 8" descr="A picture containing drawing&#10;&#10;Description automatically generated">
            <a:extLst>
              <a:ext uri="{FF2B5EF4-FFF2-40B4-BE49-F238E27FC236}">
                <a16:creationId xmlns:a16="http://schemas.microsoft.com/office/drawing/2014/main" id="{C9DDECDA-AC01-47B8-B70B-458DA247878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727" y="114434"/>
            <a:ext cx="3245736" cy="811434"/>
          </a:xfrm>
          <a:prstGeom prst="rect">
            <a:avLst/>
          </a:prstGeom>
        </p:spPr>
      </p:pic>
      <p:sp>
        <p:nvSpPr>
          <p:cNvPr id="3" name="TextBox 2"/>
          <p:cNvSpPr txBox="1"/>
          <p:nvPr/>
        </p:nvSpPr>
        <p:spPr>
          <a:xfrm>
            <a:off x="827314" y="1382486"/>
            <a:ext cx="10341429" cy="461665"/>
          </a:xfrm>
          <a:prstGeom prst="rect">
            <a:avLst/>
          </a:prstGeom>
          <a:noFill/>
        </p:spPr>
        <p:txBody>
          <a:bodyPr wrap="square" rtlCol="0">
            <a:spAutoFit/>
          </a:bodyPr>
          <a:lstStyle/>
          <a:p>
            <a:pPr marL="285750" indent="-285750">
              <a:buFont typeface="Wingdings" panose="05000000000000000000" pitchFamily="2" charset="2"/>
              <a:buChar char="§"/>
            </a:pPr>
            <a:r>
              <a:rPr lang="en-IN" sz="2400">
                <a:solidFill>
                  <a:srgbClr val="C00000"/>
                </a:solidFill>
                <a:latin typeface="Marcellus"/>
              </a:rPr>
              <a:t>[1] Engineering </a:t>
            </a:r>
            <a:r>
              <a:rPr lang="en-IN" sz="2400" dirty="0">
                <a:solidFill>
                  <a:srgbClr val="C00000"/>
                </a:solidFill>
                <a:latin typeface="Marcellus"/>
              </a:rPr>
              <a:t>Drawing, N. H. Dubey</a:t>
            </a:r>
          </a:p>
        </p:txBody>
      </p:sp>
    </p:spTree>
    <p:extLst>
      <p:ext uri="{BB962C8B-B14F-4D97-AF65-F5344CB8AC3E}">
        <p14:creationId xmlns:p14="http://schemas.microsoft.com/office/powerpoint/2010/main" val="3431092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pic>
        <p:nvPicPr>
          <p:cNvPr id="11" name="Picture 10" descr="A picture containing drawing&#10;&#10;Description automatically generated">
            <a:extLst>
              <a:ext uri="{FF2B5EF4-FFF2-40B4-BE49-F238E27FC236}">
                <a16:creationId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sp>
        <p:nvSpPr>
          <p:cNvPr id="6" name="Rectangle 5">
            <a:extLst>
              <a:ext uri="{FF2B5EF4-FFF2-40B4-BE49-F238E27FC236}">
                <a16:creationId xmlns:a16="http://schemas.microsoft.com/office/drawing/2014/main" id="{6D46EE6E-84B1-4AF6-A297-1D33E7804865}"/>
              </a:ext>
            </a:extLst>
          </p:cNvPr>
          <p:cNvSpPr/>
          <p:nvPr/>
        </p:nvSpPr>
        <p:spPr>
          <a:xfrm>
            <a:off x="2219325" y="2836403"/>
            <a:ext cx="7267575" cy="1107996"/>
          </a:xfrm>
          <a:prstGeom prst="rect">
            <a:avLst/>
          </a:prstGeom>
          <a:noFill/>
        </p:spPr>
        <p:txBody>
          <a:bodyPr wrap="square" lIns="91440" tIns="45720" rIns="91440" bIns="45720">
            <a:spAutoFit/>
          </a:bodyPr>
          <a:lstStyle/>
          <a:p>
            <a:pPr algn="ctr"/>
            <a:r>
              <a:rPr lang="en-US" sz="6600" dirty="0">
                <a:ln w="0"/>
                <a:solidFill>
                  <a:srgbClr val="FF0000"/>
                </a:solidFill>
                <a:effectLst>
                  <a:reflection blurRad="6350" stA="53000" endA="300" endPos="35500" dir="5400000" sy="-90000" algn="bl" rotWithShape="0"/>
                </a:effectLst>
                <a:latin typeface="Bahnschrift Light" panose="020B0502040204020203" pitchFamily="34" charset="0"/>
              </a:rPr>
              <a:t>Thank you</a:t>
            </a:r>
            <a:r>
              <a:rPr lang="en-US" sz="6600" b="0" cap="none" spc="0" dirty="0">
                <a:ln w="0"/>
                <a:solidFill>
                  <a:srgbClr val="FF0000"/>
                </a:solidFill>
                <a:effectLst>
                  <a:reflection blurRad="6350" stA="53000" endA="300" endPos="35500" dir="5400000" sy="-90000" algn="bl" rotWithShape="0"/>
                </a:effectLst>
                <a:latin typeface="Bahnschrift Light" panose="020B0502040204020203" pitchFamily="34" charset="0"/>
              </a:rPr>
              <a:t> !!</a:t>
            </a:r>
          </a:p>
        </p:txBody>
      </p:sp>
    </p:spTree>
    <p:extLst>
      <p:ext uri="{BB962C8B-B14F-4D97-AF65-F5344CB8AC3E}">
        <p14:creationId xmlns:p14="http://schemas.microsoft.com/office/powerpoint/2010/main" val="20605620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31080</TotalTime>
  <Words>1455</Words>
  <Application>Microsoft Macintosh PowerPoint</Application>
  <PresentationFormat>Widescreen</PresentationFormat>
  <Paragraphs>110</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Bahnschrift Light</vt:lpstr>
      <vt:lpstr>Calibri</vt:lpstr>
      <vt:lpstr>Calibri Light</vt:lpstr>
      <vt:lpstr>Marcellus</vt:lpstr>
      <vt:lpstr>Times New Roman</vt:lpstr>
      <vt:lpstr>Wingdings</vt:lpstr>
      <vt:lpstr>Office Theme</vt:lpstr>
      <vt:lpstr>216U06C105 – Engineering Drawing</vt:lpstr>
      <vt:lpstr>Projection of Plane Syllabus</vt:lpstr>
      <vt:lpstr>Projection of Planes</vt:lpstr>
      <vt:lpstr>Projection of Plane</vt:lpstr>
      <vt:lpstr> </vt:lpstr>
      <vt:lpstr> </vt:lpstr>
      <vt:lpstr> </vt:lpstr>
      <vt:lpstr> </vt:lpstr>
      <vt:lpstr> </vt:lpstr>
      <vt:lpstr> </vt:lpstr>
      <vt:lpstr> </vt:lpstr>
      <vt:lpstr>PowerPoint Presentation</vt:lpstr>
      <vt:lpstr>PowerPoint Presentation</vt:lpstr>
      <vt:lpstr> </vt:lpstr>
      <vt:lpstr> </vt:lpstr>
      <vt:lpstr> </vt:lpstr>
      <vt:lpstr> </vt:lpstr>
      <vt:lpstr> </vt:lpstr>
      <vt:lpstr> </vt:lpstr>
      <vt:lpstr> </vt:lpstr>
      <vt:lpstr> </vt:lpstr>
      <vt:lpstr>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Aditi  Rajani</dc:creator>
  <cp:lastModifiedBy>Arav Arun</cp:lastModifiedBy>
  <cp:revision>239</cp:revision>
  <dcterms:created xsi:type="dcterms:W3CDTF">2020-04-30T07:52:47Z</dcterms:created>
  <dcterms:modified xsi:type="dcterms:W3CDTF">2025-12-02T11:34:28Z</dcterms:modified>
</cp:coreProperties>
</file>