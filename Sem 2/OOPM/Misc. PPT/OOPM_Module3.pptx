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  <p:sldMasterId id="2147483652" r:id="rId3"/>
  </p:sldMasterIdLst>
  <p:notesMasterIdLst>
    <p:notesMasterId r:id="rId4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x="12190413" cy="6859588"/>
  <p:notesSz cx="6858000" cy="9144000"/>
  <p:embeddedFontLst>
    <p:embeddedFont>
      <p:font typeface="Calibri" panose="020F0502020204030204" pitchFamily="34" charset="0"/>
      <p:regular r:id="rId43"/>
      <p:bold r:id="rId44"/>
      <p:italic r:id="rId45"/>
      <p:boldItalic r:id="rId46"/>
    </p:embeddedFont>
    <p:embeddedFont>
      <p:font typeface="Arimo" panose="020B060402020202020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1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1" roundtripDataSignature="AMtx7mgZROibJszhabdRW68Y/AO0XVwY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C64D6CF3-0A64-4594-A62B-F67A6B4973AE}">
  <a:tblStyle styleId="{C64D6CF3-0A64-4594-A62B-F67A6B4973A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5" d="100"/>
          <a:sy n="65" d="100"/>
        </p:scale>
        <p:origin x="-672" y="-48"/>
      </p:cViewPr>
      <p:guideLst>
        <p:guide orient="horz" pos="216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font" Target="fonts/font3.fntdata"/><Relationship Id="rId53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7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font" Target="fonts/font2.fntdata"/><Relationship Id="rId52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8" Type="http://schemas.openxmlformats.org/officeDocument/2006/relationships/slide" Target="slides/slide5.xml"/><Relationship Id="rId51" Type="http://customschemas.google.com/relationships/presentationmetadata" Target="metadata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2587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985108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1"/>
          <p:cNvSpPr txBox="1">
            <a:spLocks noGrp="1"/>
          </p:cNvSpPr>
          <p:nvPr>
            <p:ph type="ctrTitle"/>
          </p:nvPr>
        </p:nvSpPr>
        <p:spPr>
          <a:xfrm>
            <a:off x="914281" y="2130919"/>
            <a:ext cx="10361851" cy="1470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1"/>
          <p:cNvSpPr txBox="1">
            <a:spLocks noGrp="1"/>
          </p:cNvSpPr>
          <p:nvPr>
            <p:ph type="subTitle" idx="1"/>
          </p:nvPr>
        </p:nvSpPr>
        <p:spPr>
          <a:xfrm>
            <a:off x="1828562" y="3887100"/>
            <a:ext cx="8533289" cy="1753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noAutofit/>
          </a:bodyPr>
          <a:lstStyle>
            <a:lvl1pPr lvl="0" algn="ctr">
              <a:spcBef>
                <a:spcPts val="760"/>
              </a:spcBef>
              <a:spcAft>
                <a:spcPts val="0"/>
              </a:spcAft>
              <a:buClr>
                <a:srgbClr val="888888"/>
              </a:buClr>
              <a:buSzPts val="38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60"/>
              </a:spcBef>
              <a:spcAft>
                <a:spcPts val="0"/>
              </a:spcAft>
              <a:buClr>
                <a:srgbClr val="888888"/>
              </a:buClr>
              <a:buSzPts val="33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1"/>
          <p:cNvSpPr txBox="1">
            <a:spLocks noGrp="1"/>
          </p:cNvSpPr>
          <p:nvPr>
            <p:ph type="dt" idx="10"/>
          </p:nvPr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1"/>
          <p:cNvSpPr txBox="1">
            <a:spLocks noGrp="1"/>
          </p:cNvSpPr>
          <p:nvPr>
            <p:ph type="ftr" idx="11"/>
          </p:nvPr>
        </p:nvSpPr>
        <p:spPr>
          <a:xfrm>
            <a:off x="4165600" y="6357937"/>
            <a:ext cx="38592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1"/>
          <p:cNvSpPr txBox="1">
            <a:spLocks noGrp="1"/>
          </p:cNvSpPr>
          <p:nvPr>
            <p:ph type="sldNum" idx="12"/>
          </p:nvPr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  <a:defRPr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  <a:defRPr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  <a:defRPr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  <a:defRPr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  <a:defRPr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  <a:defRPr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  <a:defRPr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  <a:defRPr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  <a:defRPr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3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12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3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2" cy="452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43"/>
          <p:cNvSpPr txBox="1">
            <a:spLocks noGrp="1"/>
          </p:cNvSpPr>
          <p:nvPr>
            <p:ph type="dt" idx="10"/>
          </p:nvPr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3"/>
          <p:cNvSpPr txBox="1">
            <a:spLocks noGrp="1"/>
          </p:cNvSpPr>
          <p:nvPr>
            <p:ph type="ftr" idx="11"/>
          </p:nvPr>
        </p:nvSpPr>
        <p:spPr>
          <a:xfrm>
            <a:off x="4165600" y="6357937"/>
            <a:ext cx="38592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3"/>
          <p:cNvSpPr txBox="1">
            <a:spLocks noGrp="1"/>
          </p:cNvSpPr>
          <p:nvPr>
            <p:ph type="sldNum" idx="12"/>
          </p:nvPr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5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12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5"/>
          <p:cNvSpPr txBox="1">
            <a:spLocks noGrp="1"/>
          </p:cNvSpPr>
          <p:nvPr>
            <p:ph type="body" idx="1"/>
          </p:nvPr>
        </p:nvSpPr>
        <p:spPr>
          <a:xfrm>
            <a:off x="609521" y="1600571"/>
            <a:ext cx="5384099" cy="4527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noAutofit/>
          </a:bodyPr>
          <a:lstStyle>
            <a:lvl1pPr marL="457200" lvl="0" indent="-438150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1pPr>
            <a:lvl2pPr marL="914400" lvl="1" indent="-41275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 sz="29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marL="2286000" lvl="4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marL="2743200" lvl="5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marL="3200400" lvl="6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marL="3657600" lvl="7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marL="4114800" lvl="8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>
            <a:endParaRPr/>
          </a:p>
        </p:txBody>
      </p:sp>
      <p:sp>
        <p:nvSpPr>
          <p:cNvPr id="57" name="Google Shape;57;p45"/>
          <p:cNvSpPr txBox="1">
            <a:spLocks noGrp="1"/>
          </p:cNvSpPr>
          <p:nvPr>
            <p:ph type="body" idx="2"/>
          </p:nvPr>
        </p:nvSpPr>
        <p:spPr>
          <a:xfrm>
            <a:off x="6196793" y="1600571"/>
            <a:ext cx="5384099" cy="4527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noAutofit/>
          </a:bodyPr>
          <a:lstStyle>
            <a:lvl1pPr marL="457200" lvl="0" indent="-438150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1pPr>
            <a:lvl2pPr marL="914400" lvl="1" indent="-41275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 sz="29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marL="2286000" lvl="4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marL="2743200" lvl="5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marL="3200400" lvl="6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marL="3657600" lvl="7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marL="4114800" lvl="8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>
            <a:endParaRPr/>
          </a:p>
        </p:txBody>
      </p:sp>
      <p:sp>
        <p:nvSpPr>
          <p:cNvPr id="58" name="Google Shape;58;p45"/>
          <p:cNvSpPr txBox="1">
            <a:spLocks noGrp="1"/>
          </p:cNvSpPr>
          <p:nvPr>
            <p:ph type="dt" idx="10"/>
          </p:nvPr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5"/>
          <p:cNvSpPr txBox="1">
            <a:spLocks noGrp="1"/>
          </p:cNvSpPr>
          <p:nvPr>
            <p:ph type="ftr" idx="11"/>
          </p:nvPr>
        </p:nvSpPr>
        <p:spPr>
          <a:xfrm>
            <a:off x="4165600" y="6357937"/>
            <a:ext cx="38592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5"/>
          <p:cNvSpPr txBox="1">
            <a:spLocks noGrp="1"/>
          </p:cNvSpPr>
          <p:nvPr>
            <p:ph type="sldNum" idx="12"/>
          </p:nvPr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6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12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6"/>
          <p:cNvSpPr txBox="1">
            <a:spLocks noGrp="1"/>
          </p:cNvSpPr>
          <p:nvPr>
            <p:ph type="dt" idx="10"/>
          </p:nvPr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6"/>
          <p:cNvSpPr txBox="1">
            <a:spLocks noGrp="1"/>
          </p:cNvSpPr>
          <p:nvPr>
            <p:ph type="ftr" idx="11"/>
          </p:nvPr>
        </p:nvSpPr>
        <p:spPr>
          <a:xfrm>
            <a:off x="4165600" y="6357937"/>
            <a:ext cx="38592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6"/>
          <p:cNvSpPr txBox="1">
            <a:spLocks noGrp="1"/>
          </p:cNvSpPr>
          <p:nvPr>
            <p:ph type="sldNum" idx="12"/>
          </p:nvPr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7"/>
          <p:cNvSpPr txBox="1">
            <a:spLocks noGrp="1"/>
          </p:cNvSpPr>
          <p:nvPr>
            <p:ph type="dt" idx="10"/>
          </p:nvPr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7"/>
          <p:cNvSpPr txBox="1">
            <a:spLocks noGrp="1"/>
          </p:cNvSpPr>
          <p:nvPr>
            <p:ph type="ftr" idx="11"/>
          </p:nvPr>
        </p:nvSpPr>
        <p:spPr>
          <a:xfrm>
            <a:off x="4165600" y="6357937"/>
            <a:ext cx="38592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7"/>
          <p:cNvSpPr txBox="1">
            <a:spLocks noGrp="1"/>
          </p:cNvSpPr>
          <p:nvPr>
            <p:ph type="sldNum" idx="12"/>
          </p:nvPr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8"/>
          <p:cNvSpPr txBox="1">
            <a:spLocks noGrp="1"/>
          </p:cNvSpPr>
          <p:nvPr>
            <p:ph type="title"/>
          </p:nvPr>
        </p:nvSpPr>
        <p:spPr>
          <a:xfrm rot="5400000">
            <a:off x="7283031" y="1829721"/>
            <a:ext cx="5852880" cy="2742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8"/>
          <p:cNvSpPr txBox="1">
            <a:spLocks noGrp="1"/>
          </p:cNvSpPr>
          <p:nvPr>
            <p:ph type="body" idx="1"/>
          </p:nvPr>
        </p:nvSpPr>
        <p:spPr>
          <a:xfrm rot="5400000">
            <a:off x="1695759" y="-811535"/>
            <a:ext cx="5852880" cy="802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48"/>
          <p:cNvSpPr txBox="1">
            <a:spLocks noGrp="1"/>
          </p:cNvSpPr>
          <p:nvPr>
            <p:ph type="dt" idx="10"/>
          </p:nvPr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8"/>
          <p:cNvSpPr txBox="1">
            <a:spLocks noGrp="1"/>
          </p:cNvSpPr>
          <p:nvPr>
            <p:ph type="ftr" idx="11"/>
          </p:nvPr>
        </p:nvSpPr>
        <p:spPr>
          <a:xfrm>
            <a:off x="4165600" y="6357937"/>
            <a:ext cx="38592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8"/>
          <p:cNvSpPr txBox="1">
            <a:spLocks noGrp="1"/>
          </p:cNvSpPr>
          <p:nvPr>
            <p:ph type="sldNum" idx="12"/>
          </p:nvPr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9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12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9"/>
          <p:cNvSpPr txBox="1">
            <a:spLocks noGrp="1"/>
          </p:cNvSpPr>
          <p:nvPr>
            <p:ph type="body" idx="1"/>
          </p:nvPr>
        </p:nvSpPr>
        <p:spPr>
          <a:xfrm rot="5400000">
            <a:off x="3831431" y="-1621631"/>
            <a:ext cx="4527550" cy="1097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49"/>
          <p:cNvSpPr txBox="1">
            <a:spLocks noGrp="1"/>
          </p:cNvSpPr>
          <p:nvPr>
            <p:ph type="dt" idx="10"/>
          </p:nvPr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9"/>
          <p:cNvSpPr txBox="1">
            <a:spLocks noGrp="1"/>
          </p:cNvSpPr>
          <p:nvPr>
            <p:ph type="ftr" idx="11"/>
          </p:nvPr>
        </p:nvSpPr>
        <p:spPr>
          <a:xfrm>
            <a:off x="4165600" y="6357937"/>
            <a:ext cx="38592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49"/>
          <p:cNvSpPr txBox="1">
            <a:spLocks noGrp="1"/>
          </p:cNvSpPr>
          <p:nvPr>
            <p:ph type="sldNum" idx="12"/>
          </p:nvPr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0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12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0"/>
          <p:cNvSpPr txBox="1"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b" anchorCtr="0">
            <a:noAutofit/>
          </a:bodyPr>
          <a:lstStyle>
            <a:lvl1pPr marL="457200" lvl="0" indent="-228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 b="1"/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2pPr>
            <a:lvl3pPr marL="1371600" lvl="2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3pPr>
            <a:lvl4pPr marL="1828800" lvl="3" indent="-228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4pPr>
            <a:lvl5pPr marL="2286000" lvl="4" indent="-228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5pPr>
            <a:lvl6pPr marL="2743200" lvl="5" indent="-228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6pPr>
            <a:lvl7pPr marL="3200400" lvl="6" indent="-228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7pPr>
            <a:lvl8pPr marL="3657600" lvl="7" indent="-228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8pPr>
            <a:lvl9pPr marL="4114800" lvl="8" indent="-228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9pPr>
          </a:lstStyle>
          <a:p>
            <a:endParaRPr/>
          </a:p>
        </p:txBody>
      </p:sp>
      <p:sp>
        <p:nvSpPr>
          <p:cNvPr id="85" name="Google Shape;85;p50"/>
          <p:cNvSpPr txBox="1">
            <a:spLocks noGrp="1"/>
          </p:cNvSpPr>
          <p:nvPr>
            <p:ph type="body" idx="2"/>
          </p:nvPr>
        </p:nvSpPr>
        <p:spPr>
          <a:xfrm>
            <a:off x="609521" y="2175379"/>
            <a:ext cx="5386216" cy="3952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noAutofit/>
          </a:bodyPr>
          <a:lstStyle>
            <a:lvl1pPr marL="457200" lvl="0" indent="-41275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3pPr>
            <a:lvl4pPr marL="1828800" lvl="3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4pPr>
            <a:lvl5pPr marL="2286000" lvl="4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 sz="1900"/>
            </a:lvl5pPr>
            <a:lvl6pPr marL="2743200" lvl="5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6pPr>
            <a:lvl7pPr marL="3200400" lvl="6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7pPr>
            <a:lvl8pPr marL="3657600" lvl="7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8pPr>
            <a:lvl9pPr marL="4114800" lvl="8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9pPr>
          </a:lstStyle>
          <a:p>
            <a:endParaRPr/>
          </a:p>
        </p:txBody>
      </p:sp>
      <p:sp>
        <p:nvSpPr>
          <p:cNvPr id="86" name="Google Shape;86;p50"/>
          <p:cNvSpPr txBox="1">
            <a:spLocks noGrp="1"/>
          </p:cNvSpPr>
          <p:nvPr>
            <p:ph type="body" idx="3"/>
          </p:nvPr>
        </p:nvSpPr>
        <p:spPr>
          <a:xfrm>
            <a:off x="6192561" y="1535469"/>
            <a:ext cx="5388332" cy="6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b" anchorCtr="0">
            <a:noAutofit/>
          </a:bodyPr>
          <a:lstStyle>
            <a:lvl1pPr marL="457200" lvl="0" indent="-228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 b="1"/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2pPr>
            <a:lvl3pPr marL="1371600" lvl="2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3pPr>
            <a:lvl4pPr marL="1828800" lvl="3" indent="-228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4pPr>
            <a:lvl5pPr marL="2286000" lvl="4" indent="-228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5pPr>
            <a:lvl6pPr marL="2743200" lvl="5" indent="-228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6pPr>
            <a:lvl7pPr marL="3200400" lvl="6" indent="-228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7pPr>
            <a:lvl8pPr marL="3657600" lvl="7" indent="-228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8pPr>
            <a:lvl9pPr marL="4114800" lvl="8" indent="-228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9pPr>
          </a:lstStyle>
          <a:p>
            <a:endParaRPr/>
          </a:p>
        </p:txBody>
      </p:sp>
      <p:sp>
        <p:nvSpPr>
          <p:cNvPr id="87" name="Google Shape;87;p50"/>
          <p:cNvSpPr txBox="1">
            <a:spLocks noGrp="1"/>
          </p:cNvSpPr>
          <p:nvPr>
            <p:ph type="body" idx="4"/>
          </p:nvPr>
        </p:nvSpPr>
        <p:spPr>
          <a:xfrm>
            <a:off x="6192561" y="2175379"/>
            <a:ext cx="5388332" cy="3952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noAutofit/>
          </a:bodyPr>
          <a:lstStyle>
            <a:lvl1pPr marL="457200" lvl="0" indent="-41275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3pPr>
            <a:lvl4pPr marL="1828800" lvl="3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4pPr>
            <a:lvl5pPr marL="2286000" lvl="4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 sz="1900"/>
            </a:lvl5pPr>
            <a:lvl6pPr marL="2743200" lvl="5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6pPr>
            <a:lvl7pPr marL="3200400" lvl="6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7pPr>
            <a:lvl8pPr marL="3657600" lvl="7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8pPr>
            <a:lvl9pPr marL="4114800" lvl="8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9pPr>
          </a:lstStyle>
          <a:p>
            <a:endParaRPr/>
          </a:p>
        </p:txBody>
      </p:sp>
      <p:sp>
        <p:nvSpPr>
          <p:cNvPr id="88" name="Google Shape;88;p50"/>
          <p:cNvSpPr txBox="1">
            <a:spLocks noGrp="1"/>
          </p:cNvSpPr>
          <p:nvPr>
            <p:ph type="dt" idx="10"/>
          </p:nvPr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50"/>
          <p:cNvSpPr txBox="1">
            <a:spLocks noGrp="1"/>
          </p:cNvSpPr>
          <p:nvPr>
            <p:ph type="ftr" idx="11"/>
          </p:nvPr>
        </p:nvSpPr>
        <p:spPr>
          <a:xfrm>
            <a:off x="4165600" y="6357937"/>
            <a:ext cx="38592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0"/>
          <p:cNvSpPr txBox="1">
            <a:spLocks noGrp="1"/>
          </p:cNvSpPr>
          <p:nvPr>
            <p:ph type="sldNum" idx="12"/>
          </p:nvPr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1"/>
          <p:cNvSpPr txBox="1">
            <a:spLocks noGrp="1"/>
          </p:cNvSpPr>
          <p:nvPr>
            <p:ph type="title"/>
          </p:nvPr>
        </p:nvSpPr>
        <p:spPr>
          <a:xfrm>
            <a:off x="962959" y="4407921"/>
            <a:ext cx="10361851" cy="1362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51"/>
          <p:cNvSpPr txBox="1">
            <a:spLocks noGrp="1"/>
          </p:cNvSpPr>
          <p:nvPr>
            <p:ph type="body" idx="1"/>
          </p:nvPr>
        </p:nvSpPr>
        <p:spPr>
          <a:xfrm>
            <a:off x="962959" y="2907387"/>
            <a:ext cx="10361851" cy="1500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340"/>
              </a:spcBef>
              <a:spcAft>
                <a:spcPts val="0"/>
              </a:spcAft>
              <a:buClr>
                <a:srgbClr val="888888"/>
              </a:buClr>
              <a:buSzPts val="1700"/>
              <a:buNone/>
              <a:defRPr sz="1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340"/>
              </a:spcBef>
              <a:spcAft>
                <a:spcPts val="0"/>
              </a:spcAft>
              <a:buClr>
                <a:srgbClr val="888888"/>
              </a:buClr>
              <a:buSzPts val="1700"/>
              <a:buNone/>
              <a:defRPr sz="1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340"/>
              </a:spcBef>
              <a:spcAft>
                <a:spcPts val="0"/>
              </a:spcAft>
              <a:buClr>
                <a:srgbClr val="888888"/>
              </a:buClr>
              <a:buSzPts val="1700"/>
              <a:buNone/>
              <a:defRPr sz="1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340"/>
              </a:spcBef>
              <a:spcAft>
                <a:spcPts val="0"/>
              </a:spcAft>
              <a:buClr>
                <a:srgbClr val="888888"/>
              </a:buClr>
              <a:buSzPts val="1700"/>
              <a:buNone/>
              <a:defRPr sz="1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340"/>
              </a:spcBef>
              <a:spcAft>
                <a:spcPts val="0"/>
              </a:spcAft>
              <a:buClr>
                <a:srgbClr val="888888"/>
              </a:buClr>
              <a:buSzPts val="1700"/>
              <a:buNone/>
              <a:defRPr sz="1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340"/>
              </a:spcBef>
              <a:spcAft>
                <a:spcPts val="0"/>
              </a:spcAft>
              <a:buClr>
                <a:srgbClr val="888888"/>
              </a:buClr>
              <a:buSzPts val="1700"/>
              <a:buNone/>
              <a:defRPr sz="1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51"/>
          <p:cNvSpPr txBox="1">
            <a:spLocks noGrp="1"/>
          </p:cNvSpPr>
          <p:nvPr>
            <p:ph type="dt" idx="10"/>
          </p:nvPr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51"/>
          <p:cNvSpPr txBox="1">
            <a:spLocks noGrp="1"/>
          </p:cNvSpPr>
          <p:nvPr>
            <p:ph type="ftr" idx="11"/>
          </p:nvPr>
        </p:nvSpPr>
        <p:spPr>
          <a:xfrm>
            <a:off x="4165600" y="6357937"/>
            <a:ext cx="38592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1"/>
          <p:cNvSpPr txBox="1">
            <a:spLocks noGrp="1"/>
          </p:cNvSpPr>
          <p:nvPr>
            <p:ph type="sldNum" idx="12"/>
          </p:nvPr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762" y="141287"/>
            <a:ext cx="3087687" cy="709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40" descr="Graphical user interface, text, applicati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72812" y="141287"/>
            <a:ext cx="971550" cy="53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40"/>
          <p:cNvSpPr txBox="1"/>
          <p:nvPr/>
        </p:nvSpPr>
        <p:spPr>
          <a:xfrm>
            <a:off x="0" y="6081712"/>
            <a:ext cx="1117600" cy="790575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108825" tIns="54400" rIns="108825" bIns="54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0"/>
          <p:cNvSpPr txBox="1"/>
          <p:nvPr/>
        </p:nvSpPr>
        <p:spPr>
          <a:xfrm>
            <a:off x="10610850" y="6343650"/>
            <a:ext cx="1608137" cy="515937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spcFirstLastPara="1" wrap="square" lIns="108825" tIns="54400" rIns="108825" bIns="54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40"/>
          <p:cNvSpPr txBox="1"/>
          <p:nvPr/>
        </p:nvSpPr>
        <p:spPr>
          <a:xfrm>
            <a:off x="1117600" y="6343650"/>
            <a:ext cx="9493250" cy="515937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108825" tIns="54400" rIns="108825" bIns="54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40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12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40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2" cy="452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noAutofit/>
          </a:bodyPr>
          <a:lstStyle>
            <a:lvl1pPr marL="457200" marR="0" lvl="0" indent="-469900" algn="l" rtl="0"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  <a:defRPr sz="3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38150" algn="l" rtl="0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Char char="–"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12750" algn="l" rtl="0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40"/>
          <p:cNvSpPr txBox="1">
            <a:spLocks noGrp="1"/>
          </p:cNvSpPr>
          <p:nvPr>
            <p:ph type="dt" idx="10"/>
          </p:nvPr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40"/>
          <p:cNvSpPr txBox="1">
            <a:spLocks noGrp="1"/>
          </p:cNvSpPr>
          <p:nvPr>
            <p:ph type="ftr" idx="11"/>
          </p:nvPr>
        </p:nvSpPr>
        <p:spPr>
          <a:xfrm>
            <a:off x="4165600" y="6357937"/>
            <a:ext cx="38592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40"/>
          <p:cNvSpPr txBox="1">
            <a:spLocks noGrp="1"/>
          </p:cNvSpPr>
          <p:nvPr>
            <p:ph type="sldNum" idx="12"/>
          </p:nvPr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  <a:defRPr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  <a:defRPr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  <a:defRPr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  <a:defRPr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  <a:defRPr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  <a:defRPr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  <a:defRPr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  <a:defRPr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  <a:defRPr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762" y="141287"/>
            <a:ext cx="3087687" cy="709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42" descr="Graphical user interface, text, applicati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72812" y="141287"/>
            <a:ext cx="971550" cy="539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2"/>
          <p:cNvSpPr txBox="1"/>
          <p:nvPr/>
        </p:nvSpPr>
        <p:spPr>
          <a:xfrm>
            <a:off x="0" y="6081712"/>
            <a:ext cx="1117600" cy="790575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108825" tIns="54400" rIns="108825" bIns="54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2"/>
          <p:cNvSpPr txBox="1"/>
          <p:nvPr/>
        </p:nvSpPr>
        <p:spPr>
          <a:xfrm>
            <a:off x="10610850" y="6343650"/>
            <a:ext cx="1608137" cy="515937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spcFirstLastPara="1" wrap="square" lIns="108825" tIns="54400" rIns="108825" bIns="54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2"/>
          <p:cNvSpPr txBox="1"/>
          <p:nvPr/>
        </p:nvSpPr>
        <p:spPr>
          <a:xfrm>
            <a:off x="1117600" y="6343650"/>
            <a:ext cx="9493250" cy="515937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108825" tIns="54400" rIns="108825" bIns="54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2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12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42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2" cy="452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noAutofit/>
          </a:bodyPr>
          <a:lstStyle>
            <a:lvl1pPr marL="457200" marR="0" lvl="0" indent="-469900" algn="l" rtl="0"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  <a:defRPr sz="3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38150" algn="l" rtl="0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Char char="–"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12750" algn="l" rtl="0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2"/>
          <p:cNvSpPr txBox="1">
            <a:spLocks noGrp="1"/>
          </p:cNvSpPr>
          <p:nvPr>
            <p:ph type="dt" idx="10"/>
          </p:nvPr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42"/>
          <p:cNvSpPr txBox="1">
            <a:spLocks noGrp="1"/>
          </p:cNvSpPr>
          <p:nvPr>
            <p:ph type="ftr" idx="11"/>
          </p:nvPr>
        </p:nvSpPr>
        <p:spPr>
          <a:xfrm>
            <a:off x="4165600" y="6357937"/>
            <a:ext cx="38592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42"/>
          <p:cNvSpPr txBox="1">
            <a:spLocks noGrp="1"/>
          </p:cNvSpPr>
          <p:nvPr>
            <p:ph type="sldNum" idx="12"/>
          </p:nvPr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4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12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44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2" cy="452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noAutofit/>
          </a:bodyPr>
          <a:lstStyle>
            <a:lvl1pPr marL="457200" marR="0" lvl="0" indent="-469900" algn="l" rtl="0"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  <a:defRPr sz="3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38150" algn="l" rtl="0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Char char="–"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12750" algn="l" rtl="0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44"/>
          <p:cNvSpPr txBox="1">
            <a:spLocks noGrp="1"/>
          </p:cNvSpPr>
          <p:nvPr>
            <p:ph type="dt" idx="10"/>
          </p:nvPr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44"/>
          <p:cNvSpPr txBox="1">
            <a:spLocks noGrp="1"/>
          </p:cNvSpPr>
          <p:nvPr>
            <p:ph type="ftr" idx="11"/>
          </p:nvPr>
        </p:nvSpPr>
        <p:spPr>
          <a:xfrm>
            <a:off x="4165600" y="6357937"/>
            <a:ext cx="38592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44"/>
          <p:cNvSpPr txBox="1">
            <a:spLocks noGrp="1"/>
          </p:cNvSpPr>
          <p:nvPr>
            <p:ph type="sldNum" idx="12"/>
          </p:nvPr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49" name="Google Shape;49;p4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58762" y="141287"/>
            <a:ext cx="3087687" cy="709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44" descr="Graphical user interface, text, application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072812" y="141287"/>
            <a:ext cx="971550" cy="53975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44"/>
          <p:cNvSpPr txBox="1"/>
          <p:nvPr/>
        </p:nvSpPr>
        <p:spPr>
          <a:xfrm>
            <a:off x="0" y="6081712"/>
            <a:ext cx="1117600" cy="790575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108825" tIns="54400" rIns="108825" bIns="54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4"/>
          <p:cNvSpPr txBox="1"/>
          <p:nvPr/>
        </p:nvSpPr>
        <p:spPr>
          <a:xfrm>
            <a:off x="10610850" y="6343650"/>
            <a:ext cx="1608137" cy="515937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spcFirstLastPara="1" wrap="square" lIns="108825" tIns="54400" rIns="108825" bIns="54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4"/>
          <p:cNvSpPr txBox="1"/>
          <p:nvPr/>
        </p:nvSpPr>
        <p:spPr>
          <a:xfrm>
            <a:off x="1117600" y="6343650"/>
            <a:ext cx="9493250" cy="515937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108825" tIns="54400" rIns="108825" bIns="54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>
            <a:spLocks noGrp="1"/>
          </p:cNvSpPr>
          <p:nvPr>
            <p:ph type="ctrTitle"/>
          </p:nvPr>
        </p:nvSpPr>
        <p:spPr>
          <a:xfrm>
            <a:off x="1703387" y="549275"/>
            <a:ext cx="914241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OOPM</a:t>
            </a:r>
            <a:endParaRPr/>
          </a:p>
        </p:txBody>
      </p:sp>
      <p:pic>
        <p:nvPicPr>
          <p:cNvPr id="102" name="Google Shape;10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87" y="1754187"/>
            <a:ext cx="6051550" cy="351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"/>
          <p:cNvPicPr preferRelativeResize="0"/>
          <p:nvPr/>
        </p:nvPicPr>
        <p:blipFill rotWithShape="1">
          <a:blip r:embed="rId4">
            <a:alphaModFix/>
          </a:blip>
          <a:srcRect t="59219"/>
          <a:stretch/>
        </p:blipFill>
        <p:spPr>
          <a:xfrm>
            <a:off x="6167437" y="1744662"/>
            <a:ext cx="6022975" cy="351313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 txBox="1">
            <a:spLocks noGrp="1"/>
          </p:cNvSpPr>
          <p:nvPr>
            <p:ph type="subTitle" idx="1"/>
          </p:nvPr>
        </p:nvSpPr>
        <p:spPr>
          <a:xfrm>
            <a:off x="1828800" y="3887787"/>
            <a:ext cx="8532812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800"/>
              <a:buNone/>
            </a:pPr>
            <a:endParaRPr>
              <a:solidFill>
                <a:srgbClr val="888888"/>
              </a:solidFill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106" name="Google Shape;106;p1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12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rPr lang="en-US" sz="5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3</a:t>
            </a:r>
            <a:endParaRPr/>
          </a:p>
        </p:txBody>
      </p:sp>
      <p:sp>
        <p:nvSpPr>
          <p:cNvPr id="113" name="Google Shape;113;p2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2" cy="452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normAutofit/>
          </a:bodyPr>
          <a:lstStyle/>
          <a:p>
            <a:pPr marL="407987" marR="0" lvl="0" indent="-40798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Inheritance</a:t>
            </a:r>
            <a:endParaRPr/>
          </a:p>
          <a:p>
            <a:pPr marL="407987" marR="0" lvl="0" indent="-407987" algn="l" rtl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 of Inheritance</a:t>
            </a:r>
            <a:endParaRPr/>
          </a:p>
          <a:p>
            <a:pPr marL="407987" marR="0" lvl="0" indent="-407987" algn="l" rtl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Polymorphism</a:t>
            </a:r>
            <a:endParaRPr/>
          </a:p>
          <a:p>
            <a:pPr marL="407987" marR="0" lvl="0" indent="-407987" algn="l" rtl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overloading</a:t>
            </a:r>
            <a:endParaRPr/>
          </a:p>
          <a:p>
            <a:pPr marL="407987" marR="0" lvl="0" indent="-407987" algn="l" rtl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Overriding</a:t>
            </a:r>
            <a:endParaRPr/>
          </a:p>
          <a:p>
            <a:pPr marL="407987" marR="0" lvl="0" indent="-407987" algn="l" rtl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class and Method</a:t>
            </a:r>
            <a:endParaRPr/>
          </a:p>
          <a:p>
            <a:pPr marL="407987" marR="0" lvl="0" indent="-407987" algn="l" rtl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Abstract class</a:t>
            </a:r>
            <a:endParaRPr/>
          </a:p>
          <a:p>
            <a:pPr marL="407987" marR="0" lvl="0" indent="-407987" algn="l" rtl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endParaRPr/>
          </a:p>
          <a:p>
            <a:pPr marL="407988" marR="0" lvl="0" indent="-185737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endParaRPr sz="3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12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rPr lang="en-US" sz="5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Inheritance</a:t>
            </a:r>
            <a:endParaRPr/>
          </a:p>
        </p:txBody>
      </p:sp>
      <p:sp>
        <p:nvSpPr>
          <p:cNvPr id="121" name="Google Shape;121;p3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2" cy="452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noAutofit/>
          </a:bodyPr>
          <a:lstStyle/>
          <a:p>
            <a:pPr marL="407987" marR="0" lvl="0" indent="-40798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mechanism of deriving a new class from an old one is called inheritance</a:t>
            </a:r>
            <a:endParaRPr/>
          </a:p>
          <a:p>
            <a:pPr marL="407987" marR="0" lvl="0" indent="-407987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old class is known as the base class or super class</a:t>
            </a:r>
            <a:endParaRPr/>
          </a:p>
          <a:p>
            <a:pPr marL="407987" marR="0" lvl="0" indent="-407987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new class is known as the subclass or derived class or child class</a:t>
            </a:r>
            <a:endParaRPr/>
          </a:p>
          <a:p>
            <a:pPr marL="407988" marR="0" lvl="0" indent="-166687" algn="l" rtl="0"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endParaRPr sz="3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12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rPr lang="en-US" sz="5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 of inheritance</a:t>
            </a:r>
            <a:endParaRPr/>
          </a:p>
        </p:txBody>
      </p:sp>
      <p:sp>
        <p:nvSpPr>
          <p:cNvPr id="129" name="Google Shape;129;p4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2" cy="452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noAutofit/>
          </a:bodyPr>
          <a:lstStyle/>
          <a:p>
            <a:pPr marL="407987" marR="0" lvl="0" indent="-40798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inheritance(only super class)</a:t>
            </a:r>
            <a:endParaRPr/>
          </a:p>
          <a:p>
            <a:pPr marL="407987" marR="0" lvl="0" indent="-407987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Heirarchical inheritance(one super class,many subclasses)</a:t>
            </a:r>
            <a:endParaRPr/>
          </a:p>
          <a:p>
            <a:pPr marL="407987" marR="0" lvl="0" indent="-407987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Multilevel inheritance(derived from a derived class)</a:t>
            </a:r>
            <a:endParaRPr/>
          </a:p>
          <a:p>
            <a:pPr marL="407987" marR="0" lvl="0" indent="-407987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inheritance(many superclasses) implemented in the form of interface</a:t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>
            <a:spLocks noGrp="1"/>
          </p:cNvSpPr>
          <p:nvPr>
            <p:ph type="title"/>
          </p:nvPr>
        </p:nvSpPr>
        <p:spPr>
          <a:xfrm>
            <a:off x="2817812" y="153987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 to inherit a class</a:t>
            </a:r>
            <a:endParaRPr/>
          </a:p>
        </p:txBody>
      </p:sp>
      <p:sp>
        <p:nvSpPr>
          <p:cNvPr id="137" name="Google Shape;137;p5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2" cy="452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subclass-name extends superclass-name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//body of class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138" name="Google Shape;138;p5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139" name="Google Shape;139;p5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>
            <a:spLocks noGrp="1"/>
          </p:cNvSpPr>
          <p:nvPr>
            <p:ph type="title"/>
          </p:nvPr>
        </p:nvSpPr>
        <p:spPr>
          <a:xfrm>
            <a:off x="508000" y="76200"/>
            <a:ext cx="10971212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alibri"/>
              <a:buNone/>
            </a:pPr>
            <a:r>
              <a:rPr lang="en-US" sz="47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/>
          </a:p>
        </p:txBody>
      </p:sp>
      <p:sp>
        <p:nvSpPr>
          <p:cNvPr id="145" name="Google Shape;145;p6"/>
          <p:cNvSpPr txBox="1"/>
          <p:nvPr/>
        </p:nvSpPr>
        <p:spPr>
          <a:xfrm>
            <a:off x="3784600" y="893762"/>
            <a:ext cx="6145212" cy="535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Parent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void show()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System.out.println("This is the parent class.");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Child extends Parent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void display()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System.out.println("This is the child class.");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class Main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public static void main(String[] args)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Child c = new Child();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c.show();      // inherited from Parent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c.display();   // own method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146" name="Google Shape;146;p6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147" name="Google Shape;147;p6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12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Inheritance</a:t>
            </a:r>
            <a:endParaRPr/>
          </a:p>
        </p:txBody>
      </p:sp>
      <p:sp>
        <p:nvSpPr>
          <p:cNvPr id="153" name="Google Shape;153;p7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154" name="Google Shape;154;p7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/>
          </a:p>
        </p:txBody>
      </p:sp>
      <p:sp>
        <p:nvSpPr>
          <p:cNvPr id="155" name="Google Shape;155;p7"/>
          <p:cNvSpPr txBox="1"/>
          <p:nvPr/>
        </p:nvSpPr>
        <p:spPr>
          <a:xfrm>
            <a:off x="711200" y="1066800"/>
            <a:ext cx="10666412" cy="41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a class inherits another class, it is known as a single inheritance. </a:t>
            </a:r>
            <a:endParaRPr/>
          </a:p>
        </p:txBody>
      </p:sp>
      <p:pic>
        <p:nvPicPr>
          <p:cNvPr id="156" name="Google Shape;15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2406650"/>
            <a:ext cx="9447212" cy="3081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9955212" cy="56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Multilevel Inheritance</a:t>
            </a:r>
            <a:endParaRPr/>
          </a:p>
        </p:txBody>
      </p:sp>
      <p:sp>
        <p:nvSpPr>
          <p:cNvPr id="162" name="Google Shape;162;p8"/>
          <p:cNvSpPr txBox="1"/>
          <p:nvPr/>
        </p:nvSpPr>
        <p:spPr>
          <a:xfrm>
            <a:off x="728662" y="1260475"/>
            <a:ext cx="10666412" cy="41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there is a chain of inheritance, it is known as 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multilevel inheritance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  <p:pic>
        <p:nvPicPr>
          <p:cNvPr id="163" name="Google Shape;16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0800" y="2152650"/>
            <a:ext cx="7923212" cy="3944937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8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165" name="Google Shape;165;p8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>
            <a:spLocks noGrp="1"/>
          </p:cNvSpPr>
          <p:nvPr>
            <p:ph type="title"/>
          </p:nvPr>
        </p:nvSpPr>
        <p:spPr>
          <a:xfrm>
            <a:off x="2894012" y="274637"/>
            <a:ext cx="7670800" cy="56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Hierarchical Inheritance</a:t>
            </a:r>
            <a:endParaRPr/>
          </a:p>
        </p:txBody>
      </p:sp>
      <p:sp>
        <p:nvSpPr>
          <p:cNvPr id="171" name="Google Shape;171;p9"/>
          <p:cNvSpPr txBox="1"/>
          <p:nvPr/>
        </p:nvSpPr>
        <p:spPr>
          <a:xfrm>
            <a:off x="711200" y="1066800"/>
            <a:ext cx="10666412" cy="41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two or more classes inherits a single class, it is known as hierarchical inheritance.  </a:t>
            </a:r>
            <a:endParaRPr/>
          </a:p>
        </p:txBody>
      </p:sp>
      <p:pic>
        <p:nvPicPr>
          <p:cNvPr id="172" name="Google Shape;17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7600" y="2244725"/>
            <a:ext cx="9853612" cy="362426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9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174" name="Google Shape;174;p9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 txBox="1">
            <a:spLocks noGrp="1"/>
          </p:cNvSpPr>
          <p:nvPr>
            <p:ph type="title"/>
          </p:nvPr>
        </p:nvSpPr>
        <p:spPr>
          <a:xfrm>
            <a:off x="2235200" y="-76200"/>
            <a:ext cx="6196012" cy="56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Inheritance</a:t>
            </a:r>
            <a:endParaRPr/>
          </a:p>
        </p:txBody>
      </p:sp>
      <p:sp>
        <p:nvSpPr>
          <p:cNvPr id="180" name="Google Shape;180;p10"/>
          <p:cNvSpPr txBox="1"/>
          <p:nvPr/>
        </p:nvSpPr>
        <p:spPr>
          <a:xfrm>
            <a:off x="633412" y="838200"/>
            <a:ext cx="10666412" cy="719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class's capacity to inherit traits from several classes is referred to as multiple inheritances. This notion may be quite helpful when a class needs features from many sources.</a:t>
            </a:r>
            <a:endParaRPr/>
          </a:p>
        </p:txBody>
      </p:sp>
      <p:pic>
        <p:nvPicPr>
          <p:cNvPr id="181" name="Google Shape;18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0" y="1925637"/>
            <a:ext cx="6094412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0"/>
          <p:cNvSpPr txBox="1"/>
          <p:nvPr/>
        </p:nvSpPr>
        <p:spPr>
          <a:xfrm>
            <a:off x="468312" y="4402137"/>
            <a:ext cx="10993437" cy="177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inheritances, however, can result in issues like the diamond problem, which occurs when two superclasses share the same method or field and causes conflicts. 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Suppose there are three classes A, B, and C. The C class inherits A and B classes. If A and B classes have the same method and we call it from child class object, there will be ambiguity to call the method of A or B class. It is called diamond problem. 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uses interfaces to implement multiple inheritances in order to prevent these conflicts.</a:t>
            </a:r>
            <a:endParaRPr/>
          </a:p>
        </p:txBody>
      </p:sp>
      <p:sp>
        <p:nvSpPr>
          <p:cNvPr id="183" name="Google Shape;183;p10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184" name="Google Shape;184;p10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"/>
          <p:cNvSpPr txBox="1">
            <a:spLocks noGrp="1"/>
          </p:cNvSpPr>
          <p:nvPr>
            <p:ph type="title"/>
          </p:nvPr>
        </p:nvSpPr>
        <p:spPr>
          <a:xfrm>
            <a:off x="679450" y="76200"/>
            <a:ext cx="10971212" cy="411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alibri"/>
              <a:buNone/>
            </a:pPr>
            <a:r>
              <a:rPr lang="en-US" sz="47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Inheritance</a:t>
            </a:r>
            <a:endParaRPr/>
          </a:p>
        </p:txBody>
      </p:sp>
      <p:sp>
        <p:nvSpPr>
          <p:cNvPr id="190" name="Google Shape;190;p11"/>
          <p:cNvSpPr txBox="1"/>
          <p:nvPr/>
        </p:nvSpPr>
        <p:spPr>
          <a:xfrm>
            <a:off x="3656012" y="688975"/>
            <a:ext cx="6400800" cy="535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Vehicle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void startEngine()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System.out.println("Engine started.");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Car extends Vehicle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void drive()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System.out.println("Car is driving.");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class Main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public static void main(String[] args)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Car car = new Car();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car.startEngine(); // Inherited from Vehicle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car.drive();       // Car's own method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191" name="Google Shape;191;p11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192" name="Google Shape;192;p11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"/>
          <p:cNvSpPr txBox="1">
            <a:spLocks noGrp="1"/>
          </p:cNvSpPr>
          <p:nvPr>
            <p:ph type="title"/>
          </p:nvPr>
        </p:nvSpPr>
        <p:spPr>
          <a:xfrm>
            <a:off x="679450" y="0"/>
            <a:ext cx="10971212" cy="411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Multilevel Inheritance</a:t>
            </a:r>
            <a:endParaRPr/>
          </a:p>
        </p:txBody>
      </p:sp>
      <p:sp>
        <p:nvSpPr>
          <p:cNvPr id="198" name="Google Shape;198;p12"/>
          <p:cNvSpPr txBox="1"/>
          <p:nvPr/>
        </p:nvSpPr>
        <p:spPr>
          <a:xfrm>
            <a:off x="1066800" y="1068387"/>
            <a:ext cx="5562600" cy="528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Vehicle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void startEngine()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System.out.println("Engine started.");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Car extends Vehicle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void drive()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System.out.println("Car is driving.");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ElectricCar extends Car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void chargeBattery()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System.out.println("Battery is charging.");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 txBox="1"/>
          <p:nvPr/>
        </p:nvSpPr>
        <p:spPr>
          <a:xfrm>
            <a:off x="6780212" y="1511300"/>
            <a:ext cx="52308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class Main {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public static void main(String[] args) {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ElectricCar eCar = new ElectricCar();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eCar.startEngine();             // from Vehicle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eCar.drive();                       // from Car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eCar.chargeBattery();        // from ElectricCar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200" name="Google Shape;200;p12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201" name="Google Shape;201;p12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"/>
          <p:cNvSpPr txBox="1">
            <a:spLocks noGrp="1"/>
          </p:cNvSpPr>
          <p:nvPr>
            <p:ph type="title"/>
          </p:nvPr>
        </p:nvSpPr>
        <p:spPr>
          <a:xfrm>
            <a:off x="679450" y="0"/>
            <a:ext cx="10971212" cy="411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alibri"/>
              <a:buNone/>
            </a:pPr>
            <a:r>
              <a:rPr lang="en-US" sz="47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Hierarchical Inheritance</a:t>
            </a:r>
            <a:endParaRPr/>
          </a:p>
        </p:txBody>
      </p:sp>
      <p:sp>
        <p:nvSpPr>
          <p:cNvPr id="207" name="Google Shape;207;p13"/>
          <p:cNvSpPr txBox="1"/>
          <p:nvPr/>
        </p:nvSpPr>
        <p:spPr>
          <a:xfrm>
            <a:off x="406400" y="896937"/>
            <a:ext cx="5765800" cy="509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Vehicle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void startEngine()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System.out.println("Engine started.");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Car extends Vehicle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void drive()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System.out.println("Car is driving.");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Truck extends Vehicle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void loadCargo()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System.out.println("Truck is loading cargo.");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208" name="Google Shape;208;p13"/>
          <p:cNvSpPr txBox="1"/>
          <p:nvPr/>
        </p:nvSpPr>
        <p:spPr>
          <a:xfrm>
            <a:off x="6907212" y="1163637"/>
            <a:ext cx="4876800" cy="373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class Main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public static void main (String[] args)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Car car = new Car();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car.startEngine();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car.drive();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Truck truck = new Truck();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truck.startEngine();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truck.loadCargo();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209" name="Google Shape;209;p13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210" name="Google Shape;210;p13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"/>
          <p:cNvSpPr txBox="1">
            <a:spLocks noGrp="1"/>
          </p:cNvSpPr>
          <p:nvPr>
            <p:ph type="title"/>
          </p:nvPr>
        </p:nvSpPr>
        <p:spPr>
          <a:xfrm>
            <a:off x="3657600" y="230187"/>
            <a:ext cx="60198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 Keyword</a:t>
            </a:r>
            <a:endParaRPr/>
          </a:p>
        </p:txBody>
      </p:sp>
      <p:sp>
        <p:nvSpPr>
          <p:cNvPr id="216" name="Google Shape;216;p14"/>
          <p:cNvSpPr txBox="1"/>
          <p:nvPr/>
        </p:nvSpPr>
        <p:spPr>
          <a:xfrm>
            <a:off x="1217612" y="1066800"/>
            <a:ext cx="10877550" cy="101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 is a </a:t>
            </a: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 keyword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Java used to refer to the </a:t>
            </a: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immediate parent class object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mainly used in </a:t>
            </a: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inheritance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17" name="Google Shape;217;p14"/>
          <p:cNvSpPr txBox="1"/>
          <p:nvPr/>
        </p:nvSpPr>
        <p:spPr>
          <a:xfrm>
            <a:off x="1217612" y="2505075"/>
            <a:ext cx="6092825" cy="193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</a:t>
            </a: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primary uses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marL="0" marR="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 parent class constructor</a:t>
            </a:r>
            <a:endParaRPr/>
          </a:p>
          <a:p>
            <a:pPr marL="0" marR="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parent class variable</a:t>
            </a:r>
            <a:endParaRPr/>
          </a:p>
          <a:p>
            <a:pPr marL="0" marR="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 parent class method</a:t>
            </a:r>
            <a:endParaRPr/>
          </a:p>
        </p:txBody>
      </p:sp>
      <p:sp>
        <p:nvSpPr>
          <p:cNvPr id="218" name="Google Shape;218;p14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219" name="Google Shape;219;p14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"/>
          <p:cNvSpPr txBox="1">
            <a:spLocks noGrp="1"/>
          </p:cNvSpPr>
          <p:nvPr>
            <p:ph type="title"/>
          </p:nvPr>
        </p:nvSpPr>
        <p:spPr>
          <a:xfrm>
            <a:off x="3656012" y="230187"/>
            <a:ext cx="66294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342900" lvl="0" indent="-3429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 parent class constructor</a:t>
            </a:r>
            <a:endParaRPr/>
          </a:p>
        </p:txBody>
      </p:sp>
      <p:sp>
        <p:nvSpPr>
          <p:cNvPr id="225" name="Google Shape;225;p15"/>
          <p:cNvSpPr txBox="1"/>
          <p:nvPr/>
        </p:nvSpPr>
        <p:spPr>
          <a:xfrm>
            <a:off x="1217612" y="839787"/>
            <a:ext cx="6502400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when child wants to initialize parent properties.</a:t>
            </a:r>
            <a:endParaRPr/>
          </a:p>
        </p:txBody>
      </p:sp>
      <p:sp>
        <p:nvSpPr>
          <p:cNvPr id="226" name="Google Shape;226;p15"/>
          <p:cNvSpPr txBox="1"/>
          <p:nvPr/>
        </p:nvSpPr>
        <p:spPr>
          <a:xfrm>
            <a:off x="3048000" y="1325562"/>
            <a:ext cx="6092825" cy="50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Shape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String color;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Shape(String color)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this.color = color;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Circle extends Shape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double radius;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Circle(String color, double radius)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super(color);   // calls Shape constructor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this.radius = radius;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227" name="Google Shape;227;p15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228" name="Google Shape;228;p15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"/>
          <p:cNvSpPr txBox="1">
            <a:spLocks noGrp="1"/>
          </p:cNvSpPr>
          <p:nvPr>
            <p:ph type="title"/>
          </p:nvPr>
        </p:nvSpPr>
        <p:spPr>
          <a:xfrm>
            <a:off x="3656012" y="26987"/>
            <a:ext cx="66294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342900" lvl="0" indent="-3429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 Parent Class Variable</a:t>
            </a:r>
            <a:endParaRPr/>
          </a:p>
        </p:txBody>
      </p:sp>
      <p:sp>
        <p:nvSpPr>
          <p:cNvPr id="234" name="Google Shape;234;p16"/>
          <p:cNvSpPr txBox="1"/>
          <p:nvPr/>
        </p:nvSpPr>
        <p:spPr>
          <a:xfrm>
            <a:off x="608012" y="1279525"/>
            <a:ext cx="5207000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Parent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String name = "Parent";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Child extends Parent {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String name = "Child";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void display() {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System.out.println(name);        // Child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System.out.println(super.name); // Parent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235" name="Google Shape;235;p16"/>
          <p:cNvSpPr txBox="1"/>
          <p:nvPr/>
        </p:nvSpPr>
        <p:spPr>
          <a:xfrm>
            <a:off x="2436812" y="955675"/>
            <a:ext cx="65674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when parent and child have </a:t>
            </a: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variable name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36" name="Google Shape;236;p16"/>
          <p:cNvSpPr txBox="1"/>
          <p:nvPr/>
        </p:nvSpPr>
        <p:spPr>
          <a:xfrm>
            <a:off x="6324600" y="1985962"/>
            <a:ext cx="5105400" cy="378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Super_param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public static void main(String args[])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{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Child c=new Child();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c.display();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}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237" name="Google Shape;237;p16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238" name="Google Shape;238;p16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 txBox="1">
            <a:spLocks noGrp="1"/>
          </p:cNvSpPr>
          <p:nvPr>
            <p:ph type="title"/>
          </p:nvPr>
        </p:nvSpPr>
        <p:spPr>
          <a:xfrm>
            <a:off x="3656012" y="26987"/>
            <a:ext cx="66294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342900" lvl="0" indent="-3429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 Parent Class Method</a:t>
            </a:r>
            <a:endParaRPr/>
          </a:p>
        </p:txBody>
      </p:sp>
      <p:sp>
        <p:nvSpPr>
          <p:cNvPr id="244" name="Google Shape;244;p17"/>
          <p:cNvSpPr txBox="1"/>
          <p:nvPr/>
        </p:nvSpPr>
        <p:spPr>
          <a:xfrm>
            <a:off x="2436812" y="955675"/>
            <a:ext cx="747871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when child overrides a method but still wants parent logic..</a:t>
            </a:r>
            <a:endParaRPr/>
          </a:p>
        </p:txBody>
      </p:sp>
      <p:sp>
        <p:nvSpPr>
          <p:cNvPr id="245" name="Google Shape;245;p17"/>
          <p:cNvSpPr txBox="1"/>
          <p:nvPr/>
        </p:nvSpPr>
        <p:spPr>
          <a:xfrm>
            <a:off x="760412" y="1601787"/>
            <a:ext cx="6092825" cy="448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Parent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void show()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System.out.println("Parent method");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Child extends Parent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void show()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super.show();   // calls parent method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System.out.println("Child method");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7"/>
          <p:cNvSpPr txBox="1"/>
          <p:nvPr/>
        </p:nvSpPr>
        <p:spPr>
          <a:xfrm>
            <a:off x="6197600" y="1754187"/>
            <a:ext cx="55356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Super_method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public static void main(String args[])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{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Child c=new Child();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c.show();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}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247" name="Google Shape;247;p17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248" name="Google Shape;248;p17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"/>
          <p:cNvSpPr txBox="1">
            <a:spLocks noGrp="1"/>
          </p:cNvSpPr>
          <p:nvPr>
            <p:ph type="title"/>
          </p:nvPr>
        </p:nvSpPr>
        <p:spPr>
          <a:xfrm>
            <a:off x="3656012" y="26987"/>
            <a:ext cx="66294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342900" lvl="0" indent="-3429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Constructor Chaining Diagram</a:t>
            </a:r>
            <a:endParaRPr/>
          </a:p>
        </p:txBody>
      </p:sp>
      <p:sp>
        <p:nvSpPr>
          <p:cNvPr id="254" name="Google Shape;254;p18"/>
          <p:cNvSpPr txBox="1"/>
          <p:nvPr/>
        </p:nvSpPr>
        <p:spPr>
          <a:xfrm>
            <a:off x="2513012" y="1525587"/>
            <a:ext cx="6092825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Child() constructor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↓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super() → Parent() constructor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↓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Initialize parent data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↓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to Child()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↓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Initialize child data</a:t>
            </a:r>
            <a:endParaRPr/>
          </a:p>
        </p:txBody>
      </p:sp>
      <p:sp>
        <p:nvSpPr>
          <p:cNvPr id="255" name="Google Shape;255;p18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256" name="Google Shape;256;p18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"/>
          <p:cNvSpPr txBox="1">
            <a:spLocks noGrp="1"/>
          </p:cNvSpPr>
          <p:nvPr>
            <p:ph type="title"/>
          </p:nvPr>
        </p:nvSpPr>
        <p:spPr>
          <a:xfrm>
            <a:off x="3732212" y="274637"/>
            <a:ext cx="7086600" cy="56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Topics related to polymorphism</a:t>
            </a:r>
            <a:endParaRPr/>
          </a:p>
        </p:txBody>
      </p:sp>
      <p:sp>
        <p:nvSpPr>
          <p:cNvPr id="262" name="Google Shape;262;p19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2" cy="452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noAutofit/>
          </a:bodyPr>
          <a:lstStyle/>
          <a:p>
            <a:pPr marL="407987" marR="0" lvl="0" indent="-40798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overriding</a:t>
            </a:r>
            <a:endParaRPr/>
          </a:p>
          <a:p>
            <a:pPr marL="407987" marR="0" lvl="0" indent="-407987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Abstract method</a:t>
            </a:r>
            <a:endParaRPr/>
          </a:p>
          <a:p>
            <a:pPr marL="407987" marR="0" lvl="0" indent="-407987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Interface(multiple inheritance)</a:t>
            </a:r>
            <a:endParaRPr/>
          </a:p>
          <a:p>
            <a:pPr marL="407987" marR="0" lvl="0" indent="-407987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keyword</a:t>
            </a:r>
            <a:endParaRPr/>
          </a:p>
        </p:txBody>
      </p:sp>
      <p:sp>
        <p:nvSpPr>
          <p:cNvPr id="263" name="Google Shape;263;p19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264" name="Google Shape;264;p19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12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overriding</a:t>
            </a:r>
            <a:endParaRPr/>
          </a:p>
        </p:txBody>
      </p:sp>
      <p:sp>
        <p:nvSpPr>
          <p:cNvPr id="270" name="Google Shape;270;p20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2" cy="3506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noAutofit/>
          </a:bodyPr>
          <a:lstStyle/>
          <a:p>
            <a:pPr marL="407987" marR="0" lvl="0" indent="-40798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 class hierarchy, when a method in a subclass has the </a:t>
            </a:r>
            <a:r>
              <a:rPr lang="en-US" sz="32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name and type signature 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a method in its superclass, then the method in the subclass is said to override the method in the superclass.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1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12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Abstract class</a:t>
            </a:r>
            <a:endParaRPr/>
          </a:p>
        </p:txBody>
      </p:sp>
      <p:sp>
        <p:nvSpPr>
          <p:cNvPr id="278" name="Google Shape;278;p21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2" cy="452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noAutofit/>
          </a:bodyPr>
          <a:lstStyle/>
          <a:p>
            <a:pPr marL="325437" marR="0" lvl="0" indent="-32543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Noto Sans Symbols"/>
              <a:buChar char="🞆"/>
            </a:pPr>
            <a:r>
              <a:rPr lang="en-US" sz="33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Abstract class is a class wherein you only define the methods and the actual implementation is in the derived class</a:t>
            </a:r>
            <a:endParaRPr/>
          </a:p>
          <a:p>
            <a:pPr marL="325437" marR="0" lvl="0" indent="-325437" algn="l" rtl="0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Noto Sans Symbols"/>
              <a:buChar char="🞆"/>
            </a:pPr>
            <a:r>
              <a:rPr lang="en-US" sz="33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objects can be created for the abstract class</a:t>
            </a:r>
            <a:endParaRPr/>
          </a:p>
          <a:p>
            <a:pPr marL="325437" marR="0" lvl="0" indent="-325437" algn="l" rtl="0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Noto Sans Symbols"/>
              <a:buChar char="🞆"/>
            </a:pPr>
            <a:r>
              <a:rPr lang="en-US" sz="33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keyword used is </a:t>
            </a:r>
            <a:r>
              <a:rPr lang="en-US" sz="3300" b="0" i="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abstract</a:t>
            </a:r>
            <a:endParaRPr/>
          </a:p>
          <a:p>
            <a:pPr marL="325437" marR="0" lvl="0" indent="-325437" algn="l" rtl="0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Noto Sans Symbols"/>
              <a:buChar char="🞆"/>
            </a:pPr>
            <a:r>
              <a:rPr lang="en-US" sz="33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subclass derived from the abstract class must implement all the abstract methods</a:t>
            </a:r>
            <a:endParaRPr/>
          </a:p>
          <a:p>
            <a:pPr marL="325437" marR="0" lvl="0" indent="-325437" algn="l" rtl="0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Noto Sans Symbols"/>
              <a:buChar char="🞆"/>
            </a:pPr>
            <a:r>
              <a:rPr lang="en-US" sz="33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Abstract constructors and static methods cannot exist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12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keyword</a:t>
            </a:r>
            <a:endParaRPr/>
          </a:p>
        </p:txBody>
      </p:sp>
      <p:sp>
        <p:nvSpPr>
          <p:cNvPr id="286" name="Google Shape;286;p22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2" cy="452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noAutofit/>
          </a:bodyPr>
          <a:lstStyle/>
          <a:p>
            <a:pPr marL="407987" marR="0" lvl="0" indent="-40798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used to create equivalent of constants</a:t>
            </a:r>
            <a:endParaRPr/>
          </a:p>
          <a:p>
            <a:pPr marL="407987" marR="0" lvl="0" indent="-407987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Methods declared cannot be overriden</a:t>
            </a:r>
            <a:endParaRPr/>
          </a:p>
          <a:p>
            <a:pPr marL="407987" marR="0" lvl="0" indent="-407987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declared as final cannot be inherited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3"/>
          <p:cNvSpPr txBox="1"/>
          <p:nvPr/>
        </p:nvSpPr>
        <p:spPr>
          <a:xfrm>
            <a:off x="989012" y="949325"/>
            <a:ext cx="11582400" cy="542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class Vehicle {   // Final class cannot be extended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final int speedLimit = 100;  // Final variable (constant)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final void displaySpeed() {  // Final method cannot be overridden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System.out.println("Speed limit is: " + speedLimit + " km/h");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 Trying to extend Vehicle will give an error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 class Car extends Vehicle { }   // ❌ Not allowed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CarExample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public static void main(String[] args)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Vehicle v = new Vehicle();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// Accessing final variable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v.displaySpeed();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// v.speedLimit = 120;   // ❌ Error: cannot assign a value to final variable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3275012" y="174625"/>
            <a:ext cx="7366000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program that demonstrates final keyword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4"/>
          <p:cNvSpPr txBox="1"/>
          <p:nvPr/>
        </p:nvSpPr>
        <p:spPr>
          <a:xfrm>
            <a:off x="3808412" y="125412"/>
            <a:ext cx="5176837" cy="7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 Overloading</a:t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836612" y="1266825"/>
            <a:ext cx="9817100" cy="231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spAutoFit/>
          </a:bodyPr>
          <a:lstStyle/>
          <a:p>
            <a:pPr marL="3429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 overloading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means having </a:t>
            </a: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methods with the same name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a class but </a:t>
            </a: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parameter lists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342900" marR="0" lvl="0" indent="-342900" algn="l" rtl="0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compiler decides which method to call based on the </a:t>
            </a: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arguments.</a:t>
            </a:r>
            <a:endParaRPr/>
          </a:p>
          <a:p>
            <a:pPr marL="342900" marR="0" lvl="0" indent="-342900" algn="l" rtl="0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an example of </a:t>
            </a: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compile-time polymorphism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303" name="Google Shape;303;p24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5"/>
          <p:cNvSpPr txBox="1"/>
          <p:nvPr/>
        </p:nvSpPr>
        <p:spPr>
          <a:xfrm>
            <a:off x="4494212" y="306387"/>
            <a:ext cx="3783012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Polymorphism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812800" y="1371600"/>
            <a:ext cx="9752012" cy="393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spAutoFit/>
          </a:bodyPr>
          <a:lstStyle/>
          <a:p>
            <a:pPr marL="339725" marR="0" lvl="0" indent="-339725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word 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polymorphism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means 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"many forms"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marL="339725" marR="0" lvl="0" indent="-339725" algn="l" rtl="0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Java, polymorphism allows the 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method or object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behave differently in different contexts.</a:t>
            </a:r>
            <a:endParaRPr/>
          </a:p>
          <a:p>
            <a:pPr marL="339725" marR="0" lvl="0" indent="-339725" algn="l" rtl="0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types of polymorphism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marL="339725" marR="0" lvl="0" indent="-339725" algn="l" rtl="0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Compile-time polymorphism (Method Overloading)</a:t>
            </a: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84237" marR="0" lvl="1" indent="-339724" algn="l" rtl="0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Decided at 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 time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884237" marR="0" lvl="1" indent="-339724" algn="l" rtl="0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Achieved by 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 overloading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339725" marR="0" lvl="0" indent="-339725" algn="l" rtl="0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Runtime polymorphism (Method Overriding)</a:t>
            </a: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84237" marR="0" lvl="1" indent="-339724" algn="l" rtl="0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Decided at 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runtime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884237" marR="0" lvl="1" indent="-339724" algn="l" rtl="0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Achieved by 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 overriding + inheritance + dynamic method dispatch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6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1212" cy="71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endParaRPr/>
          </a:p>
        </p:txBody>
      </p:sp>
      <p:sp>
        <p:nvSpPr>
          <p:cNvPr id="318" name="Google Shape;318;p26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2" cy="452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noAutofit/>
          </a:bodyPr>
          <a:lstStyle/>
          <a:p>
            <a:pPr marL="407987" marR="0" lvl="0" indent="-40798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US" sz="32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Java is like a </a:t>
            </a:r>
            <a:r>
              <a:rPr lang="en-US" sz="32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blueprint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a class.</a:t>
            </a:r>
            <a:endParaRPr/>
          </a:p>
          <a:p>
            <a:pPr marL="407987" marR="0" lvl="0" indent="-407987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contains only </a:t>
            </a:r>
            <a:r>
              <a:rPr lang="en-US" sz="32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abstract methods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407987" marR="0" lvl="0" indent="-407987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 used is </a:t>
            </a:r>
            <a:r>
              <a:rPr lang="en-US" sz="3200" b="0" i="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/>
          </a:p>
          <a:p>
            <a:pPr marL="407987" marR="0" lvl="0" indent="-407987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class must </a:t>
            </a:r>
            <a:r>
              <a:rPr lang="en-US" sz="32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 interface to provide the method definitions.</a:t>
            </a:r>
            <a:endParaRPr/>
          </a:p>
          <a:p>
            <a:pPr marL="407987" marR="0" lvl="0" indent="-407987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inheritance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possible in Java using interfaces.</a:t>
            </a:r>
            <a:endParaRPr/>
          </a:p>
          <a:p>
            <a:pPr marL="407988" marR="0" lvl="0" indent="-204787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6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320" name="Google Shape;320;p26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8"/>
          <p:cNvSpPr txBox="1"/>
          <p:nvPr/>
        </p:nvSpPr>
        <p:spPr>
          <a:xfrm>
            <a:off x="3351212" y="230187"/>
            <a:ext cx="10363200" cy="620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 First interface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interface Printer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void print(String document);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 Second interface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interface Scanner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void scan(String document);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 Class implements multiple interfaces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MultiFunctionMachine implements Printer, Scanner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@Override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public void print(String document)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System.out.println("Printing: " + document);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@Override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public void scan(String document)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System.out.println("Scanning: " + document);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326" name="Google Shape;326;p28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327" name="Google Shape;327;p28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9"/>
          <p:cNvSpPr txBox="1"/>
          <p:nvPr/>
        </p:nvSpPr>
        <p:spPr>
          <a:xfrm>
            <a:off x="609600" y="5159375"/>
            <a:ext cx="10260012" cy="121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Shows 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interface implementation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(Java allows this unlike multiple inheritance of classes).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Demonstrates 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polymorphism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marL="542925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same object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mfm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be treated as a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Printer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a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Scanner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333" name="Google Shape;333;p29"/>
          <p:cNvSpPr txBox="1"/>
          <p:nvPr/>
        </p:nvSpPr>
        <p:spPr>
          <a:xfrm>
            <a:off x="1293812" y="992187"/>
            <a:ext cx="9956800" cy="397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 Main class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class Interface_2{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public static void main(String[] args)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MultiFunctionMachine mfm = new MultiFunctionMachine();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// Using as Printer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Printer p = mfm;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p.print("Report.pdf");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// Using as Scanner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Scanner s = mfm;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s.scan("Invoice.png");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334" name="Google Shape;334;p29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335" name="Google Shape;335;p29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0"/>
          <p:cNvSpPr txBox="1">
            <a:spLocks noGrp="1"/>
          </p:cNvSpPr>
          <p:nvPr>
            <p:ph type="title"/>
          </p:nvPr>
        </p:nvSpPr>
        <p:spPr>
          <a:xfrm>
            <a:off x="3048000" y="274637"/>
            <a:ext cx="769620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vs Late Binding in Java</a:t>
            </a:r>
            <a:endParaRPr/>
          </a:p>
        </p:txBody>
      </p:sp>
      <p:sp>
        <p:nvSpPr>
          <p:cNvPr id="341" name="Google Shape;341;p30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2" cy="452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noAutofit/>
          </a:bodyPr>
          <a:lstStyle/>
          <a:p>
            <a:pPr marL="407987" marR="0" lvl="0" indent="-40798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Binding = Linking a method call to its method body.</a:t>
            </a:r>
            <a:endParaRPr/>
          </a:p>
          <a:p>
            <a:pPr marL="407987" marR="0" lvl="0" indent="-166687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endParaRPr sz="3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7987" marR="0" lvl="0" indent="-407987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types:</a:t>
            </a:r>
            <a:endParaRPr/>
          </a:p>
          <a:p>
            <a:pPr marL="407987" marR="0" lvl="0" indent="-407987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Early Binding (Static Binding)</a:t>
            </a:r>
            <a:endParaRPr/>
          </a:p>
          <a:p>
            <a:pPr marL="407987" marR="0" lvl="0" indent="-407987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Late Binding (Dynamic Binding)</a:t>
            </a:r>
            <a:endParaRPr/>
          </a:p>
        </p:txBody>
      </p:sp>
      <p:sp>
        <p:nvSpPr>
          <p:cNvPr id="342" name="Google Shape;342;p30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343" name="Google Shape;343;p30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1"/>
          <p:cNvSpPr txBox="1">
            <a:spLocks noGrp="1"/>
          </p:cNvSpPr>
          <p:nvPr>
            <p:ph type="title"/>
          </p:nvPr>
        </p:nvSpPr>
        <p:spPr>
          <a:xfrm>
            <a:off x="3046412" y="153987"/>
            <a:ext cx="7315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Binding (Static Binding)</a:t>
            </a:r>
            <a:endParaRPr/>
          </a:p>
        </p:txBody>
      </p:sp>
      <p:sp>
        <p:nvSpPr>
          <p:cNvPr id="349" name="Google Shape;349;p31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2" cy="452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normAutofit/>
          </a:bodyPr>
          <a:lstStyle/>
          <a:p>
            <a:pPr marL="407987" marR="0" lvl="0" indent="-40798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Occurs at Compile Time.</a:t>
            </a:r>
            <a:endParaRPr/>
          </a:p>
          <a:p>
            <a:pPr marL="407987" marR="0" lvl="0" indent="-407987" algn="l" rtl="0">
              <a:lnSpc>
                <a:spcPct val="9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call is resolved before execution.</a:t>
            </a:r>
            <a:endParaRPr/>
          </a:p>
          <a:p>
            <a:pPr marL="407987" marR="0" lvl="0" indent="-407987" algn="l" rtl="0">
              <a:lnSpc>
                <a:spcPct val="9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in:</a:t>
            </a:r>
            <a:endParaRPr/>
          </a:p>
          <a:p>
            <a:pPr marL="407987" marR="0" lvl="0" indent="-407987" algn="l" rtl="0">
              <a:lnSpc>
                <a:spcPct val="9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Method Overloading</a:t>
            </a:r>
            <a:endParaRPr/>
          </a:p>
          <a:p>
            <a:pPr marL="407987" marR="0" lvl="0" indent="-407987" algn="l" rtl="0">
              <a:lnSpc>
                <a:spcPct val="9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Static Methods</a:t>
            </a:r>
            <a:endParaRPr/>
          </a:p>
          <a:p>
            <a:pPr marL="407987" marR="0" lvl="0" indent="-407987" algn="l" rtl="0">
              <a:lnSpc>
                <a:spcPct val="9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Final Methods</a:t>
            </a:r>
            <a:endParaRPr/>
          </a:p>
          <a:p>
            <a:pPr marL="407987" marR="0" lvl="0" indent="-407987" algn="l" rtl="0">
              <a:lnSpc>
                <a:spcPct val="9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Private Methods</a:t>
            </a:r>
            <a:endParaRPr/>
          </a:p>
        </p:txBody>
      </p:sp>
      <p:sp>
        <p:nvSpPr>
          <p:cNvPr id="350" name="Google Shape;350;p31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351" name="Google Shape;351;p31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2"/>
          <p:cNvSpPr txBox="1">
            <a:spLocks noGrp="1"/>
          </p:cNvSpPr>
          <p:nvPr>
            <p:ph type="title"/>
          </p:nvPr>
        </p:nvSpPr>
        <p:spPr>
          <a:xfrm>
            <a:off x="3275012" y="230187"/>
            <a:ext cx="70104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– Early Binding</a:t>
            </a:r>
            <a:endParaRPr/>
          </a:p>
        </p:txBody>
      </p:sp>
      <p:sp>
        <p:nvSpPr>
          <p:cNvPr id="357" name="Google Shape;357;p32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2" cy="452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Test {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void show(int a) {}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void show(String s) {}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t = new Test();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t.show(10);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Compiler decides method → Compile Time</a:t>
            </a:r>
            <a:endParaRPr/>
          </a:p>
        </p:txBody>
      </p:sp>
      <p:sp>
        <p:nvSpPr>
          <p:cNvPr id="358" name="Google Shape;358;p32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359" name="Google Shape;359;p32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"/>
          <p:cNvSpPr txBox="1">
            <a:spLocks noGrp="1"/>
          </p:cNvSpPr>
          <p:nvPr>
            <p:ph type="title"/>
          </p:nvPr>
        </p:nvSpPr>
        <p:spPr>
          <a:xfrm>
            <a:off x="2894012" y="153987"/>
            <a:ext cx="807720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 Binding (Dynamic Binding)</a:t>
            </a:r>
            <a:endParaRPr/>
          </a:p>
        </p:txBody>
      </p:sp>
      <p:sp>
        <p:nvSpPr>
          <p:cNvPr id="365" name="Google Shape;365;p33"/>
          <p:cNvSpPr txBox="1">
            <a:spLocks noGrp="1"/>
          </p:cNvSpPr>
          <p:nvPr>
            <p:ph type="body" idx="1"/>
          </p:nvPr>
        </p:nvSpPr>
        <p:spPr>
          <a:xfrm>
            <a:off x="608012" y="1296987"/>
            <a:ext cx="10972800" cy="452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normAutofit/>
          </a:bodyPr>
          <a:lstStyle/>
          <a:p>
            <a:pPr marL="407987" marR="0" lvl="0" indent="-40798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Occurs at Runtime.</a:t>
            </a:r>
            <a:endParaRPr/>
          </a:p>
          <a:p>
            <a:pPr marL="407987" marR="0" lvl="0" indent="-407987" algn="l" rtl="0">
              <a:lnSpc>
                <a:spcPct val="9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call is resolved during execution.</a:t>
            </a:r>
            <a:endParaRPr/>
          </a:p>
          <a:p>
            <a:pPr marL="407987" marR="0" lvl="0" indent="-407987" algn="l" rtl="0">
              <a:lnSpc>
                <a:spcPct val="9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endParaRPr sz="3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7987" marR="0" lvl="0" indent="-407987" algn="l" rtl="0">
              <a:lnSpc>
                <a:spcPct val="9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in:</a:t>
            </a:r>
            <a:endParaRPr/>
          </a:p>
          <a:p>
            <a:pPr marL="407987" marR="0" lvl="0" indent="-407987" algn="l" rtl="0">
              <a:lnSpc>
                <a:spcPct val="9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Method Overriding</a:t>
            </a:r>
            <a:endParaRPr/>
          </a:p>
          <a:p>
            <a:pPr marL="407987" marR="0" lvl="0" indent="-407987" algn="l" rtl="0">
              <a:lnSpc>
                <a:spcPct val="9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Runtime Polymorphism</a:t>
            </a:r>
            <a:endParaRPr/>
          </a:p>
          <a:p>
            <a:pPr marL="407987" marR="0" lvl="0" indent="-407987" algn="l" rtl="0">
              <a:lnSpc>
                <a:spcPct val="90000"/>
              </a:lnSpc>
              <a:spcBef>
                <a:spcPts val="76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-US" sz="3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Non‑static Methods</a:t>
            </a:r>
            <a:endParaRPr/>
          </a:p>
        </p:txBody>
      </p:sp>
      <p:sp>
        <p:nvSpPr>
          <p:cNvPr id="366" name="Google Shape;366;p33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367" name="Google Shape;367;p33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4"/>
          <p:cNvSpPr txBox="1">
            <a:spLocks noGrp="1"/>
          </p:cNvSpPr>
          <p:nvPr>
            <p:ph type="title"/>
          </p:nvPr>
        </p:nvSpPr>
        <p:spPr>
          <a:xfrm>
            <a:off x="3351212" y="230187"/>
            <a:ext cx="78486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– Late Binding</a:t>
            </a:r>
            <a:endParaRPr/>
          </a:p>
        </p:txBody>
      </p:sp>
      <p:sp>
        <p:nvSpPr>
          <p:cNvPr id="373" name="Google Shape;373;p34"/>
          <p:cNvSpPr txBox="1">
            <a:spLocks noGrp="1"/>
          </p:cNvSpPr>
          <p:nvPr>
            <p:ph type="body" idx="1"/>
          </p:nvPr>
        </p:nvSpPr>
        <p:spPr>
          <a:xfrm>
            <a:off x="3046412" y="4802187"/>
            <a:ext cx="5486400" cy="1252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→ Animal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 → Dog</a:t>
            </a:r>
            <a:endParaRPr/>
          </a:p>
          <a:p>
            <a:pPr marL="0" marR="0" lvl="0" indent="-127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decided at Runtime</a:t>
            </a:r>
            <a:endParaRPr/>
          </a:p>
        </p:txBody>
      </p:sp>
      <p:sp>
        <p:nvSpPr>
          <p:cNvPr id="374" name="Google Shape;374;p34"/>
          <p:cNvSpPr txBox="1"/>
          <p:nvPr/>
        </p:nvSpPr>
        <p:spPr>
          <a:xfrm>
            <a:off x="684212" y="1296987"/>
            <a:ext cx="5257800" cy="38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Animal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void sound()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System.out.println("Animal sound");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Dog extends Animal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void sound()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System.out.println("Dog barks");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4"/>
          <p:cNvSpPr txBox="1"/>
          <p:nvPr/>
        </p:nvSpPr>
        <p:spPr>
          <a:xfrm>
            <a:off x="6537325" y="1798637"/>
            <a:ext cx="5229225" cy="226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class Main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public static void main(String[] args)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Animal a = new Dog();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a.sound();   // decided at runtime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376" name="Google Shape;376;p34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377" name="Google Shape;377;p34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5"/>
          <p:cNvSpPr txBox="1">
            <a:spLocks noGrp="1"/>
          </p:cNvSpPr>
          <p:nvPr>
            <p:ph type="title"/>
          </p:nvPr>
        </p:nvSpPr>
        <p:spPr>
          <a:xfrm>
            <a:off x="2970212" y="274637"/>
            <a:ext cx="8610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vs Late Binding – Difference</a:t>
            </a:r>
            <a:endParaRPr/>
          </a:p>
        </p:txBody>
      </p:sp>
      <p:sp>
        <p:nvSpPr>
          <p:cNvPr id="383" name="Google Shape;383;p35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2" cy="452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t" anchorCtr="0">
            <a:normAutofit/>
          </a:bodyPr>
          <a:lstStyle/>
          <a:p>
            <a:pPr marL="407987" marR="0" lvl="0" indent="-40798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Binding:</a:t>
            </a:r>
            <a:endParaRPr/>
          </a:p>
          <a:p>
            <a:pPr marL="407987" marR="0" lvl="0" indent="-40798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Compile Time</a:t>
            </a:r>
            <a:endParaRPr/>
          </a:p>
          <a:p>
            <a:pPr marL="407987" marR="0" lvl="0" indent="-40798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Faster</a:t>
            </a:r>
            <a:endParaRPr/>
          </a:p>
          <a:p>
            <a:pPr marL="407987" marR="0" lvl="0" indent="-40798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Overloading</a:t>
            </a:r>
            <a:endParaRPr/>
          </a:p>
          <a:p>
            <a:pPr marL="407987" marR="0" lvl="0" indent="-25558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7987" marR="0" lvl="0" indent="-40798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 Binding:</a:t>
            </a:r>
            <a:endParaRPr/>
          </a:p>
          <a:p>
            <a:pPr marL="407987" marR="0" lvl="0" indent="-40798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Runtime</a:t>
            </a:r>
            <a:endParaRPr/>
          </a:p>
          <a:p>
            <a:pPr marL="407987" marR="0" lvl="0" indent="-40798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More Flexible</a:t>
            </a:r>
            <a:endParaRPr/>
          </a:p>
          <a:p>
            <a:pPr marL="407987" marR="0" lvl="0" indent="-40798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Overriding</a:t>
            </a:r>
            <a:endParaRPr/>
          </a:p>
        </p:txBody>
      </p:sp>
      <p:sp>
        <p:nvSpPr>
          <p:cNvPr id="384" name="Google Shape;384;p35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385" name="Google Shape;385;p35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6"/>
          <p:cNvSpPr txBox="1">
            <a:spLocks noGrp="1"/>
          </p:cNvSpPr>
          <p:nvPr>
            <p:ph type="title"/>
          </p:nvPr>
        </p:nvSpPr>
        <p:spPr>
          <a:xfrm>
            <a:off x="3275012" y="7778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vs Late Binding </a:t>
            </a:r>
            <a:br>
              <a:rPr lang="en-US" sz="36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Comparison Table</a:t>
            </a:r>
            <a:endParaRPr/>
          </a:p>
        </p:txBody>
      </p:sp>
      <p:graphicFrame>
        <p:nvGraphicFramePr>
          <p:cNvPr id="391" name="Google Shape;391;p36"/>
          <p:cNvGraphicFramePr/>
          <p:nvPr/>
        </p:nvGraphicFramePr>
        <p:xfrm>
          <a:off x="912812" y="15255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{C64D6CF3-0A64-4594-A62B-F67A6B4973AE}</a:tableStyleId>
              </a:tblPr>
              <a:tblGrid>
                <a:gridCol w="3556000"/>
                <a:gridCol w="3554400"/>
                <a:gridCol w="3556000"/>
              </a:tblGrid>
              <a:tr h="666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/>
                    </a:p>
                  </a:txBody>
                  <a:tcPr marL="121925" marR="121925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Early Binding</a:t>
                      </a:r>
                      <a:endParaRPr/>
                    </a:p>
                  </a:txBody>
                  <a:tcPr marL="121925" marR="121925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b="1" i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Late Binding</a:t>
                      </a:r>
                      <a:endParaRPr/>
                    </a:p>
                  </a:txBody>
                  <a:tcPr marL="121925" marR="121925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Also Called</a:t>
                      </a:r>
                      <a:endParaRPr/>
                    </a:p>
                  </a:txBody>
                  <a:tcPr marL="121925" marR="121925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Static Binding</a:t>
                      </a:r>
                      <a:endParaRPr/>
                    </a:p>
                  </a:txBody>
                  <a:tcPr marL="121925" marR="121925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Dynamic Binding</a:t>
                      </a:r>
                      <a:endParaRPr/>
                    </a:p>
                  </a:txBody>
                  <a:tcPr marL="121925" marR="121925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 Time</a:t>
                      </a:r>
                      <a:endParaRPr/>
                    </a:p>
                  </a:txBody>
                  <a:tcPr marL="121925" marR="121925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Compile Time</a:t>
                      </a:r>
                      <a:endParaRPr/>
                    </a:p>
                  </a:txBody>
                  <a:tcPr marL="121925" marR="121925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Runtime</a:t>
                      </a:r>
                      <a:endParaRPr/>
                    </a:p>
                  </a:txBody>
                  <a:tcPr marL="121925" marR="121925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Polymorphism Type</a:t>
                      </a:r>
                      <a:endParaRPr/>
                    </a:p>
                  </a:txBody>
                  <a:tcPr marL="121925" marR="121925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Compile-time</a:t>
                      </a:r>
                      <a:endParaRPr/>
                    </a:p>
                  </a:txBody>
                  <a:tcPr marL="121925" marR="121925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Runtime</a:t>
                      </a:r>
                      <a:endParaRPr/>
                    </a:p>
                  </a:txBody>
                  <a:tcPr marL="121925" marR="121925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 Type</a:t>
                      </a:r>
                      <a:endParaRPr/>
                    </a:p>
                  </a:txBody>
                  <a:tcPr marL="121925" marR="121925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Overloading, Static, Final, Private</a:t>
                      </a:r>
                      <a:endParaRPr/>
                    </a:p>
                  </a:txBody>
                  <a:tcPr marL="121925" marR="121925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Overriding</a:t>
                      </a:r>
                      <a:endParaRPr/>
                    </a:p>
                  </a:txBody>
                  <a:tcPr marL="121925" marR="121925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Flexibility</a:t>
                      </a:r>
                      <a:endParaRPr/>
                    </a:p>
                  </a:txBody>
                  <a:tcPr marL="121925" marR="121925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Less Flexible</a:t>
                      </a:r>
                      <a:endParaRPr/>
                    </a:p>
                  </a:txBody>
                  <a:tcPr marL="121925" marR="121925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More Flexible</a:t>
                      </a:r>
                      <a:endParaRPr/>
                    </a:p>
                  </a:txBody>
                  <a:tcPr marL="121925" marR="121925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sp>
        <p:nvSpPr>
          <p:cNvPr id="392" name="Google Shape;392;p36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393" name="Google Shape;393;p36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7"/>
          <p:cNvSpPr txBox="1">
            <a:spLocks noGrp="1"/>
          </p:cNvSpPr>
          <p:nvPr>
            <p:ph type="title"/>
          </p:nvPr>
        </p:nvSpPr>
        <p:spPr>
          <a:xfrm>
            <a:off x="3275012" y="7778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Garbage collector</a:t>
            </a:r>
            <a:endParaRPr/>
          </a:p>
        </p:txBody>
      </p:sp>
      <p:sp>
        <p:nvSpPr>
          <p:cNvPr id="399" name="Google Shape;399;p37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400" name="Google Shape;400;p37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36</a:t>
            </a:fld>
            <a:endParaRPr/>
          </a:p>
        </p:txBody>
      </p:sp>
      <p:sp>
        <p:nvSpPr>
          <p:cNvPr id="401" name="Google Shape;401;p37"/>
          <p:cNvSpPr txBox="1"/>
          <p:nvPr/>
        </p:nvSpPr>
        <p:spPr>
          <a:xfrm>
            <a:off x="898525" y="1068387"/>
            <a:ext cx="10744200" cy="51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Java runtime environment has a garbage collector that periodically frees the memory used by objects that are no longer needed. </a:t>
            </a:r>
            <a:endParaRPr/>
          </a:p>
          <a:p>
            <a:pPr marL="285750" marR="0" lvl="0" indent="-2857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basic approaches used by garbage collectors are </a:t>
            </a:r>
            <a:endParaRPr/>
          </a:p>
          <a:p>
            <a:pPr marL="828675" marR="0" lvl="1" indent="-2857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 counting </a:t>
            </a:r>
            <a:endParaRPr/>
          </a:p>
          <a:p>
            <a:pPr marL="828675" marR="0" lvl="1" indent="-2857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Tracing. </a:t>
            </a:r>
            <a:endParaRPr/>
          </a:p>
          <a:p>
            <a:pPr marL="828675" marR="0" lvl="1" indent="-2857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 counting </a:t>
            </a:r>
            <a:endParaRPr/>
          </a:p>
          <a:p>
            <a:pPr marL="828675" marR="0" lvl="1" indent="-2857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maintains a reference count for every object. </a:t>
            </a:r>
            <a:endParaRPr/>
          </a:p>
          <a:p>
            <a:pPr marL="828675" marR="0" lvl="1" indent="-2857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newly created object will have count as 1. </a:t>
            </a:r>
            <a:endParaRPr/>
          </a:p>
          <a:p>
            <a:pPr marL="828675" marR="0" lvl="1" indent="-2857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Throughout its lifetime, the object will be referred to by many other object thus incrementing the reference count. </a:t>
            </a:r>
            <a:endParaRPr/>
          </a:p>
          <a:p>
            <a:pPr marL="828675" marR="0" lvl="1" indent="-2857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the referencing object move to other objects, the reference count for that particular object is decremented. </a:t>
            </a:r>
            <a:endParaRPr/>
          </a:p>
          <a:p>
            <a:pPr marL="828675" marR="0" lvl="1" indent="-2857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reference count for a particular object is 0, the object can be garbage collected. 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8"/>
          <p:cNvSpPr txBox="1">
            <a:spLocks noGrp="1"/>
          </p:cNvSpPr>
          <p:nvPr>
            <p:ph type="title"/>
          </p:nvPr>
        </p:nvSpPr>
        <p:spPr>
          <a:xfrm>
            <a:off x="3275012" y="77787"/>
            <a:ext cx="7467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Garbage collector</a:t>
            </a:r>
            <a:endParaRPr/>
          </a:p>
        </p:txBody>
      </p:sp>
      <p:sp>
        <p:nvSpPr>
          <p:cNvPr id="407" name="Google Shape;407;p38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408" name="Google Shape;408;p38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37</a:t>
            </a:fld>
            <a:endParaRPr/>
          </a:p>
        </p:txBody>
      </p:sp>
      <p:sp>
        <p:nvSpPr>
          <p:cNvPr id="409" name="Google Shape;409;p38"/>
          <p:cNvSpPr txBox="1"/>
          <p:nvPr/>
        </p:nvSpPr>
        <p:spPr>
          <a:xfrm>
            <a:off x="898525" y="915987"/>
            <a:ext cx="10744200" cy="532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Tracing </a:t>
            </a:r>
            <a:endParaRPr/>
          </a:p>
          <a:p>
            <a:pPr marL="0" marR="0" lvl="1" indent="-1270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technique traces the entire set of objects (starting from root) and all objects having reference on them are marked in some way. </a:t>
            </a:r>
            <a:endParaRPr/>
          </a:p>
          <a:p>
            <a:pPr marL="0" marR="0" lvl="1" indent="-1270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Tracing garbage collector algorithm popularly known as is mark and sweep garbage collector scans Java’s dynamic memory areas for objects, marking those objects that are referenced. </a:t>
            </a:r>
            <a:endParaRPr/>
          </a:p>
          <a:p>
            <a:pPr marL="0" marR="0" lvl="1" indent="-1270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all the objects are investigated, the objects that are not marked (not referenced) are assumed to be garbage and their memory is reclaimed. </a:t>
            </a:r>
            <a:endParaRPr/>
          </a:p>
          <a:p>
            <a:pPr marL="0" marR="0" lvl="1" indent="-1270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 and sweep collectors further use the techniques of Compaction and Copying for fragmentation problems that may arise once you sweep the unreferenced objects. </a:t>
            </a:r>
            <a:endParaRPr/>
          </a:p>
          <a:p>
            <a:pPr marL="0" marR="0" lvl="1" indent="-1270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Compaction moves all the live objects towards one end making the other end a large free space.</a:t>
            </a:r>
            <a:endParaRPr/>
          </a:p>
          <a:p>
            <a:pPr marL="0" marR="0" lvl="1" indent="-1270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Copying techniques copies all live objects besides each other into a new space and the old space is considered free now. 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9"/>
          <p:cNvSpPr txBox="1">
            <a:spLocks noGrp="1"/>
          </p:cNvSpPr>
          <p:nvPr>
            <p:ph type="title"/>
          </p:nvPr>
        </p:nvSpPr>
        <p:spPr>
          <a:xfrm>
            <a:off x="3275012" y="77787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Garbage collector</a:t>
            </a:r>
            <a:endParaRPr/>
          </a:p>
        </p:txBody>
      </p:sp>
      <p:sp>
        <p:nvSpPr>
          <p:cNvPr id="415" name="Google Shape;415;p39"/>
          <p:cNvSpPr txBox="1"/>
          <p:nvPr/>
        </p:nvSpPr>
        <p:spPr>
          <a:xfrm>
            <a:off x="609600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sp>
        <p:nvSpPr>
          <p:cNvPr id="416" name="Google Shape;416;p39"/>
          <p:cNvSpPr txBox="1"/>
          <p:nvPr/>
        </p:nvSpPr>
        <p:spPr>
          <a:xfrm>
            <a:off x="8736012" y="63579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850" tIns="54425" rIns="108850" bIns="54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38</a:t>
            </a:fld>
            <a:endParaRPr/>
          </a:p>
        </p:txBody>
      </p:sp>
      <p:sp>
        <p:nvSpPr>
          <p:cNvPr id="417" name="Google Shape;417;p39"/>
          <p:cNvSpPr txBox="1"/>
          <p:nvPr/>
        </p:nvSpPr>
        <p:spPr>
          <a:xfrm>
            <a:off x="898525" y="1068387"/>
            <a:ext cx="10744200" cy="303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1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garbage collector runs either synchronously or asynchronously in a low priority daemon thread. </a:t>
            </a:r>
            <a:endParaRPr/>
          </a:p>
          <a:p>
            <a:pPr marL="342900" marR="0" lvl="1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garbage collector executes synchronously when the system runs out of memory or asynchronously when the system is idle. </a:t>
            </a:r>
            <a:endParaRPr/>
          </a:p>
          <a:p>
            <a:pPr marL="342900" marR="0" lvl="1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garbage collector can be invoked to run at any time by calling System.gc() or Runtime.gc(). </a:t>
            </a:r>
            <a:endParaRPr/>
          </a:p>
          <a:p>
            <a:pPr marL="342900" marR="0" lvl="1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asking the garbage collector to run does not guarantee that your objects will be garbage collected.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2173</Words>
  <Application>Microsoft Office PowerPoint</Application>
  <PresentationFormat>Custom</PresentationFormat>
  <Paragraphs>485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Arimo</vt:lpstr>
      <vt:lpstr>Noto Sans Symbols</vt:lpstr>
      <vt:lpstr>1_Office Theme</vt:lpstr>
      <vt:lpstr>2_Office Theme</vt:lpstr>
      <vt:lpstr>Office Theme</vt:lpstr>
      <vt:lpstr>OOPM</vt:lpstr>
      <vt:lpstr>Module 3</vt:lpstr>
      <vt:lpstr>What is Inheritance</vt:lpstr>
      <vt:lpstr>Types of inheritance</vt:lpstr>
      <vt:lpstr>Syntax to inherit a class</vt:lpstr>
      <vt:lpstr>Example</vt:lpstr>
      <vt:lpstr>Single Inheritance</vt:lpstr>
      <vt:lpstr>Multilevel Inheritance</vt:lpstr>
      <vt:lpstr>Hierarchical Inheritance</vt:lpstr>
      <vt:lpstr>Multiple Inheritance</vt:lpstr>
      <vt:lpstr>Single Inheritance</vt:lpstr>
      <vt:lpstr>Multilevel Inheritance</vt:lpstr>
      <vt:lpstr>Hierarchical Inheritance</vt:lpstr>
      <vt:lpstr>Super Keyword</vt:lpstr>
      <vt:lpstr>Call parent class constructor</vt:lpstr>
      <vt:lpstr>Access Parent Class Variable</vt:lpstr>
      <vt:lpstr>Call Parent Class Method</vt:lpstr>
      <vt:lpstr>Constructor Chaining Diagram</vt:lpstr>
      <vt:lpstr>Topics related to polymorphism</vt:lpstr>
      <vt:lpstr>Method overriding</vt:lpstr>
      <vt:lpstr>Abstract class</vt:lpstr>
      <vt:lpstr>Final keyword</vt:lpstr>
      <vt:lpstr>PowerPoint Presentation</vt:lpstr>
      <vt:lpstr>PowerPoint Presentation</vt:lpstr>
      <vt:lpstr>PowerPoint Presentation</vt:lpstr>
      <vt:lpstr>Interface</vt:lpstr>
      <vt:lpstr>PowerPoint Presentation</vt:lpstr>
      <vt:lpstr>PowerPoint Presentation</vt:lpstr>
      <vt:lpstr>Early vs Late Binding in Java</vt:lpstr>
      <vt:lpstr>Early Binding (Static Binding)</vt:lpstr>
      <vt:lpstr>Example – Early Binding</vt:lpstr>
      <vt:lpstr>Late Binding (Dynamic Binding)</vt:lpstr>
      <vt:lpstr>Example – Late Binding</vt:lpstr>
      <vt:lpstr>Early vs Late Binding – Difference</vt:lpstr>
      <vt:lpstr>Early vs Late Binding   Comparison Table</vt:lpstr>
      <vt:lpstr>Garbage collector</vt:lpstr>
      <vt:lpstr>Garbage collector</vt:lpstr>
      <vt:lpstr>Garbage collector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OOPM</dc:title>
  <dc:creator>Student</dc:creator>
  <cp:lastModifiedBy>Admin</cp:lastModifiedBy>
  <cp:revision>1</cp:revision>
  <dcterms:created xsi:type="dcterms:W3CDTF">2005-09-15T08:03:06Z</dcterms:created>
  <dcterms:modified xsi:type="dcterms:W3CDTF">2026-02-26T06:21:07Z</dcterms:modified>
</cp:coreProperties>
</file>