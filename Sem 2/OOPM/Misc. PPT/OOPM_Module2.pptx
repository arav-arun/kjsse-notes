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6858000" cx="9144000"/>
  <p:notesSz cx="9144000" cy="6858000"/>
  <p:embeddedFontLst>
    <p:embeddedFont>
      <p:font typeface="Nunito"/>
      <p:regular r:id="rId73"/>
      <p:bold r:id="rId74"/>
      <p:italic r:id="rId75"/>
      <p:boldItalic r:id="rId76"/>
    </p:embeddedFont>
    <p:embeddedFont>
      <p:font typeface="Marcellus SC"/>
      <p:regular r:id="rId77"/>
    </p:embeddedFont>
    <p:embeddedFont>
      <p:font typeface="Roboto Mono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2" roundtripDataSignature="AMtx7mii+uGNYJK0b/zIAB/A4cv8Uk++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E800B3-55FF-42D4-9F9C-5B8AB317EED6}">
  <a:tblStyle styleId="{FAE800B3-55FF-42D4-9F9C-5B8AB317EE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890933A-3C69-40B4-B7DE-BDBED9A6C62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RobotoMono-italic.fntdata"/><Relationship Id="rId82" Type="http://customschemas.google.com/relationships/presentationmetadata" Target="metadata"/><Relationship Id="rId81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unito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Nunito-italic.fntdata"/><Relationship Id="rId30" Type="http://schemas.openxmlformats.org/officeDocument/2006/relationships/slide" Target="slides/slide25.xml"/><Relationship Id="rId74" Type="http://schemas.openxmlformats.org/officeDocument/2006/relationships/font" Target="fonts/Nunito-bold.fntdata"/><Relationship Id="rId33" Type="http://schemas.openxmlformats.org/officeDocument/2006/relationships/slide" Target="slides/slide28.xml"/><Relationship Id="rId77" Type="http://schemas.openxmlformats.org/officeDocument/2006/relationships/font" Target="fonts/MarcellusSC-regular.fntdata"/><Relationship Id="rId32" Type="http://schemas.openxmlformats.org/officeDocument/2006/relationships/slide" Target="slides/slide27.xml"/><Relationship Id="rId76" Type="http://schemas.openxmlformats.org/officeDocument/2006/relationships/font" Target="fonts/Nunito-boldItalic.fntdata"/><Relationship Id="rId35" Type="http://schemas.openxmlformats.org/officeDocument/2006/relationships/slide" Target="slides/slide30.xml"/><Relationship Id="rId79" Type="http://schemas.openxmlformats.org/officeDocument/2006/relationships/font" Target="fonts/RobotoMono-bold.fntdata"/><Relationship Id="rId34" Type="http://schemas.openxmlformats.org/officeDocument/2006/relationships/slide" Target="slides/slide29.xml"/><Relationship Id="rId78" Type="http://schemas.openxmlformats.org/officeDocument/2006/relationships/font" Target="fonts/RobotoMono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82c6683b_0_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b782c6683b_0_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b782c6683b_0_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82c6683b_0_2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b782c6683b_0_2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b782c6683b_0_2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82c6683b_0_4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b782c6683b_0_4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b782c6683b_0_4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782c6683b_0_3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b782c6683b_0_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b782c6683b_0_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82c6683b_0_9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b782c6683b_0_9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b782c6683b_0_9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82c6683b_0_5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b782c6683b_0_5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b782c6683b_0_5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82c6683b_0_6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b782c6683b_0_6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782c6683b_0_6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82c6683b_0_8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b782c6683b_0_8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a right click on .class file and show students how it opens and is in non-readable language- that is bytecode</a:t>
            </a:r>
            <a:endParaRPr/>
          </a:p>
        </p:txBody>
      </p:sp>
      <p:sp>
        <p:nvSpPr>
          <p:cNvPr id="176" name="Google Shape;176;g3b782c6683b_0_8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782c6683b_0_101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b782c6683b_0_10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b782c6683b_0_10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55cd37522_1_0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b55cd37522_1_0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b55cd37522_1_0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55cd37522_1_1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b55cd37522_1_1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b55cd37522_1_1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55cd37522_1_24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b55cd37522_1_24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55cd37522_1_24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55cd37522_1_306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b55cd37522_1_306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55cd37522_1_306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55cd37522_1_32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3b55cd37522_1_32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first example,, we change value of a property,, or we change the state,, but this doesn’t change the object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2nd example a and b are simply two names, but they refer to the same object,,identity of the object does’t change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b55cd37522_1_32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55cd37522_1_4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b55cd37522_1_4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55cd37522_1_4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55cd37522_1_69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b55cd37522_1_69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b55cd37522_1_69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55cd37522_1_35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b55cd37522_1_35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b55cd37522_1_35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55cd37522_1_56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b55cd37522_1_56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b55cd37522_1_56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55cd37522_1_81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b55cd37522_1_81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b55cd37522_1_81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55cd37522_1_107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b55cd37522_1_107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b55cd37522_1_107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55cd37522_1_36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3b55cd37522_1_36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b55cd37522_1_36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782c6683b_0_12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b782c6683b_0_12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b782c6683b_0_12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5cd37522_1_37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g3b55cd37522_1_37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b55cd37522_1_37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55cd37522_1_39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3b55cd37522_1_39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b55cd37522_1_39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55cd37522_1_41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g3b55cd37522_1_41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b55cd37522_1_41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55cd37522_1_42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b55cd37522_1_42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b55cd37522_1_42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55cd37522_1_43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b55cd37522_1_4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55cd37522_1_4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55cd37522_1_44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b55cd37522_1_44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b55cd37522_1_44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55cd37522_1_45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b55cd37522_1_45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After \u there are four hex values. min value is 0 , max is 65536</a:t>
            </a:r>
            <a:endParaRPr/>
          </a:p>
        </p:txBody>
      </p:sp>
      <p:sp>
        <p:nvSpPr>
          <p:cNvPr id="460" name="Google Shape;460;g3b55cd37522_1_45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55cd37522_1_47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g3b55cd37522_1_47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65 is ASCII value of A</a:t>
            </a:r>
            <a:endParaRPr/>
          </a:p>
        </p:txBody>
      </p:sp>
      <p:sp>
        <p:nvSpPr>
          <p:cNvPr id="472" name="Google Shape;472;g3b55cd37522_1_47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782c6683b_0_14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g3b782c6683b_0_14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65 is ASCII value of A</a:t>
            </a:r>
            <a:endParaRPr/>
          </a:p>
        </p:txBody>
      </p:sp>
      <p:sp>
        <p:nvSpPr>
          <p:cNvPr id="485" name="Google Shape;485;g3b782c6683b_0_14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55cd37522_1_48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3b55cd37522_1_48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b55cd37522_1_48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bae19ec81c_0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g3bae19ec81c_0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g3bae19ec81c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ae19ec81c_0_1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g3bae19ec81c_0_1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ae19ec81c_0_1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cbe332687_0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bcbe332687_0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bcbe332687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cbe332687_0_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bcbe332687_0_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bcbe332687_0_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ae19ec81c_0_4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g3bae19ec81c_0_4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bae19ec81c_0_4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782c6683b_0_15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g3b782c6683b_0_15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g3b782c6683b_0_15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8ad9c3b41_1_0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g3b8ad9c3b41_1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g3b8ad9c3b41_1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8ad9c3b41_1_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g3b8ad9c3b41_1_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8ad9c3b41_1_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8ad9c3b41_1_117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3b8ad9c3b41_1_11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g3b8ad9c3b41_1_11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8ad9c3b41_1_131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g3b8ad9c3b41_1_13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3b8ad9c3b41_1_13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aacef02fd_0_2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g3baacef02fd_0_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g3baacef02fd_0_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aacef02fd_0_38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g3baacef02fd_0_3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g3baacef02fd_0_3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8ad9c3b41_1_94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b8ad9c3b41_1_9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g3b8ad9c3b41_1_9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aacef02fd_0_6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g3baacef02fd_0_6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baacef02fd_0_6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baacef02fd_0_53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g3baacef02fd_0_53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g3baacef02fd_0_53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baacef02fd_0_80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8" name="Google Shape;688;g3baacef02fd_0_8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g3baacef02fd_0_8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aacef02fd_0_92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g3baacef02fd_0_9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aacef02fd_0_9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baacef02fd_0_106:notes"/>
          <p:cNvSpPr/>
          <p:nvPr>
            <p:ph idx="2" type="sldImg"/>
          </p:nvPr>
        </p:nvSpPr>
        <p:spPr>
          <a:xfrm>
            <a:off x="1371600" y="763588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g3baacef02fd_0_10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g3baacef02fd_0_10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c5be4be36_1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g3bc5be4be36_1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bc5be4be36_1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bc5be4be36_1_7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2" name="Google Shape;732;g3bc5be4be36_1_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3" name="Google Shape;733;g3bc5be4be36_1_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bc5be4be36_1_1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g3bc5be4be36_1_1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bc5be4be36_1_1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bc5be4be36_2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g3bc5be4be36_2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bc5be4be36_2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c5be4be36_1_2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g3bc5be4be36_1_2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4" name="Google Shape;764;g3bc5be4be36_1_2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bc5be4be36_1_39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g3bc5be4be36_1_39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50">
                <a:solidFill>
                  <a:srgbClr val="FFFFFF"/>
                </a:solidFill>
                <a:highlight>
                  <a:srgbClr val="131417"/>
                </a:highlight>
                <a:latin typeface="Nunito"/>
                <a:ea typeface="Nunito"/>
                <a:cs typeface="Nunito"/>
                <a:sym typeface="Nunito"/>
              </a:rPr>
              <a:t>In this example, the program will show the compile-time error when we try to access a default modifier class from a different package.</a:t>
            </a:r>
            <a:endParaRPr/>
          </a:p>
        </p:txBody>
      </p:sp>
      <p:sp>
        <p:nvSpPr>
          <p:cNvPr id="776" name="Google Shape;776;g3bc5be4be36_1_39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bc5be4be36_2_7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3" name="Google Shape;783;g3bc5be4be36_2_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g3bc5be4be36_2_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bc5be4be36_1_4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g3bc5be4be36_1_4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g3bc5be4be36_1_46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bc5be4be36_1_5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9" name="Google Shape;809;g3bc5be4be36_1_5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bc5be4be36_1_5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bc5be4be36_1_65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9" name="Google Shape;819;g3bc5be4be36_1_6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bc5be4be36_1_6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bc5be4be36_1_88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g3bc5be4be36_1_88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3bc5be4be36_1_88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bc5be4be36_1_95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g3bc5be4be36_1_95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bc5be4be36_1_95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b55cd37522_1_135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g3b55cd37522_1_135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b55cd37522_1_135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b55cd37522_1_149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g3b55cd37522_1_149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b55cd37522_1_149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b55cd37522_1_162:notes"/>
          <p:cNvSpPr/>
          <p:nvPr>
            <p:ph idx="2" type="sldImg"/>
          </p:nvPr>
        </p:nvSpPr>
        <p:spPr>
          <a:xfrm>
            <a:off x="2857680" y="514440"/>
            <a:ext cx="34287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g3b55cd37522_1_162:notes"/>
          <p:cNvSpPr txBox="1"/>
          <p:nvPr>
            <p:ph idx="1" type="body"/>
          </p:nvPr>
        </p:nvSpPr>
        <p:spPr>
          <a:xfrm>
            <a:off x="914400" y="3257640"/>
            <a:ext cx="7314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endParaRPr b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b55cd37522_1_162:notes"/>
          <p:cNvSpPr txBox="1"/>
          <p:nvPr>
            <p:ph idx="12" type="sldNum"/>
          </p:nvPr>
        </p:nvSpPr>
        <p:spPr>
          <a:xfrm>
            <a:off x="5180040" y="6513480"/>
            <a:ext cx="3962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5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6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5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jpg"/><Relationship Id="rId8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nlinegdb.com/wafsNt-ZyA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Relationship Id="rId4" Type="http://schemas.openxmlformats.org/officeDocument/2006/relationships/image" Target="../media/image4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hyperlink" Target="https://onlinegdb.com/7EPl2n6li" TargetMode="External"/><Relationship Id="rId8" Type="http://schemas.openxmlformats.org/officeDocument/2006/relationships/hyperlink" Target="https://onlinegdb.com/WoPvXFJow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Relationship Id="rId4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61.png"/><Relationship Id="rId8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31.png"/><Relationship Id="rId8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43.png"/><Relationship Id="rId8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58.png"/><Relationship Id="rId8" Type="http://schemas.openxmlformats.org/officeDocument/2006/relationships/image" Target="../media/image4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hyperlink" Target="https://onlinegdb.com/upIsVmTTT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4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5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6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title"/>
          </p:nvPr>
        </p:nvSpPr>
        <p:spPr>
          <a:xfrm>
            <a:off x="1048680" y="2629800"/>
            <a:ext cx="7625400" cy="124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Marcellus SC"/>
              <a:buNone/>
            </a:pPr>
            <a:r>
              <a:rPr b="0" lang="en-US" sz="4000" u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</a:t>
            </a:r>
            <a:r>
              <a:rPr lang="en-US" sz="40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2</a:t>
            </a:r>
            <a:r>
              <a:rPr b="0" lang="en-US" sz="4000" u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: </a:t>
            </a:r>
            <a:r>
              <a:rPr lang="en-US" sz="40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Classes and Objects, methods and constructors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505000" y="6426720"/>
            <a:ext cx="1026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sp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8" name="Google Shape;9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95600" y="1241375"/>
            <a:ext cx="8152800" cy="433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Java Program - structure explained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 Model, Elements of the Object Model (Features)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Class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and Objects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Types in Java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Typecasting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Abstractions and Mechanisms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b782c6683b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650" y="163250"/>
            <a:ext cx="7782900" cy="5997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g3b782c6683b_0_4"/>
          <p:cNvSpPr txBox="1"/>
          <p:nvPr/>
        </p:nvSpPr>
        <p:spPr>
          <a:xfrm>
            <a:off x="2265175" y="2710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AutoNum type="arabicPeriod"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b782c6683b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b782c6683b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0" name="Google Shape;110;g3b782c6683b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1" name="Google Shape;111;g3b782c6683b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782c6683b_0_24"/>
          <p:cNvSpPr txBox="1"/>
          <p:nvPr/>
        </p:nvSpPr>
        <p:spPr>
          <a:xfrm>
            <a:off x="383150" y="1280175"/>
            <a:ext cx="8528400" cy="452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Hello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Java program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inside a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is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name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name should be: Hello.java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Java is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class-based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code exists outside a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{ } — Class body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Curly braces define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the class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Everything related to the class is written inside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public static void main(String[] args)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entry point of a Java program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b782c6683b_0_2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b782c6683b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782c6683b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21" name="Google Shape;121;g3b782c6683b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2" name="Google Shape;122;g3b782c6683b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82c6683b_0_4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b782c6683b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782c6683b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31" name="Google Shape;131;g3b782c6683b_0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2" name="Google Shape;132;g3b782c6683b_0_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782c6683b_0_45"/>
          <p:cNvSpPr txBox="1"/>
          <p:nvPr/>
        </p:nvSpPr>
        <p:spPr>
          <a:xfrm>
            <a:off x="307788" y="1824525"/>
            <a:ext cx="8528400" cy="20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System.out.println("Hello World");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Prints output on the screen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→ predefined class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→ output stream object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println() → method to print text and move to next 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82c6683b_0_3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b782c6683b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782c6683b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42" name="Google Shape;142;g3b782c6683b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3" name="Google Shape;143;g3b782c6683b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g3b782c6683b_0_34"/>
          <p:cNvGraphicFramePr/>
          <p:nvPr/>
        </p:nvGraphicFramePr>
        <p:xfrm>
          <a:off x="1103375" y="17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{FAE800B3-55FF-42D4-9F9C-5B8AB317EED6}</a:tableStyleId>
              </a:tblPr>
              <a:tblGrid>
                <a:gridCol w="2026575"/>
                <a:gridCol w="54124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Keyword</a:t>
                      </a:r>
                      <a:endParaRPr b="1"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Meaning</a:t>
                      </a:r>
                      <a:endParaRPr b="1"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public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JVM can access it from anywhere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static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No object is required to call main fxn</a:t>
                      </a:r>
                      <a:endParaRPr sz="2100" u="none" cap="none" strike="noStrike">
                        <a:solidFill>
                          <a:srgbClr val="188038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void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Returns nothing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main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JVM looks for this method (entry point)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String[] args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Command-line arguments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782c6683b_0_92"/>
          <p:cNvSpPr txBox="1"/>
          <p:nvPr/>
        </p:nvSpPr>
        <p:spPr>
          <a:xfrm>
            <a:off x="1205350" y="2244100"/>
            <a:ext cx="6359100" cy="178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1" lang="en-US" sz="2600" u="none" cap="none" strike="noStrike">
                <a:solidFill>
                  <a:srgbClr val="FF0000"/>
                </a:solidFill>
                <a:highlight>
                  <a:srgbClr val="FAFBFC"/>
                </a:highlight>
                <a:latin typeface="Arial"/>
                <a:ea typeface="Arial"/>
                <a:cs typeface="Arial"/>
                <a:sym typeface="Arial"/>
              </a:rPr>
              <a:t>The computer does not understand our human languages and it only understands codes that are in binary or coded form that means 0 or 1.</a:t>
            </a:r>
            <a:endParaRPr b="1" i="1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82c6683b_0_5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Java Program runs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b782c6683b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b782c6683b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59" name="Google Shape;159;g3b782c6683b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0" name="Google Shape;160;g3b782c6683b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b782c6683b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938" y="1112275"/>
            <a:ext cx="7802824" cy="48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b782c6683b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782c6683b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69" name="Google Shape;169;g3b782c6683b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0" name="Google Shape;170;g3b782c6683b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b782c6683b_0_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0001" y="633975"/>
            <a:ext cx="8067049" cy="5421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g3b782c6683b_0_65"/>
          <p:cNvSpPr txBox="1"/>
          <p:nvPr/>
        </p:nvSpPr>
        <p:spPr>
          <a:xfrm>
            <a:off x="2221950" y="85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Java Program runs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782c6683b_0_82"/>
          <p:cNvSpPr txBox="1"/>
          <p:nvPr/>
        </p:nvSpPr>
        <p:spPr>
          <a:xfrm>
            <a:off x="383150" y="1280175"/>
            <a:ext cx="8528400" cy="36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compiles the source code which in turn gives out the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bytecode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that needs to have a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program.class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extension.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bytecode can be run anywhere irrespective of the machine on which it has been built -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Platform Independence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Virtual Machine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is an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interpreter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 all the statements thoroughly step by step from the java bytecode, and converts it into 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machine-level language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machine can execute the code.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782c6683b_0_8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Program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b782c6683b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782c6683b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82" name="Google Shape;182;g3b782c6683b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3" name="Google Shape;183;g3b782c6683b_0_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782c6683b_0_101"/>
          <p:cNvSpPr txBox="1"/>
          <p:nvPr/>
        </p:nvSpPr>
        <p:spPr>
          <a:xfrm>
            <a:off x="383150" y="1280175"/>
            <a:ext cx="8528400" cy="501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Phase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When a Java program starts, the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interpreter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executes the bytecode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 by line. This allows for a quick application startup time.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Optimization Phase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As the program runs, the JVM monitors the code for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frequently used methods or loops (hot code)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JIT Compilation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JIT compiler then compiles these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"hot spots" into optimized native machine code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Subsequent calls to these sections bypass the interpreter and run the much faster native code.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native code is stored in memory/cache for faster execution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782c6683b_0_101"/>
          <p:cNvSpPr txBox="1"/>
          <p:nvPr/>
        </p:nvSpPr>
        <p:spPr>
          <a:xfrm>
            <a:off x="1823588" y="344425"/>
            <a:ext cx="54630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JIT (Just In Time Compiler)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b782c6683b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b782c6683b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93" name="Google Shape;193;g3b782c6683b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4" name="Google Shape;194;g3b782c6683b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55cd37522_1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b55cd37522_1_0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b55cd3752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b55cd37522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55cd37522_1_0"/>
          <p:cNvSpPr/>
          <p:nvPr/>
        </p:nvSpPr>
        <p:spPr>
          <a:xfrm>
            <a:off x="628050" y="1268188"/>
            <a:ext cx="7979700" cy="477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Why Objects ?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 + Data structures =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Traditional system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development methodology focuses on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“Functions”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development focuses on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“Object”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combines “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and Functionality”.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object-oriented system,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everything is an object: numbers, arrays, records, fields, files, forms, an invoice, etc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Object is anything, real or abstract,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about which we store data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those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methods that manipulate the data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05" name="Google Shape;205;g3b55cd37522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6" name="Google Shape;206;g3b55cd37522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b55cd37522_1_0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55cd37522_1_1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b55cd37522_1_1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b55cd37522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b55cd37522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b55cd37522_1_1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b55cd37522_1_12"/>
          <p:cNvSpPr/>
          <p:nvPr/>
        </p:nvSpPr>
        <p:spPr>
          <a:xfrm>
            <a:off x="573200" y="1499261"/>
            <a:ext cx="3675600" cy="402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an Object ?</a:t>
            </a:r>
            <a:endParaRPr b="1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a real-world entity that has properties and methods. E.g., Car.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Properties (or Attributes)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It describes the</a:t>
            </a: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state (or data)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an object. E.g., Color, manufacturer, cost, model and owner etc.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19" name="Google Shape;219;g3b55cd37522_1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0" name="Google Shape;220;g3b55cd37522_1_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b55cd37522_1_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4350" y="1987155"/>
            <a:ext cx="4535550" cy="27304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55cd37522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b55cd37522_1_24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b55cd37522_1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b55cd37522_1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b55cd37522_1_24"/>
          <p:cNvSpPr/>
          <p:nvPr/>
        </p:nvSpPr>
        <p:spPr>
          <a:xfrm>
            <a:off x="591450" y="1699675"/>
            <a:ext cx="4389000" cy="314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an Object 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Methods (or Procedures):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defines behavior (or operations) of objects. E.g., Go, stop, turn left, turn right and etc.…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32" name="Google Shape;232;g3b55cd37522_1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3" name="Google Shape;233;g3b55cd37522_1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b55cd37522_1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05625" y="1699667"/>
            <a:ext cx="3810000" cy="361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g3b55cd37522_1_24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55cd37522_1_30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3b55cd37522_1_306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b55cd37522_1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b55cd37522_1_3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45" name="Google Shape;245;g3b55cd37522_1_3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6" name="Google Shape;246;g3b55cd37522_1_3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b55cd37522_1_3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799" y="1103250"/>
            <a:ext cx="7735799" cy="50151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b55cd37522_1_306"/>
          <p:cNvSpPr txBox="1"/>
          <p:nvPr/>
        </p:nvSpPr>
        <p:spPr>
          <a:xfrm>
            <a:off x="664475" y="5608325"/>
            <a:ext cx="7735800" cy="3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b55cd37522_1_306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55cd37522_1_32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3b55cd37522_1_32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b55cd37522_1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b55cd37522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59" name="Google Shape;259;g3b55cd37522_1_3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0" name="Google Shape;260;g3b55cd37522_1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55cd37522_1_322"/>
          <p:cNvSpPr txBox="1"/>
          <p:nvPr/>
        </p:nvSpPr>
        <p:spPr>
          <a:xfrm>
            <a:off x="664475" y="5608325"/>
            <a:ext cx="7735800" cy="3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b55cd37522_1_322"/>
          <p:cNvSpPr txBox="1"/>
          <p:nvPr/>
        </p:nvSpPr>
        <p:spPr>
          <a:xfrm>
            <a:off x="760075" y="1609325"/>
            <a:ext cx="8026200" cy="160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1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“The identity of object never changes even if all the properties of the object change; it is independent of the object’s state. The identity does not depend on the object’s name, or its key, or its location.”</a:t>
            </a:r>
            <a:endParaRPr b="1" i="1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b55cd37522_1_3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5" y="3474550"/>
            <a:ext cx="4401588" cy="180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b55cd37522_1_3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7326" y="3581975"/>
            <a:ext cx="4401600" cy="142186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55cd37522_1_32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The Object Model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55cd37522_1_4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b55cd37522_1_41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g3b55cd37522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b55cd37522_1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b55cd37522_1_41"/>
          <p:cNvSpPr/>
          <p:nvPr/>
        </p:nvSpPr>
        <p:spPr>
          <a:xfrm>
            <a:off x="615150" y="1685121"/>
            <a:ext cx="7913700" cy="315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are Classes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grouped into classes.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are used to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distinguish one type of objects from another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is 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objects that share a common structure and a common behavior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76" name="Google Shape;276;g3b55cd37522_1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7" name="Google Shape;277;g3b55cd37522_1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b55cd37522_1_41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55cd37522_1_6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g3b55cd37522_1_69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b55cd37522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b55cd37522_1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b55cd37522_1_69"/>
          <p:cNvSpPr/>
          <p:nvPr/>
        </p:nvSpPr>
        <p:spPr>
          <a:xfrm>
            <a:off x="772675" y="1412625"/>
            <a:ext cx="7913700" cy="41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are Classes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is a specification of,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Structure (instance variable)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Structure of a class describes what data an object of that class will contain.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 terms: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Structure = instance variables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(also called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fields / data members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○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Behaviour (methods):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the actions an object can perform.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89" name="Google Shape;289;g3b55cd37522_1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0" name="Google Shape;290;g3b55cd37522_1_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b55cd37522_1_69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55cd37522_1_355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b55cd37522_1_355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99" name="Google Shape;299;g3b55cd37522_1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76" y="91800"/>
            <a:ext cx="8698651" cy="62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b55cd37522_1_355"/>
          <p:cNvSpPr/>
          <p:nvPr/>
        </p:nvSpPr>
        <p:spPr>
          <a:xfrm>
            <a:off x="2940000" y="818575"/>
            <a:ext cx="678600" cy="25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b55cd37522_1_355"/>
          <p:cNvSpPr txBox="1"/>
          <p:nvPr/>
        </p:nvSpPr>
        <p:spPr>
          <a:xfrm>
            <a:off x="3691825" y="745700"/>
            <a:ext cx="3997500" cy="67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instance variable/ field/  data member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b55cd37522_1_355"/>
          <p:cNvSpPr/>
          <p:nvPr/>
        </p:nvSpPr>
        <p:spPr>
          <a:xfrm>
            <a:off x="2652300" y="4014875"/>
            <a:ext cx="678600" cy="25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b55cd37522_1_355"/>
          <p:cNvSpPr txBox="1"/>
          <p:nvPr/>
        </p:nvSpPr>
        <p:spPr>
          <a:xfrm>
            <a:off x="3404125" y="3942000"/>
            <a:ext cx="966300" cy="4161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55cd37522_1_5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g3b55cd37522_1_56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b55cd37522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b55cd37522_1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b55cd37522_1_56"/>
          <p:cNvSpPr/>
          <p:nvPr/>
        </p:nvSpPr>
        <p:spPr>
          <a:xfrm>
            <a:off x="615150" y="1401513"/>
            <a:ext cx="7913700" cy="450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Classes:</a:t>
            </a:r>
            <a:endParaRPr b="1" i="1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314" name="Google Shape;314;g3b55cd37522_1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15" name="Google Shape;315;g3b55cd37522_1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b55cd37522_1_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917" y="2370660"/>
            <a:ext cx="7734157" cy="3303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b55cd37522_1_56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Classes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55cd37522_1_8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g3b55cd37522_1_81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b55cd37522_1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b55cd37522_1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27" name="Google Shape;327;g3b55cd37522_1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8" name="Google Shape;328;g3b55cd37522_1_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b55cd37522_1_81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Classes and Objects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g3b55cd37522_1_81"/>
          <p:cNvGraphicFramePr/>
          <p:nvPr/>
        </p:nvGraphicFramePr>
        <p:xfrm>
          <a:off x="2177825" y="16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{8890933A-3C69-40B4-B7DE-BDBED9A6C629}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g3b55cd37522_1_81"/>
          <p:cNvSpPr/>
          <p:nvPr/>
        </p:nvSpPr>
        <p:spPr>
          <a:xfrm>
            <a:off x="4413525" y="1859275"/>
            <a:ext cx="384000" cy="19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b55cd37522_1_81"/>
          <p:cNvSpPr/>
          <p:nvPr/>
        </p:nvSpPr>
        <p:spPr>
          <a:xfrm>
            <a:off x="4376950" y="2225050"/>
            <a:ext cx="219600" cy="1228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b55cd37522_1_81"/>
          <p:cNvSpPr/>
          <p:nvPr/>
        </p:nvSpPr>
        <p:spPr>
          <a:xfrm>
            <a:off x="4376950" y="3696994"/>
            <a:ext cx="219600" cy="686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b55cd37522_1_81"/>
          <p:cNvSpPr txBox="1"/>
          <p:nvPr/>
        </p:nvSpPr>
        <p:spPr>
          <a:xfrm>
            <a:off x="4907300" y="1676725"/>
            <a:ext cx="951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b55cd37522_1_81"/>
          <p:cNvSpPr txBox="1"/>
          <p:nvPr/>
        </p:nvSpPr>
        <p:spPr>
          <a:xfrm>
            <a:off x="4768750" y="2403400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Properties/ Field/ Data Members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b55cd37522_1_81"/>
          <p:cNvSpPr txBox="1"/>
          <p:nvPr/>
        </p:nvSpPr>
        <p:spPr>
          <a:xfrm>
            <a:off x="4596550" y="3622225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55cd37522_1_10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b55cd37522_1_107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g3b55cd37522_1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b55cd37522_1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46" name="Google Shape;346;g3b55cd37522_1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7" name="Google Shape;347;g3b55cd37522_1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g3b55cd37522_1_107"/>
          <p:cNvGraphicFramePr/>
          <p:nvPr/>
        </p:nvGraphicFramePr>
        <p:xfrm>
          <a:off x="3714000" y="221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{8890933A-3C69-40B4-B7DE-BDBED9A6C629}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Car2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g3b55cd37522_1_107"/>
          <p:cNvSpPr/>
          <p:nvPr/>
        </p:nvSpPr>
        <p:spPr>
          <a:xfrm>
            <a:off x="5949700" y="2384588"/>
            <a:ext cx="384000" cy="19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b55cd37522_1_107"/>
          <p:cNvSpPr/>
          <p:nvPr/>
        </p:nvSpPr>
        <p:spPr>
          <a:xfrm>
            <a:off x="5913125" y="2750363"/>
            <a:ext cx="219600" cy="1228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b55cd37522_1_107"/>
          <p:cNvSpPr/>
          <p:nvPr/>
        </p:nvSpPr>
        <p:spPr>
          <a:xfrm>
            <a:off x="5913125" y="4222307"/>
            <a:ext cx="219600" cy="686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b55cd37522_1_107"/>
          <p:cNvSpPr txBox="1"/>
          <p:nvPr/>
        </p:nvSpPr>
        <p:spPr>
          <a:xfrm>
            <a:off x="6443475" y="2202038"/>
            <a:ext cx="951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b55cd37522_1_107"/>
          <p:cNvSpPr txBox="1"/>
          <p:nvPr/>
        </p:nvSpPr>
        <p:spPr>
          <a:xfrm>
            <a:off x="6304925" y="2928713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Properties/ Field/ Data Members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b55cd37522_1_107"/>
          <p:cNvSpPr txBox="1"/>
          <p:nvPr/>
        </p:nvSpPr>
        <p:spPr>
          <a:xfrm>
            <a:off x="6132725" y="4147538"/>
            <a:ext cx="2578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b55cd37522_1_107"/>
          <p:cNvSpPr/>
          <p:nvPr/>
        </p:nvSpPr>
        <p:spPr>
          <a:xfrm rot="-5400000">
            <a:off x="3298193" y="463563"/>
            <a:ext cx="335400" cy="299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b55cd37522_1_107"/>
          <p:cNvSpPr txBox="1"/>
          <p:nvPr/>
        </p:nvSpPr>
        <p:spPr>
          <a:xfrm>
            <a:off x="2727600" y="1327725"/>
            <a:ext cx="2235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Class- Vehicle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g3b55cd37522_1_107"/>
          <p:cNvGraphicFramePr/>
          <p:nvPr/>
        </p:nvGraphicFramePr>
        <p:xfrm>
          <a:off x="1295275" y="221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{8890933A-3C69-40B4-B7DE-BDBED9A6C629}</a:tableStyleId>
              </a:tblPr>
              <a:tblGrid>
                <a:gridCol w="20269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Car1</a:t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Cost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Make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Drive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Break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Maintenance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g3b55cd37522_1_107"/>
          <p:cNvSpPr/>
          <p:nvPr/>
        </p:nvSpPr>
        <p:spPr>
          <a:xfrm>
            <a:off x="844425" y="621467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Classes and Objects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55cd37522_1_36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b55cd37522_1_3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b55cd37522_1_3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67" name="Google Shape;367;g3b55cd37522_1_3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68" name="Google Shape;368;g3b55cd37522_1_3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b55cd37522_1_362"/>
          <p:cNvSpPr txBox="1"/>
          <p:nvPr/>
        </p:nvSpPr>
        <p:spPr>
          <a:xfrm>
            <a:off x="310900" y="1188725"/>
            <a:ext cx="8436900" cy="200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1. boolean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66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data type has </a:t>
            </a: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two possible values, either true or false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</a:t>
            </a: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They are usually used for true/false conditions.</a:t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3b55cd37522_1_3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0125" y="3181580"/>
            <a:ext cx="6998750" cy="2808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782c6683b_0_12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3b782c6683b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b782c6683b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79" name="Google Shape;379;g3b782c6683b_0_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80" name="Google Shape;380;g3b782c6683b_0_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b782c6683b_0_125"/>
          <p:cNvSpPr txBox="1"/>
          <p:nvPr/>
        </p:nvSpPr>
        <p:spPr>
          <a:xfrm>
            <a:off x="310900" y="1188725"/>
            <a:ext cx="8436900" cy="103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1. boolean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900"/>
              </a:spcBef>
              <a:spcAft>
                <a:spcPts val="27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b782c6683b_0_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075" y="1902800"/>
            <a:ext cx="7212525" cy="20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b782c6683b_0_125"/>
          <p:cNvSpPr txBox="1"/>
          <p:nvPr/>
        </p:nvSpPr>
        <p:spPr>
          <a:xfrm>
            <a:off x="1965900" y="4037763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automatically does: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b782c6683b_0_1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48725" y="4614675"/>
            <a:ext cx="2415450" cy="6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55cd37522_1_37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g3b55cd37522_1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b55cd37522_1_3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93" name="Google Shape;393;g3b55cd37522_1_3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94" name="Google Shape;394;g3b55cd37522_1_3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b55cd37522_1_375"/>
          <p:cNvSpPr txBox="1"/>
          <p:nvPr/>
        </p:nvSpPr>
        <p:spPr>
          <a:xfrm>
            <a:off x="310900" y="1188725"/>
            <a:ext cx="8436900" cy="247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2. byte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byte data type can have values from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-128 to 127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If it's certain that the value of a variable will be within -128 to 127, then it is used instead of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to save memory.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 bits are 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used to store byte type value in menory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b55cd37522_1_3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4450" y="3659225"/>
            <a:ext cx="6285802" cy="26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55cd37522_1_39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g3b55cd37522_1_3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b55cd37522_1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05" name="Google Shape;405;g3b55cd37522_1_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06" name="Google Shape;406;g3b55cd37522_1_3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b55cd37522_1_398"/>
          <p:cNvSpPr txBox="1"/>
          <p:nvPr/>
        </p:nvSpPr>
        <p:spPr>
          <a:xfrm>
            <a:off x="310900" y="1188725"/>
            <a:ext cx="8436900" cy="292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3. short type</a:t>
            </a:r>
            <a:endParaRPr b="1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short data type in Java can have values from </a:t>
            </a: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-32768 to 32767 (16-bit signed two's complement integer).</a:t>
            </a:r>
            <a:endParaRPr b="1" i="0" sz="19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If it's certain that the value of a variable will be within -32768 and 32767, then it is used instead of other integer data types (int, long).</a:t>
            </a:r>
            <a:endParaRPr b="0" i="0" sz="19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Arial"/>
              <a:buChar char="●"/>
            </a:pPr>
            <a:r>
              <a:rPr b="1" i="0" lang="en-US" sz="19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1" i="0" sz="19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g3b55cd37522_1_3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5975" y="3578350"/>
            <a:ext cx="6745000" cy="25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55cd37522_1_41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3b55cd37522_1_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b55cd37522_1_4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17" name="Google Shape;417;g3b55cd37522_1_4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18" name="Google Shape;418;g3b55cd37522_1_4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b55cd37522_1_410"/>
          <p:cNvSpPr txBox="1"/>
          <p:nvPr/>
        </p:nvSpPr>
        <p:spPr>
          <a:xfrm>
            <a:off x="310900" y="1188725"/>
            <a:ext cx="8436900" cy="18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4. int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int data type can have values from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1" baseline="30000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to 2</a:t>
            </a:r>
            <a:r>
              <a:rPr b="1" baseline="30000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-1</a:t>
            </a:r>
            <a:endParaRPr b="1" i="0" sz="21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0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4 bytes (32 bits)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used to store int type value in memory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g3b55cd37522_1_4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369" y="3503051"/>
            <a:ext cx="7141506" cy="26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55cd37522_1_42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b55cd37522_1_4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b55cd37522_1_4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29" name="Google Shape;429;g3b55cd37522_1_4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30" name="Google Shape;430;g3b55cd37522_1_4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b55cd37522_1_422"/>
          <p:cNvSpPr txBox="1"/>
          <p:nvPr/>
        </p:nvSpPr>
        <p:spPr>
          <a:xfrm>
            <a:off x="310900" y="1188725"/>
            <a:ext cx="8436900" cy="283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5. long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long data type can have values from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-263 to 263-1 (64-bit signed two's complement integer).</a:t>
            </a:r>
            <a:endParaRPr b="1" i="0" sz="2100" u="none" cap="none" strike="noStrike">
              <a:solidFill>
                <a:srgbClr val="FF0000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g3b55cd37522_1_4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550" y="2827650"/>
            <a:ext cx="8436901" cy="2743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55cd37522_1_43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g3b55cd37522_1_4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b55cd37522_1_4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41" name="Google Shape;441;g3b55cd37522_1_4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42" name="Google Shape;442;g3b55cd37522_1_4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b55cd37522_1_434"/>
          <p:cNvSpPr txBox="1"/>
          <p:nvPr/>
        </p:nvSpPr>
        <p:spPr>
          <a:xfrm>
            <a:off x="310900" y="1188725"/>
            <a:ext cx="8436900" cy="15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6. double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double data type is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double-precision 64-bit floating-point.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g3b55cd37522_1_4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7625" y="2891176"/>
            <a:ext cx="8108749" cy="3115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55cd37522_1_44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g3b55cd37522_1_4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b55cd37522_1_4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53" name="Google Shape;453;g3b55cd37522_1_4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54" name="Google Shape;454;g3b55cd37522_1_4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b55cd37522_1_446"/>
          <p:cNvSpPr txBox="1"/>
          <p:nvPr/>
        </p:nvSpPr>
        <p:spPr>
          <a:xfrm>
            <a:off x="310900" y="1188725"/>
            <a:ext cx="8436900" cy="15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7. float 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float data type is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single-precision 32-bit floating-point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 It should never be used for precise values such as currency.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g3b55cd37522_1_4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625" y="3005695"/>
            <a:ext cx="8099425" cy="288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55cd37522_1_45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g3b55cd37522_1_4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b55cd37522_1_4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65" name="Google Shape;465;g3b55cd37522_1_4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66" name="Google Shape;466;g3b55cd37522_1_4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b55cd37522_1_458"/>
          <p:cNvSpPr txBox="1"/>
          <p:nvPr/>
        </p:nvSpPr>
        <p:spPr>
          <a:xfrm>
            <a:off x="310900" y="1188725"/>
            <a:ext cx="8436900" cy="21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It's a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16-bit Unicode character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The minimum value of the char data type is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'\u0000' (0)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and the maximum value of the is </a:t>
            </a:r>
            <a:r>
              <a:rPr b="1" i="0" lang="en-US" sz="210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'\uffff'</a:t>
            </a: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Default value: '\u0000'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g3b55cd37522_1_4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7975" y="3444427"/>
            <a:ext cx="6998750" cy="259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55cd37522_1_47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g3b55cd37522_1_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b55cd37522_1_4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77" name="Google Shape;477;g3b55cd37522_1_4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78" name="Google Shape;478;g3b55cd37522_1_4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b55cd37522_1_470"/>
          <p:cNvSpPr txBox="1"/>
          <p:nvPr/>
        </p:nvSpPr>
        <p:spPr>
          <a:xfrm>
            <a:off x="225725" y="944625"/>
            <a:ext cx="84369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g3b55cd37522_1_4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478" y="1558025"/>
            <a:ext cx="8013500" cy="41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b55cd37522_1_470"/>
          <p:cNvSpPr txBox="1"/>
          <p:nvPr/>
        </p:nvSpPr>
        <p:spPr>
          <a:xfrm>
            <a:off x="225725" y="5722900"/>
            <a:ext cx="8864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ASCII (American Standard Code for Information Interchange), </a:t>
            </a:r>
            <a:r>
              <a:rPr b="0" i="0" lang="en-US" sz="1200" u="none" cap="none" strike="noStrike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the decimal number 65 corresponds to the uppercase letter 'A'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782c6683b_0_14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g3b782c6683b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b782c6683b_0_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90" name="Google Shape;490;g3b782c6683b_0_1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91" name="Google Shape;491;g3b782c6683b_0_1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b782c6683b_0_142"/>
          <p:cNvSpPr txBox="1"/>
          <p:nvPr/>
        </p:nvSpPr>
        <p:spPr>
          <a:xfrm>
            <a:off x="310900" y="1188725"/>
            <a:ext cx="84369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8. char type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g3b782c6683b_0_1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6477" y="1960725"/>
            <a:ext cx="6317224" cy="42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55cd37522_1_48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g3b55cd37522_1_4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b55cd37522_1_4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02" name="Google Shape;502;g3b55cd37522_1_4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03" name="Google Shape;503;g3b55cd37522_1_4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b55cd37522_1_482"/>
          <p:cNvSpPr txBox="1"/>
          <p:nvPr/>
        </p:nvSpPr>
        <p:spPr>
          <a:xfrm>
            <a:off x="310900" y="1188725"/>
            <a:ext cx="8436900" cy="18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9. String</a:t>
            </a:r>
            <a:endParaRPr b="1" i="0" sz="21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700"/>
              </a:spcBef>
              <a:spcAft>
                <a:spcPts val="27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Java also provides support for character strings via java.lang.String class. Strings in Java are not primitive types. Instead, they are objects. For example,</a:t>
            </a:r>
            <a:endParaRPr b="0" i="0" sz="210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g3b55cd37522_1_4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300" y="3682325"/>
            <a:ext cx="8214100" cy="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g3bae19ec81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63" y="893950"/>
            <a:ext cx="3144475" cy="1199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2" name="Google Shape;512;g3bae19ec81c_0_0"/>
          <p:cNvSpPr txBox="1"/>
          <p:nvPr/>
        </p:nvSpPr>
        <p:spPr>
          <a:xfrm>
            <a:off x="426700" y="3053700"/>
            <a:ext cx="3000000" cy="315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"Java"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created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</a:t>
            </a:r>
            <a:r>
              <a:rPr b="0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7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 to 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memory location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saves memory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stores strings in a special memory area called the String Constant Pool (SCP).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3bae19ec81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225" y="975350"/>
            <a:ext cx="4839150" cy="864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4" name="Google Shape;514;g3bae19ec81c_0_0"/>
          <p:cNvSpPr txBox="1"/>
          <p:nvPr/>
        </p:nvSpPr>
        <p:spPr>
          <a:xfrm>
            <a:off x="5368825" y="3387925"/>
            <a:ext cx="3000000" cy="164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 memory*</a:t>
            </a:r>
            <a:b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a 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object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time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bae19ec81c_0_0"/>
          <p:cNvSpPr/>
          <p:nvPr/>
        </p:nvSpPr>
        <p:spPr>
          <a:xfrm>
            <a:off x="1704700" y="2230750"/>
            <a:ext cx="352800" cy="6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bae19ec81c_0_0"/>
          <p:cNvSpPr/>
          <p:nvPr/>
        </p:nvSpPr>
        <p:spPr>
          <a:xfrm>
            <a:off x="6417400" y="2013850"/>
            <a:ext cx="352800" cy="119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g3bae19ec81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bae19ec81c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19" name="Google Shape;519;g3bae19ec81c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20" name="Google Shape;520;g3bae19ec81c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bae19ec81c_0_0"/>
          <p:cNvSpPr txBox="1"/>
          <p:nvPr/>
        </p:nvSpPr>
        <p:spPr>
          <a:xfrm>
            <a:off x="2221950" y="252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bae19ec81c_0_0"/>
          <p:cNvSpPr txBox="1"/>
          <p:nvPr/>
        </p:nvSpPr>
        <p:spPr>
          <a:xfrm>
            <a:off x="4926175" y="5221963"/>
            <a:ext cx="40872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* Heap memory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1200" u="none" cap="none" strike="noStrike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a large pool of RAM used for </a:t>
            </a:r>
            <a:r>
              <a:rPr b="1" i="0" lang="en-US" sz="1200" u="none" cap="none" strike="noStrike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dynamic memory allocation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allowing programs to request and release memory blocks at runtime for objects whose size isn't known beforehand.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g3bae19ec81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200" y="852475"/>
            <a:ext cx="67818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bae19ec81c_0_16"/>
          <p:cNvSpPr txBox="1"/>
          <p:nvPr/>
        </p:nvSpPr>
        <p:spPr>
          <a:xfrm>
            <a:off x="646600" y="1567550"/>
            <a:ext cx="156900" cy="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bae19ec81c_0_16"/>
          <p:cNvSpPr txBox="1"/>
          <p:nvPr/>
        </p:nvSpPr>
        <p:spPr>
          <a:xfrm>
            <a:off x="352700" y="1979025"/>
            <a:ext cx="1861500" cy="99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created without  ‘new’ keyword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bae19ec81c_0_16"/>
          <p:cNvSpPr txBox="1"/>
          <p:nvPr/>
        </p:nvSpPr>
        <p:spPr>
          <a:xfrm>
            <a:off x="352700" y="3620575"/>
            <a:ext cx="1861500" cy="99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created with  ‘new’ keyword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bae19ec81c_0_16"/>
          <p:cNvSpPr/>
          <p:nvPr/>
        </p:nvSpPr>
        <p:spPr>
          <a:xfrm rot="-5400000">
            <a:off x="2799500" y="1859125"/>
            <a:ext cx="181200" cy="135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bae19ec81c_0_16"/>
          <p:cNvSpPr/>
          <p:nvPr/>
        </p:nvSpPr>
        <p:spPr>
          <a:xfrm rot="-5400000">
            <a:off x="2823050" y="3371850"/>
            <a:ext cx="134100" cy="135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bae19ec81c_0_16"/>
          <p:cNvSpPr/>
          <p:nvPr/>
        </p:nvSpPr>
        <p:spPr>
          <a:xfrm>
            <a:off x="3605200" y="2370900"/>
            <a:ext cx="156900" cy="764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bae19ec81c_0_16"/>
          <p:cNvSpPr/>
          <p:nvPr/>
        </p:nvSpPr>
        <p:spPr>
          <a:xfrm>
            <a:off x="3605200" y="3495775"/>
            <a:ext cx="156900" cy="764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g3bae19ec81c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bae19ec81c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38" name="Google Shape;538;g3bae19ec81c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39" name="Google Shape;539;g3bae19ec81c_0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bae19ec81c_0_16"/>
          <p:cNvSpPr txBox="1"/>
          <p:nvPr/>
        </p:nvSpPr>
        <p:spPr>
          <a:xfrm>
            <a:off x="2221950" y="252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Data Types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cbe332687_0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bcbe332687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8" name="Google Shape;548;g3bcbe33268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413" y="1012750"/>
            <a:ext cx="7043174" cy="570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9" name="Google Shape;549;g3bcbe332687_0_0"/>
          <p:cNvSpPr txBox="1"/>
          <p:nvPr/>
        </p:nvSpPr>
        <p:spPr>
          <a:xfrm>
            <a:off x="1780025" y="274675"/>
            <a:ext cx="57456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</a:rPr>
              <a:t>6. How Memory Allocation Happens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cbe332687_0_8"/>
          <p:cNvSpPr txBox="1"/>
          <p:nvPr/>
        </p:nvSpPr>
        <p:spPr>
          <a:xfrm>
            <a:off x="1780025" y="530725"/>
            <a:ext cx="57456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</a:rPr>
              <a:t>How Memory Allocation Happens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g3bcbe33268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025" y="1487850"/>
            <a:ext cx="7253949" cy="4047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7" name="Google Shape;557;g3bcbe332687_0_8"/>
          <p:cNvSpPr txBox="1"/>
          <p:nvPr/>
        </p:nvSpPr>
        <p:spPr>
          <a:xfrm>
            <a:off x="1652000" y="2682250"/>
            <a:ext cx="2633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0000"/>
                </a:solidFill>
              </a:rPr>
              <a:t>s1 has address of object 1</a:t>
            </a:r>
            <a:endParaRPr b="1" i="1" sz="1500">
              <a:solidFill>
                <a:srgbClr val="FF0000"/>
              </a:solidFill>
            </a:endParaRPr>
          </a:p>
        </p:txBody>
      </p:sp>
      <p:sp>
        <p:nvSpPr>
          <p:cNvPr id="558" name="Google Shape;558;g3bcbe332687_0_8"/>
          <p:cNvSpPr txBox="1"/>
          <p:nvPr/>
        </p:nvSpPr>
        <p:spPr>
          <a:xfrm>
            <a:off x="1652000" y="4352550"/>
            <a:ext cx="2633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0000"/>
                </a:solidFill>
              </a:rPr>
              <a:t>s2 refers to  object 2</a:t>
            </a:r>
            <a:endParaRPr b="1" i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4" name="Google Shape;564;g3bae19ec81c_0_40"/>
          <p:cNvGraphicFramePr/>
          <p:nvPr/>
        </p:nvGraphicFramePr>
        <p:xfrm>
          <a:off x="1592825" y="14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{FAE800B3-55FF-42D4-9F9C-5B8AB317EED6}</a:tableStyleId>
              </a:tblPr>
              <a:tblGrid>
                <a:gridCol w="1819725"/>
                <a:gridCol w="1397275"/>
                <a:gridCol w="28920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Access Modifier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Keyword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</a:rPr>
                        <a:t>Accessible from</a:t>
                      </a:r>
                      <a:endParaRPr b="1" sz="2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Public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public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Everywhere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Protected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protected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Same package + subclasses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dk1"/>
                          </a:solidFill>
                        </a:rPr>
                        <a:t>Default</a:t>
                      </a:r>
                      <a:endParaRPr b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i="1" lang="en-US" sz="2100" u="none" cap="none" strike="noStrike">
                          <a:solidFill>
                            <a:schemeClr val="dk1"/>
                          </a:solidFill>
                        </a:rPr>
                        <a:t>(no keyword)</a:t>
                      </a:r>
                      <a:endParaRPr i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dk1"/>
                          </a:solidFill>
                        </a:rPr>
                        <a:t>Same package only</a:t>
                      </a:r>
                      <a:endParaRPr b="1"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Private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private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Same class only</a:t>
                      </a:r>
                      <a:endParaRPr sz="2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5" name="Google Shape;565;g3bae19ec81c_0_4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 Java Access Modifiers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g3bae19ec81c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bae19ec81c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68" name="Google Shape;568;g3bae19ec81c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69" name="Google Shape;569;g3bae19ec81c_0_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782c6683b_0_15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b782c6683b_0_154"/>
          <p:cNvSpPr txBox="1"/>
          <p:nvPr/>
        </p:nvSpPr>
        <p:spPr>
          <a:xfrm>
            <a:off x="593325" y="1216350"/>
            <a:ext cx="8436900" cy="442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Create a Java program to model a Car. The program should: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Represent the car’s attributes (members) such as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Provide behaviors (methods) like accelerate() to increase speed and displayState() to show the car’s current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Demonstrate the state of the car by storing and updating its color and speed.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65E"/>
              </a:buClr>
              <a:buSzPts val="2300"/>
              <a:buFont typeface="Arial"/>
              <a:buAutoNum type="arabicPeriod"/>
            </a:pPr>
            <a:r>
              <a:rPr b="1" i="0" lang="en-US" sz="2300" u="none" cap="none" strike="noStrike">
                <a:solidFill>
                  <a:srgbClr val="25265E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Show how a Car object is created in memory and accessed through a reference variable.</a:t>
            </a:r>
            <a:endParaRPr b="1" i="0" sz="2300" u="none" cap="none" strike="noStrike">
              <a:solidFill>
                <a:srgbClr val="25265E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b782c6683b_0_154"/>
          <p:cNvSpPr txBox="1"/>
          <p:nvPr/>
        </p:nvSpPr>
        <p:spPr>
          <a:xfrm>
            <a:off x="1924925" y="5641650"/>
            <a:ext cx="645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https://onlinegdb.com/wafsNt-ZyA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g3b782c6683b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b782c6683b_0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80" name="Google Shape;580;g3b782c6683b_0_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81" name="Google Shape;581;g3b782c6683b_0_1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b8ad9c3b41_1_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7. Java Typecasting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b8ad9c3b41_1_0"/>
          <p:cNvSpPr txBox="1"/>
          <p:nvPr/>
        </p:nvSpPr>
        <p:spPr>
          <a:xfrm>
            <a:off x="428900" y="1254829"/>
            <a:ext cx="8436900" cy="387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casting means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converting one data type into another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For example, turning an int into a double.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Java, there are two main types of casting: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Widening Casting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(automatic) - converting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smaller type to a larger type size</a:t>
            </a:r>
            <a:b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 -&gt; short -&gt; char -&gt; int -&gt; long -&gt; float -&gt; double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Narrowing Casting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(manual) - converting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larger type to a smaller type size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 -&gt; float -&gt; long -&gt; int -&gt; char -&gt; short -&gt; 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g3b8ad9c3b4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b8ad9c3b41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91" name="Google Shape;591;g3b8ad9c3b41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92" name="Google Shape;592;g3b8ad9c3b41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8ad9c3b41_1_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Typecasting Examples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g3b8ad9c3b41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874" y="1005043"/>
            <a:ext cx="8568953" cy="19714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00" name="Google Shape;600;g3b8ad9c3b41_1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75" y="3210125"/>
            <a:ext cx="8568950" cy="2090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01" name="Google Shape;601;g3b8ad9c3b41_1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b8ad9c3b41_1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03" name="Google Shape;603;g3b8ad9c3b41_1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04" name="Google Shape;604;g3b8ad9c3b41_1_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3b8ad9c3b41_1_6"/>
          <p:cNvSpPr txBox="1"/>
          <p:nvPr/>
        </p:nvSpPr>
        <p:spPr>
          <a:xfrm>
            <a:off x="375875" y="5446075"/>
            <a:ext cx="8376900" cy="64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When you "manually cast" a </a:t>
            </a:r>
            <a:r>
              <a:rPr b="0" i="0" lang="en-US" sz="1050" u="none" cap="none" strike="noStrike">
                <a:solidFill>
                  <a:srgbClr val="0A0A0A"/>
                </a:solidFill>
                <a:highlight>
                  <a:srgbClr val="F3F5F6"/>
                </a:highlight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 an </a:t>
            </a:r>
            <a:r>
              <a:rPr b="0" i="0" lang="en-US" sz="1050" u="none" cap="none" strike="noStrike">
                <a:solidFill>
                  <a:srgbClr val="0A0A0A"/>
                </a:solidFill>
                <a:highlight>
                  <a:srgbClr val="F3F5F6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Java, </a:t>
            </a:r>
            <a:r>
              <a:rPr b="0" i="0" lang="en-US" sz="1200" u="none" cap="none" strike="noStrike">
                <a:solidFill>
                  <a:srgbClr val="001D3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is not rounded</a:t>
            </a:r>
            <a:r>
              <a:rPr b="0" i="0" lang="en-US" sz="12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the mathematical sense; instead, it is truncated (the decimal portion is simply discarded, or rounded towards zero).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b8ad9c3b41_1_117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g3b8ad9c3b41_1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g3b8ad9c3b41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14" name="Google Shape;614;g3b8ad9c3b41_1_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15" name="Google Shape;615;g3b8ad9c3b41_1_1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b8ad9c3b41_1_117"/>
          <p:cNvSpPr txBox="1"/>
          <p:nvPr/>
        </p:nvSpPr>
        <p:spPr>
          <a:xfrm>
            <a:off x="477750" y="1124850"/>
            <a:ext cx="8091600" cy="418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A method is a block of code that </a:t>
            </a:r>
            <a:r>
              <a:rPr b="1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performs a specific task.</a:t>
            </a:r>
            <a:endParaRPr b="1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Dividing a complex problem into smaller chunks makes your program easy to understand and reusable.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In Java, there are two types of methods: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13716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User-defined Methods: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We can create our own method based on our requirements.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8775" lvl="0" marL="13716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rgbClr val="FF0000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Standard Library Methods: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9FAFC"/>
                </a:highlight>
                <a:latin typeface="Arial"/>
                <a:ea typeface="Arial"/>
                <a:cs typeface="Arial"/>
                <a:sym typeface="Arial"/>
              </a:rPr>
              <a:t> These are built-in methods in Java that are available to use.</a:t>
            </a:r>
            <a:endParaRPr b="0" i="0" sz="2050" u="none" cap="none" strike="noStrike">
              <a:solidFill>
                <a:schemeClr val="dk1"/>
              </a:solidFill>
              <a:highlight>
                <a:srgbClr val="F9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8ad9c3b41_1_131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g3b8ad9c3b41_1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g3b8ad9c3b41_1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25" name="Google Shape;625;g3b8ad9c3b41_1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26" name="Google Shape;626;g3b8ad9c3b41_1_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b8ad9c3b41_1_131"/>
          <p:cNvSpPr txBox="1"/>
          <p:nvPr/>
        </p:nvSpPr>
        <p:spPr>
          <a:xfrm>
            <a:off x="2440913" y="1218526"/>
            <a:ext cx="47001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https://onlinegdb.com/7EPl2n6li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b8ad9c3b41_1_131"/>
          <p:cNvSpPr txBox="1"/>
          <p:nvPr/>
        </p:nvSpPr>
        <p:spPr>
          <a:xfrm>
            <a:off x="2486975" y="2376700"/>
            <a:ext cx="46080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https://onlinegdb.com/WoPvXFJow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b8ad9c3b41_1_131"/>
          <p:cNvSpPr txBox="1"/>
          <p:nvPr/>
        </p:nvSpPr>
        <p:spPr>
          <a:xfrm>
            <a:off x="225725" y="1191375"/>
            <a:ext cx="2071500" cy="79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SumMain.java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b8ad9c3b41_1_131"/>
          <p:cNvSpPr txBox="1"/>
          <p:nvPr/>
        </p:nvSpPr>
        <p:spPr>
          <a:xfrm>
            <a:off x="225725" y="2376701"/>
            <a:ext cx="2071500" cy="79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SumMain2java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g3baacef02f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13" y="591975"/>
            <a:ext cx="8058132" cy="501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3baacef02fd_0_2"/>
          <p:cNvSpPr txBox="1"/>
          <p:nvPr/>
        </p:nvSpPr>
        <p:spPr>
          <a:xfrm>
            <a:off x="6157375" y="43275"/>
            <a:ext cx="20715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SumMain.java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baacef02fd_0_2"/>
          <p:cNvSpPr txBox="1"/>
          <p:nvPr/>
        </p:nvSpPr>
        <p:spPr>
          <a:xfrm>
            <a:off x="441475" y="5994100"/>
            <a:ext cx="2109900" cy="51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g3baacef02fd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363" y="5994091"/>
            <a:ext cx="3343275" cy="7564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g3baacef02fd_0_2"/>
          <p:cNvSpPr txBox="1"/>
          <p:nvPr/>
        </p:nvSpPr>
        <p:spPr>
          <a:xfrm>
            <a:off x="1136150" y="43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baacef02fd_0_38"/>
          <p:cNvSpPr txBox="1"/>
          <p:nvPr/>
        </p:nvSpPr>
        <p:spPr>
          <a:xfrm>
            <a:off x="6157375" y="43275"/>
            <a:ext cx="26118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SumMain2.java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baacef02fd_0_38"/>
          <p:cNvSpPr txBox="1"/>
          <p:nvPr/>
        </p:nvSpPr>
        <p:spPr>
          <a:xfrm>
            <a:off x="1081725" y="4327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Method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g3baacef02fd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63" y="812788"/>
            <a:ext cx="6287825" cy="5232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baacef02fd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025" y="4657713"/>
            <a:ext cx="45910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3baacef02fd_0_38"/>
          <p:cNvSpPr txBox="1"/>
          <p:nvPr/>
        </p:nvSpPr>
        <p:spPr>
          <a:xfrm>
            <a:off x="7426675" y="4109025"/>
            <a:ext cx="1342500" cy="54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3575" lIns="113575" spcFirstLastPara="1" rIns="113575" wrap="square" tIns="11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1"/>
              <a:buFont typeface="Arial"/>
              <a:buNone/>
            </a:pPr>
            <a:r>
              <a:rPr b="0" i="0" lang="en-US" sz="2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1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b8ad9c3b41_1_94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g3b8ad9c3b41_1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b8ad9c3b41_1_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59" name="Google Shape;659;g3b8ad9c3b41_1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60" name="Google Shape;660;g3b8ad9c3b41_1_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g3b8ad9c3b41_1_94"/>
          <p:cNvSpPr txBox="1"/>
          <p:nvPr/>
        </p:nvSpPr>
        <p:spPr>
          <a:xfrm>
            <a:off x="428900" y="1254829"/>
            <a:ext cx="8436900" cy="172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constructor in Java is similar to a method that is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invoked when an object of the class is created.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Java methods, a constructor has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name as that of the class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does not have any return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g3b8ad9c3b41_1_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97300" y="3221749"/>
            <a:ext cx="4700100" cy="240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aacef02fd_0_6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g3baacef02fd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baacef02fd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71" name="Google Shape;671;g3baacef02fd_0_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72" name="Google Shape;672;g3baacef02fd_0_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g3baacef02fd_0_66"/>
          <p:cNvSpPr txBox="1"/>
          <p:nvPr/>
        </p:nvSpPr>
        <p:spPr>
          <a:xfrm>
            <a:off x="428900" y="1254829"/>
            <a:ext cx="84369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Constructors can be divided into three types: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No-Arg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Parameterized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Constructor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aacef02fd_0_53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8. 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g3baacef02f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3baacef02fd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82" name="Google Shape;682;g3baacef02fd_0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83" name="Google Shape;683;g3baacef02fd_0_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g3baacef02fd_0_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6380126" cy="5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g3baacef02fd_0_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3375" y="2736263"/>
            <a:ext cx="31813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baacef02fd_0_80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g3baacef02fd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g3baacef02fd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94" name="Google Shape;694;g3baacef02fd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95" name="Google Shape;695;g3baacef02fd_0_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baacef02fd_0_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023" y="1234450"/>
            <a:ext cx="5689902" cy="475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baacef02fd_0_8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8675" y="2660075"/>
            <a:ext cx="23050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aacef02fd_0_92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g3baacef02fd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g3baacef02fd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06" name="Google Shape;706;g3baacef02fd_0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07" name="Google Shape;707;g3baacef02fd_0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g3baacef02fd_0_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7281247" cy="50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g3baacef02fd_0_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0900" y="4438175"/>
            <a:ext cx="2794550" cy="14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aacef02fd_0_10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6" name="Google Shape;716;g3baacef02fd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g3baacef02fd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18" name="Google Shape;718;g3baacef02fd_0_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19" name="Google Shape;719;g3baacef02fd_0_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g3baacef02fd_0_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045525"/>
            <a:ext cx="6566497" cy="50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baacef02fd_0_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32688" y="2210938"/>
            <a:ext cx="32480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bc5be4be36_1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8" name="Google Shape;728;g3bc5be4be36_1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bc5be4be36_1_0"/>
          <p:cNvSpPr txBox="1"/>
          <p:nvPr/>
        </p:nvSpPr>
        <p:spPr>
          <a:xfrm>
            <a:off x="554725" y="1901950"/>
            <a:ext cx="7992000" cy="21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n-US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 initializes an object automatically at the time of creation and ensures a valid initial state. A normal method requires explicit invocation and may leave the object partially initialized if not called.</a:t>
            </a:r>
            <a:endParaRPr b="1" i="1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c5be4be36_1_7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9. Java Access Modifiers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6" name="Google Shape;736;g3bc5be4be36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bc5be4be36_1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38" name="Google Shape;738;g3bc5be4be36_1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39" name="Google Shape;739;g3bc5be4be36_1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g3bc5be4be36_1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575" y="3063438"/>
            <a:ext cx="7629525" cy="2962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1" name="Google Shape;741;g3bc5be4be36_1_7"/>
          <p:cNvSpPr txBox="1"/>
          <p:nvPr/>
        </p:nvSpPr>
        <p:spPr>
          <a:xfrm>
            <a:off x="731525" y="1079000"/>
            <a:ext cx="773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modifiers are essential tools that define how the members of a class, like variables, methods, and even the class itself, can be accessed from other parts of our program.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bc5be4be36_1_1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Access Modifier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g3bc5be4be36_1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g3bc5be4be36_1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50" name="Google Shape;750;g3bc5be4be36_1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51" name="Google Shape;751;g3bc5be4be36_1_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3bc5be4be36_1_18"/>
          <p:cNvSpPr txBox="1"/>
          <p:nvPr/>
        </p:nvSpPr>
        <p:spPr>
          <a:xfrm>
            <a:off x="731525" y="1079000"/>
            <a:ext cx="7730700" cy="177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methods or data members declared as private are accessible only within the class in which they are declared.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https://onlinegdb.com/upIsVmTTT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c5be4be36_2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g3bc5be4be36_2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60" name="Google Shape;760;g3bc5be4be36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522" y="0"/>
            <a:ext cx="712895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bc5be4be36_1_28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Default Access Modifier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g3bc5be4be36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3bc5be4be36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69" name="Google Shape;769;g3bc5be4be36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70" name="Google Shape;770;g3bc5be4be36_1_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3bc5be4be36_1_28"/>
          <p:cNvSpPr txBox="1"/>
          <p:nvPr/>
        </p:nvSpPr>
        <p:spPr>
          <a:xfrm>
            <a:off x="731525" y="1079000"/>
            <a:ext cx="77307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no access modifier is specified for a class, method, or data member, it is said to have the default access modifier by default. This means only classes within the same package can access it.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2" name="Google Shape;772;g3bc5be4be36_1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900" y="2339600"/>
            <a:ext cx="7278904" cy="37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c5be4be36_1_3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79" name="Google Shape;779;g3bc5be4be36_1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-12"/>
            <a:ext cx="58578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g3bc5be4be36_1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8450" y="3305163"/>
            <a:ext cx="5288061" cy="324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3bc5be4be36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117" y="2373073"/>
            <a:ext cx="7359668" cy="404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7" name="Google Shape;787;g3bc5be4be36_2_7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Access Modifier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bc5be4be36_2_7"/>
          <p:cNvSpPr txBox="1"/>
          <p:nvPr/>
        </p:nvSpPr>
        <p:spPr>
          <a:xfrm>
            <a:off x="731525" y="1079000"/>
            <a:ext cx="77307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public access modifier is specified using the keyword public. Public members are accessible from everywhere in the program. There is no restriction on the scope of public data members.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bc5be4be36_2_7"/>
          <p:cNvSpPr txBox="1"/>
          <p:nvPr/>
        </p:nvSpPr>
        <p:spPr>
          <a:xfrm>
            <a:off x="79250" y="2407925"/>
            <a:ext cx="1371600" cy="4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0" name="Google Shape;790;g3bc5be4be36_2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g3bc5be4be36_2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92" name="Google Shape;792;g3bc5be4be36_2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93" name="Google Shape;793;g3bc5be4be36_2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c5be4be36_1_46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Access Modifier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g3bc5be4be36_1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g3bc5be4be36_1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02" name="Google Shape;802;g3bc5be4be36_1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03" name="Google Shape;803;g3bc5be4be36_1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g3bc5be4be36_1_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400" y="1570900"/>
            <a:ext cx="5853152" cy="4355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5" name="Google Shape;805;g3bc5be4be36_1_46"/>
          <p:cNvSpPr txBox="1"/>
          <p:nvPr/>
        </p:nvSpPr>
        <p:spPr>
          <a:xfrm>
            <a:off x="6681225" y="1846650"/>
            <a:ext cx="2115900" cy="349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access a public member from another package: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class must be </a:t>
            </a:r>
            <a:r>
              <a:rPr b="1" i="0" lang="en-US" sz="15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1" i="0" sz="15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member must be </a:t>
            </a:r>
            <a:r>
              <a:rPr b="1" i="0" lang="en-US" sz="15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1" i="0" sz="15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package must be imported (or fully qualified name used)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bc5be4be36_1_46"/>
          <p:cNvSpPr txBox="1"/>
          <p:nvPr/>
        </p:nvSpPr>
        <p:spPr>
          <a:xfrm>
            <a:off x="97525" y="893125"/>
            <a:ext cx="1371600" cy="4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g3bc5be4be36_1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122" y="182100"/>
            <a:ext cx="7491753" cy="5912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3" name="Google Shape;813;g3bc5be4be36_1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g3bc5be4be36_1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15" name="Google Shape;815;g3bc5be4be36_1_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16" name="Google Shape;816;g3bc5be4be36_1_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bc5be4be36_1_65"/>
          <p:cNvSpPr txBox="1"/>
          <p:nvPr/>
        </p:nvSpPr>
        <p:spPr>
          <a:xfrm>
            <a:off x="2297300" y="344425"/>
            <a:ext cx="4700100" cy="5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Protected Access Modifier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g3bc5be4be36_1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3bc5be4be36_1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25" name="Google Shape;825;g3bc5be4be36_1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26" name="Google Shape;826;g3bc5be4be36_1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g3bc5be4be36_1_65"/>
          <p:cNvSpPr txBox="1"/>
          <p:nvPr/>
        </p:nvSpPr>
        <p:spPr>
          <a:xfrm>
            <a:off x="782000" y="1298475"/>
            <a:ext cx="77307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methods or data members declared as protected are accessible within the same package or subclasses in different packages.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bc5be4be36_1_65"/>
          <p:cNvSpPr txBox="1"/>
          <p:nvPr/>
        </p:nvSpPr>
        <p:spPr>
          <a:xfrm>
            <a:off x="706650" y="2996563"/>
            <a:ext cx="77307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for this will be explained in inheritance topic.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c5be4be36_1_88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bc5be4be36_1_88"/>
          <p:cNvSpPr txBox="1"/>
          <p:nvPr/>
        </p:nvSpPr>
        <p:spPr>
          <a:xfrm>
            <a:off x="2297300" y="344425"/>
            <a:ext cx="4950900" cy="85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Comparison Table of Access Modifiers in Java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6" name="Google Shape;836;g3bc5be4be36_1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50" y="2337880"/>
            <a:ext cx="8839201" cy="3431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bc5be4be36_1_9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g3bc5be4be36_1_95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4" name="Google Shape;844;g3bc5be4be36_1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g3bc5be4be36_1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g3bc5be4be36_1_95"/>
          <p:cNvSpPr/>
          <p:nvPr/>
        </p:nvSpPr>
        <p:spPr>
          <a:xfrm>
            <a:off x="666250" y="1618200"/>
            <a:ext cx="7806900" cy="38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Encapsulation protects the data from corruption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an interface to each object in such a way as to reveal as little as possible about inner workings.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protection mechanism by using access specifiers such as public, protected and private.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are abstracted when they are shielded or hided by a full set of methods and only those methods can access the data portion of an object. E.g., A car engine.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847" name="Google Shape;847;g3bc5be4be36_1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48" name="Google Shape;848;g3bc5be4be36_1_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g3bc5be4be36_1_95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b55cd37522_1_13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g3b55cd37522_1_135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g3b55cd37522_1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g3b55cd37522_1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g3b55cd37522_1_135"/>
          <p:cNvSpPr/>
          <p:nvPr/>
        </p:nvSpPr>
        <p:spPr>
          <a:xfrm>
            <a:off x="1105375" y="4583700"/>
            <a:ext cx="7123500" cy="102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hiding is the principle of hiding internal data and procedures of an object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860" name="Google Shape;860;g3b55cd37522_1_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61" name="Google Shape;861;g3b55cd37522_1_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b55cd37522_1_135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3" name="Google Shape;863;g3b55cd37522_1_1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3050" y="1660607"/>
            <a:ext cx="5324225" cy="2683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b55cd37522_1_14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g3b55cd37522_1_149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1" name="Google Shape;871;g3b55cd37522_1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g3b55cd37522_1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g3b55cd37522_1_149"/>
          <p:cNvSpPr/>
          <p:nvPr/>
        </p:nvSpPr>
        <p:spPr>
          <a:xfrm>
            <a:off x="666250" y="1618200"/>
            <a:ext cx="7806900" cy="38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Encapsulation protects the data from corruption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an interface to each object in such a way as to reveal as little as possible about inner workings.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protection mechanism by using access specifiers such as public, protected and private.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are abstracted when they are shielded or hided by a full set of methods and only those methods can access the data portion of an object. E.g., A car engine.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874" name="Google Shape;874;g3b55cd37522_1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75" name="Google Shape;875;g3b55cd37522_1_1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g3b55cd37522_1_149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b55cd37522_1_1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g3b55cd37522_1_162"/>
          <p:cNvSpPr/>
          <p:nvPr/>
        </p:nvSpPr>
        <p:spPr>
          <a:xfrm>
            <a:off x="8505000" y="6426720"/>
            <a:ext cx="102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4" name="Google Shape;884;g3b55cd37522_1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g3b55cd37522_1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86" name="Google Shape;886;g3b55cd37522_1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20" y="62082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87" name="Google Shape;887;g3b55cd37522_1_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8880" y="620820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3b55cd37522_1_162"/>
          <p:cNvSpPr/>
          <p:nvPr/>
        </p:nvSpPr>
        <p:spPr>
          <a:xfrm>
            <a:off x="478675" y="541355"/>
            <a:ext cx="8152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 Encapsulation and information hiding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b55cd37522_1_162"/>
          <p:cNvSpPr txBox="1"/>
          <p:nvPr/>
        </p:nvSpPr>
        <p:spPr>
          <a:xfrm>
            <a:off x="329200" y="1408175"/>
            <a:ext cx="4450200" cy="138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Account {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double balance;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g3b55cd37522_1_1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9400" y="3035562"/>
            <a:ext cx="69532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