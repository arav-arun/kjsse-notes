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0" r:id="rId6"/>
    <p:sldMasterId id="2147483652" r:id="rId7"/>
    <p:sldMasterId id="2147483661" r:id="rId8"/>
    <p:sldMasterId id="2147483663" r:id="rId9"/>
  </p:sldMasterIdLst>
  <p:notesMasterIdLst>
    <p:notesMasterId r:id="rId10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289" r:id="rId44"/>
    <p:sldId id="290" r:id="rId45"/>
    <p:sldId id="291" r:id="rId46"/>
    <p:sldId id="292" r:id="rId47"/>
    <p:sldId id="293" r:id="rId48"/>
    <p:sldId id="294" r:id="rId49"/>
    <p:sldId id="295" r:id="rId50"/>
    <p:sldId id="296" r:id="rId51"/>
    <p:sldId id="297" r:id="rId52"/>
    <p:sldId id="298" r:id="rId53"/>
    <p:sldId id="299" r:id="rId54"/>
    <p:sldId id="300" r:id="rId55"/>
    <p:sldId id="301" r:id="rId56"/>
    <p:sldId id="302" r:id="rId57"/>
    <p:sldId id="303" r:id="rId58"/>
    <p:sldId id="304" r:id="rId59"/>
    <p:sldId id="305" r:id="rId60"/>
    <p:sldId id="306" r:id="rId61"/>
    <p:sldId id="307" r:id="rId62"/>
    <p:sldId id="308" r:id="rId63"/>
    <p:sldId id="309" r:id="rId64"/>
  </p:sldIdLst>
  <p:sldSz cy="6858000" cx="9144000"/>
  <p:notesSz cx="6858000" cy="9144000"/>
  <p:embeddedFontLst>
    <p:embeddedFont>
      <p:font typeface="Constantia"/>
      <p:regular r:id="rId65"/>
      <p:bold r:id="rId66"/>
      <p:italic r:id="rId67"/>
      <p:boldItalic r:id="rId6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69" roundtripDataSignature="AMtx7mhcWEVWTD0HBNAwl7LINaATEeqR7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D4421E2-BF98-4B76-A99F-B9076B9018CC}">
  <a:tblStyle styleId="{3D4421E2-BF98-4B76-A99F-B9076B9018C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0.xml"/><Relationship Id="rId42" Type="http://schemas.openxmlformats.org/officeDocument/2006/relationships/slide" Target="slides/slide32.xml"/><Relationship Id="rId41" Type="http://schemas.openxmlformats.org/officeDocument/2006/relationships/slide" Target="slides/slide31.xml"/><Relationship Id="rId44" Type="http://schemas.openxmlformats.org/officeDocument/2006/relationships/slide" Target="slides/slide34.xml"/><Relationship Id="rId43" Type="http://schemas.openxmlformats.org/officeDocument/2006/relationships/slide" Target="slides/slide33.xml"/><Relationship Id="rId46" Type="http://schemas.openxmlformats.org/officeDocument/2006/relationships/slide" Target="slides/slide36.xml"/><Relationship Id="rId45" Type="http://schemas.openxmlformats.org/officeDocument/2006/relationships/slide" Target="slides/slide35.xml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Master" Target="slideMasters/slideMaster5.xml"/><Relationship Id="rId48" Type="http://schemas.openxmlformats.org/officeDocument/2006/relationships/slide" Target="slides/slide38.xml"/><Relationship Id="rId47" Type="http://schemas.openxmlformats.org/officeDocument/2006/relationships/slide" Target="slides/slide37.xml"/><Relationship Id="rId49" Type="http://schemas.openxmlformats.org/officeDocument/2006/relationships/slide" Target="slides/slide3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31" Type="http://schemas.openxmlformats.org/officeDocument/2006/relationships/slide" Target="slides/slide21.xml"/><Relationship Id="rId30" Type="http://schemas.openxmlformats.org/officeDocument/2006/relationships/slide" Target="slides/slide20.xml"/><Relationship Id="rId33" Type="http://schemas.openxmlformats.org/officeDocument/2006/relationships/slide" Target="slides/slide23.xml"/><Relationship Id="rId32" Type="http://schemas.openxmlformats.org/officeDocument/2006/relationships/slide" Target="slides/slide22.xml"/><Relationship Id="rId35" Type="http://schemas.openxmlformats.org/officeDocument/2006/relationships/slide" Target="slides/slide25.xml"/><Relationship Id="rId34" Type="http://schemas.openxmlformats.org/officeDocument/2006/relationships/slide" Target="slides/slide24.xml"/><Relationship Id="rId37" Type="http://schemas.openxmlformats.org/officeDocument/2006/relationships/slide" Target="slides/slide27.xml"/><Relationship Id="rId36" Type="http://schemas.openxmlformats.org/officeDocument/2006/relationships/slide" Target="slides/slide26.xml"/><Relationship Id="rId39" Type="http://schemas.openxmlformats.org/officeDocument/2006/relationships/slide" Target="slides/slide29.xml"/><Relationship Id="rId38" Type="http://schemas.openxmlformats.org/officeDocument/2006/relationships/slide" Target="slides/slide28.xml"/><Relationship Id="rId62" Type="http://schemas.openxmlformats.org/officeDocument/2006/relationships/slide" Target="slides/slide52.xml"/><Relationship Id="rId61" Type="http://schemas.openxmlformats.org/officeDocument/2006/relationships/slide" Target="slides/slide51.xml"/><Relationship Id="rId20" Type="http://schemas.openxmlformats.org/officeDocument/2006/relationships/slide" Target="slides/slide10.xml"/><Relationship Id="rId64" Type="http://schemas.openxmlformats.org/officeDocument/2006/relationships/slide" Target="slides/slide54.xml"/><Relationship Id="rId63" Type="http://schemas.openxmlformats.org/officeDocument/2006/relationships/slide" Target="slides/slide53.xml"/><Relationship Id="rId22" Type="http://schemas.openxmlformats.org/officeDocument/2006/relationships/slide" Target="slides/slide12.xml"/><Relationship Id="rId66" Type="http://schemas.openxmlformats.org/officeDocument/2006/relationships/font" Target="fonts/Constantia-bold.fntdata"/><Relationship Id="rId21" Type="http://schemas.openxmlformats.org/officeDocument/2006/relationships/slide" Target="slides/slide11.xml"/><Relationship Id="rId65" Type="http://schemas.openxmlformats.org/officeDocument/2006/relationships/font" Target="fonts/Constantia-regular.fntdata"/><Relationship Id="rId24" Type="http://schemas.openxmlformats.org/officeDocument/2006/relationships/slide" Target="slides/slide14.xml"/><Relationship Id="rId68" Type="http://schemas.openxmlformats.org/officeDocument/2006/relationships/font" Target="fonts/Constantia-boldItalic.fntdata"/><Relationship Id="rId23" Type="http://schemas.openxmlformats.org/officeDocument/2006/relationships/slide" Target="slides/slide13.xml"/><Relationship Id="rId67" Type="http://schemas.openxmlformats.org/officeDocument/2006/relationships/font" Target="fonts/Constantia-italic.fntdata"/><Relationship Id="rId60" Type="http://schemas.openxmlformats.org/officeDocument/2006/relationships/slide" Target="slides/slide50.xml"/><Relationship Id="rId26" Type="http://schemas.openxmlformats.org/officeDocument/2006/relationships/slide" Target="slides/slide16.xml"/><Relationship Id="rId25" Type="http://schemas.openxmlformats.org/officeDocument/2006/relationships/slide" Target="slides/slide15.xml"/><Relationship Id="rId69" Type="http://customschemas.google.com/relationships/presentationmetadata" Target="metadata"/><Relationship Id="rId28" Type="http://schemas.openxmlformats.org/officeDocument/2006/relationships/slide" Target="slides/slide18.xml"/><Relationship Id="rId27" Type="http://schemas.openxmlformats.org/officeDocument/2006/relationships/slide" Target="slides/slide17.xml"/><Relationship Id="rId29" Type="http://schemas.openxmlformats.org/officeDocument/2006/relationships/slide" Target="slides/slide19.xml"/><Relationship Id="rId51" Type="http://schemas.openxmlformats.org/officeDocument/2006/relationships/slide" Target="slides/slide41.xml"/><Relationship Id="rId50" Type="http://schemas.openxmlformats.org/officeDocument/2006/relationships/slide" Target="slides/slide40.xml"/><Relationship Id="rId53" Type="http://schemas.openxmlformats.org/officeDocument/2006/relationships/slide" Target="slides/slide43.xml"/><Relationship Id="rId52" Type="http://schemas.openxmlformats.org/officeDocument/2006/relationships/slide" Target="slides/slide42.xml"/><Relationship Id="rId11" Type="http://schemas.openxmlformats.org/officeDocument/2006/relationships/slide" Target="slides/slide1.xml"/><Relationship Id="rId55" Type="http://schemas.openxmlformats.org/officeDocument/2006/relationships/slide" Target="slides/slide45.xml"/><Relationship Id="rId10" Type="http://schemas.openxmlformats.org/officeDocument/2006/relationships/notesMaster" Target="notesMasters/notesMaster1.xml"/><Relationship Id="rId54" Type="http://schemas.openxmlformats.org/officeDocument/2006/relationships/slide" Target="slides/slide44.xml"/><Relationship Id="rId13" Type="http://schemas.openxmlformats.org/officeDocument/2006/relationships/slide" Target="slides/slide3.xml"/><Relationship Id="rId57" Type="http://schemas.openxmlformats.org/officeDocument/2006/relationships/slide" Target="slides/slide47.xml"/><Relationship Id="rId12" Type="http://schemas.openxmlformats.org/officeDocument/2006/relationships/slide" Target="slides/slide2.xml"/><Relationship Id="rId56" Type="http://schemas.openxmlformats.org/officeDocument/2006/relationships/slide" Target="slides/slide46.xml"/><Relationship Id="rId15" Type="http://schemas.openxmlformats.org/officeDocument/2006/relationships/slide" Target="slides/slide5.xml"/><Relationship Id="rId59" Type="http://schemas.openxmlformats.org/officeDocument/2006/relationships/slide" Target="slides/slide49.xml"/><Relationship Id="rId14" Type="http://schemas.openxmlformats.org/officeDocument/2006/relationships/slide" Target="slides/slide4.xml"/><Relationship Id="rId58" Type="http://schemas.openxmlformats.org/officeDocument/2006/relationships/slide" Target="slides/slide48.xml"/><Relationship Id="rId17" Type="http://schemas.openxmlformats.org/officeDocument/2006/relationships/slide" Target="slides/slide7.xml"/><Relationship Id="rId16" Type="http://schemas.openxmlformats.org/officeDocument/2006/relationships/slide" Target="slides/slide6.xml"/><Relationship Id="rId19" Type="http://schemas.openxmlformats.org/officeDocument/2006/relationships/slide" Target="slides/slide9.xml"/><Relationship Id="rId18" Type="http://schemas.openxmlformats.org/officeDocument/2006/relationships/slide" Target="slides/slide8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56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5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 cap="none" strike="noStrik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 cap="none" strike="noStrik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 cap="none" strike="noStrik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 cap="none" strike="noStrik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 cap="none" strike="noStrik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 cap="none" strike="noStrik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 cap="none" strike="noStrik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 cap="none" strike="noStrik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 cap="none" strike="noStrik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 type="tbl">
  <p:cSld name="TABLE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1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6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3" name="Google Shape;53;p6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6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6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0" name="Google Shape;60;p6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6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6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6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6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6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0" name="Google Shape;70;p6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71" name="Google Shape;71;p6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2" name="Google Shape;72;p6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73" name="Google Shape;73;p6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6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6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9" name="Google Shape;79;p6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0" name="Google Shape;80;p6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6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6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6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6" name="Google Shape;86;p6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6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6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6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9" name="Google Shape;99;p6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6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6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7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7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7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5.jp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4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5.jpg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5.jpg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0" Type="http://schemas.openxmlformats.org/officeDocument/2006/relationships/theme" Target="../theme/theme6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image" Target="../media/image5.jpg"/><Relationship Id="rId2" Type="http://schemas.openxmlformats.org/officeDocument/2006/relationships/slideLayout" Target="../slideLayouts/slideLayout11.xml"/><Relationship Id="rId3" Type="http://schemas.openxmlformats.org/officeDocument/2006/relationships/theme" Target="../theme/theme5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image" Target="../media/image5.jpg"/><Relationship Id="rId2" Type="http://schemas.openxmlformats.org/officeDocument/2006/relationships/slideLayout" Target="../slideLayouts/slideLayout12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/>
          <p:nvPr/>
        </p:nvSpPr>
        <p:spPr>
          <a:xfrm>
            <a:off x="2133600" y="6442075"/>
            <a:ext cx="5410200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tantia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© Oxford University Press 2013. All rights reserved.</a:t>
            </a:r>
            <a:endParaRPr/>
          </a:p>
        </p:txBody>
      </p:sp>
      <p:sp>
        <p:nvSpPr>
          <p:cNvPr id="11" name="Google Shape;11;p5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5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5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14" name="Google Shape;14;p5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15" name="Google Shape;15;p5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 cap="none" strike="noStrik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 cap="none" strike="noStrik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 cap="none" strike="noStrik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 cap="none" strike="noStrik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 cap="none" strike="noStrik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 cap="none" strike="noStrik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 cap="none" strike="noStrik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 cap="none" strike="noStrik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 cap="none" strike="noStrik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5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5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26" name="Google Shape;26;p5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59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5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35" name="Google Shape;35;p5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36" name="Google Shape;36;p5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8"/>
          <p:cNvSpPr txBox="1"/>
          <p:nvPr/>
        </p:nvSpPr>
        <p:spPr>
          <a:xfrm>
            <a:off x="2362200" y="6488112"/>
            <a:ext cx="54102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tantia"/>
              <a:buNone/>
            </a:pPr>
            <a:r>
              <a:rPr b="0" i="0" lang="en-US" sz="1600" u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© Oxford University Press 2013. All rights reserved.</a:t>
            </a:r>
            <a:endParaRPr/>
          </a:p>
        </p:txBody>
      </p:sp>
      <p:sp>
        <p:nvSpPr>
          <p:cNvPr id="91" name="Google Shape;91;p6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2" name="Google Shape;92;p6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" name="Google Shape;93;p6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94" name="Google Shape;94;p6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95" name="Google Shape;95;p6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0"/>
          <p:cNvSpPr txBox="1"/>
          <p:nvPr/>
        </p:nvSpPr>
        <p:spPr>
          <a:xfrm>
            <a:off x="1981200" y="6488112"/>
            <a:ext cx="5257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tantia"/>
              <a:buNone/>
            </a:pPr>
            <a:r>
              <a:rPr b="0" i="0" lang="en-US" sz="1600" u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© Oxford University Press 2013. All rights reserved.</a:t>
            </a:r>
            <a:endParaRPr/>
          </a:p>
        </p:txBody>
      </p:sp>
      <p:sp>
        <p:nvSpPr>
          <p:cNvPr id="104" name="Google Shape;104;p7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5" name="Google Shape;105;p70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6" name="Google Shape;106;p7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107" name="Google Shape;107;p7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108" name="Google Shape;108;p7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onstantia"/>
              <a:buNone/>
              <a:defRPr b="0" i="0" sz="1200" u="none">
                <a:solidFill>
                  <a:srgbClr val="898989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.png"/><Relationship Id="rId4" Type="http://schemas.openxmlformats.org/officeDocument/2006/relationships/image" Target="../media/image2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4.png"/><Relationship Id="rId4" Type="http://schemas.openxmlformats.org/officeDocument/2006/relationships/image" Target="../media/image1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6.png"/><Relationship Id="rId4" Type="http://schemas.openxmlformats.org/officeDocument/2006/relationships/image" Target="../media/image3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9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4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8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3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2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5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6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"/>
          <p:cNvSpPr txBox="1"/>
          <p:nvPr>
            <p:ph type="title"/>
          </p:nvPr>
        </p:nvSpPr>
        <p:spPr>
          <a:xfrm>
            <a:off x="381000" y="12192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53F"/>
              </a:buClr>
              <a:buSzPts val="6000"/>
              <a:buFont typeface="Calibri"/>
              <a:buNone/>
            </a:pPr>
            <a:r>
              <a:rPr b="1" i="0" lang="en-US" sz="6000" u="none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rPr>
              <a:t>Chapter 1</a:t>
            </a:r>
            <a:endParaRPr/>
          </a:p>
        </p:txBody>
      </p:sp>
      <p:sp>
        <p:nvSpPr>
          <p:cNvPr id="119" name="Google Shape;119;p1"/>
          <p:cNvSpPr txBox="1"/>
          <p:nvPr/>
        </p:nvSpPr>
        <p:spPr>
          <a:xfrm>
            <a:off x="533400" y="2971800"/>
            <a:ext cx="82296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53F"/>
              </a:buClr>
              <a:buSzPts val="6000"/>
              <a:buFont typeface="Calibri"/>
              <a:buNone/>
            </a:pPr>
            <a:r>
              <a:rPr b="1" i="0" lang="en-US" sz="6000" u="none" cap="none" strike="noStrike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rPr>
              <a:t>Introduction to OOP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 what is Object Oriented programming?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 the principles of OOP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is OOP different from Procedural languages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Problems in Procedural programming and how OOP overcomes them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Applications of OOP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 UML notations </a:t>
            </a:r>
            <a:endParaRPr/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nstantia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Objective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 cap="flat" cmpd="sng" w="9525">
            <a:solidFill>
              <a:schemeClr val="dk1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nstantia"/>
              <a:buNone/>
            </a:pPr>
            <a:r>
              <a:rPr b="0" i="0" lang="en-US" sz="4400" u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Procedural Languages</a:t>
            </a:r>
            <a:endParaRPr/>
          </a:p>
        </p:txBody>
      </p:sp>
      <p:sp>
        <p:nvSpPr>
          <p:cNvPr id="131" name="Google Shape;131;p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C, PASCAL, FORTRAN languages are all procedural languages. 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program is a list of instructions. 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Complexity increases as the length of a program increases . 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Divide a large program into different functions or modules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Problems with Procedural languages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functions have unrestricted access to global data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they provide poor mapping to real world.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Procedural languages are not extensible.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 cap="flat" cmpd="sng" w="9525">
            <a:solidFill>
              <a:schemeClr val="dk1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nstantia"/>
              <a:buNone/>
            </a:pPr>
            <a:r>
              <a:rPr b="0" i="0" lang="en-US" sz="4400" u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Introduction to OOP</a:t>
            </a:r>
            <a:endParaRPr/>
          </a:p>
        </p:txBody>
      </p:sp>
      <p:sp>
        <p:nvSpPr>
          <p:cNvPr id="137" name="Google Shape;137;p4"/>
          <p:cNvSpPr txBox="1"/>
          <p:nvPr>
            <p:ph idx="1" type="body"/>
          </p:nvPr>
        </p:nvSpPr>
        <p:spPr>
          <a:xfrm>
            <a:off x="457200" y="1371600"/>
            <a:ext cx="8229600" cy="4754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programming paradigm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deals with concepts of object to build programs and software applications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Modeled around real world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world we live in is full of objects.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 object has a well defined identity, attributes and behavior.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Objects exhibit the same behavior in programming.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 cap="flat" cmpd="sng" w="9525">
            <a:solidFill>
              <a:schemeClr val="dk1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nstantia"/>
              <a:buNone/>
            </a:pPr>
            <a:r>
              <a:rPr b="0" i="0" lang="en-US" sz="4400" u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OOP Principles</a:t>
            </a:r>
            <a:endParaRPr/>
          </a:p>
        </p:txBody>
      </p:sp>
      <p:sp>
        <p:nvSpPr>
          <p:cNvPr id="143" name="Google Shape;143;p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Abstraction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Encapsulation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Inheritance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Polymorphism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 cap="flat" cmpd="sng" w="9525">
            <a:solidFill>
              <a:schemeClr val="dk1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nstantia"/>
              <a:buNone/>
            </a:pPr>
            <a:r>
              <a:rPr b="0" i="0" lang="en-US" sz="4400" u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Class</a:t>
            </a:r>
            <a:endParaRPr/>
          </a:p>
        </p:txBody>
      </p:sp>
      <p:sp>
        <p:nvSpPr>
          <p:cNvPr id="149" name="Google Shape;149;p6"/>
          <p:cNvSpPr txBox="1"/>
          <p:nvPr>
            <p:ph idx="1" type="body"/>
          </p:nvPr>
        </p:nvSpPr>
        <p:spPr>
          <a:xfrm>
            <a:off x="457200" y="15240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blueprint for an object, a plan, or template</a:t>
            </a:r>
            <a:endParaRPr/>
          </a:p>
          <a:p>
            <a:pPr indent="-342900" lvl="0" marL="342900" marR="0" rtl="0" algn="just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Description of a number of similar objects is also called class. </a:t>
            </a:r>
            <a:endParaRPr/>
          </a:p>
          <a:p>
            <a:pPr indent="-342900" lvl="0" marL="342900" marR="0" rtl="0" algn="just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class is also defined as a new data type; a user defined type. </a:t>
            </a:r>
            <a:endParaRPr/>
          </a:p>
          <a:p>
            <a:pPr indent="-342900" lvl="0" marL="342900" marR="0" rtl="0" algn="just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Defining a class doesn’t create an object.</a:t>
            </a:r>
            <a:endParaRPr/>
          </a:p>
          <a:p>
            <a:pPr indent="-342900" lvl="0" marL="342900" marR="0" rtl="0" algn="just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Classes are logical in nature. </a:t>
            </a:r>
            <a:endParaRPr/>
          </a:p>
          <a:p>
            <a:pPr indent="-342900" lvl="0" marL="342900" marR="0" rtl="0" algn="just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e.g. Furniture do not have any existence but tables and chairs do exist.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 cap="flat" cmpd="sng" w="9525">
            <a:solidFill>
              <a:schemeClr val="dk1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nstantia"/>
              <a:buNone/>
            </a:pPr>
            <a:r>
              <a:rPr b="0" i="0" lang="en-US" sz="4400" u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Object</a:t>
            </a:r>
            <a:endParaRPr/>
          </a:p>
        </p:txBody>
      </p:sp>
      <p:sp>
        <p:nvSpPr>
          <p:cNvPr id="155" name="Google Shape;155;p7"/>
          <p:cNvSpPr txBox="1"/>
          <p:nvPr>
            <p:ph idx="1" type="body"/>
          </p:nvPr>
        </p:nvSpPr>
        <p:spPr>
          <a:xfrm>
            <a:off x="457200" y="1295400"/>
            <a:ext cx="82296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Defined as instance of a class. for e.g. table, chair are all instances of the class Furniture. 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Objects have unique identity, state and behavior 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 is defined by the attributes of the object.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Different objects have different attributes ( characteristics) </a:t>
            </a:r>
            <a:endParaRPr/>
          </a:p>
          <a:p>
            <a:pPr indent="-285750" lvl="1" marL="742950" marR="0" rtl="0" algn="just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e.g. the attributes of student are name, roll number etc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Behavior actually determines the way an object interacts with other objects. </a:t>
            </a:r>
            <a:endParaRPr/>
          </a:p>
          <a:p>
            <a:pPr indent="-285750" lvl="1" marL="742950" marR="0" rtl="0" algn="just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Synonym to functions  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 cap="flat" cmpd="sng" w="9525">
            <a:solidFill>
              <a:schemeClr val="dk1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nstantia"/>
              <a:buNone/>
            </a:pPr>
            <a:r>
              <a:rPr b="0" i="0" lang="en-US" sz="4400" u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Abstraction </a:t>
            </a:r>
            <a:endParaRPr/>
          </a:p>
        </p:txBody>
      </p:sp>
      <p:sp>
        <p:nvSpPr>
          <p:cNvPr id="161" name="Google Shape;161;p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real life, Humans manage complexity by abstracting details away.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programming, we manage complexity by concentrating only on the essential characteristics and suppressing implementation details.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e.g. Car.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 cap="flat" cmpd="sng" w="9525">
            <a:solidFill>
              <a:schemeClr val="dk1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nstantia"/>
              <a:buNone/>
            </a:pPr>
            <a:r>
              <a:rPr b="0" i="0" lang="en-US" sz="4400" u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Inheritance</a:t>
            </a:r>
            <a:endParaRPr/>
          </a:p>
        </p:txBody>
      </p:sp>
      <p:sp>
        <p:nvSpPr>
          <p:cNvPr id="167" name="Google Shape;167;p9"/>
          <p:cNvSpPr txBox="1"/>
          <p:nvPr>
            <p:ph idx="1" type="body"/>
          </p:nvPr>
        </p:nvSpPr>
        <p:spPr>
          <a:xfrm>
            <a:off x="457200" y="1371600"/>
            <a:ext cx="8229600" cy="4754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Way to adopt characteristics of a class into another class.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have two types of classes one is base class and other is subclass. 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parent-child relationship among classes in inheritance.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subclass inherits all the properties of base class. In addition to this it can add its own features (properties and behavior). 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e.g. we can categorize vehicle into car, bus, scooter, ships, planes etc.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 cap="flat" cmpd="sng" w="9525">
            <a:solidFill>
              <a:schemeClr val="dk1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nstantia"/>
              <a:buNone/>
            </a:pPr>
            <a:r>
              <a:rPr b="0" i="0" lang="en-US" sz="4400" u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Inheritance</a:t>
            </a:r>
            <a:endParaRPr/>
          </a:p>
        </p:txBody>
      </p:sp>
      <p:pic>
        <p:nvPicPr>
          <p:cNvPr id="173" name="Google Shape;173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522412"/>
            <a:ext cx="8229600" cy="3811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 cap="flat" cmpd="sng" w="9525">
            <a:solidFill>
              <a:schemeClr val="dk1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nstantia"/>
              <a:buNone/>
            </a:pPr>
            <a:r>
              <a:rPr b="0" i="0" lang="en-US" sz="4400" u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Encapsulation</a:t>
            </a:r>
            <a:endParaRPr/>
          </a:p>
        </p:txBody>
      </p:sp>
      <p:sp>
        <p:nvSpPr>
          <p:cNvPr id="179" name="Google Shape;179;p1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Binding of data and procedure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Restrict any one to directly alter our data.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Also known as Data hiding. </a:t>
            </a:r>
            <a:endParaRPr/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 cap="flat" cmpd="sng" w="9525">
            <a:solidFill>
              <a:schemeClr val="dk1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nstantia"/>
              <a:buNone/>
            </a:pPr>
            <a:r>
              <a:rPr b="0" i="0" lang="en-US" sz="4400" u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Encapsulation</a:t>
            </a:r>
            <a:endParaRPr/>
          </a:p>
        </p:txBody>
      </p:sp>
      <p:pic>
        <p:nvPicPr>
          <p:cNvPr id="185" name="Google Shape;185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4275" y="1600200"/>
            <a:ext cx="6775450" cy="4525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3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 cap="flat" cmpd="sng" w="9525">
            <a:solidFill>
              <a:schemeClr val="dk1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nstantia"/>
              <a:buNone/>
            </a:pPr>
            <a:r>
              <a:rPr b="0" i="0" lang="en-US" sz="4400" u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Polymorphism</a:t>
            </a:r>
            <a:endParaRPr/>
          </a:p>
        </p:txBody>
      </p:sp>
      <p:sp>
        <p:nvSpPr>
          <p:cNvPr id="191" name="Google Shape;191;p1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Polymorphism means many forms.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Same thing being used in different forms. For e.g. certain bacteria that exhibit more than one morphological form.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Operating overloading is not supported by java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addition operator (</a:t>
            </a:r>
            <a:r>
              <a:rPr b="1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is an exception can be used for addition of two integers as well as concatenation of two strings.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Compile-time and Run-time polymorphism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4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 cap="flat" cmpd="sng" w="9525">
            <a:solidFill>
              <a:schemeClr val="dk1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nstantia"/>
              <a:buNone/>
            </a:pPr>
            <a:r>
              <a:rPr b="0" i="0" lang="en-US" sz="4400" u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Your Turn</a:t>
            </a:r>
            <a:endParaRPr/>
          </a:p>
        </p:txBody>
      </p:sp>
      <p:sp>
        <p:nvSpPr>
          <p:cNvPr id="197" name="Google Shape;197;p1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a class?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an object?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are the various Object Oriented Principles?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Features of Java Programming</a:t>
            </a:r>
            <a:endParaRPr/>
          </a:p>
        </p:txBody>
      </p:sp>
      <p:sp>
        <p:nvSpPr>
          <p:cNvPr id="203" name="Google Shape;203;p15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pic>
        <p:nvPicPr>
          <p:cNvPr id="204" name="Google Shape;204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2362200"/>
            <a:ext cx="8685212" cy="294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6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 cap="flat" cmpd="sng" w="9525">
            <a:solidFill>
              <a:schemeClr val="dk1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stantia"/>
              <a:buNone/>
            </a:pPr>
            <a:r>
              <a:rPr b="0" i="0" lang="en-US" sz="3200" u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Comparison of OO and Procedural Languages</a:t>
            </a:r>
            <a:endParaRPr/>
          </a:p>
        </p:txBody>
      </p:sp>
      <p:graphicFrame>
        <p:nvGraphicFramePr>
          <p:cNvPr id="210" name="Google Shape;210;p16"/>
          <p:cNvGraphicFramePr/>
          <p:nvPr/>
        </p:nvGraphicFramePr>
        <p:xfrm>
          <a:off x="152400" y="114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{3D4421E2-BF98-4B76-A99F-B9076B9018CC}</a:tableStyleId>
              </a:tblPr>
              <a:tblGrid>
                <a:gridCol w="4419600"/>
                <a:gridCol w="4419600"/>
              </a:tblGrid>
              <a:tr h="330200"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Procedural language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Object Oriented language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C0C0"/>
                    </a:solidFill>
                  </a:tcPr>
                </a:tc>
              </a:tr>
              <a:tr h="493700"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urier New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Separate data from function that operate on them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urier New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Encapsulate data and methods in a class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4325"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urier New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Not suitable for defining abstract types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urier New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Suitable for defining abstract types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6850"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urier New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Debugging is difficult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urier New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Debugging is easier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2425"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urier New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Difficult to implement change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urier New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Easier to manage and implement change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urier New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Not suitable for larger applications/ programs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urier New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Suitable for larger programs and applications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4625"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urier New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Do not have any access specifier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urier New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Has three access specifier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urier New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Analysis and design not so easy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urier New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Analysis and Design Made Easier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6850"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urier New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Faster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urier New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Slower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6850"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urier New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Less flexible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urier New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Highly flexible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urier New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Data and procedure based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urier New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Object oriented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6850"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urier New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Less reusable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urier New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More reusable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11175"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urier New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Only data and procedures are there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urier New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Inheritance, encapsulation and polymorphism are key features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6850"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urier New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Use top down approach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urier New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Use bottom up approach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4475"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urier New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Only a function call to another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urier New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Object communication is there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6850"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urier New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C, Basic, FORTRAN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urier New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JAVA,C++, VB.NET, C#.NET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 Program in Java</a:t>
            </a:r>
            <a:endParaRPr/>
          </a:p>
        </p:txBody>
      </p:sp>
      <p:sp>
        <p:nvSpPr>
          <p:cNvPr id="216" name="Google Shape;216;p17"/>
          <p:cNvSpPr/>
          <p:nvPr>
            <p:ph idx="2" type="tbl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Google Shape;21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600200"/>
            <a:ext cx="5772150" cy="22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4114800"/>
            <a:ext cx="6457950" cy="224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vs Java</a:t>
            </a:r>
            <a:endParaRPr/>
          </a:p>
        </p:txBody>
      </p:sp>
      <p:pic>
        <p:nvPicPr>
          <p:cNvPr id="224" name="Google Shape;22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273175"/>
            <a:ext cx="8839200" cy="520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execute Java code?</a:t>
            </a:r>
            <a:endParaRPr/>
          </a:p>
        </p:txBody>
      </p:sp>
      <p:sp>
        <p:nvSpPr>
          <p:cNvPr id="230" name="Google Shape;230;p19"/>
          <p:cNvSpPr txBox="1"/>
          <p:nvPr/>
        </p:nvSpPr>
        <p:spPr>
          <a:xfrm>
            <a:off x="381000" y="1447800"/>
            <a:ext cx="8534400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Use any text editor  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Write a code and save file with .java extension 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tantia"/>
              <a:buNone/>
            </a:pPr>
            <a:r>
              <a:rPr b="0" i="0" lang="en-US" sz="2400" u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	Note: Name of file and class name should be same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Java compilation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Open a command shell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Move the directory where Java code has been saved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Run this command: </a:t>
            </a:r>
            <a:r>
              <a:rPr b="1" i="1" lang="en-US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javac name_of_file.java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Java execution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Run this command:   </a:t>
            </a:r>
            <a:r>
              <a:rPr b="1" i="1" lang="en-US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java name_of_file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0" i="0" lang="en-US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Platform dependent or independent? </a:t>
            </a:r>
            <a:endParaRPr/>
          </a:p>
        </p:txBody>
      </p:sp>
      <p:sp>
        <p:nvSpPr>
          <p:cNvPr id="236" name="Google Shape;236;p20"/>
          <p:cNvSpPr/>
          <p:nvPr>
            <p:ph idx="2" type="tbl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7" name="Google Shape;23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600200"/>
            <a:ext cx="9132887" cy="401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Execution of C</a:t>
            </a:r>
            <a:endParaRPr/>
          </a:p>
        </p:txBody>
      </p:sp>
      <p:pic>
        <p:nvPicPr>
          <p:cNvPr id="243" name="Google Shape;24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5000" y="1524000"/>
            <a:ext cx="4867275" cy="513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Execution of Java</a:t>
            </a:r>
            <a:endParaRPr/>
          </a:p>
        </p:txBody>
      </p:sp>
      <p:grpSp>
        <p:nvGrpSpPr>
          <p:cNvPr id="249" name="Google Shape;249;p22"/>
          <p:cNvGrpSpPr/>
          <p:nvPr/>
        </p:nvGrpSpPr>
        <p:grpSpPr>
          <a:xfrm>
            <a:off x="876300" y="1371600"/>
            <a:ext cx="7810500" cy="4606925"/>
            <a:chOff x="533400" y="1945441"/>
            <a:chExt cx="7610475" cy="4350584"/>
          </a:xfrm>
        </p:grpSpPr>
        <p:pic>
          <p:nvPicPr>
            <p:cNvPr id="250" name="Google Shape;250;p22"/>
            <p:cNvPicPr preferRelativeResize="0"/>
            <p:nvPr/>
          </p:nvPicPr>
          <p:blipFill rotWithShape="1">
            <a:blip r:embed="rId3">
              <a:alphaModFix/>
            </a:blip>
            <a:srcRect b="0" l="0" r="0" t="47213"/>
            <a:stretch/>
          </p:blipFill>
          <p:spPr>
            <a:xfrm>
              <a:off x="609600" y="3817257"/>
              <a:ext cx="7534275" cy="2478768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</p:pic>
        <p:pic>
          <p:nvPicPr>
            <p:cNvPr id="251" name="Google Shape;251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33400" y="1945441"/>
              <a:ext cx="7381875" cy="1857755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25" y="1828800"/>
            <a:ext cx="9121775" cy="3157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C++ vs Java</a:t>
            </a:r>
            <a:endParaRPr/>
          </a:p>
        </p:txBody>
      </p:sp>
      <p:sp>
        <p:nvSpPr>
          <p:cNvPr id="262" name="Google Shape;262;p24"/>
          <p:cNvSpPr/>
          <p:nvPr>
            <p:ph idx="2" type="tbl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3" name="Google Shape;26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5425" y="1524000"/>
            <a:ext cx="8951912" cy="469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Tools available for Java</a:t>
            </a:r>
            <a:endParaRPr/>
          </a:p>
        </p:txBody>
      </p:sp>
      <p:sp>
        <p:nvSpPr>
          <p:cNvPr id="269" name="Google Shape;269;p2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Java SDK / JDK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Programs in Java SDK/JDK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java : interpreter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Javac : complier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Javadoc  : generate documentation in html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appletviewer : java interpreter to execute applet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Jdb : Debugger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Javap : Disassembler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Javah : create interface between C and Java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Website</a:t>
            </a:r>
            <a:endParaRPr/>
          </a:p>
        </p:txBody>
      </p:sp>
      <p:sp>
        <p:nvSpPr>
          <p:cNvPr id="275" name="Google Shape;275;p26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Javapoint.com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Java.com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Java.sun.com/j2se/1.4.2/docs/index.html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Java.sun.com/docs/books/tutorial/index.html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API documentation : Java.sun.com/reference/docs/</a:t>
            </a:r>
            <a:endParaRPr/>
          </a:p>
        </p:txBody>
      </p:sp>
      <p:sp>
        <p:nvSpPr>
          <p:cNvPr id="276" name="Google Shape;276;p26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Packages in Java</a:t>
            </a:r>
            <a:endParaRPr/>
          </a:p>
        </p:txBody>
      </p:sp>
      <p:sp>
        <p:nvSpPr>
          <p:cNvPr id="282" name="Google Shape;282;p27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pic>
        <p:nvPicPr>
          <p:cNvPr id="283" name="Google Shape;28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057400"/>
            <a:ext cx="9191625" cy="3665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Packages in Java</a:t>
            </a: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pic>
        <p:nvPicPr>
          <p:cNvPr id="290" name="Google Shape;290;p28"/>
          <p:cNvPicPr preferRelativeResize="0"/>
          <p:nvPr/>
        </p:nvPicPr>
        <p:blipFill rotWithShape="1">
          <a:blip r:embed="rId3">
            <a:alphaModFix/>
          </a:blip>
          <a:srcRect b="13081" l="3118" r="3523" t="0"/>
          <a:stretch/>
        </p:blipFill>
        <p:spPr>
          <a:xfrm>
            <a:off x="0" y="1676400"/>
            <a:ext cx="9144000" cy="3979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Java IDE</a:t>
            </a:r>
            <a:endParaRPr/>
          </a:p>
        </p:txBody>
      </p:sp>
      <p:sp>
        <p:nvSpPr>
          <p:cNvPr id="296" name="Google Shape;296;p29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Sun’s Java workshop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Mojo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Jumba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Semantic café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HotJava</a:t>
            </a:r>
            <a:endParaRPr/>
          </a:p>
        </p:txBody>
      </p:sp>
      <p:sp>
        <p:nvSpPr>
          <p:cNvPr id="297" name="Google Shape;297;p29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30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pic>
        <p:nvPicPr>
          <p:cNvPr id="304" name="Google Shape;30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2057400"/>
            <a:ext cx="8793162" cy="374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type</a:t>
            </a:r>
            <a:endParaRPr/>
          </a:p>
        </p:txBody>
      </p:sp>
      <p:sp>
        <p:nvSpPr>
          <p:cNvPr id="310" name="Google Shape;310;p3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31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pic>
        <p:nvPicPr>
          <p:cNvPr id="312" name="Google Shape;31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600200"/>
            <a:ext cx="4429125" cy="283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2987" y="3581400"/>
            <a:ext cx="3914775" cy="287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 set</a:t>
            </a:r>
            <a:endParaRPr/>
          </a:p>
        </p:txBody>
      </p:sp>
      <p:sp>
        <p:nvSpPr>
          <p:cNvPr id="319" name="Google Shape;319;p32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2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pic>
        <p:nvPicPr>
          <p:cNvPr id="321" name="Google Shape;32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762" y="1524000"/>
            <a:ext cx="8372475" cy="465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3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3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pic>
        <p:nvPicPr>
          <p:cNvPr id="329" name="Google Shape;329;p33"/>
          <p:cNvPicPr preferRelativeResize="0"/>
          <p:nvPr/>
        </p:nvPicPr>
        <p:blipFill rotWithShape="1">
          <a:blip r:embed="rId3">
            <a:alphaModFix/>
          </a:blip>
          <a:srcRect b="0" l="6455" r="0" t="0"/>
          <a:stretch/>
        </p:blipFill>
        <p:spPr>
          <a:xfrm>
            <a:off x="0" y="1752600"/>
            <a:ext cx="9183687" cy="236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Array in Java </a:t>
            </a:r>
            <a:endParaRPr/>
          </a:p>
        </p:txBody>
      </p:sp>
      <p:sp>
        <p:nvSpPr>
          <p:cNvPr id="335" name="Google Shape;335;p3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Task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Declaration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Allocation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Loading</a:t>
            </a:r>
            <a:endParaRPr/>
          </a:p>
        </p:txBody>
      </p:sp>
      <p:sp>
        <p:nvSpPr>
          <p:cNvPr id="336" name="Google Shape;336;p34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pic>
        <p:nvPicPr>
          <p:cNvPr id="337" name="Google Shape;33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65300"/>
            <a:ext cx="9144000" cy="1773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5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pic>
        <p:nvPicPr>
          <p:cNvPr id="345" name="Google Shape;34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1363662"/>
            <a:ext cx="4724400" cy="467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36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pic>
        <p:nvPicPr>
          <p:cNvPr id="352" name="Google Shape;35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8912" y="533400"/>
            <a:ext cx="6400800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1200" y="3429000"/>
            <a:ext cx="7896225" cy="289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3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7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pic>
        <p:nvPicPr>
          <p:cNvPr id="361" name="Google Shape;36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228600"/>
            <a:ext cx="8077200" cy="384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1537" y="4138612"/>
            <a:ext cx="7400925" cy="227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2D array</a:t>
            </a:r>
            <a:endParaRPr/>
          </a:p>
        </p:txBody>
      </p:sp>
      <p:sp>
        <p:nvSpPr>
          <p:cNvPr id="368" name="Google Shape;368;p3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8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pic>
        <p:nvPicPr>
          <p:cNvPr id="370" name="Google Shape;37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112" y="1547812"/>
            <a:ext cx="8867775" cy="376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39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9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pic>
        <p:nvPicPr>
          <p:cNvPr id="378" name="Google Shape;37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7462" y="2057400"/>
            <a:ext cx="9169400" cy="379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 size 2D array</a:t>
            </a:r>
            <a:endParaRPr/>
          </a:p>
        </p:txBody>
      </p:sp>
      <p:sp>
        <p:nvSpPr>
          <p:cNvPr id="384" name="Google Shape;384;p40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40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pic>
        <p:nvPicPr>
          <p:cNvPr id="386" name="Google Shape;38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812" y="1476375"/>
            <a:ext cx="8334375" cy="390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Installation and execution of Java</a:t>
            </a:r>
            <a:endParaRPr/>
          </a:p>
        </p:txBody>
      </p:sp>
      <p:sp>
        <p:nvSpPr>
          <p:cNvPr id="392" name="Google Shape;392;p41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pic>
        <p:nvPicPr>
          <p:cNvPr id="393" name="Google Shape;393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828800"/>
            <a:ext cx="8229600" cy="21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2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 cap="flat" cmpd="sng" w="9525">
            <a:solidFill>
              <a:schemeClr val="dk1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nstantia"/>
              <a:buNone/>
            </a:pPr>
            <a:r>
              <a:rPr b="0" i="0" lang="en-US" sz="4400" u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UML</a:t>
            </a:r>
            <a:endParaRPr/>
          </a:p>
        </p:txBody>
      </p:sp>
      <p:sp>
        <p:nvSpPr>
          <p:cNvPr id="399" name="Google Shape;399;p42"/>
          <p:cNvSpPr txBox="1"/>
          <p:nvPr>
            <p:ph idx="1" type="body"/>
          </p:nvPr>
        </p:nvSpPr>
        <p:spPr>
          <a:xfrm>
            <a:off x="457200" y="1295400"/>
            <a:ext cx="8229600" cy="4830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standard language for OOAD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graphical notation for all entities (class, object e.t.c)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helps in visualising the system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reducing complexity and improving software quality. </a:t>
            </a:r>
            <a:endParaRPr/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3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 cap="flat" cmpd="sng" w="9525">
            <a:solidFill>
              <a:schemeClr val="dk1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nstantia"/>
              <a:buNone/>
            </a:pPr>
            <a:r>
              <a:rPr b="0" i="0" lang="en-US" sz="4400" u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UML Notation For class</a:t>
            </a:r>
            <a:endParaRPr/>
          </a:p>
        </p:txBody>
      </p:sp>
      <p:grpSp>
        <p:nvGrpSpPr>
          <p:cNvPr id="405" name="Google Shape;405;p43"/>
          <p:cNvGrpSpPr/>
          <p:nvPr/>
        </p:nvGrpSpPr>
        <p:grpSpPr>
          <a:xfrm>
            <a:off x="2362200" y="2133600"/>
            <a:ext cx="4343400" cy="2819400"/>
            <a:chOff x="1968" y="2050"/>
            <a:chExt cx="1872" cy="1070"/>
          </a:xfrm>
        </p:grpSpPr>
        <p:grpSp>
          <p:nvGrpSpPr>
            <p:cNvPr id="406" name="Google Shape;406;p43"/>
            <p:cNvGrpSpPr/>
            <p:nvPr/>
          </p:nvGrpSpPr>
          <p:grpSpPr>
            <a:xfrm>
              <a:off x="1968" y="2050"/>
              <a:ext cx="864" cy="1070"/>
              <a:chOff x="4680" y="1464"/>
              <a:chExt cx="2160" cy="2676"/>
            </a:xfrm>
          </p:grpSpPr>
          <p:sp>
            <p:nvSpPr>
              <p:cNvPr id="407" name="Google Shape;407;p43"/>
              <p:cNvSpPr txBox="1"/>
              <p:nvPr/>
            </p:nvSpPr>
            <p:spPr>
              <a:xfrm>
                <a:off x="4680" y="1464"/>
                <a:ext cx="2160" cy="516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1" i="0" lang="en-US" sz="10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Employee</a:t>
                </a:r>
                <a:endParaRPr/>
              </a:p>
            </p:txBody>
          </p:sp>
          <p:sp>
            <p:nvSpPr>
              <p:cNvPr id="408" name="Google Shape;408;p43"/>
              <p:cNvSpPr txBox="1"/>
              <p:nvPr/>
            </p:nvSpPr>
            <p:spPr>
              <a:xfrm>
                <a:off x="4680" y="2004"/>
                <a:ext cx="2160" cy="1236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0" i="0" lang="en-US" sz="10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name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0" i="0" lang="en-US" sz="10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address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0" i="0" lang="en-US" sz="10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designation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0" i="0" lang="en-US" sz="10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salary</a:t>
                </a:r>
                <a:endParaRPr/>
              </a:p>
            </p:txBody>
          </p:sp>
          <p:sp>
            <p:nvSpPr>
              <p:cNvPr id="409" name="Google Shape;409;p43"/>
              <p:cNvSpPr txBox="1"/>
              <p:nvPr/>
            </p:nvSpPr>
            <p:spPr>
              <a:xfrm>
                <a:off x="4680" y="3240"/>
                <a:ext cx="2160" cy="9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0" i="0" lang="en-US" sz="10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addEmployee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0" i="0" lang="en-US" sz="10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deleteEmployee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0" i="0" lang="en-US" sz="10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searchEmployee</a:t>
                </a:r>
                <a:endParaRPr/>
              </a:p>
            </p:txBody>
          </p:sp>
        </p:grpSp>
        <p:cxnSp>
          <p:nvCxnSpPr>
            <p:cNvPr id="410" name="Google Shape;410;p43"/>
            <p:cNvCxnSpPr/>
            <p:nvPr/>
          </p:nvCxnSpPr>
          <p:spPr>
            <a:xfrm rot="10800000">
              <a:off x="2904" y="2184"/>
              <a:ext cx="432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411" name="Google Shape;411;p43"/>
            <p:cNvCxnSpPr/>
            <p:nvPr/>
          </p:nvCxnSpPr>
          <p:spPr>
            <a:xfrm rot="10800000">
              <a:off x="2904" y="2547"/>
              <a:ext cx="432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412" name="Google Shape;412;p43"/>
            <p:cNvCxnSpPr/>
            <p:nvPr/>
          </p:nvCxnSpPr>
          <p:spPr>
            <a:xfrm rot="10800000">
              <a:off x="2904" y="2976"/>
              <a:ext cx="432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413" name="Google Shape;413;p43"/>
            <p:cNvSpPr txBox="1"/>
            <p:nvPr/>
          </p:nvSpPr>
          <p:spPr>
            <a:xfrm>
              <a:off x="3336" y="2112"/>
              <a:ext cx="360" cy="144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Class</a:t>
              </a:r>
              <a:endParaRPr/>
            </a:p>
          </p:txBody>
        </p:sp>
        <p:sp>
          <p:nvSpPr>
            <p:cNvPr id="414" name="Google Shape;414;p43"/>
            <p:cNvSpPr txBox="1"/>
            <p:nvPr/>
          </p:nvSpPr>
          <p:spPr>
            <a:xfrm>
              <a:off x="3336" y="2472"/>
              <a:ext cx="504" cy="144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Attributes</a:t>
              </a:r>
              <a:endParaRPr/>
            </a:p>
          </p:txBody>
        </p:sp>
        <p:sp>
          <p:nvSpPr>
            <p:cNvPr id="415" name="Google Shape;415;p43"/>
            <p:cNvSpPr txBox="1"/>
            <p:nvPr/>
          </p:nvSpPr>
          <p:spPr>
            <a:xfrm>
              <a:off x="3336" y="2904"/>
              <a:ext cx="432" cy="144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Behavior</a:t>
              </a:r>
              <a:endParaRPr/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4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 cap="flat" cmpd="sng" w="9525">
            <a:solidFill>
              <a:schemeClr val="dk1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nstantia"/>
              <a:buNone/>
            </a:pPr>
            <a:r>
              <a:rPr b="0" i="0" lang="en-US" sz="4400" u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UML Notation for Object</a:t>
            </a:r>
            <a:endParaRPr/>
          </a:p>
        </p:txBody>
      </p:sp>
      <p:grpSp>
        <p:nvGrpSpPr>
          <p:cNvPr id="421" name="Google Shape;421;p44"/>
          <p:cNvGrpSpPr/>
          <p:nvPr/>
        </p:nvGrpSpPr>
        <p:grpSpPr>
          <a:xfrm>
            <a:off x="2133600" y="1752600"/>
            <a:ext cx="4648200" cy="3352800"/>
            <a:chOff x="4500" y="10900"/>
            <a:chExt cx="4860" cy="2888"/>
          </a:xfrm>
        </p:grpSpPr>
        <p:cxnSp>
          <p:nvCxnSpPr>
            <p:cNvPr id="422" name="Google Shape;422;p44"/>
            <p:cNvCxnSpPr/>
            <p:nvPr/>
          </p:nvCxnSpPr>
          <p:spPr>
            <a:xfrm rot="10800000">
              <a:off x="6840" y="11269"/>
              <a:ext cx="108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423" name="Google Shape;423;p44"/>
            <p:cNvCxnSpPr/>
            <p:nvPr/>
          </p:nvCxnSpPr>
          <p:spPr>
            <a:xfrm rot="10800000">
              <a:off x="6840" y="12169"/>
              <a:ext cx="108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424" name="Google Shape;424;p44"/>
            <p:cNvSpPr txBox="1"/>
            <p:nvPr/>
          </p:nvSpPr>
          <p:spPr>
            <a:xfrm>
              <a:off x="8100" y="11028"/>
              <a:ext cx="900" cy="36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Object</a:t>
              </a:r>
              <a:endParaRPr/>
            </a:p>
          </p:txBody>
        </p:sp>
        <p:sp>
          <p:nvSpPr>
            <p:cNvPr id="425" name="Google Shape;425;p44"/>
            <p:cNvSpPr txBox="1"/>
            <p:nvPr/>
          </p:nvSpPr>
          <p:spPr>
            <a:xfrm>
              <a:off x="8100" y="11989"/>
              <a:ext cx="1260" cy="36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Attributes</a:t>
              </a:r>
              <a:endParaRPr/>
            </a:p>
          </p:txBody>
        </p:sp>
        <p:grpSp>
          <p:nvGrpSpPr>
            <p:cNvPr id="426" name="Google Shape;426;p44"/>
            <p:cNvGrpSpPr/>
            <p:nvPr/>
          </p:nvGrpSpPr>
          <p:grpSpPr>
            <a:xfrm>
              <a:off x="4500" y="10900"/>
              <a:ext cx="2160" cy="2888"/>
              <a:chOff x="4500" y="6448"/>
              <a:chExt cx="2160" cy="2888"/>
            </a:xfrm>
          </p:grpSpPr>
          <p:sp>
            <p:nvSpPr>
              <p:cNvPr id="427" name="Google Shape;427;p44"/>
              <p:cNvSpPr txBox="1"/>
              <p:nvPr/>
            </p:nvSpPr>
            <p:spPr>
              <a:xfrm>
                <a:off x="4500" y="6448"/>
                <a:ext cx="2160" cy="516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1" i="0" lang="en-US" sz="1000" u="sng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:Employee</a:t>
                </a:r>
                <a:endParaRPr/>
              </a:p>
            </p:txBody>
          </p:sp>
          <p:sp>
            <p:nvSpPr>
              <p:cNvPr id="428" name="Google Shape;428;p44"/>
              <p:cNvSpPr txBox="1"/>
              <p:nvPr/>
            </p:nvSpPr>
            <p:spPr>
              <a:xfrm>
                <a:off x="4500" y="6840"/>
                <a:ext cx="2160" cy="1236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0" i="0" lang="en-US" sz="10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name=peter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0" i="0" lang="en-US" sz="10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address=NY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0" i="0" lang="en-US" sz="10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designation=manager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0" i="0" lang="en-US" sz="10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salary=10000</a:t>
                </a:r>
                <a:endParaRPr/>
              </a:p>
            </p:txBody>
          </p:sp>
          <p:sp>
            <p:nvSpPr>
              <p:cNvPr id="429" name="Google Shape;429;p44"/>
              <p:cNvSpPr txBox="1"/>
              <p:nvPr/>
            </p:nvSpPr>
            <p:spPr>
              <a:xfrm>
                <a:off x="4500" y="8100"/>
                <a:ext cx="2160" cy="1236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0" i="0" lang="en-US" sz="10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addEmployee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0" i="0" lang="en-US" sz="10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deleteEmployee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0" i="0" lang="en-US" sz="10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searchEmployee</a:t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5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Multiplicity</a:t>
            </a:r>
            <a:endParaRPr/>
          </a:p>
        </p:txBody>
      </p:sp>
      <p:sp>
        <p:nvSpPr>
          <p:cNvPr id="435" name="Google Shape;435;p4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instance of a class can be related to any number of instances of other class known as multiplicity of the relation.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One-to-one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One-to-many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Many-to-many</a:t>
            </a:r>
            <a:endParaRPr/>
          </a:p>
          <a:p>
            <a:pPr indent="-1651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45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6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One-to-One relation</a:t>
            </a:r>
            <a:endParaRPr/>
          </a:p>
        </p:txBody>
      </p:sp>
      <p:sp>
        <p:nvSpPr>
          <p:cNvPr id="442" name="Google Shape;442;p46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pic>
        <p:nvPicPr>
          <p:cNvPr id="443" name="Google Shape;443;p4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9687" y="2667000"/>
            <a:ext cx="6310312" cy="16398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7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to Many</a:t>
            </a:r>
            <a:endParaRPr/>
          </a:p>
        </p:txBody>
      </p:sp>
      <p:sp>
        <p:nvSpPr>
          <p:cNvPr id="449" name="Google Shape;449;p47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pic>
        <p:nvPicPr>
          <p:cNvPr id="450" name="Google Shape;450;p4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554287"/>
            <a:ext cx="8001000" cy="164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8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Many-to-many</a:t>
            </a:r>
            <a:endParaRPr/>
          </a:p>
        </p:txBody>
      </p:sp>
      <p:sp>
        <p:nvSpPr>
          <p:cNvPr id="456" name="Google Shape;456;p48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pic>
        <p:nvPicPr>
          <p:cNvPr id="457" name="Google Shape;457;p4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2362200"/>
            <a:ext cx="7250112" cy="1992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9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 cap="flat" cmpd="sng" w="9525">
            <a:solidFill>
              <a:schemeClr val="dk1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nstantia"/>
              <a:buNone/>
            </a:pPr>
            <a:r>
              <a:rPr b="0" i="0" lang="en-US" sz="4400" u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Notation for Inheritance</a:t>
            </a:r>
            <a:endParaRPr/>
          </a:p>
        </p:txBody>
      </p:sp>
      <p:sp>
        <p:nvSpPr>
          <p:cNvPr id="463" name="Google Shape;463;p49"/>
          <p:cNvSpPr txBox="1"/>
          <p:nvPr>
            <p:ph idx="1" type="body"/>
          </p:nvPr>
        </p:nvSpPr>
        <p:spPr>
          <a:xfrm>
            <a:off x="381000" y="5181600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Triangle and square are two type of shape.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They inherit Shape class.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4" name="Google Shape;464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0" y="1752600"/>
            <a:ext cx="5510212" cy="270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0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UML Diagram depicting polymorphism</a:t>
            </a:r>
            <a:endParaRPr/>
          </a:p>
        </p:txBody>
      </p:sp>
      <p:sp>
        <p:nvSpPr>
          <p:cNvPr id="470" name="Google Shape;470;p50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pic>
        <p:nvPicPr>
          <p:cNvPr id="471" name="Google Shape;471;p5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4262" y="1668462"/>
            <a:ext cx="6889750" cy="3719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1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Aggregation</a:t>
            </a:r>
            <a:endParaRPr/>
          </a:p>
        </p:txBody>
      </p:sp>
      <p:sp>
        <p:nvSpPr>
          <p:cNvPr id="477" name="Google Shape;477;p51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pic>
        <p:nvPicPr>
          <p:cNvPr id="478" name="Google Shape;478;p5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0" y="1295400"/>
            <a:ext cx="5105400" cy="510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52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Composition</a:t>
            </a:r>
            <a:endParaRPr/>
          </a:p>
        </p:txBody>
      </p:sp>
      <p:sp>
        <p:nvSpPr>
          <p:cNvPr id="484" name="Google Shape;484;p52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pic>
        <p:nvPicPr>
          <p:cNvPr id="485" name="Google Shape;485;p5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0" y="1828800"/>
            <a:ext cx="4876800" cy="429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53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 cap="flat" cmpd="sng" w="9525">
            <a:solidFill>
              <a:schemeClr val="dk1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nstantia"/>
              <a:buNone/>
            </a:pPr>
            <a:r>
              <a:rPr b="0" i="0" lang="en-US" sz="4400" u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Application for OOP</a:t>
            </a:r>
            <a:endParaRPr/>
          </a:p>
        </p:txBody>
      </p:sp>
      <p:sp>
        <p:nvSpPr>
          <p:cNvPr id="491" name="Google Shape;491;p5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 Time systems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Artificial Intelligence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Expert Systems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Neural Networks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Database Management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Mobile Applications</a:t>
            </a:r>
            <a:endParaRPr/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54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 cap="flat" cmpd="sng" w="9525">
            <a:solidFill>
              <a:schemeClr val="dk1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nstantia"/>
              <a:buNone/>
            </a:pPr>
            <a:r>
              <a:rPr b="0" i="0" lang="en-US" sz="4400" u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Summary</a:t>
            </a:r>
            <a:endParaRPr/>
          </a:p>
        </p:txBody>
      </p:sp>
      <p:sp>
        <p:nvSpPr>
          <p:cNvPr id="497" name="Google Shape;497;p54"/>
          <p:cNvSpPr txBox="1"/>
          <p:nvPr>
            <p:ph idx="1" type="body"/>
          </p:nvPr>
        </p:nvSpPr>
        <p:spPr>
          <a:xfrm>
            <a:off x="457200" y="1189037"/>
            <a:ext cx="8229600" cy="4830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OOP revolves around object and classes. </a:t>
            </a:r>
            <a:endParaRPr/>
          </a:p>
          <a:p>
            <a:pPr indent="-342900" lvl="0" marL="342900" marR="0" rtl="0" algn="just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class is defined as group of objects with similar attributes and behavior.</a:t>
            </a:r>
            <a:endParaRPr/>
          </a:p>
          <a:p>
            <a:pPr indent="-342900" lvl="0" marL="342900" marR="0" rtl="0" algn="just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OOP principles are Inheritance, Abstraction, Encapsulation and Polymorphism.</a:t>
            </a:r>
            <a:endParaRPr/>
          </a:p>
          <a:p>
            <a:pPr indent="-342900" lvl="0" marL="342900" marR="0" rtl="0" algn="just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building large projects a technique known as OOAD is used.</a:t>
            </a:r>
            <a:endParaRPr/>
          </a:p>
          <a:p>
            <a:pPr indent="-342900" lvl="0" marL="342900" marR="0" rtl="0" algn="just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OOA deals with what the system should do and OOD deals with how the system achieves what has been specified by OO Analysis.</a:t>
            </a:r>
            <a:endParaRPr/>
          </a:p>
          <a:p>
            <a:pPr indent="-342900" lvl="0" marL="342900" marR="0" rtl="0" algn="just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OOAD is realized with the help of a language known as UML. </a:t>
            </a:r>
            <a:endParaRPr/>
          </a:p>
          <a:p>
            <a:pPr indent="-342900" lvl="0" marL="342900" marR="0" rtl="0" algn="just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UML stands for Unified modeling language is a standard language used for visualizing the software.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4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3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Deep, Gagan</dc:creator>
</cp:coreProperties>
</file>