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63"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52" r:id="rId106"/>
    <p:sldId id="353" r:id="rId107"/>
    <p:sldId id="354" r:id="rId108"/>
    <p:sldId id="355" r:id="rId109"/>
    <p:sldId id="356" r:id="rId110"/>
    <p:sldId id="357" r:id="rId111"/>
    <p:sldId id="358" r:id="rId112"/>
    <p:sldId id="359" r:id="rId113"/>
    <p:sldId id="360" r:id="rId114"/>
    <p:sldId id="361" r:id="rId115"/>
    <p:sldId id="362" r:id="rId116"/>
    <p:sldId id="363" r:id="rId117"/>
    <p:sldId id="364" r:id="rId118"/>
    <p:sldId id="365" r:id="rId119"/>
  </p:sldIdLst>
  <p:sldSz cy="6858000" cx="9144000"/>
  <p:notesSz cx="6858000" cy="9144000"/>
  <p:embeddedFontLst>
    <p:embeddedFont>
      <p:font typeface="Constantia"/>
      <p:regular r:id="rId120"/>
      <p:bold r:id="rId121"/>
      <p:italic r:id="rId122"/>
      <p:boldItalic r:id="rId1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 uri="GoogleSlidesCustomDataVersion2">
      <go:slidesCustomData xmlns:go="http://customooxmlschemas.google.com/" r:id="rId124" roundtripDataSignature="AMtx7mhTLOb4PPnTTZd5ZR17mP5nlLbuU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42" Type="http://schemas.openxmlformats.org/officeDocument/2006/relationships/slide" Target="slides/slide33.xml"/><Relationship Id="rId41" Type="http://schemas.openxmlformats.org/officeDocument/2006/relationships/slide" Target="slides/slide32.xml"/><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107" Type="http://schemas.openxmlformats.org/officeDocument/2006/relationships/slide" Target="slides/slide98.xml"/><Relationship Id="rId106" Type="http://schemas.openxmlformats.org/officeDocument/2006/relationships/slide" Target="slides/slide97.xml"/><Relationship Id="rId105" Type="http://schemas.openxmlformats.org/officeDocument/2006/relationships/slide" Target="slides/slide96.xml"/><Relationship Id="rId104" Type="http://schemas.openxmlformats.org/officeDocument/2006/relationships/slide" Target="slides/slide95.xml"/><Relationship Id="rId109" Type="http://schemas.openxmlformats.org/officeDocument/2006/relationships/slide" Target="slides/slide100.xml"/><Relationship Id="rId108" Type="http://schemas.openxmlformats.org/officeDocument/2006/relationships/slide" Target="slides/slide99.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103" Type="http://schemas.openxmlformats.org/officeDocument/2006/relationships/slide" Target="slides/slide94.xml"/><Relationship Id="rId102" Type="http://schemas.openxmlformats.org/officeDocument/2006/relationships/slide" Target="slides/slide93.xml"/><Relationship Id="rId101" Type="http://schemas.openxmlformats.org/officeDocument/2006/relationships/slide" Target="slides/slide92.xml"/><Relationship Id="rId100" Type="http://schemas.openxmlformats.org/officeDocument/2006/relationships/slide" Target="slides/slide91.xml"/><Relationship Id="rId31" Type="http://schemas.openxmlformats.org/officeDocument/2006/relationships/slide" Target="slides/slide22.xml"/><Relationship Id="rId30" Type="http://schemas.openxmlformats.org/officeDocument/2006/relationships/slide" Target="slides/slide21.xml"/><Relationship Id="rId33" Type="http://schemas.openxmlformats.org/officeDocument/2006/relationships/slide" Target="slides/slide24.xml"/><Relationship Id="rId32" Type="http://schemas.openxmlformats.org/officeDocument/2006/relationships/slide" Target="slides/slide23.xml"/><Relationship Id="rId35" Type="http://schemas.openxmlformats.org/officeDocument/2006/relationships/slide" Target="slides/slide26.xml"/><Relationship Id="rId34" Type="http://schemas.openxmlformats.org/officeDocument/2006/relationships/slide" Target="slides/slide25.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20" Type="http://schemas.openxmlformats.org/officeDocument/2006/relationships/slide" Target="slides/slide11.xml"/><Relationship Id="rId22" Type="http://schemas.openxmlformats.org/officeDocument/2006/relationships/slide" Target="slides/slide13.xml"/><Relationship Id="rId21" Type="http://schemas.openxmlformats.org/officeDocument/2006/relationships/slide" Target="slides/slide12.xml"/><Relationship Id="rId24" Type="http://schemas.openxmlformats.org/officeDocument/2006/relationships/slide" Target="slides/slide15.xml"/><Relationship Id="rId23" Type="http://schemas.openxmlformats.org/officeDocument/2006/relationships/slide" Target="slides/slide14.xml"/><Relationship Id="rId26" Type="http://schemas.openxmlformats.org/officeDocument/2006/relationships/slide" Target="slides/slide17.xml"/><Relationship Id="rId121" Type="http://schemas.openxmlformats.org/officeDocument/2006/relationships/font" Target="fonts/Constantia-bold.fntdata"/><Relationship Id="rId25" Type="http://schemas.openxmlformats.org/officeDocument/2006/relationships/slide" Target="slides/slide16.xml"/><Relationship Id="rId120" Type="http://schemas.openxmlformats.org/officeDocument/2006/relationships/font" Target="fonts/Constantia-regular.fntdata"/><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124" Type="http://customschemas.google.com/relationships/presentationmetadata" Target="metadata"/><Relationship Id="rId123" Type="http://schemas.openxmlformats.org/officeDocument/2006/relationships/font" Target="fonts/Constantia-boldItalic.fntdata"/><Relationship Id="rId122" Type="http://schemas.openxmlformats.org/officeDocument/2006/relationships/font" Target="fonts/Constantia-italic.fntdata"/><Relationship Id="rId95" Type="http://schemas.openxmlformats.org/officeDocument/2006/relationships/slide" Target="slides/slide86.xml"/><Relationship Id="rId94" Type="http://schemas.openxmlformats.org/officeDocument/2006/relationships/slide" Target="slides/slide85.xml"/><Relationship Id="rId97" Type="http://schemas.openxmlformats.org/officeDocument/2006/relationships/slide" Target="slides/slide88.xml"/><Relationship Id="rId96" Type="http://schemas.openxmlformats.org/officeDocument/2006/relationships/slide" Target="slides/slide87.xml"/><Relationship Id="rId11" Type="http://schemas.openxmlformats.org/officeDocument/2006/relationships/slide" Target="slides/slide2.xml"/><Relationship Id="rId99" Type="http://schemas.openxmlformats.org/officeDocument/2006/relationships/slide" Target="slides/slide90.xml"/><Relationship Id="rId10" Type="http://schemas.openxmlformats.org/officeDocument/2006/relationships/slide" Target="slides/slide1.xml"/><Relationship Id="rId98" Type="http://schemas.openxmlformats.org/officeDocument/2006/relationships/slide" Target="slides/slide89.xml"/><Relationship Id="rId13" Type="http://schemas.openxmlformats.org/officeDocument/2006/relationships/slide" Target="slides/slide4.xml"/><Relationship Id="rId12" Type="http://schemas.openxmlformats.org/officeDocument/2006/relationships/slide" Target="slides/slide3.xml"/><Relationship Id="rId91" Type="http://schemas.openxmlformats.org/officeDocument/2006/relationships/slide" Target="slides/slide82.xml"/><Relationship Id="rId90" Type="http://schemas.openxmlformats.org/officeDocument/2006/relationships/slide" Target="slides/slide81.xml"/><Relationship Id="rId93" Type="http://schemas.openxmlformats.org/officeDocument/2006/relationships/slide" Target="slides/slide84.xml"/><Relationship Id="rId92" Type="http://schemas.openxmlformats.org/officeDocument/2006/relationships/slide" Target="slides/slide83.xml"/><Relationship Id="rId118" Type="http://schemas.openxmlformats.org/officeDocument/2006/relationships/slide" Target="slides/slide109.xml"/><Relationship Id="rId117" Type="http://schemas.openxmlformats.org/officeDocument/2006/relationships/slide" Target="slides/slide108.xml"/><Relationship Id="rId116" Type="http://schemas.openxmlformats.org/officeDocument/2006/relationships/slide" Target="slides/slide107.xml"/><Relationship Id="rId115" Type="http://schemas.openxmlformats.org/officeDocument/2006/relationships/slide" Target="slides/slide106.xml"/><Relationship Id="rId119" Type="http://schemas.openxmlformats.org/officeDocument/2006/relationships/slide" Target="slides/slide110.xml"/><Relationship Id="rId15" Type="http://schemas.openxmlformats.org/officeDocument/2006/relationships/slide" Target="slides/slide6.xml"/><Relationship Id="rId110" Type="http://schemas.openxmlformats.org/officeDocument/2006/relationships/slide" Target="slides/slide101.xml"/><Relationship Id="rId14" Type="http://schemas.openxmlformats.org/officeDocument/2006/relationships/slide" Target="slides/slide5.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14" Type="http://schemas.openxmlformats.org/officeDocument/2006/relationships/slide" Target="slides/slide105.xml"/><Relationship Id="rId18" Type="http://schemas.openxmlformats.org/officeDocument/2006/relationships/slide" Target="slides/slide9.xml"/><Relationship Id="rId113" Type="http://schemas.openxmlformats.org/officeDocument/2006/relationships/slide" Target="slides/slide104.xml"/><Relationship Id="rId112" Type="http://schemas.openxmlformats.org/officeDocument/2006/relationships/slide" Target="slides/slide103.xml"/><Relationship Id="rId111" Type="http://schemas.openxmlformats.org/officeDocument/2006/relationships/slide" Target="slides/slide102.xml"/><Relationship Id="rId84" Type="http://schemas.openxmlformats.org/officeDocument/2006/relationships/slide" Target="slides/slide75.xml"/><Relationship Id="rId83" Type="http://schemas.openxmlformats.org/officeDocument/2006/relationships/slide" Target="slides/slide74.xml"/><Relationship Id="rId86" Type="http://schemas.openxmlformats.org/officeDocument/2006/relationships/slide" Target="slides/slide77.xml"/><Relationship Id="rId85" Type="http://schemas.openxmlformats.org/officeDocument/2006/relationships/slide" Target="slides/slide76.xml"/><Relationship Id="rId88" Type="http://schemas.openxmlformats.org/officeDocument/2006/relationships/slide" Target="slides/slide79.xml"/><Relationship Id="rId87" Type="http://schemas.openxmlformats.org/officeDocument/2006/relationships/slide" Target="slides/slide78.xml"/><Relationship Id="rId89" Type="http://schemas.openxmlformats.org/officeDocument/2006/relationships/slide" Target="slides/slide80.xml"/><Relationship Id="rId80" Type="http://schemas.openxmlformats.org/officeDocument/2006/relationships/slide" Target="slides/slide71.xml"/><Relationship Id="rId82" Type="http://schemas.openxmlformats.org/officeDocument/2006/relationships/slide" Target="slides/slide73.xml"/><Relationship Id="rId81" Type="http://schemas.openxmlformats.org/officeDocument/2006/relationships/slide" Target="slides/slide72.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3" Type="http://schemas.openxmlformats.org/officeDocument/2006/relationships/slide" Target="slides/slide64.xml"/><Relationship Id="rId72" Type="http://schemas.openxmlformats.org/officeDocument/2006/relationships/slide" Target="slides/slide63.xml"/><Relationship Id="rId75" Type="http://schemas.openxmlformats.org/officeDocument/2006/relationships/slide" Target="slides/slide66.xml"/><Relationship Id="rId74" Type="http://schemas.openxmlformats.org/officeDocument/2006/relationships/slide" Target="slides/slide65.xml"/><Relationship Id="rId77" Type="http://schemas.openxmlformats.org/officeDocument/2006/relationships/slide" Target="slides/slide68.xml"/><Relationship Id="rId76" Type="http://schemas.openxmlformats.org/officeDocument/2006/relationships/slide" Target="slides/slide67.xml"/><Relationship Id="rId79" Type="http://schemas.openxmlformats.org/officeDocument/2006/relationships/slide" Target="slides/slide70.xml"/><Relationship Id="rId78" Type="http://schemas.openxmlformats.org/officeDocument/2006/relationships/slide" Target="slides/slide69.xml"/><Relationship Id="rId71" Type="http://schemas.openxmlformats.org/officeDocument/2006/relationships/slide" Target="slides/slide62.xml"/><Relationship Id="rId70" Type="http://schemas.openxmlformats.org/officeDocument/2006/relationships/slide" Target="slides/slide61.xml"/><Relationship Id="rId62" Type="http://schemas.openxmlformats.org/officeDocument/2006/relationships/slide" Target="slides/slide53.xml"/><Relationship Id="rId61" Type="http://schemas.openxmlformats.org/officeDocument/2006/relationships/slide" Target="slides/slide52.xml"/><Relationship Id="rId64" Type="http://schemas.openxmlformats.org/officeDocument/2006/relationships/slide" Target="slides/slide55.xml"/><Relationship Id="rId63" Type="http://schemas.openxmlformats.org/officeDocument/2006/relationships/slide" Target="slides/slide54.xml"/><Relationship Id="rId66" Type="http://schemas.openxmlformats.org/officeDocument/2006/relationships/slide" Target="slides/slide57.xml"/><Relationship Id="rId65" Type="http://schemas.openxmlformats.org/officeDocument/2006/relationships/slide" Target="slides/slide56.xml"/><Relationship Id="rId68" Type="http://schemas.openxmlformats.org/officeDocument/2006/relationships/slide" Target="slides/slide59.xml"/><Relationship Id="rId67" Type="http://schemas.openxmlformats.org/officeDocument/2006/relationships/slide" Target="slides/slide58.xml"/><Relationship Id="rId60" Type="http://schemas.openxmlformats.org/officeDocument/2006/relationships/slide" Target="slides/slide51.xml"/><Relationship Id="rId69" Type="http://schemas.openxmlformats.org/officeDocument/2006/relationships/slide" Target="slides/slide6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55" Type="http://schemas.openxmlformats.org/officeDocument/2006/relationships/slide" Target="slides/slide46.xml"/><Relationship Id="rId54" Type="http://schemas.openxmlformats.org/officeDocument/2006/relationships/slide" Target="slides/slide45.xml"/><Relationship Id="rId57" Type="http://schemas.openxmlformats.org/officeDocument/2006/relationships/slide" Target="slides/slide48.xml"/><Relationship Id="rId56" Type="http://schemas.openxmlformats.org/officeDocument/2006/relationships/slide" Target="slides/slide47.xml"/><Relationship Id="rId59" Type="http://schemas.openxmlformats.org/officeDocument/2006/relationships/slide" Target="slides/slide50.xml"/><Relationship Id="rId58"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1" name="Google Shape;20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1" name="Google Shape;30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5" name="Google Shape;32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4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1" name="Google Shape;381;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4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4" name="Google Shape;39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1" name="Google Shape;401;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4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8" name="Google Shape;40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2" name="Google Shape;422;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5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5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5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1" name="Google Shape;44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7" name="Google Shape;447;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5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5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5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5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3" name="Google Shape;493;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6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0" name="Google Shape;500;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4" name="Google Shape;514;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6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6" name="Google Shape;526;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6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2" name="Google Shape;53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6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6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5" name="Google Shape;545;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6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p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7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3" name="Google Shape;563;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7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9" name="Google Shape;569;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5" name="Google Shape;575;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7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7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7" name="Google Shape;587;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7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4" name="Google Shape;594;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7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0" name="Google Shape;600;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6" name="Google Shape;606;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7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7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8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8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4" name="Google Shape;624;p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8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1" name="Google Shape;631;p8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8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p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8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p8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8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p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8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p8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8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p8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9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3" name="Google Shape;683;p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9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9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9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5" name="Google Shape;695;p9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2" name="Google Shape;702;p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9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9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9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9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p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p9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0" name="Google Shape;730;p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9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7" name="Google Shape;737;p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4" name="Google Shape;744;p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10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p10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p1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p1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10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5" name="Google Shape;765;p1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10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2" name="Google Shape;772;p10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1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p1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p10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6" name="Google Shape;786;p10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10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10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10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7" name="Google Shape;807;p10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p1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3" name="Google Shape;813;p1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1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9" name="Google Shape;819;p1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11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 name="Google Shape;18;p11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1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0" name="Shape 30"/>
        <p:cNvGrpSpPr/>
        <p:nvPr/>
      </p:nvGrpSpPr>
      <p:grpSpPr>
        <a:xfrm>
          <a:off x="0" y="0"/>
          <a:ext cx="0" cy="0"/>
          <a:chOff x="0" y="0"/>
          <a:chExt cx="0" cy="0"/>
        </a:xfrm>
      </p:grpSpPr>
      <p:sp>
        <p:nvSpPr>
          <p:cNvPr id="31" name="Google Shape;31;p1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2" name="Google Shape;32;p1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 name="Google Shape;33;p1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41" name="Shape 41"/>
        <p:cNvGrpSpPr/>
        <p:nvPr/>
      </p:nvGrpSpPr>
      <p:grpSpPr>
        <a:xfrm>
          <a:off x="0" y="0"/>
          <a:ext cx="0" cy="0"/>
          <a:chOff x="0" y="0"/>
          <a:chExt cx="0" cy="0"/>
        </a:xfrm>
      </p:grpSpPr>
      <p:sp>
        <p:nvSpPr>
          <p:cNvPr id="42" name="Google Shape;42;p116"/>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3" name="Google Shape;43;p1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4" name="Google Shape;44;p1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 name="Google Shape;45;p116"/>
          <p:cNvSpPr txBox="1"/>
          <p:nvPr>
            <p:ph idx="10" type="dt"/>
          </p:nvPr>
        </p:nvSpPr>
        <p:spPr>
          <a:xfrm>
            <a:off x="457200" y="6245225"/>
            <a:ext cx="21336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16"/>
          <p:cNvSpPr txBox="1"/>
          <p:nvPr>
            <p:ph idx="12" type="sldNum"/>
          </p:nvPr>
        </p:nvSpPr>
        <p:spPr>
          <a:xfrm>
            <a:off x="6553200" y="6245225"/>
            <a:ext cx="2133600" cy="4762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3" name="Shape 53"/>
        <p:cNvGrpSpPr/>
        <p:nvPr/>
      </p:nvGrpSpPr>
      <p:grpSpPr>
        <a:xfrm>
          <a:off x="0" y="0"/>
          <a:ext cx="0" cy="0"/>
          <a:chOff x="0" y="0"/>
          <a:chExt cx="0" cy="0"/>
        </a:xfrm>
      </p:grpSpPr>
      <p:sp>
        <p:nvSpPr>
          <p:cNvPr id="54" name="Google Shape;54;p1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1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6" name="Google Shape;56;p1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7" name="Google Shape;57;p1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0" name="Shape 60"/>
        <p:cNvGrpSpPr/>
        <p:nvPr/>
      </p:nvGrpSpPr>
      <p:grpSpPr>
        <a:xfrm>
          <a:off x="0" y="0"/>
          <a:ext cx="0" cy="0"/>
          <a:chOff x="0" y="0"/>
          <a:chExt cx="0" cy="0"/>
        </a:xfrm>
      </p:grpSpPr>
      <p:sp>
        <p:nvSpPr>
          <p:cNvPr id="61" name="Google Shape;61;p11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2" name="Google Shape;62;p11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3" name="Google Shape;63;p1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2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20"/>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1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2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21"/>
          <p:cNvSpPr/>
          <p:nvPr>
            <p:ph idx="2" type="pic"/>
          </p:nvPr>
        </p:nvSpPr>
        <p:spPr>
          <a:xfrm>
            <a:off x="1792288" y="612775"/>
            <a:ext cx="5486400" cy="4114800"/>
          </a:xfrm>
          <a:prstGeom prst="rect">
            <a:avLst/>
          </a:prstGeom>
          <a:noFill/>
          <a:ln>
            <a:noFill/>
          </a:ln>
        </p:spPr>
      </p:sp>
      <p:sp>
        <p:nvSpPr>
          <p:cNvPr id="75" name="Google Shape;75;p12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6" name="Google Shape;76;p1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1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1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82" name="Google Shape;82;p1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3" name="Google Shape;83;p1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0" name="Shape 90"/>
        <p:cNvGrpSpPr/>
        <p:nvPr/>
      </p:nvGrpSpPr>
      <p:grpSpPr>
        <a:xfrm>
          <a:off x="0" y="0"/>
          <a:ext cx="0" cy="0"/>
          <a:chOff x="0" y="0"/>
          <a:chExt cx="0" cy="0"/>
        </a:xfrm>
      </p:grpSpPr>
      <p:sp>
        <p:nvSpPr>
          <p:cNvPr id="91" name="Google Shape;91;p1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1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3" name="Google Shape;93;p1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4" name="Google Shape;94;p1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95" name="Google Shape;95;p1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96" name="Google Shape;96;p1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9" name="Shape 99"/>
        <p:cNvGrpSpPr/>
        <p:nvPr/>
      </p:nvGrpSpPr>
      <p:grpSpPr>
        <a:xfrm>
          <a:off x="0" y="0"/>
          <a:ext cx="0" cy="0"/>
          <a:chOff x="0" y="0"/>
          <a:chExt cx="0" cy="0"/>
        </a:xfrm>
      </p:grpSpPr>
      <p:sp>
        <p:nvSpPr>
          <p:cNvPr id="100" name="Google Shape;100;p1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1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2" name="Google Shape;102;p1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sp>
        <p:nvSpPr>
          <p:cNvPr id="113" name="Google Shape;113;p1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4" name="Google Shape;114;p1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1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2.xml"/><Relationship Id="rId3" Type="http://schemas.openxmlformats.org/officeDocument/2006/relationships/theme" Target="../theme/theme6.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3.xml"/><Relationship Id="rId3"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10" Type="http://schemas.openxmlformats.org/officeDocument/2006/relationships/theme" Target="../theme/theme4.xml"/><Relationship Id="rId9" Type="http://schemas.openxmlformats.org/officeDocument/2006/relationships/slideLayout" Target="../slideLayouts/slideLayout11.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8.jpg"/><Relationship Id="rId2" Type="http://schemas.openxmlformats.org/officeDocument/2006/relationships/slideLayout" Target="../slideLayouts/slideLayout1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11"/>
          <p:cNvSpPr txBox="1"/>
          <p:nvPr/>
        </p:nvSpPr>
        <p:spPr>
          <a:xfrm>
            <a:off x="2362200" y="6488112"/>
            <a:ext cx="5410200"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nstantia"/>
              <a:buNone/>
            </a:pPr>
            <a:r>
              <a:rPr b="0" i="0" lang="en-US" sz="1600" u="none" cap="none" strike="noStrike">
                <a:solidFill>
                  <a:schemeClr val="dk1"/>
                </a:solidFill>
                <a:latin typeface="Constantia"/>
                <a:ea typeface="Constantia"/>
                <a:cs typeface="Constantia"/>
                <a:sym typeface="Constantia"/>
              </a:rPr>
              <a:t>© Oxford University Press 2013. All rights reserved.</a:t>
            </a:r>
            <a:endParaRPr/>
          </a:p>
        </p:txBody>
      </p:sp>
      <p:sp>
        <p:nvSpPr>
          <p:cNvPr id="11" name="Google Shape;11;p1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2" name="Google Shape;12;p11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 name="Google Shape;13;p1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1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2" name="Shape 22"/>
        <p:cNvGrpSpPr/>
        <p:nvPr/>
      </p:nvGrpSpPr>
      <p:grpSpPr>
        <a:xfrm>
          <a:off x="0" y="0"/>
          <a:ext cx="0" cy="0"/>
          <a:chOff x="0" y="0"/>
          <a:chExt cx="0" cy="0"/>
        </a:xfrm>
      </p:grpSpPr>
      <p:sp>
        <p:nvSpPr>
          <p:cNvPr id="23" name="Google Shape;23;p113"/>
          <p:cNvSpPr txBox="1"/>
          <p:nvPr/>
        </p:nvSpPr>
        <p:spPr>
          <a:xfrm>
            <a:off x="2133600" y="6442075"/>
            <a:ext cx="5410200"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nstantia"/>
              <a:buNone/>
            </a:pPr>
            <a:r>
              <a:rPr b="0" i="0" lang="en-US" sz="1600" u="none">
                <a:solidFill>
                  <a:schemeClr val="dk1"/>
                </a:solidFill>
                <a:latin typeface="Constantia"/>
                <a:ea typeface="Constantia"/>
                <a:cs typeface="Constantia"/>
                <a:sym typeface="Constantia"/>
              </a:rPr>
              <a:t>© Oxford University Press 2013. All rights reserved.</a:t>
            </a:r>
            <a:endParaRPr/>
          </a:p>
        </p:txBody>
      </p:sp>
      <p:sp>
        <p:nvSpPr>
          <p:cNvPr id="24" name="Google Shape;24;p113"/>
          <p:cNvSpPr txBox="1"/>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 name="Google Shape;25;p1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6" name="Google Shape;26;p11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7" name="Google Shape;27;p1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1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1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36" name="Shape 36"/>
        <p:cNvGrpSpPr/>
        <p:nvPr/>
      </p:nvGrpSpPr>
      <p:grpSpPr>
        <a:xfrm>
          <a:off x="0" y="0"/>
          <a:ext cx="0" cy="0"/>
          <a:chOff x="0" y="0"/>
          <a:chExt cx="0" cy="0"/>
        </a:xfrm>
      </p:grpSpPr>
      <p:sp>
        <p:nvSpPr>
          <p:cNvPr id="37" name="Google Shape;37;p1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8" name="Google Shape;38;p1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9" name="Google Shape;39;p115"/>
          <p:cNvSpPr txBox="1"/>
          <p:nvPr>
            <p:ph idx="10" type="dt"/>
          </p:nvPr>
        </p:nvSpPr>
        <p:spPr>
          <a:xfrm>
            <a:off x="457200" y="6245225"/>
            <a:ext cx="2133600" cy="47625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0" name="Google Shape;40;p115"/>
          <p:cNvSpPr txBox="1"/>
          <p:nvPr>
            <p:ph idx="12" type="sldNum"/>
          </p:nvPr>
        </p:nvSpPr>
        <p:spPr>
          <a:xfrm>
            <a:off x="6553200" y="6245225"/>
            <a:ext cx="2133600" cy="47625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3"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47" name="Shape 47"/>
        <p:cNvGrpSpPr/>
        <p:nvPr/>
      </p:nvGrpSpPr>
      <p:grpSpPr>
        <a:xfrm>
          <a:off x="0" y="0"/>
          <a:ext cx="0" cy="0"/>
          <a:chOff x="0" y="0"/>
          <a:chExt cx="0" cy="0"/>
        </a:xfrm>
      </p:grpSpPr>
      <p:sp>
        <p:nvSpPr>
          <p:cNvPr id="48" name="Google Shape;48;p1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49" name="Google Shape;49;p1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0" name="Google Shape;50;p1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1" name="Google Shape;51;p1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2" name="Google Shape;52;p1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5" name="Shape 105"/>
        <p:cNvGrpSpPr/>
        <p:nvPr/>
      </p:nvGrpSpPr>
      <p:grpSpPr>
        <a:xfrm>
          <a:off x="0" y="0"/>
          <a:ext cx="0" cy="0"/>
          <a:chOff x="0" y="0"/>
          <a:chExt cx="0" cy="0"/>
        </a:xfrm>
      </p:grpSpPr>
      <p:sp>
        <p:nvSpPr>
          <p:cNvPr id="106" name="Google Shape;106;p126"/>
          <p:cNvSpPr txBox="1"/>
          <p:nvPr/>
        </p:nvSpPr>
        <p:spPr>
          <a:xfrm>
            <a:off x="1981200" y="6488112"/>
            <a:ext cx="5257800" cy="3397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Constantia"/>
              <a:buNone/>
            </a:pPr>
            <a:r>
              <a:rPr b="0" i="0" lang="en-US" sz="1600" u="none">
                <a:solidFill>
                  <a:schemeClr val="dk1"/>
                </a:solidFill>
                <a:latin typeface="Constantia"/>
                <a:ea typeface="Constantia"/>
                <a:cs typeface="Constantia"/>
                <a:sym typeface="Constantia"/>
              </a:rPr>
              <a:t>© Oxford University Press 2013. All rights reserved.</a:t>
            </a:r>
            <a:endParaRPr/>
          </a:p>
        </p:txBody>
      </p:sp>
      <p:sp>
        <p:nvSpPr>
          <p:cNvPr id="107" name="Google Shape;107;p1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08" name="Google Shape;108;p12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9" name="Google Shape;109;p1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0" name="Google Shape;110;p1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1" name="Google Shape;111;p1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1200"/>
              <a:buFont typeface="Arial"/>
              <a:buNone/>
              <a:defRPr b="0" i="0" sz="12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jp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 Id="rId3" Type="http://schemas.openxmlformats.org/officeDocument/2006/relationships/image" Target="../media/image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1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 Id="rId3" Type="http://schemas.openxmlformats.org/officeDocument/2006/relationships/image" Target="../media/image1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
          <p:cNvSpPr txBox="1"/>
          <p:nvPr>
            <p:ph type="ctrTitle"/>
          </p:nvPr>
        </p:nvSpPr>
        <p:spPr>
          <a:xfrm>
            <a:off x="3429000" y="1905000"/>
            <a:ext cx="5715000" cy="210185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200"/>
              <a:buFont typeface="Calibri"/>
              <a:buNone/>
            </a:pPr>
            <a:r>
              <a:rPr b="1" i="0" lang="en-US" sz="4200" u="none">
                <a:solidFill>
                  <a:schemeClr val="dk1"/>
                </a:solidFill>
                <a:latin typeface="Calibri"/>
                <a:ea typeface="Calibri"/>
                <a:cs typeface="Calibri"/>
                <a:sym typeface="Calibri"/>
              </a:rPr>
              <a:t>Programming in Java, 2e</a:t>
            </a:r>
            <a:endParaRPr/>
          </a:p>
        </p:txBody>
      </p:sp>
      <p:sp>
        <p:nvSpPr>
          <p:cNvPr id="122" name="Google Shape;122;p1"/>
          <p:cNvSpPr txBox="1"/>
          <p:nvPr>
            <p:ph idx="1" type="subTitle"/>
          </p:nvPr>
        </p:nvSpPr>
        <p:spPr>
          <a:xfrm>
            <a:off x="3581400" y="3962400"/>
            <a:ext cx="5562600" cy="1270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4200"/>
              <a:buNone/>
            </a:pPr>
            <a:r>
              <a:rPr b="1" i="0" lang="en-US" sz="4200" u="none">
                <a:solidFill>
                  <a:schemeClr val="dk1"/>
                </a:solidFill>
                <a:latin typeface="Calibri"/>
                <a:ea typeface="Calibri"/>
                <a:cs typeface="Calibri"/>
                <a:sym typeface="Calibri"/>
              </a:rPr>
              <a:t>Sachin Malhotra</a:t>
            </a:r>
            <a:endParaRPr/>
          </a:p>
          <a:p>
            <a:pPr indent="0" lvl="0" marL="0" rtl="0" algn="ctr">
              <a:lnSpc>
                <a:spcPct val="100000"/>
              </a:lnSpc>
              <a:spcBef>
                <a:spcPts val="840"/>
              </a:spcBef>
              <a:spcAft>
                <a:spcPts val="0"/>
              </a:spcAft>
              <a:buClr>
                <a:schemeClr val="dk1"/>
              </a:buClr>
              <a:buSzPts val="4200"/>
              <a:buNone/>
            </a:pPr>
            <a:r>
              <a:rPr b="1" i="0" lang="en-US" sz="4200" u="none">
                <a:solidFill>
                  <a:schemeClr val="dk1"/>
                </a:solidFill>
                <a:latin typeface="Calibri"/>
                <a:ea typeface="Calibri"/>
                <a:cs typeface="Calibri"/>
                <a:sym typeface="Calibri"/>
              </a:rPr>
              <a:t>Saurabh Choudhary</a:t>
            </a:r>
            <a:endParaRPr/>
          </a:p>
        </p:txBody>
      </p:sp>
      <p:sp>
        <p:nvSpPr>
          <p:cNvPr id="123" name="Google Shape;123;p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logo(NEW)" id="124" name="Google Shape;124;p1"/>
          <p:cNvPicPr preferRelativeResize="0"/>
          <p:nvPr/>
        </p:nvPicPr>
        <p:blipFill rotWithShape="1">
          <a:blip r:embed="rId3">
            <a:alphaModFix/>
          </a:blip>
          <a:srcRect b="0" l="0" r="0" t="0"/>
          <a:stretch/>
        </p:blipFill>
        <p:spPr>
          <a:xfrm>
            <a:off x="7297737" y="0"/>
            <a:ext cx="1846262" cy="1600200"/>
          </a:xfrm>
          <a:prstGeom prst="rect">
            <a:avLst/>
          </a:prstGeom>
          <a:noFill/>
          <a:ln>
            <a:noFill/>
          </a:ln>
        </p:spPr>
      </p:pic>
      <p:pic>
        <p:nvPicPr>
          <p:cNvPr descr="D:\Kiran - My Documents\JAVA Programming 2e\PPTs Java 2e\Cover Image - Java 2e.png" id="125" name="Google Shape;125;p1"/>
          <p:cNvPicPr preferRelativeResize="0"/>
          <p:nvPr/>
        </p:nvPicPr>
        <p:blipFill rotWithShape="1">
          <a:blip r:embed="rId4">
            <a:alphaModFix/>
          </a:blip>
          <a:srcRect b="0" l="0" r="0" t="0"/>
          <a:stretch/>
        </p:blipFill>
        <p:spPr>
          <a:xfrm>
            <a:off x="228600" y="1676400"/>
            <a:ext cx="3173412" cy="41624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
          <p:cNvSpPr txBox="1"/>
          <p:nvPr>
            <p:ph type="title"/>
          </p:nvPr>
        </p:nvSpPr>
        <p:spPr>
          <a:xfrm>
            <a:off x="381000" y="1219200"/>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10253F"/>
              </a:buClr>
              <a:buSzPts val="6000"/>
              <a:buFont typeface="Calibri"/>
              <a:buNone/>
            </a:pPr>
            <a:r>
              <a:rPr b="1" i="0" lang="en-US" sz="6000" u="none">
                <a:solidFill>
                  <a:srgbClr val="10253F"/>
                </a:solidFill>
                <a:latin typeface="Calibri"/>
                <a:ea typeface="Calibri"/>
                <a:cs typeface="Calibri"/>
                <a:sym typeface="Calibri"/>
              </a:rPr>
              <a:t>Chapter 4</a:t>
            </a:r>
            <a:endParaRPr/>
          </a:p>
        </p:txBody>
      </p:sp>
      <p:sp>
        <p:nvSpPr>
          <p:cNvPr id="131" name="Google Shape;131;p2"/>
          <p:cNvSpPr txBox="1"/>
          <p:nvPr/>
        </p:nvSpPr>
        <p:spPr>
          <a:xfrm>
            <a:off x="533400" y="2971800"/>
            <a:ext cx="8229600" cy="1752600"/>
          </a:xfrm>
          <a:prstGeom prst="rect">
            <a:avLst/>
          </a:prstGeom>
          <a:no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10253F"/>
              </a:buClr>
              <a:buSzPts val="6000"/>
              <a:buFont typeface="Calibri"/>
              <a:buNone/>
            </a:pPr>
            <a:r>
              <a:rPr b="1" i="0" lang="en-US" sz="6000" u="none">
                <a:solidFill>
                  <a:srgbClr val="10253F"/>
                </a:solidFill>
                <a:latin typeface="Calibri"/>
                <a:ea typeface="Calibri"/>
                <a:cs typeface="Calibri"/>
                <a:sym typeface="Calibri"/>
              </a:rPr>
              <a:t>Classes and Objects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3"/>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OBJECTIVES</a:t>
            </a:r>
            <a:endParaRPr/>
          </a:p>
        </p:txBody>
      </p:sp>
      <p:sp>
        <p:nvSpPr>
          <p:cNvPr id="137" name="Google Shape;137;p3"/>
          <p:cNvSpPr txBox="1"/>
          <p:nvPr>
            <p:ph idx="1" type="body"/>
          </p:nvPr>
        </p:nvSpPr>
        <p:spPr>
          <a:xfrm>
            <a:off x="457200" y="1219200"/>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Know how classes &amp; Objects are created and applied in java</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Know how methods are created and used.</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polymorphism concepts: Overloading</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what is a Constructors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Establish familiarity with static and this keyword.</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Know about Arrays &amp; command line arguments.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 inner classes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4"/>
          <p:cNvSpPr txBox="1"/>
          <p:nvPr>
            <p:ph type="title"/>
          </p:nvPr>
        </p:nvSpPr>
        <p:spPr>
          <a:xfrm>
            <a:off x="457200" y="274637"/>
            <a:ext cx="8229600" cy="5635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Classes and Objects</a:t>
            </a:r>
            <a:endParaRPr/>
          </a:p>
        </p:txBody>
      </p:sp>
      <p:sp>
        <p:nvSpPr>
          <p:cNvPr id="143" name="Google Shape;143;p4"/>
          <p:cNvSpPr txBox="1"/>
          <p:nvPr>
            <p:ph idx="1" type="body"/>
          </p:nvPr>
        </p:nvSpPr>
        <p:spPr>
          <a:xfrm>
            <a:off x="457200" y="1143000"/>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 class is a blueprint or prototype that defines the variables and methods common to all objects of a certain kind.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Class can be thought of as a user defined data type and an object as a variable of that data type, which can contain data and methods i.e. functions, working on that data.</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All object instances have their own copies of instance variable.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Each object has its own copy of instance variables which is different from other objects created out of the same class.	</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5"/>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How to declare Class in JAVA?</a:t>
            </a:r>
            <a:r>
              <a:rPr b="1" i="0" lang="en-US" sz="4400" u="none">
                <a:solidFill>
                  <a:schemeClr val="dk1"/>
                </a:solidFill>
                <a:latin typeface="Calibri"/>
                <a:ea typeface="Calibri"/>
                <a:cs typeface="Calibri"/>
                <a:sym typeface="Calibri"/>
              </a:rPr>
              <a:t> </a:t>
            </a:r>
            <a:endParaRPr/>
          </a:p>
        </p:txBody>
      </p:sp>
      <p:sp>
        <p:nvSpPr>
          <p:cNvPr id="149" name="Google Shape;149;p5"/>
          <p:cNvSpPr txBox="1"/>
          <p:nvPr>
            <p:ph idx="1" type="body"/>
          </p:nvPr>
        </p:nvSpPr>
        <p:spPr>
          <a:xfrm>
            <a:off x="457200" y="1189037"/>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class is declared using </a:t>
            </a:r>
            <a:r>
              <a:rPr b="0" i="1" lang="en-US" sz="2800" u="none">
                <a:solidFill>
                  <a:schemeClr val="dk1"/>
                </a:solidFill>
                <a:latin typeface="Calibri"/>
                <a:ea typeface="Calibri"/>
                <a:cs typeface="Calibri"/>
                <a:sym typeface="Calibri"/>
              </a:rPr>
              <a:t>class</a:t>
            </a:r>
            <a:r>
              <a:rPr b="0" i="0" lang="en-US" sz="2800" u="none">
                <a:solidFill>
                  <a:schemeClr val="dk1"/>
                </a:solidFill>
                <a:latin typeface="Calibri"/>
                <a:ea typeface="Calibri"/>
                <a:cs typeface="Calibri"/>
                <a:sym typeface="Calibri"/>
              </a:rPr>
              <a:t> keyword followed by the name of the class.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Syntax of declaration of class</a:t>
            </a:r>
            <a:endParaRPr/>
          </a:p>
          <a:p>
            <a:pPr indent="-342900" lvl="0" marL="342900" marR="0" rtl="0" algn="just">
              <a:lnSpc>
                <a:spcPct val="8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	class </a:t>
            </a:r>
            <a:r>
              <a:rPr b="0" i="1" lang="en-US" sz="2800" u="none">
                <a:solidFill>
                  <a:schemeClr val="dk1"/>
                </a:solidFill>
                <a:latin typeface="Calibri"/>
                <a:ea typeface="Calibri"/>
                <a:cs typeface="Calibri"/>
                <a:sym typeface="Calibri"/>
              </a:rPr>
              <a:t>classname</a:t>
            </a:r>
            <a:r>
              <a:rPr b="0" i="0" lang="en-US" sz="2800" u="none">
                <a:solidFill>
                  <a:schemeClr val="dk1"/>
                </a:solidFill>
                <a:latin typeface="Calibri"/>
                <a:ea typeface="Calibri"/>
                <a:cs typeface="Calibri"/>
                <a:sym typeface="Calibri"/>
              </a:rPr>
              <a:t> { </a:t>
            </a:r>
            <a:endParaRPr/>
          </a:p>
          <a:p>
            <a:pPr indent="-342900" lvl="0" marL="342900" marR="0" rtl="0" algn="just">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//Variables declaration</a:t>
            </a:r>
            <a:endParaRPr/>
          </a:p>
          <a:p>
            <a:pPr indent="-342900" lvl="0" marL="342900" marR="0" rtl="0" algn="just">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//Methods declaration</a:t>
            </a:r>
            <a:endParaRPr/>
          </a:p>
          <a:p>
            <a:pPr indent="-342900" lvl="0" marL="342900" marR="0" rtl="0" algn="just">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342900" lvl="0" marL="342900" marR="0" rtl="0" algn="just">
              <a:lnSpc>
                <a:spcPct val="8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Example</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Bookman Old Style"/>
                <a:ea typeface="Bookman Old Style"/>
                <a:cs typeface="Bookman Old Style"/>
                <a:sym typeface="Bookman Old Style"/>
              </a:rPr>
              <a:t>		</a:t>
            </a:r>
            <a:r>
              <a:rPr b="0" i="0" lang="en-US" sz="2400" u="none">
                <a:solidFill>
                  <a:schemeClr val="dk1"/>
                </a:solidFill>
                <a:latin typeface="Calibri"/>
                <a:ea typeface="Calibri"/>
                <a:cs typeface="Calibri"/>
                <a:sym typeface="Calibri"/>
              </a:rPr>
              <a:t>class GoodbyeWorld {</a:t>
            </a:r>
            <a:br>
              <a:rPr b="0" i="0" lang="en-US" sz="2400" u="none">
                <a:solidFill>
                  <a:schemeClr val="dk1"/>
                </a:solidFill>
                <a:latin typeface="Calibri"/>
                <a:ea typeface="Calibri"/>
                <a:cs typeface="Calibri"/>
                <a:sym typeface="Calibri"/>
              </a:rPr>
            </a:br>
            <a:r>
              <a:rPr b="0" i="0" lang="en-US" sz="2400" u="none">
                <a:solidFill>
                  <a:schemeClr val="dk1"/>
                </a:solidFill>
                <a:latin typeface="Calibri"/>
                <a:ea typeface="Calibri"/>
                <a:cs typeface="Calibri"/>
                <a:sym typeface="Calibri"/>
              </a:rPr>
              <a:t>	public static void main (String args[]) {</a:t>
            </a:r>
            <a:br>
              <a:rPr b="0" i="0" lang="en-US" sz="2400" u="none">
                <a:solidFill>
                  <a:schemeClr val="dk1"/>
                </a:solidFill>
                <a:latin typeface="Calibri"/>
                <a:ea typeface="Calibri"/>
                <a:cs typeface="Calibri"/>
                <a:sym typeface="Calibri"/>
              </a:rPr>
            </a:br>
            <a:r>
              <a:rPr b="0" i="0" lang="en-US" sz="2400" u="none">
                <a:solidFill>
                  <a:schemeClr val="dk1"/>
                </a:solidFill>
                <a:latin typeface="Calibri"/>
                <a:ea typeface="Calibri"/>
                <a:cs typeface="Calibri"/>
                <a:sym typeface="Calibri"/>
              </a:rPr>
              <a:t>		System.out.println("Goodbye World!");</a:t>
            </a:r>
            <a:br>
              <a:rPr b="0" i="0" lang="en-US" sz="2400" u="none">
                <a:solidFill>
                  <a:schemeClr val="dk1"/>
                </a:solidFill>
                <a:latin typeface="Calibri"/>
                <a:ea typeface="Calibri"/>
                <a:cs typeface="Calibri"/>
                <a:sym typeface="Calibri"/>
              </a:rPr>
            </a:br>
            <a:r>
              <a:rPr b="0" i="0" lang="en-US" sz="2400" u="none">
                <a:solidFill>
                  <a:schemeClr val="dk1"/>
                </a:solidFill>
                <a:latin typeface="Calibri"/>
                <a:ea typeface="Calibri"/>
                <a:cs typeface="Calibri"/>
                <a:sym typeface="Calibri"/>
              </a:rPr>
              <a:t>	}}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Declaring classes in Java</a:t>
            </a:r>
            <a:endParaRPr/>
          </a:p>
        </p:txBody>
      </p:sp>
      <p:sp>
        <p:nvSpPr>
          <p:cNvPr id="155" name="Google Shape;155;p6"/>
          <p:cNvSpPr txBox="1"/>
          <p:nvPr>
            <p:ph idx="1" type="body"/>
          </p:nvPr>
        </p:nvSpPr>
        <p:spPr>
          <a:xfrm>
            <a:off x="457200" y="1143000"/>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class declaration can specify more about the class like you can: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declare what the class's superclass (discussed in chapter 5)</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list the interfaces implemented by the class (discussed in chapter 6)</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declare whether the class is public, abstract,( discussed in chapter 6) or final (discussed in chapter 5)</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Summary of class declaration syntax as;</a:t>
            </a:r>
            <a:endParaRPr/>
          </a:p>
          <a:p>
            <a:pPr indent="-342900" lvl="0" marL="342900" marR="0" rtl="0" algn="just">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[modifiers] class </a:t>
            </a:r>
            <a:r>
              <a:rPr b="0" i="1" lang="en-US" sz="2400" u="none">
                <a:solidFill>
                  <a:schemeClr val="dk1"/>
                </a:solidFill>
                <a:latin typeface="Calibri"/>
                <a:ea typeface="Calibri"/>
                <a:cs typeface="Calibri"/>
                <a:sym typeface="Calibri"/>
              </a:rPr>
              <a:t>ClassName</a:t>
            </a:r>
            <a:r>
              <a:rPr b="0" i="0" lang="en-US" sz="2400" u="none">
                <a:solidFill>
                  <a:schemeClr val="dk1"/>
                </a:solidFill>
                <a:latin typeface="Calibri"/>
                <a:ea typeface="Calibri"/>
                <a:cs typeface="Calibri"/>
                <a:sym typeface="Calibri"/>
              </a:rPr>
              <a:t> [ extends 	</a:t>
            </a:r>
            <a:r>
              <a:rPr b="0" i="1" lang="en-US" sz="2400" u="none">
                <a:solidFill>
                  <a:schemeClr val="dk1"/>
                </a:solidFill>
                <a:latin typeface="Calibri"/>
                <a:ea typeface="Calibri"/>
                <a:cs typeface="Calibri"/>
                <a:sym typeface="Calibri"/>
              </a:rPr>
              <a:t>SuperClassName</a:t>
            </a:r>
            <a:r>
              <a:rPr b="0" i="0" lang="en-US" sz="2400" u="none">
                <a:solidFill>
                  <a:schemeClr val="dk1"/>
                </a:solidFill>
                <a:latin typeface="Calibri"/>
                <a:ea typeface="Calibri"/>
                <a:cs typeface="Calibri"/>
                <a:sym typeface="Calibri"/>
              </a:rPr>
              <a:t> ] [ implements 	InterfaceNames ] {</a:t>
            </a:r>
            <a:endParaRPr/>
          </a:p>
          <a:p>
            <a:pPr indent="-342900" lvl="0" marL="342900" marR="0" rtl="0" algn="just">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just">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7"/>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Declaring classes in Java (contd.)</a:t>
            </a:r>
            <a:endParaRPr/>
          </a:p>
        </p:txBody>
      </p:sp>
      <p:sp>
        <p:nvSpPr>
          <p:cNvPr id="161" name="Google Shape;161;p7"/>
          <p:cNvSpPr txBox="1"/>
          <p:nvPr>
            <p:ph idx="1" type="body"/>
          </p:nvPr>
        </p:nvSpPr>
        <p:spPr>
          <a:xfrm>
            <a:off x="457200" y="1219200"/>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items between [ and ] are optional. A class declaration defines the following aspects of the class: </a:t>
            </a:r>
            <a:endParaRPr b="0" i="1" sz="2800" u="none">
              <a:solidFill>
                <a:schemeClr val="dk1"/>
              </a:solidFill>
              <a:latin typeface="Calibri"/>
              <a:ea typeface="Calibri"/>
              <a:cs typeface="Calibri"/>
              <a:sym typeface="Calibri"/>
            </a:endParaRPr>
          </a:p>
          <a:p>
            <a:pPr indent="-285750" lvl="1" marL="742950" marR="0" rtl="0" algn="just">
              <a:lnSpc>
                <a:spcPct val="8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modifiers</a:t>
            </a:r>
            <a:r>
              <a:rPr b="0" i="0" lang="en-US" sz="2400" u="none" cap="none" strike="noStrike">
                <a:solidFill>
                  <a:schemeClr val="dk1"/>
                </a:solidFill>
                <a:latin typeface="Calibri"/>
                <a:ea typeface="Calibri"/>
                <a:cs typeface="Calibri"/>
                <a:sym typeface="Calibri"/>
              </a:rPr>
              <a:t> declare whether the class is public, protected, default, abstract, or final </a:t>
            </a:r>
            <a:endParaRPr/>
          </a:p>
          <a:p>
            <a:pPr indent="-285750" lvl="1" marL="742950" marR="0" rtl="0" algn="just">
              <a:lnSpc>
                <a:spcPct val="8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ClassName</a:t>
            </a:r>
            <a:r>
              <a:rPr b="0" i="0" lang="en-US" sz="2400" u="none" cap="none" strike="noStrike">
                <a:solidFill>
                  <a:schemeClr val="dk1"/>
                </a:solidFill>
                <a:latin typeface="Calibri"/>
                <a:ea typeface="Calibri"/>
                <a:cs typeface="Calibri"/>
                <a:sym typeface="Calibri"/>
              </a:rPr>
              <a:t> sets the name of the class you are declaring </a:t>
            </a:r>
            <a:endParaRPr/>
          </a:p>
          <a:p>
            <a:pPr indent="-285750" lvl="1" marL="742950" marR="0" rtl="0" algn="just">
              <a:lnSpc>
                <a:spcPct val="8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SuperClassName</a:t>
            </a:r>
            <a:r>
              <a:rPr b="0" i="0" lang="en-US" sz="2400" u="none" cap="none" strike="noStrike">
                <a:solidFill>
                  <a:schemeClr val="dk1"/>
                </a:solidFill>
                <a:latin typeface="Calibri"/>
                <a:ea typeface="Calibri"/>
                <a:cs typeface="Calibri"/>
                <a:sym typeface="Calibri"/>
              </a:rPr>
              <a:t> is the name of </a:t>
            </a:r>
            <a:r>
              <a:rPr b="0" i="1" lang="en-US" sz="2400" u="none" cap="none" strike="noStrike">
                <a:solidFill>
                  <a:schemeClr val="dk1"/>
                </a:solidFill>
                <a:latin typeface="Calibri"/>
                <a:ea typeface="Calibri"/>
                <a:cs typeface="Calibri"/>
                <a:sym typeface="Calibri"/>
              </a:rPr>
              <a:t>ClassName</a:t>
            </a:r>
            <a:r>
              <a:rPr b="0" i="0" lang="en-US" sz="2400" u="none" cap="none" strike="noStrike">
                <a:solidFill>
                  <a:schemeClr val="dk1"/>
                </a:solidFill>
                <a:latin typeface="Calibri"/>
                <a:ea typeface="Calibri"/>
                <a:cs typeface="Calibri"/>
                <a:sym typeface="Calibri"/>
              </a:rPr>
              <a:t>'s superclass </a:t>
            </a:r>
            <a:endParaRPr/>
          </a:p>
          <a:p>
            <a:pPr indent="-285750" lvl="1" marL="742950" marR="0" rtl="0" algn="just">
              <a:lnSpc>
                <a:spcPct val="8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InterfaceNames</a:t>
            </a:r>
            <a:r>
              <a:rPr b="0" i="0" lang="en-US" sz="2400" u="none" cap="none" strike="noStrike">
                <a:solidFill>
                  <a:schemeClr val="dk1"/>
                </a:solidFill>
                <a:latin typeface="Calibri"/>
                <a:ea typeface="Calibri"/>
                <a:cs typeface="Calibri"/>
                <a:sym typeface="Calibri"/>
              </a:rPr>
              <a:t> is a comma-delimited list of the interfaces implemented by </a:t>
            </a:r>
            <a:r>
              <a:rPr b="0" i="1" lang="en-US" sz="2400" u="none" cap="none" strike="noStrike">
                <a:solidFill>
                  <a:schemeClr val="dk1"/>
                </a:solidFill>
                <a:latin typeface="Calibri"/>
                <a:ea typeface="Calibri"/>
                <a:cs typeface="Calibri"/>
                <a:sym typeface="Calibri"/>
              </a:rPr>
              <a:t>ClassName</a:t>
            </a:r>
            <a:r>
              <a:rPr b="0" i="0" lang="en-US" sz="2400" u="none" cap="none" strike="noStrike">
                <a:solidFill>
                  <a:schemeClr val="dk1"/>
                </a:solidFill>
                <a:latin typeface="Calibri"/>
                <a:ea typeface="Calibri"/>
                <a:cs typeface="Calibri"/>
                <a:sym typeface="Calibri"/>
              </a:rPr>
              <a:t>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Java compiler assumes the class to be non-final, non-public, non-abstract, subclass of </a:t>
            </a:r>
            <a:r>
              <a:rPr b="1" i="0" lang="en-US" sz="2800" u="none">
                <a:solidFill>
                  <a:schemeClr val="dk1"/>
                </a:solidFill>
                <a:latin typeface="Calibri"/>
                <a:ea typeface="Calibri"/>
                <a:cs typeface="Calibri"/>
                <a:sym typeface="Calibri"/>
              </a:rPr>
              <a:t>Object</a:t>
            </a:r>
            <a:r>
              <a:rPr b="0" i="0" lang="en-US" sz="2800" u="none">
                <a:solidFill>
                  <a:schemeClr val="dk1"/>
                </a:solidFill>
                <a:latin typeface="Calibri"/>
                <a:ea typeface="Calibri"/>
                <a:cs typeface="Calibri"/>
                <a:sym typeface="Calibri"/>
              </a:rPr>
              <a:t> (chapter 6) that implements no interfaces if no explicit declaration is specified.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Parts of a class</a:t>
            </a:r>
            <a:endParaRPr/>
          </a:p>
        </p:txBody>
      </p:sp>
      <p:sp>
        <p:nvSpPr>
          <p:cNvPr id="167" name="Google Shape;167;p8"/>
          <p:cNvSpPr txBox="1"/>
          <p:nvPr>
            <p:ph idx="1" type="body"/>
          </p:nvPr>
        </p:nvSpPr>
        <p:spPr>
          <a:xfrm>
            <a:off x="457200" y="1219200"/>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class contains two different sections: variable declarations and method declaration. The variables of a class describe its state and methods describe its behavior. </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r>
              <a:rPr b="0" i="0" lang="en-US" sz="2400" u="none">
                <a:solidFill>
                  <a:schemeClr val="dk1"/>
                </a:solidFill>
                <a:latin typeface="Calibri"/>
                <a:ea typeface="Calibri"/>
                <a:cs typeface="Calibri"/>
                <a:sym typeface="Calibri"/>
              </a:rPr>
              <a:t>classDeclaration {</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memberVariableDeclarations</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methodDeclarations</a:t>
            </a:r>
            <a:endParaRPr/>
          </a:p>
          <a:p>
            <a:pPr indent="-342900" lvl="0" marL="342900" marR="0" rtl="0" algn="just">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a:t>
            </a:r>
            <a:endParaRPr/>
          </a:p>
        </p:txBody>
      </p:sp>
      <p:sp>
        <p:nvSpPr>
          <p:cNvPr id="173" name="Google Shape;173;p9"/>
          <p:cNvSpPr txBox="1"/>
          <p:nvPr>
            <p:ph idx="1" type="body"/>
          </p:nvPr>
        </p:nvSpPr>
        <p:spPr>
          <a:xfrm>
            <a:off x="457200" y="1143000"/>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Class SalesTaxCalculator for calculating and displaying the tax</a:t>
            </a:r>
            <a:endParaRPr/>
          </a:p>
          <a:p>
            <a:pPr indent="-342900" lvl="0" marL="342900" marR="0" rtl="0" algn="l">
              <a:lnSpc>
                <a:spcPct val="8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Bookman Old Style"/>
                <a:ea typeface="Bookman Old Style"/>
                <a:cs typeface="Bookman Old Style"/>
                <a:sym typeface="Bookman Old Style"/>
              </a:rPr>
              <a:t>	</a:t>
            </a:r>
            <a:r>
              <a:rPr b="0" i="0" lang="en-US" sz="2400" u="none">
                <a:solidFill>
                  <a:schemeClr val="dk1"/>
                </a:solidFill>
                <a:latin typeface="Calibri"/>
                <a:ea typeface="Calibri"/>
                <a:cs typeface="Calibri"/>
                <a:sym typeface="Calibri"/>
              </a:rPr>
              <a:t>class SalesTaxCalculator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float amount=100.0f;</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float taxRate=10.2f;</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void calculateTax()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float taxAmt = amount*taxRate/100;</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System.out.println(taxAmt);</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Bookman Old Style"/>
                <a:ea typeface="Bookman Old Style"/>
                <a:cs typeface="Bookman Old Style"/>
                <a:sym typeface="Bookman Old Style"/>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0"/>
          <p:cNvSpPr txBox="1"/>
          <p:nvPr>
            <p:ph type="title"/>
          </p:nvPr>
        </p:nvSpPr>
        <p:spPr>
          <a:xfrm>
            <a:off x="457200" y="274637"/>
            <a:ext cx="8229600" cy="5635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Objects</a:t>
            </a:r>
            <a:endParaRPr/>
          </a:p>
        </p:txBody>
      </p:sp>
      <p:sp>
        <p:nvSpPr>
          <p:cNvPr id="179" name="Google Shape;179;p10"/>
          <p:cNvSpPr txBox="1"/>
          <p:nvPr>
            <p:ph idx="1" type="body"/>
          </p:nvPr>
        </p:nvSpPr>
        <p:spPr>
          <a:xfrm>
            <a:off x="457200" y="1219200"/>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real-world objects have </a:t>
            </a:r>
            <a:r>
              <a:rPr b="0" i="1" lang="en-US" sz="2800" u="none">
                <a:solidFill>
                  <a:schemeClr val="dk1"/>
                </a:solidFill>
                <a:latin typeface="Calibri"/>
                <a:ea typeface="Calibri"/>
                <a:cs typeface="Calibri"/>
                <a:sym typeface="Calibri"/>
              </a:rPr>
              <a:t>state</a:t>
            </a:r>
            <a:r>
              <a:rPr b="0" i="0" lang="en-US" sz="2800" u="none">
                <a:solidFill>
                  <a:schemeClr val="dk1"/>
                </a:solidFill>
                <a:latin typeface="Calibri"/>
                <a:ea typeface="Calibri"/>
                <a:cs typeface="Calibri"/>
                <a:sym typeface="Calibri"/>
              </a:rPr>
              <a:t> and </a:t>
            </a:r>
            <a:r>
              <a:rPr b="0" i="1" lang="en-US" sz="2800" u="none">
                <a:solidFill>
                  <a:schemeClr val="dk1"/>
                </a:solidFill>
                <a:latin typeface="Calibri"/>
                <a:ea typeface="Calibri"/>
                <a:cs typeface="Calibri"/>
                <a:sym typeface="Calibri"/>
              </a:rPr>
              <a:t>behavior</a:t>
            </a:r>
            <a:r>
              <a:rPr b="0" i="0" lang="en-US" sz="2800" u="none">
                <a:solidFill>
                  <a:schemeClr val="dk1"/>
                </a:solidFill>
                <a:latin typeface="Calibri"/>
                <a:ea typeface="Calibri"/>
                <a:cs typeface="Calibri"/>
                <a:sym typeface="Calibri"/>
              </a:rPr>
              <a:t>.</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For example, </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horses have state (name, color, breed, hungry) and horses have behavior (barking, fetching, and slobbering on your newly cleaned slacks). </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Bikes have state (gear, accelerator, two wheels, number of gears, brakes) and behavior (braking, accelerating, slowing down and changing gears).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An object is a software bundle which encapsulates variables and methods, operating on those variables.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1"/>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Why should we use classes and objects</a:t>
            </a:r>
            <a:endParaRPr/>
          </a:p>
        </p:txBody>
      </p:sp>
      <p:sp>
        <p:nvSpPr>
          <p:cNvPr id="185" name="Google Shape;185;p11"/>
          <p:cNvSpPr txBox="1"/>
          <p:nvPr>
            <p:ph idx="1" type="body"/>
          </p:nvPr>
        </p:nvSpPr>
        <p:spPr>
          <a:xfrm>
            <a:off x="457200" y="1219200"/>
            <a:ext cx="4038600" cy="4525962"/>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800"/>
              <a:buNone/>
            </a:pPr>
            <a:r>
              <a:rPr b="0" i="0" lang="en-US" sz="2800" u="none">
                <a:solidFill>
                  <a:schemeClr val="dk1"/>
                </a:solidFill>
                <a:latin typeface="Calibri"/>
                <a:ea typeface="Calibri"/>
                <a:cs typeface="Calibri"/>
                <a:sym typeface="Calibri"/>
              </a:rPr>
              <a:t>	Modularity and information hiding i.e. data encapsulation can be incorporated using an object, in software. Classes, being blueprints, provide the benefit of reusability.</a:t>
            </a:r>
            <a:endParaRPr/>
          </a:p>
        </p:txBody>
      </p:sp>
      <p:pic>
        <p:nvPicPr>
          <p:cNvPr id="186" name="Google Shape;186;p11"/>
          <p:cNvPicPr preferRelativeResize="0"/>
          <p:nvPr>
            <p:ph idx="1" type="body"/>
          </p:nvPr>
        </p:nvPicPr>
        <p:blipFill rotWithShape="1">
          <a:blip r:embed="rId3">
            <a:alphaModFix/>
          </a:blip>
          <a:srcRect b="0" l="0" r="0" t="0"/>
          <a:stretch/>
        </p:blipFill>
        <p:spPr>
          <a:xfrm>
            <a:off x="4343400" y="1371600"/>
            <a:ext cx="4572000" cy="388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ph type="title"/>
          </p:nvPr>
        </p:nvSpPr>
        <p:spPr>
          <a:xfrm>
            <a:off x="457200" y="152400"/>
            <a:ext cx="8229600" cy="8382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Creating Objects</a:t>
            </a:r>
            <a:endParaRPr/>
          </a:p>
        </p:txBody>
      </p:sp>
      <p:sp>
        <p:nvSpPr>
          <p:cNvPr id="192" name="Google Shape;192;p12"/>
          <p:cNvSpPr txBox="1"/>
          <p:nvPr>
            <p:ph idx="1" type="body"/>
          </p:nvPr>
        </p:nvSpPr>
        <p:spPr>
          <a:xfrm>
            <a:off x="457200" y="1143000"/>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Java object created with a statement like this one: </a:t>
            </a:r>
            <a:endParaRPr/>
          </a:p>
          <a:p>
            <a:pPr indent="-342900" lvl="0" marL="342900" marR="0" rtl="0" algn="l">
              <a:lnSpc>
                <a:spcPct val="100000"/>
              </a:lnSpc>
              <a:spcBef>
                <a:spcPts val="640"/>
              </a:spcBef>
              <a:spcAft>
                <a:spcPts val="0"/>
              </a:spcAft>
              <a:buClr>
                <a:schemeClr val="dk1"/>
              </a:buClr>
              <a:buSzPts val="3200"/>
              <a:buFont typeface="Arial"/>
              <a:buNone/>
            </a:pPr>
            <a:r>
              <a:rPr b="1" i="0" lang="en-US" sz="32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SalesTaxCalculator obj1 = new 	SalesTaxCalculator (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statement creates a new SalesTaxCalculator object.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single statement declares, instantiates, and initializes the object.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800"/>
              <a:buFont typeface="Calibri"/>
              <a:buNone/>
            </a:pPr>
            <a:r>
              <a:rPr b="0" i="0" lang="en-US" sz="4800" u="none">
                <a:solidFill>
                  <a:schemeClr val="dk1"/>
                </a:solidFill>
                <a:latin typeface="Calibri"/>
                <a:ea typeface="Calibri"/>
                <a:cs typeface="Calibri"/>
                <a:sym typeface="Calibri"/>
              </a:rPr>
              <a:t>Declaring an Object</a:t>
            </a:r>
            <a:endParaRPr/>
          </a:p>
        </p:txBody>
      </p:sp>
      <p:sp>
        <p:nvSpPr>
          <p:cNvPr id="198" name="Google Shape;198;p13"/>
          <p:cNvSpPr txBox="1"/>
          <p:nvPr>
            <p:ph idx="1" type="body"/>
          </p:nvPr>
        </p:nvSpPr>
        <p:spPr>
          <a:xfrm>
            <a:off x="457200" y="1219200"/>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object declarations is same as variable declarations for e.g. </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SalesTaxCalculator obj1;</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Generally the declaration is as follows:</a:t>
            </a:r>
            <a:endParaRPr b="0" i="1" sz="2800" u="none">
              <a:solidFill>
                <a:schemeClr val="dk1"/>
              </a:solidFill>
              <a:latin typeface="Calibri"/>
              <a:ea typeface="Calibri"/>
              <a:cs typeface="Calibri"/>
              <a:sym typeface="Calibri"/>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type name;</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Where </a:t>
            </a:r>
            <a:r>
              <a:rPr b="0" i="1" lang="en-US" sz="2400" u="none" cap="none" strike="noStrike">
                <a:solidFill>
                  <a:schemeClr val="dk1"/>
                </a:solidFill>
                <a:latin typeface="Calibri"/>
                <a:ea typeface="Calibri"/>
                <a:cs typeface="Calibri"/>
                <a:sym typeface="Calibri"/>
              </a:rPr>
              <a:t>type</a:t>
            </a:r>
            <a:r>
              <a:rPr b="0" i="0" lang="en-US" sz="2400" u="none" cap="none" strike="noStrike">
                <a:solidFill>
                  <a:schemeClr val="dk1"/>
                </a:solidFill>
                <a:latin typeface="Calibri"/>
                <a:ea typeface="Calibri"/>
                <a:cs typeface="Calibri"/>
                <a:sym typeface="Calibri"/>
              </a:rPr>
              <a:t> is the type of the object (i.e. class name) and </a:t>
            </a:r>
            <a:r>
              <a:rPr b="0" i="1" lang="en-US" sz="2400" u="none" cap="none" strike="noStrike">
                <a:solidFill>
                  <a:schemeClr val="dk1"/>
                </a:solidFill>
                <a:latin typeface="Calibri"/>
                <a:ea typeface="Calibri"/>
                <a:cs typeface="Calibri"/>
                <a:sym typeface="Calibri"/>
              </a:rPr>
              <a:t>name</a:t>
            </a:r>
            <a:r>
              <a:rPr b="0" i="0" lang="en-US" sz="2400" u="none" cap="none" strike="noStrike">
                <a:solidFill>
                  <a:schemeClr val="dk1"/>
                </a:solidFill>
                <a:latin typeface="Calibri"/>
                <a:ea typeface="Calibri"/>
                <a:cs typeface="Calibri"/>
                <a:sym typeface="Calibri"/>
              </a:rPr>
              <a:t> is the name of the reference variable used to refer the object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Difference between variables and objects: </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variable holds a single type of literal, while an</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object is a instance of a class with a set of instance variables and methods which performs certain task depending what methods have been defined for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Initializing an object</a:t>
            </a:r>
            <a:endParaRPr/>
          </a:p>
        </p:txBody>
      </p:sp>
      <p:sp>
        <p:nvSpPr>
          <p:cNvPr id="204" name="Google Shape;204;p14"/>
          <p:cNvSpPr txBox="1"/>
          <p:nvPr>
            <p:ph idx="1" type="body"/>
          </p:nvPr>
        </p:nvSpPr>
        <p:spPr>
          <a:xfrm>
            <a:off x="457200" y="1189037"/>
            <a:ext cx="8229600" cy="5287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By initializing an object we mean that the instances variables are assigned some values. This task is accomplished using a constructor</a:t>
            </a:r>
            <a:r>
              <a:rPr b="0" i="1" lang="en-US" sz="2800" u="none">
                <a:solidFill>
                  <a:schemeClr val="dk1"/>
                </a:solidFill>
                <a:latin typeface="Calibri"/>
                <a:ea typeface="Calibri"/>
                <a:cs typeface="Calibri"/>
                <a:sym typeface="Calibri"/>
              </a:rPr>
              <a:t>.</a:t>
            </a:r>
            <a:r>
              <a:rPr b="0" i="0" lang="en-US" sz="2800" u="none">
                <a:solidFill>
                  <a:schemeClr val="dk1"/>
                </a:solidFill>
                <a:latin typeface="Calibri"/>
                <a:ea typeface="Calibri"/>
                <a:cs typeface="Calibri"/>
                <a:sym typeface="Calibri"/>
              </a:rPr>
              <a:t>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final object creation can be said as complete when the objects are initialized, either with an implicit constructor or an explicit constructor. This object creation can be used in programming code in two ways:</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SalesTaxCalculator obj1 = new SalesTaxCalculator (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Here all the three operations, object declaration, object instantiation and object initialization are done by one statement only. </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5"/>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Initializing an object</a:t>
            </a:r>
            <a:endParaRPr/>
          </a:p>
        </p:txBody>
      </p:sp>
      <p:sp>
        <p:nvSpPr>
          <p:cNvPr id="210" name="Google Shape;210;p15"/>
          <p:cNvSpPr txBox="1"/>
          <p:nvPr>
            <p:ph idx="1" type="body"/>
          </p:nvPr>
        </p:nvSpPr>
        <p:spPr>
          <a:xfrm>
            <a:off x="762000" y="1219200"/>
            <a:ext cx="7772400" cy="1371600"/>
          </a:xfrm>
          <a:prstGeom prst="rect">
            <a:avLst/>
          </a:prstGeom>
          <a:noFill/>
          <a:ln>
            <a:noFill/>
          </a:ln>
        </p:spPr>
        <p:txBody>
          <a:bodyPr anchorCtr="0" anchor="t" bIns="45700" lIns="91425" spcFirstLastPara="1" rIns="91425" wrap="square" tIns="45700">
            <a:noAutofit/>
          </a:bodyPr>
          <a:lstStyle/>
          <a:p>
            <a:pPr indent="-609600" lvl="0" marL="609600" rtl="0" algn="just">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above process actually takes place in following way: </a:t>
            </a:r>
            <a:endParaRPr/>
          </a:p>
          <a:p>
            <a:pPr indent="-609600" lvl="0" marL="609600" rtl="0" algn="just">
              <a:lnSpc>
                <a:spcPct val="90000"/>
              </a:lnSpc>
              <a:spcBef>
                <a:spcPts val="480"/>
              </a:spcBef>
              <a:spcAft>
                <a:spcPts val="0"/>
              </a:spcAft>
              <a:buClr>
                <a:schemeClr val="dk1"/>
              </a:buClr>
              <a:buSzPts val="2400"/>
              <a:buNone/>
            </a:pPr>
            <a:r>
              <a:rPr b="0" i="0" lang="en-US" sz="2400" u="none">
                <a:solidFill>
                  <a:schemeClr val="dk1"/>
                </a:solidFill>
                <a:latin typeface="Bookman Old Style"/>
                <a:ea typeface="Bookman Old Style"/>
                <a:cs typeface="Bookman Old Style"/>
                <a:sym typeface="Bookman Old Style"/>
              </a:rPr>
              <a:t>    </a:t>
            </a:r>
            <a:endParaRPr/>
          </a:p>
        </p:txBody>
      </p:sp>
      <p:sp>
        <p:nvSpPr>
          <p:cNvPr id="211" name="Google Shape;211;p15"/>
          <p:cNvSpPr txBox="1"/>
          <p:nvPr/>
        </p:nvSpPr>
        <p:spPr>
          <a:xfrm>
            <a:off x="5562600" y="4495800"/>
            <a:ext cx="12192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2" name="Google Shape;212;p15"/>
          <p:cNvSpPr txBox="1"/>
          <p:nvPr>
            <p:ph idx="1" type="body"/>
          </p:nvPr>
        </p:nvSpPr>
        <p:spPr>
          <a:xfrm>
            <a:off x="4648200" y="1600200"/>
            <a:ext cx="4038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pic>
        <p:nvPicPr>
          <p:cNvPr id="213" name="Google Shape;213;p15"/>
          <p:cNvPicPr preferRelativeResize="0"/>
          <p:nvPr/>
        </p:nvPicPr>
        <p:blipFill rotWithShape="1">
          <a:blip r:embed="rId3">
            <a:alphaModFix/>
          </a:blip>
          <a:srcRect b="0" l="0" r="0" t="0"/>
          <a:stretch/>
        </p:blipFill>
        <p:spPr>
          <a:xfrm>
            <a:off x="1295400" y="2128837"/>
            <a:ext cx="7010400" cy="427196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Instance Variable</a:t>
            </a:r>
            <a:endParaRPr/>
          </a:p>
        </p:txBody>
      </p:sp>
      <p:sp>
        <p:nvSpPr>
          <p:cNvPr id="219" name="Google Shape;219;p16"/>
          <p:cNvSpPr txBox="1"/>
          <p:nvPr>
            <p:ph idx="1" type="body"/>
          </p:nvPr>
        </p:nvSpPr>
        <p:spPr>
          <a:xfrm>
            <a:off x="457200" y="1143000"/>
            <a:ext cx="8229600" cy="5334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 class can have many instances, each instance having its own set of variables.  E.g.</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class SalesTaxCalculator {</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float amount=100.0f; // instance variable</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float taxRate=10.2f; //instance variable</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void calculateTax() {</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float taxAmt = amount*taxRate/100;</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System.out.println(taxAmt);   }</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public static void main (String args[ ])    	{</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SalesTaxCalculator obj1 = new SalesTaxCalculator();</a:t>
            </a:r>
            <a:endParaRPr/>
          </a:p>
          <a:p>
            <a:pPr indent="-342900" lvl="0" marL="342900" marR="0" rtl="0" algn="just">
              <a:lnSpc>
                <a:spcPct val="8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SalesTaxCalculator obj2 = new SalesTaxCalculator();</a:t>
            </a:r>
            <a:endParaRPr/>
          </a:p>
          <a:p>
            <a:pPr indent="-342900" lvl="0" marL="34290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System.out.println("Amount in Object 1: "+ obj1.amount);</a:t>
            </a:r>
            <a:endParaRPr/>
          </a:p>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System.out.println("Tax Rate in Object 1: "+ obj1.taxRate);</a:t>
            </a:r>
            <a:endParaRPr/>
          </a:p>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System.out.println("Amount in Object 2: "+ obj2.amount);</a:t>
            </a:r>
            <a:endParaRPr/>
          </a:p>
          <a:p>
            <a:pPr indent="-342900" lvl="0" marL="342900" marR="0" rtl="0" algn="l">
              <a:lnSpc>
                <a:spcPct val="100000"/>
              </a:lnSpc>
              <a:spcBef>
                <a:spcPts val="0"/>
              </a:spcBef>
              <a:spcAft>
                <a:spcPts val="0"/>
              </a:spcAft>
              <a:buClr>
                <a:schemeClr val="dk1"/>
              </a:buClr>
              <a:buSzPts val="2000"/>
              <a:buFont typeface="Arial"/>
              <a:buNone/>
            </a:pPr>
            <a:r>
              <a:rPr b="1" i="0" lang="en-US" sz="20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System.out.println("Tax Rate in Object 2: "+ obj2.taxRate);</a:t>
            </a:r>
            <a:r>
              <a:rPr b="0" i="0" lang="en-US" sz="2400" u="none">
                <a:solidFill>
                  <a:schemeClr val="dk1"/>
                </a:solidFill>
                <a:latin typeface="Calibri"/>
                <a:ea typeface="Calibri"/>
                <a:cs typeface="Calibri"/>
                <a:sym typeface="Calibri"/>
              </a:rPr>
              <a:t>     </a:t>
            </a:r>
            <a:endParaRPr/>
          </a:p>
          <a:p>
            <a:pPr indent="-342900" lvl="0" marL="34290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r>
              <a:rPr b="0" i="0" lang="en-US" sz="2000" u="none">
                <a:solidFill>
                  <a:schemeClr val="dk1"/>
                </a:solidFill>
                <a:latin typeface="Calibri"/>
                <a:ea typeface="Calibri"/>
                <a:cs typeface="Calibri"/>
                <a:sym typeface="Calibri"/>
              </a:rPr>
              <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Instance variable (contd.)</a:t>
            </a:r>
            <a:endParaRPr/>
          </a:p>
        </p:txBody>
      </p:sp>
      <p:sp>
        <p:nvSpPr>
          <p:cNvPr id="225" name="Google Shape;225;p17"/>
          <p:cNvSpPr txBox="1"/>
          <p:nvPr>
            <p:ph idx="1" type="body"/>
          </p:nvPr>
        </p:nvSpPr>
        <p:spPr>
          <a:xfrm>
            <a:off x="457200" y="1219200"/>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Each variable declared inside a class and outside the methods is termed as instance variable </a:t>
            </a:r>
            <a:r>
              <a:rPr b="1" i="0" lang="en-US" sz="2800" u="none">
                <a:solidFill>
                  <a:schemeClr val="dk1"/>
                </a:solidFill>
                <a:latin typeface="Calibri"/>
                <a:ea typeface="Calibri"/>
                <a:cs typeface="Calibri"/>
                <a:sym typeface="Calibri"/>
              </a:rPr>
              <a:t>(except static variables),</a:t>
            </a:r>
            <a:r>
              <a:rPr b="0" i="0" lang="en-US" sz="2800" u="none">
                <a:solidFill>
                  <a:schemeClr val="dk1"/>
                </a:solidFill>
                <a:latin typeface="Calibri"/>
                <a:ea typeface="Calibri"/>
                <a:cs typeface="Calibri"/>
                <a:sym typeface="Calibri"/>
              </a:rPr>
              <a:t> because they are created whenever an instance (object) of the class is created and these variables are initialized by the constructors.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the above example the two objects obj1 and obj2 will have their own set of instance variables. i.e. </a:t>
            </a:r>
            <a:r>
              <a:rPr b="0" i="1" lang="en-US" sz="2800" u="none">
                <a:solidFill>
                  <a:schemeClr val="dk1"/>
                </a:solidFill>
                <a:latin typeface="Calibri"/>
                <a:ea typeface="Calibri"/>
                <a:cs typeface="Calibri"/>
                <a:sym typeface="Calibri"/>
              </a:rPr>
              <a:t>obj1</a:t>
            </a:r>
            <a:r>
              <a:rPr b="0" i="0" lang="en-US" sz="2800" u="none">
                <a:solidFill>
                  <a:schemeClr val="dk1"/>
                </a:solidFill>
                <a:latin typeface="Calibri"/>
                <a:ea typeface="Calibri"/>
                <a:cs typeface="Calibri"/>
                <a:sym typeface="Calibri"/>
              </a:rPr>
              <a:t> will have its own </a:t>
            </a:r>
            <a:r>
              <a:rPr b="0" i="1" lang="en-US" sz="2800" u="none">
                <a:solidFill>
                  <a:schemeClr val="dk1"/>
                </a:solidFill>
                <a:latin typeface="Calibri"/>
                <a:ea typeface="Calibri"/>
                <a:cs typeface="Calibri"/>
                <a:sym typeface="Calibri"/>
              </a:rPr>
              <a:t>amount</a:t>
            </a:r>
            <a:r>
              <a:rPr b="0" i="0" lang="en-US" sz="2800" u="none">
                <a:solidFill>
                  <a:schemeClr val="dk1"/>
                </a:solidFill>
                <a:latin typeface="Calibri"/>
                <a:ea typeface="Calibri"/>
                <a:cs typeface="Calibri"/>
                <a:sym typeface="Calibri"/>
              </a:rPr>
              <a:t> and </a:t>
            </a:r>
            <a:r>
              <a:rPr b="0" i="1" lang="en-US" sz="2800" u="none">
                <a:solidFill>
                  <a:schemeClr val="dk1"/>
                </a:solidFill>
                <a:latin typeface="Calibri"/>
                <a:ea typeface="Calibri"/>
                <a:cs typeface="Calibri"/>
                <a:sym typeface="Calibri"/>
              </a:rPr>
              <a:t>taxRate</a:t>
            </a:r>
            <a:r>
              <a:rPr b="0" i="0" lang="en-US" sz="2800" u="none">
                <a:solidFill>
                  <a:schemeClr val="dk1"/>
                </a:solidFill>
                <a:latin typeface="Calibri"/>
                <a:ea typeface="Calibri"/>
                <a:cs typeface="Calibri"/>
                <a:sym typeface="Calibri"/>
              </a:rPr>
              <a:t> whereas </a:t>
            </a:r>
            <a:r>
              <a:rPr b="0" i="1" lang="en-US" sz="2800" u="none">
                <a:solidFill>
                  <a:schemeClr val="dk1"/>
                </a:solidFill>
                <a:latin typeface="Calibri"/>
                <a:ea typeface="Calibri"/>
                <a:cs typeface="Calibri"/>
                <a:sym typeface="Calibri"/>
              </a:rPr>
              <a:t>obj2</a:t>
            </a:r>
            <a:r>
              <a:rPr b="0" i="0" lang="en-US" sz="2800" u="none">
                <a:solidFill>
                  <a:schemeClr val="dk1"/>
                </a:solidFill>
                <a:latin typeface="Calibri"/>
                <a:ea typeface="Calibri"/>
                <a:cs typeface="Calibri"/>
                <a:sym typeface="Calibri"/>
              </a:rPr>
              <a:t> will have its own set of </a:t>
            </a:r>
            <a:r>
              <a:rPr b="0" i="1" lang="en-US" sz="2800" u="none">
                <a:solidFill>
                  <a:schemeClr val="dk1"/>
                </a:solidFill>
                <a:latin typeface="Calibri"/>
                <a:ea typeface="Calibri"/>
                <a:cs typeface="Calibri"/>
                <a:sym typeface="Calibri"/>
              </a:rPr>
              <a:t>amount</a:t>
            </a:r>
            <a:r>
              <a:rPr b="0" i="0" lang="en-US" sz="2800" u="none">
                <a:solidFill>
                  <a:schemeClr val="dk1"/>
                </a:solidFill>
                <a:latin typeface="Calibri"/>
                <a:ea typeface="Calibri"/>
                <a:cs typeface="Calibri"/>
                <a:sym typeface="Calibri"/>
              </a:rPr>
              <a:t> and </a:t>
            </a:r>
            <a:r>
              <a:rPr b="0" i="1" lang="en-US" sz="2800" u="none">
                <a:solidFill>
                  <a:schemeClr val="dk1"/>
                </a:solidFill>
                <a:latin typeface="Calibri"/>
                <a:ea typeface="Calibri"/>
                <a:cs typeface="Calibri"/>
                <a:sym typeface="Calibri"/>
              </a:rPr>
              <a:t>taxRate</a:t>
            </a:r>
            <a:r>
              <a:rPr b="0" i="0" lang="en-US" sz="2800" u="none">
                <a:solidFill>
                  <a:schemeClr val="dk1"/>
                </a:solidFill>
                <a:latin typeface="Calibri"/>
                <a:ea typeface="Calibri"/>
                <a:cs typeface="Calibri"/>
                <a:sym typeface="Calibri"/>
              </a:rPr>
              <a: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ph idx="1" type="body"/>
          </p:nvPr>
        </p:nvSpPr>
        <p:spPr>
          <a:xfrm>
            <a:off x="457200" y="1265237"/>
            <a:ext cx="8229600" cy="4906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For accessing value of an object</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Objectname.variablename </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to assign values to the variables of an object</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Objectname.variablename = value</a:t>
            </a:r>
            <a:r>
              <a:rPr b="0" i="0" lang="en-US" sz="2000" u="none" cap="none" strike="noStrike">
                <a:solidFill>
                  <a:schemeClr val="dk1"/>
                </a:solidFill>
                <a:latin typeface="Calibri"/>
                <a:ea typeface="Calibri"/>
                <a:cs typeface="Calibri"/>
                <a:sym typeface="Calibri"/>
              </a:rPr>
              <a:t> </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There are three ways of assigning values to the instance variables in the objects:</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Assigning values directly to the instance variables as shown below,</a:t>
            </a:r>
            <a:endParaRPr/>
          </a:p>
          <a:p>
            <a:pPr indent="-342900" lvl="0" marL="342900" marR="0" rtl="0" algn="l">
              <a:lnSpc>
                <a:spcPct val="9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r>
              <a:rPr b="0" i="0" lang="en-US" sz="2400" u="none">
                <a:solidFill>
                  <a:schemeClr val="dk1"/>
                </a:solidFill>
                <a:latin typeface="Calibri"/>
                <a:ea typeface="Calibri"/>
                <a:cs typeface="Calibri"/>
                <a:sym typeface="Calibri"/>
              </a:rPr>
              <a:t>float amount=100.0f;</a:t>
            </a:r>
            <a:r>
              <a:rPr b="0" i="0" lang="en-US" sz="2800" u="none">
                <a:solidFill>
                  <a:schemeClr val="dk1"/>
                </a:solidFill>
                <a:latin typeface="Bookman Old Style"/>
                <a:ea typeface="Bookman Old Style"/>
                <a:cs typeface="Bookman Old Style"/>
                <a:sym typeface="Bookman Old Style"/>
              </a:rPr>
              <a:t> </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Assigning values through a setter method </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values can be assigned using constructors. </a:t>
            </a:r>
            <a:endParaRPr/>
          </a:p>
        </p:txBody>
      </p:sp>
      <p:sp>
        <p:nvSpPr>
          <p:cNvPr id="231" name="Google Shape;231;p18"/>
          <p:cNvSpPr txBox="1"/>
          <p:nvPr/>
        </p:nvSpPr>
        <p:spPr>
          <a:xfrm>
            <a:off x="525462" y="381000"/>
            <a:ext cx="7704137"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Accessing Instance Variables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Methods</a:t>
            </a:r>
            <a:endParaRPr/>
          </a:p>
        </p:txBody>
      </p:sp>
      <p:sp>
        <p:nvSpPr>
          <p:cNvPr id="237" name="Google Shape;237;p19"/>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similar to a function in any other programming languages.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None of the methods can be declared outside the class.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Why use methods?</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To make code reusable</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To parameterize code</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For top-down programming</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To simplify code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0"/>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(contd.)</a:t>
            </a:r>
            <a:endParaRPr/>
          </a:p>
        </p:txBody>
      </p:sp>
      <p:sp>
        <p:nvSpPr>
          <p:cNvPr id="243" name="Google Shape;243;p20"/>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General syntax for a method declaration: </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r>
              <a:rPr b="0" i="0" lang="en-US" sz="2400" u="none">
                <a:solidFill>
                  <a:schemeClr val="dk1"/>
                </a:solidFill>
                <a:latin typeface="Calibri"/>
                <a:ea typeface="Calibri"/>
                <a:cs typeface="Calibri"/>
                <a:sym typeface="Calibri"/>
              </a:rPr>
              <a:t>[modifiers] return_type method_name (parameter_list) [throws_clause] {   [statement_list]}</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method declaration includes: </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Modifiers: The modifiers are optional. They can be, public, protected, default or private, static, abstract, final, native, 	synchronized, throws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Optional Modifiers Used with Methods</a:t>
            </a:r>
            <a:endParaRPr/>
          </a:p>
        </p:txBody>
      </p:sp>
      <p:pic>
        <p:nvPicPr>
          <p:cNvPr id="249" name="Google Shape;249;p21"/>
          <p:cNvPicPr preferRelativeResize="0"/>
          <p:nvPr>
            <p:ph idx="1" type="body"/>
          </p:nvPr>
        </p:nvPicPr>
        <p:blipFill rotWithShape="1">
          <a:blip r:embed="rId3">
            <a:alphaModFix/>
          </a:blip>
          <a:srcRect b="0" l="0" r="0" t="0"/>
          <a:stretch/>
        </p:blipFill>
        <p:spPr>
          <a:xfrm>
            <a:off x="457200" y="1371600"/>
            <a:ext cx="8153400" cy="475456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(contd.)</a:t>
            </a:r>
            <a:endParaRPr/>
          </a:p>
        </p:txBody>
      </p:sp>
      <p:sp>
        <p:nvSpPr>
          <p:cNvPr id="255" name="Google Shape;255;p22"/>
          <p:cNvSpPr txBox="1"/>
          <p:nvPr>
            <p:ph idx="1" type="body"/>
          </p:nvPr>
        </p:nvSpPr>
        <p:spPr>
          <a:xfrm>
            <a:off x="457200" y="1066800"/>
            <a:ext cx="8229600" cy="49831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Return Type: </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can be either void or if a value is returned, it can be either a primitive type or a class. </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If the method declares a return type, then before it exits it must have a return statement.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Method</a:t>
            </a:r>
            <a:r>
              <a:rPr b="1" i="0" lang="en-US" sz="28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Name</a:t>
            </a:r>
            <a:r>
              <a:rPr b="1" i="0" lang="en-US" sz="2800" u="none">
                <a:solidFill>
                  <a:schemeClr val="dk1"/>
                </a:solidFill>
                <a:latin typeface="Calibri"/>
                <a:ea typeface="Calibri"/>
                <a:cs typeface="Calibri"/>
                <a:sym typeface="Calibri"/>
              </a:rPr>
              <a:t>:</a:t>
            </a:r>
            <a:r>
              <a:rPr b="0" i="0" lang="en-US" sz="2800" u="none">
                <a:solidFill>
                  <a:schemeClr val="dk1"/>
                </a:solidFill>
                <a:latin typeface="Calibri"/>
                <a:ea typeface="Calibri"/>
                <a:cs typeface="Calibri"/>
                <a:sym typeface="Calibri"/>
              </a:rPr>
              <a:t> </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method name must be a valid Java identifier, as discussed in chapter 3.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Parameter</a:t>
            </a:r>
            <a:r>
              <a:rPr b="1" i="0" lang="en-US" sz="28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List</a:t>
            </a:r>
            <a:r>
              <a:rPr b="1" i="0" lang="en-US" sz="2800" u="none">
                <a:solidFill>
                  <a:schemeClr val="dk1"/>
                </a:solidFill>
                <a:latin typeface="Calibri"/>
                <a:ea typeface="Calibri"/>
                <a:cs typeface="Calibri"/>
                <a:sym typeface="Calibri"/>
              </a:rPr>
              <a:t>:</a:t>
            </a:r>
            <a:r>
              <a:rPr b="0" i="0" lang="en-US" sz="2800" u="none">
                <a:solidFill>
                  <a:schemeClr val="dk1"/>
                </a:solidFill>
                <a:latin typeface="Calibri"/>
                <a:ea typeface="Calibri"/>
                <a:cs typeface="Calibri"/>
                <a:sym typeface="Calibri"/>
              </a:rPr>
              <a:t> </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contains zero or more type/identifier pairs make up the parameter list. </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Each parameter in parameter list is separated by a comma.</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(contd.)</a:t>
            </a:r>
            <a:endParaRPr/>
          </a:p>
        </p:txBody>
      </p:sp>
      <p:sp>
        <p:nvSpPr>
          <p:cNvPr id="261" name="Google Shape;261;p23"/>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Curly</a:t>
            </a:r>
            <a:r>
              <a:rPr b="1" i="0" lang="en-US" sz="28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Braces: </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method body is contained in a set of curly braces (opening ‘{‘ and closing ‘}’). </a:t>
            </a:r>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Example</a:t>
            </a:r>
            <a:endParaRPr/>
          </a:p>
        </p:txBody>
      </p:sp>
      <p:sp>
        <p:nvSpPr>
          <p:cNvPr id="267" name="Google Shape;267;p24"/>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class Circle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float pi = 3.14f;</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float radius;</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void setRadius(float rad)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radius = rad;}</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float calculateArea()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float area = pi* radius*radius;</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return (area);</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invocation</a:t>
            </a:r>
            <a:endParaRPr/>
          </a:p>
        </p:txBody>
      </p:sp>
      <p:sp>
        <p:nvSpPr>
          <p:cNvPr id="273" name="Google Shape;273;p25"/>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Methods cannot run on their own, they need to be invoked by the objects they are a part of.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 an object calls a method, it can pass on certain values to the methods (if methods accept them)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methods can also return values from themselves if they wish to.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Data that are passed to a method are known as arguments or parameters;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Invocation</a:t>
            </a:r>
            <a:endParaRPr/>
          </a:p>
        </p:txBody>
      </p:sp>
      <p:sp>
        <p:nvSpPr>
          <p:cNvPr id="279" name="Google Shape;279;p26"/>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You must also know about different types of parameters:</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Formal Parameters: the identifier used in a method to stand for the value that is passed into the method by a caller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Actual Parameters: The actual value that is passed into the method by a caller </a:t>
            </a:r>
            <a:endParaRPr/>
          </a:p>
          <a:p>
            <a:pPr indent="-342900" lvl="0" marL="342900" marR="0" rtl="0" algn="just">
              <a:lnSpc>
                <a:spcPct val="90000"/>
              </a:lnSpc>
              <a:spcBef>
                <a:spcPts val="480"/>
              </a:spcBef>
              <a:spcAft>
                <a:spcPts val="0"/>
              </a:spcAft>
              <a:buClr>
                <a:schemeClr val="dk1"/>
              </a:buClr>
              <a:buSzPts val="2400"/>
              <a:buFont typeface="Arial"/>
              <a:buNone/>
            </a:pPr>
            <a:r>
              <a:t/>
            </a:r>
            <a:endParaRPr b="0" i="1" sz="2400" u="none">
              <a:solidFill>
                <a:schemeClr val="dk1"/>
              </a:solidFill>
              <a:latin typeface="Calibri"/>
              <a:ea typeface="Calibri"/>
              <a:cs typeface="Calibri"/>
              <a:sym typeface="Calibri"/>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number and type of the actual and formal parameters should be same for a method.</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 Java, all values are </a:t>
            </a:r>
            <a:r>
              <a:rPr b="1" i="0" lang="en-US" sz="2400" u="none">
                <a:solidFill>
                  <a:schemeClr val="dk1"/>
                </a:solidFill>
                <a:latin typeface="Calibri"/>
                <a:ea typeface="Calibri"/>
                <a:cs typeface="Calibri"/>
                <a:sym typeface="Calibri"/>
              </a:rPr>
              <a:t>passed</a:t>
            </a:r>
            <a:r>
              <a:rPr b="0" i="0" lang="en-US" sz="2400" u="none">
                <a:solidFill>
                  <a:schemeClr val="dk1"/>
                </a:solidFill>
                <a:latin typeface="Calibri"/>
                <a:ea typeface="Calibri"/>
                <a:cs typeface="Calibri"/>
                <a:sym typeface="Calibri"/>
              </a:rPr>
              <a:t> </a:t>
            </a:r>
            <a:r>
              <a:rPr b="1" i="0" lang="en-US" sz="2400" u="none">
                <a:solidFill>
                  <a:schemeClr val="dk1"/>
                </a:solidFill>
                <a:latin typeface="Calibri"/>
                <a:ea typeface="Calibri"/>
                <a:cs typeface="Calibri"/>
                <a:sym typeface="Calibri"/>
              </a:rPr>
              <a:t>by value</a:t>
            </a:r>
            <a:r>
              <a:rPr b="0" i="0" lang="en-US" sz="2400" u="none">
                <a:solidFill>
                  <a:schemeClr val="dk1"/>
                </a:solidFill>
                <a:latin typeface="Calibri"/>
                <a:ea typeface="Calibri"/>
                <a:cs typeface="Calibri"/>
                <a:sym typeface="Calibri"/>
              </a:rPr>
              <a:t>. This is unlike some other programming languages that allow pointers to memory addresses to be passed into methods.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Invocation</a:t>
            </a:r>
            <a:endParaRPr/>
          </a:p>
        </p:txBody>
      </p:sp>
      <p:sp>
        <p:nvSpPr>
          <p:cNvPr id="285" name="Google Shape;285;p27"/>
          <p:cNvSpPr txBox="1"/>
          <p:nvPr>
            <p:ph idx="1" type="body"/>
          </p:nvPr>
        </p:nvSpPr>
        <p:spPr>
          <a:xfrm>
            <a:off x="457200" y="14478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class CallMethod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public static void main (String args[])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float area1;</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Circle circleobj = new Circle();</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circleobj.setRadius(3.0f);</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area1 = circleobj.calculateArea();</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System.out.println("Area of Circle = " + area1);</a:t>
            </a:r>
            <a:endParaRPr/>
          </a:p>
          <a:p>
            <a:pPr indent="0" lvl="0" marL="0" marR="0" rtl="0" algn="l">
              <a:lnSpc>
                <a:spcPct val="100000"/>
              </a:lnSpc>
              <a:spcBef>
                <a:spcPts val="640"/>
              </a:spcBef>
              <a:spcAft>
                <a:spcPts val="0"/>
              </a:spcAft>
              <a:buClr>
                <a:schemeClr val="dk1"/>
              </a:buClr>
              <a:buSzPts val="3200"/>
              <a:buFont typeface="Arial"/>
              <a:buNone/>
            </a:pPr>
            <a:r>
              <a:rPr b="1" i="0" lang="en-US" sz="3200" u="none">
                <a:solidFill>
                  <a:schemeClr val="dk1"/>
                </a:solidFill>
                <a:latin typeface="Calibri"/>
                <a:ea typeface="Calibri"/>
                <a:cs typeface="Calibri"/>
                <a:sym typeface="Calibri"/>
              </a:rPr>
              <a:t> </a:t>
            </a:r>
            <a:r>
              <a:rPr b="0" i="0" lang="en-US" sz="3200" u="none">
                <a:solidFill>
                  <a:schemeClr val="dk1"/>
                </a:solidFill>
                <a:latin typeface="Calibri"/>
                <a:ea typeface="Calibri"/>
                <a:cs typeface="Calibri"/>
                <a:sym typeface="Calibri"/>
              </a:rPr>
              <a:t>}}</a:t>
            </a:r>
            <a:endParaRPr/>
          </a:p>
        </p:txBody>
      </p:sp>
      <p:sp>
        <p:nvSpPr>
          <p:cNvPr id="286" name="Google Shape;286;p2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Overloading</a:t>
            </a:r>
            <a:endParaRPr/>
          </a:p>
        </p:txBody>
      </p:sp>
      <p:sp>
        <p:nvSpPr>
          <p:cNvPr id="292" name="Google Shape;292;p28"/>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method overloading two methods can have the same name but different signature i.e. different number or type of parameters.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concept is advantageous where same kind of activities are to be performed but with different input parameters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Method Overloading Example</a:t>
            </a:r>
            <a:endParaRPr/>
          </a:p>
        </p:txBody>
      </p:sp>
      <p:sp>
        <p:nvSpPr>
          <p:cNvPr id="298" name="Google Shape;298;p29"/>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class OverloadDemo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void max(float a, float b)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//takes care of which number (float) is greater</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void max(int a, int b)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//takes care of which number (int) is greater</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public static void main(String args[])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OverloadDemo o=new OverloadDemo();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o.max(23L,12L); </a:t>
            </a:r>
            <a:endParaRPr/>
          </a:p>
          <a:p>
            <a:pPr indent="-342900" lvl="0" marL="34290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o.max(2,3);  } }</a:t>
            </a:r>
            <a:endParaRPr/>
          </a:p>
          <a:p>
            <a:pPr indent="-342900" lvl="0" marL="34290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Constructors</a:t>
            </a:r>
            <a:endParaRPr/>
          </a:p>
        </p:txBody>
      </p:sp>
      <p:sp>
        <p:nvSpPr>
          <p:cNvPr id="304" name="Google Shape;304;p30"/>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Java has a mechanism, known as constructor, for automatically initializing the values for an object, as soon as the object is created.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Constructors have the same name as the class it resides in and is syntactically similar to a method.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It is automatically called immediatey after the object for the class is created by  </a:t>
            </a:r>
            <a:r>
              <a:rPr b="1" i="0" lang="en-US" sz="2400" u="none">
                <a:solidFill>
                  <a:schemeClr val="dk1"/>
                </a:solidFill>
                <a:latin typeface="Calibri"/>
                <a:ea typeface="Calibri"/>
                <a:cs typeface="Calibri"/>
                <a:sym typeface="Calibri"/>
              </a:rPr>
              <a:t>new</a:t>
            </a:r>
            <a:r>
              <a:rPr b="0" i="0" lang="en-US" sz="2400" u="none">
                <a:solidFill>
                  <a:schemeClr val="dk1"/>
                </a:solidFill>
                <a:latin typeface="Calibri"/>
                <a:ea typeface="Calibri"/>
                <a:cs typeface="Calibri"/>
                <a:sym typeface="Calibri"/>
              </a:rPr>
              <a:t> operator.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Contructors have no return type, not even void,  as the implicit return type of a class’ constructor is the class type itself.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Types of Constructors: Implicit/Default, Explicit, Parameterized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Explicit Constructor Example</a:t>
            </a:r>
            <a:endParaRPr/>
          </a:p>
        </p:txBody>
      </p:sp>
      <p:sp>
        <p:nvSpPr>
          <p:cNvPr id="310" name="Google Shape;310;p31"/>
          <p:cNvSpPr txBox="1"/>
          <p:nvPr>
            <p:ph idx="1" type="body"/>
          </p:nvPr>
        </p:nvSpPr>
        <p:spPr>
          <a:xfrm>
            <a:off x="457200" y="13414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class  Room{</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double length, breadth, height, volume;</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Room( )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length = 14;</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breadth = 12;</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height = 10;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double volComp( )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volume = length * breadth * height;</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return volume;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 (contd.)</a:t>
            </a:r>
            <a:endParaRPr/>
          </a:p>
        </p:txBody>
      </p:sp>
      <p:sp>
        <p:nvSpPr>
          <p:cNvPr id="316" name="Google Shape;316;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public static void main (String args[ ])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Room r1 = new Room();</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Room r2 = new Room();</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System.out.println("The volume of the room is "+r1.volComp(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System.out.println("The volume of the room is "+r2.volComp(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Parameterized Constructor Example</a:t>
            </a:r>
            <a:endParaRPr/>
          </a:p>
        </p:txBody>
      </p:sp>
      <p:sp>
        <p:nvSpPr>
          <p:cNvPr id="322" name="Google Shape;322;p33"/>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class  Room2{</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double length, breadth, height, volume;</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Room2( double l, double b, double h)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length = l;</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breadth = b;</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height = h;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Computation of volume of the room</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double volComp( )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volume = length * breadth * height;</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return volume;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 (contd.)</a:t>
            </a:r>
            <a:endParaRPr/>
          </a:p>
        </p:txBody>
      </p:sp>
      <p:sp>
        <p:nvSpPr>
          <p:cNvPr id="328" name="Google Shape;328;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public static void main (String args[ ])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Room2 r1 = new Room2(14, 12, 10 );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Room2 r2 = new Room2(16, 15, 11 );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System.out.println("The volume of the room is "+r1.volComp(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System.out.println("The volume of the room is "+r2.volComp(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Constructor Vs Methods</a:t>
            </a:r>
            <a:endParaRPr/>
          </a:p>
        </p:txBody>
      </p:sp>
      <p:sp>
        <p:nvSpPr>
          <p:cNvPr id="334" name="Google Shape;334;p3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39700" lvl="0" marL="342900" marR="0" rtl="0" algn="l">
              <a:spcBef>
                <a:spcPts val="0"/>
              </a:spcBef>
              <a:spcAft>
                <a:spcPts val="0"/>
              </a:spcAft>
              <a:buClr>
                <a:schemeClr val="dk1"/>
              </a:buClr>
              <a:buSzPts val="3200"/>
              <a:buFont typeface="Arial"/>
              <a:buNone/>
            </a:pPr>
            <a:r>
              <a:t/>
            </a:r>
            <a:endParaRPr sz="3200">
              <a:solidFill>
                <a:schemeClr val="dk1"/>
              </a:solidFill>
              <a:latin typeface="Calibri"/>
              <a:ea typeface="Calibri"/>
              <a:cs typeface="Calibri"/>
              <a:sym typeface="Calibri"/>
            </a:endParaRPr>
          </a:p>
        </p:txBody>
      </p:sp>
      <p:sp>
        <p:nvSpPr>
          <p:cNvPr id="335" name="Google Shape;335;p3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36" name="Google Shape;336;p35"/>
          <p:cNvPicPr preferRelativeResize="0"/>
          <p:nvPr/>
        </p:nvPicPr>
        <p:blipFill rotWithShape="1">
          <a:blip r:embed="rId3">
            <a:alphaModFix/>
          </a:blip>
          <a:srcRect b="0" l="0" r="0" t="0"/>
          <a:stretch/>
        </p:blipFill>
        <p:spPr>
          <a:xfrm>
            <a:off x="190500" y="1608137"/>
            <a:ext cx="8801100" cy="410686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Constructor Overloading</a:t>
            </a:r>
            <a:endParaRPr/>
          </a:p>
        </p:txBody>
      </p:sp>
      <p:sp>
        <p:nvSpPr>
          <p:cNvPr id="342" name="Google Shape;342;p36"/>
          <p:cNvSpPr txBox="1"/>
          <p:nvPr>
            <p:ph idx="1" type="body"/>
          </p:nvPr>
        </p:nvSpPr>
        <p:spPr>
          <a:xfrm>
            <a:off x="457200" y="1265237"/>
            <a:ext cx="83820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Constructors for a class have the same name as the class but they can have different signature i.e. different types of arguments or different number of arguments. Such constructors can be termed as overloaded constructors.</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the example given on next slide, we have two different classes, </a:t>
            </a:r>
            <a:r>
              <a:rPr b="0" i="1" lang="en-US" sz="2800" u="none">
                <a:solidFill>
                  <a:schemeClr val="dk1"/>
                </a:solidFill>
                <a:latin typeface="Calibri"/>
                <a:ea typeface="Calibri"/>
                <a:cs typeface="Calibri"/>
                <a:sym typeface="Calibri"/>
              </a:rPr>
              <a:t>Rectangle</a:t>
            </a:r>
            <a:r>
              <a:rPr b="0" i="0" lang="en-US" sz="2800" u="none">
                <a:solidFill>
                  <a:schemeClr val="dk1"/>
                </a:solidFill>
                <a:latin typeface="Calibri"/>
                <a:ea typeface="Calibri"/>
                <a:cs typeface="Calibri"/>
                <a:sym typeface="Calibri"/>
              </a:rPr>
              <a:t> and </a:t>
            </a:r>
            <a:r>
              <a:rPr b="0" i="1" lang="en-US" sz="2800" u="none">
                <a:solidFill>
                  <a:schemeClr val="dk1"/>
                </a:solidFill>
                <a:latin typeface="Calibri"/>
                <a:ea typeface="Calibri"/>
                <a:cs typeface="Calibri"/>
                <a:sym typeface="Calibri"/>
              </a:rPr>
              <a:t>ConstOverloading.</a:t>
            </a:r>
            <a:r>
              <a:rPr b="0" i="0" lang="en-US" sz="2800" u="none">
                <a:solidFill>
                  <a:schemeClr val="dk1"/>
                </a:solidFill>
                <a:latin typeface="Calibri"/>
                <a:ea typeface="Calibri"/>
                <a:cs typeface="Calibri"/>
                <a:sym typeface="Calibri"/>
              </a:rPr>
              <a:t> Rectangle class has two constructors, both with same names but different signatures. Second class </a:t>
            </a:r>
            <a:r>
              <a:rPr b="0" i="1" lang="en-US" sz="2800" u="none">
                <a:solidFill>
                  <a:schemeClr val="dk1"/>
                </a:solidFill>
                <a:latin typeface="Calibri"/>
                <a:ea typeface="Calibri"/>
                <a:cs typeface="Calibri"/>
                <a:sym typeface="Calibri"/>
              </a:rPr>
              <a:t>ConstOverloading,</a:t>
            </a:r>
            <a:r>
              <a:rPr b="0" i="0" lang="en-US" sz="2800" u="none">
                <a:solidFill>
                  <a:schemeClr val="dk1"/>
                </a:solidFill>
                <a:latin typeface="Calibri"/>
                <a:ea typeface="Calibri"/>
                <a:cs typeface="Calibri"/>
                <a:sym typeface="Calibri"/>
              </a:rPr>
              <a:t> has the </a:t>
            </a:r>
            <a:r>
              <a:rPr b="0" i="1" lang="en-US" sz="2800" u="none">
                <a:solidFill>
                  <a:schemeClr val="dk1"/>
                </a:solidFill>
                <a:latin typeface="Calibri"/>
                <a:ea typeface="Calibri"/>
                <a:cs typeface="Calibri"/>
                <a:sym typeface="Calibri"/>
              </a:rPr>
              <a:t>main( )</a:t>
            </a:r>
            <a:r>
              <a:rPr b="0" i="0" lang="en-US" sz="2800" u="none">
                <a:solidFill>
                  <a:schemeClr val="dk1"/>
                </a:solidFill>
                <a:latin typeface="Calibri"/>
                <a:ea typeface="Calibri"/>
                <a:cs typeface="Calibri"/>
                <a:sym typeface="Calibri"/>
              </a:rPr>
              <a:t> method inside  it.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Constructor Overloading Example</a:t>
            </a:r>
            <a:endParaRPr/>
          </a:p>
        </p:txBody>
      </p:sp>
      <p:sp>
        <p:nvSpPr>
          <p:cNvPr id="348" name="Google Shape;348;p37"/>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7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class Rectangle{</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int l, b;</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Rectangle(){</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l = 10;</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b = 20;</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Rectangle(int x, int y){</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l = x;</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b = y;</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int area() {</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return l*b;</a:t>
            </a:r>
            <a:endParaRPr/>
          </a:p>
          <a:p>
            <a:pPr indent="-342900" lvl="0" marL="342900" marR="0" rtl="0" algn="l">
              <a:lnSpc>
                <a:spcPct val="7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Constructor Overloading Example…..</a:t>
            </a:r>
            <a:endParaRPr/>
          </a:p>
        </p:txBody>
      </p:sp>
      <p:sp>
        <p:nvSpPr>
          <p:cNvPr id="354" name="Google Shape;354;p38"/>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class ConstOverloading   {</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public static void main(String args[]) {</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Rectangle rectangle1=new Rectangle();</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System.out.println("The area of a rectangle using first constructor is: 	"+rectangle1.area());</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Rectangle rectangle2=new Rectangle(4,5);</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System.out.println("The area of a rectangle using second constructor is:	"+rectangle2.area();</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360" name="Google Shape;360;p39"/>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The area of a rectangle using first constructor is: 200</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The area of a rectangle using second constructor is: 20</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this keyword</a:t>
            </a:r>
            <a:endParaRPr/>
          </a:p>
        </p:txBody>
      </p:sp>
      <p:sp>
        <p:nvSpPr>
          <p:cNvPr id="366" name="Google Shape;366;p40"/>
          <p:cNvSpPr txBox="1"/>
          <p:nvPr>
            <p:ph idx="1" type="body"/>
          </p:nvPr>
        </p:nvSpPr>
        <p:spPr>
          <a:xfrm>
            <a:off x="457200" y="12652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keyword “this” is used in an instance method to refer to the object that contains the method, i.e. the it refers to the current object.</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Whenever and wherever, a reference to an object of the current class type is required, ‘this’ can be used.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It has two other usages: </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Differentiating between instance variables and local variables</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Constructor chaining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this keyword (contd.)</a:t>
            </a:r>
            <a:endParaRPr/>
          </a:p>
        </p:txBody>
      </p:sp>
      <p:sp>
        <p:nvSpPr>
          <p:cNvPr id="372" name="Google Shape;372;p41"/>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To differentaite between Instance variables and local variables</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Room2( double l, double b, double h) {</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this.length = l;</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this.breadth = b;</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this.height = h;</a:t>
            </a:r>
            <a:endParaRPr/>
          </a:p>
          <a:p>
            <a:pPr indent="-342900" lvl="0" marL="342900" marR="0" rtl="0" algn="just">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Constructor chaining</a:t>
            </a:r>
            <a:endParaRPr/>
          </a:p>
        </p:txBody>
      </p:sp>
      <p:sp>
        <p:nvSpPr>
          <p:cNvPr id="378" name="Google Shape;378;p42"/>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It means a constructor can be called from another constructor.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/*First Const.*/ Room2()</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constructor chained</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this(14,12,10);</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/*Second Const.*/ Room2( double l, double b, double h) {</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length = l;</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breadth = b;</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height = h;</a:t>
            </a:r>
            <a:endParaRPr/>
          </a:p>
          <a:p>
            <a:pPr indent="-342900" lvl="0" marL="342900" marR="0" rtl="0" algn="l">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Cleaning up unused object</a:t>
            </a:r>
            <a:endParaRPr/>
          </a:p>
        </p:txBody>
      </p:sp>
      <p:sp>
        <p:nvSpPr>
          <p:cNvPr id="384" name="Google Shape;384;p43"/>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Java allows a programmer to create as many objects as he/she wants but frees him/her from worrying about destroying them. The Java runtime environment deletes objects when it determines that they are no longer required.</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Java runtime environment has a garbage collector that periodically frees the memory used by objects that are no longer needed.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Before an object gets garbage collected, the garbage collector gives the object an opportunity to clean up itself through a call to the object's finalize() method. This process is known as finalization.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8" name="Shape 388"/>
        <p:cNvGrpSpPr/>
        <p:nvPr/>
      </p:nvGrpSpPr>
      <p:grpSpPr>
        <a:xfrm>
          <a:off x="0" y="0"/>
          <a:ext cx="0" cy="0"/>
          <a:chOff x="0" y="0"/>
          <a:chExt cx="0" cy="0"/>
        </a:xfrm>
      </p:grpSpPr>
      <p:sp>
        <p:nvSpPr>
          <p:cNvPr id="389" name="Google Shape;389;p44"/>
          <p:cNvSpPr txBox="1"/>
          <p:nvPr>
            <p:ph type="title"/>
          </p:nvPr>
        </p:nvSpPr>
        <p:spPr>
          <a:xfrm>
            <a:off x="457200" y="274637"/>
            <a:ext cx="8229600" cy="9445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Garbage Collector</a:t>
            </a:r>
            <a:endParaRPr/>
          </a:p>
        </p:txBody>
      </p:sp>
      <p:sp>
        <p:nvSpPr>
          <p:cNvPr id="390" name="Google Shape;390;p44"/>
          <p:cNvSpPr txBox="1"/>
          <p:nvPr>
            <p:ph idx="1" type="body"/>
          </p:nvPr>
        </p:nvSpPr>
        <p:spPr>
          <a:xfrm>
            <a:off x="457200" y="11890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Two basic approaches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R</a:t>
            </a:r>
            <a:r>
              <a:rPr b="0" i="1" lang="en-US" sz="2800" u="none" cap="none" strike="noStrike">
                <a:solidFill>
                  <a:schemeClr val="dk1"/>
                </a:solidFill>
                <a:latin typeface="Calibri"/>
                <a:ea typeface="Calibri"/>
                <a:cs typeface="Calibri"/>
                <a:sym typeface="Calibri"/>
              </a:rPr>
              <a:t>eference counting </a:t>
            </a:r>
            <a:r>
              <a:rPr b="0" i="0" lang="en-US" sz="2800" u="none" cap="none" strike="noStrike">
                <a:solidFill>
                  <a:schemeClr val="dk1"/>
                </a:solidFill>
                <a:latin typeface="Calibri"/>
                <a:ea typeface="Calibri"/>
                <a:cs typeface="Calibri"/>
                <a:sym typeface="Calibri"/>
              </a:rPr>
              <a:t>and </a:t>
            </a:r>
            <a:endParaRPr/>
          </a:p>
          <a:p>
            <a:pPr indent="-285750" lvl="1" marL="742950" marR="0" rtl="0" algn="l">
              <a:lnSpc>
                <a:spcPct val="100000"/>
              </a:lnSpc>
              <a:spcBef>
                <a:spcPts val="560"/>
              </a:spcBef>
              <a:spcAft>
                <a:spcPts val="0"/>
              </a:spcAft>
              <a:buClr>
                <a:schemeClr val="dk1"/>
              </a:buClr>
              <a:buSzPts val="2800"/>
              <a:buFont typeface="Arial"/>
              <a:buChar char="–"/>
            </a:pPr>
            <a:r>
              <a:rPr b="0" i="1" lang="en-US" sz="2800" u="none" cap="none" strike="noStrike">
                <a:solidFill>
                  <a:schemeClr val="dk1"/>
                </a:solidFill>
                <a:latin typeface="Calibri"/>
                <a:ea typeface="Calibri"/>
                <a:cs typeface="Calibri"/>
                <a:sym typeface="Calibri"/>
              </a:rPr>
              <a:t>tracing</a:t>
            </a:r>
            <a:r>
              <a:rPr b="0" i="0" lang="en-US" sz="2800" u="none" cap="none" strike="noStrike">
                <a:solidFill>
                  <a:schemeClr val="dk1"/>
                </a:solidFill>
                <a:latin typeface="Calibri"/>
                <a:ea typeface="Calibri"/>
                <a:cs typeface="Calibri"/>
                <a:sym typeface="Calibri"/>
              </a:rPr>
              <a:t>.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Reference counting maintains a reference count for every object.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It is incremented and decremented as and when the references on objects increase or decrease (leave an object)</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When reference count for a particular object is 0, the object can be garbage collected.</a:t>
            </a:r>
            <a:endParaRPr/>
          </a:p>
        </p:txBody>
      </p:sp>
      <p:sp>
        <p:nvSpPr>
          <p:cNvPr id="391" name="Google Shape;391;p4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5" name="Shape 395"/>
        <p:cNvGrpSpPr/>
        <p:nvPr/>
      </p:nvGrpSpPr>
      <p:grpSpPr>
        <a:xfrm>
          <a:off x="0" y="0"/>
          <a:ext cx="0" cy="0"/>
          <a:chOff x="0" y="0"/>
          <a:chExt cx="0" cy="0"/>
        </a:xfrm>
      </p:grpSpPr>
      <p:sp>
        <p:nvSpPr>
          <p:cNvPr id="396" name="Google Shape;396;p45"/>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Garbage Collector (contd.)</a:t>
            </a:r>
            <a:endParaRPr/>
          </a:p>
        </p:txBody>
      </p:sp>
      <p:sp>
        <p:nvSpPr>
          <p:cNvPr id="397" name="Google Shape;397;p45"/>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Tracing technique traces the entire set of objects (starting from root) and all objects having reference on them are marked in some way.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a.k.a </a:t>
            </a:r>
            <a:r>
              <a:rPr b="0" i="1" lang="en-US" sz="3200" u="none">
                <a:solidFill>
                  <a:schemeClr val="dk1"/>
                </a:solidFill>
                <a:latin typeface="Calibri"/>
                <a:ea typeface="Calibri"/>
                <a:cs typeface="Calibri"/>
                <a:sym typeface="Calibri"/>
              </a:rPr>
              <a:t>mark and sweep </a:t>
            </a:r>
            <a:r>
              <a:rPr b="0" i="0" lang="en-US" sz="3200" u="none">
                <a:solidFill>
                  <a:schemeClr val="dk1"/>
                </a:solidFill>
                <a:latin typeface="Calibri"/>
                <a:ea typeface="Calibri"/>
                <a:cs typeface="Calibri"/>
                <a:sym typeface="Calibri"/>
              </a:rPr>
              <a:t>garbage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objects that are not marked (not referenced) are assumed to be garbage and their memory is reclaimed. </a:t>
            </a:r>
            <a:endParaRPr/>
          </a:p>
        </p:txBody>
      </p:sp>
      <p:sp>
        <p:nvSpPr>
          <p:cNvPr id="398" name="Google Shape;398;p4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2" name="Shape 402"/>
        <p:cNvGrpSpPr/>
        <p:nvPr/>
      </p:nvGrpSpPr>
      <p:grpSpPr>
        <a:xfrm>
          <a:off x="0" y="0"/>
          <a:ext cx="0" cy="0"/>
          <a:chOff x="0" y="0"/>
          <a:chExt cx="0" cy="0"/>
        </a:xfrm>
      </p:grpSpPr>
      <p:sp>
        <p:nvSpPr>
          <p:cNvPr id="403" name="Google Shape;403;p46"/>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Garbage Collector (contd.)</a:t>
            </a:r>
            <a:endParaRPr/>
          </a:p>
        </p:txBody>
      </p:sp>
      <p:sp>
        <p:nvSpPr>
          <p:cNvPr id="404" name="Google Shape;404;p46"/>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Mark and sweep collectors further use the techniques of Compaction and Copying for fragmentation problems that may arise once you sweep the unreferenced objects.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Compaction moves all the live objects towards one end making the other end a large free space and copying techniques copies all live objects besides each other into a new space and the old space is considered free now.</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405" name="Google Shape;405;p4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9" name="Shape 409"/>
        <p:cNvGrpSpPr/>
        <p:nvPr/>
      </p:nvGrpSpPr>
      <p:grpSpPr>
        <a:xfrm>
          <a:off x="0" y="0"/>
          <a:ext cx="0" cy="0"/>
          <a:chOff x="0" y="0"/>
          <a:chExt cx="0" cy="0"/>
        </a:xfrm>
      </p:grpSpPr>
      <p:sp>
        <p:nvSpPr>
          <p:cNvPr id="410" name="Google Shape;410;p4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Advantages</a:t>
            </a:r>
            <a:endParaRPr/>
          </a:p>
        </p:txBody>
      </p:sp>
      <p:sp>
        <p:nvSpPr>
          <p:cNvPr id="411" name="Google Shape;411;p4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Free From worrying about deallocation of memory</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helps in ensuring integrity of programs.</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no way by which Java programmers can knowingly or unknowingly free memory incorrectly.</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412" name="Google Shape;412;p4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6" name="Shape 416"/>
        <p:cNvGrpSpPr/>
        <p:nvPr/>
      </p:nvGrpSpPr>
      <p:grpSpPr>
        <a:xfrm>
          <a:off x="0" y="0"/>
          <a:ext cx="0" cy="0"/>
          <a:chOff x="0" y="0"/>
          <a:chExt cx="0" cy="0"/>
        </a:xfrm>
      </p:grpSpPr>
      <p:sp>
        <p:nvSpPr>
          <p:cNvPr id="417" name="Google Shape;417;p4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Disadvantages</a:t>
            </a:r>
            <a:endParaRPr/>
          </a:p>
        </p:txBody>
      </p:sp>
      <p:sp>
        <p:nvSpPr>
          <p:cNvPr id="418" name="Google Shape;418;p48"/>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overhead to keep track of which objects are being referenced by the executing program and which are not being referenced</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overhead is also incurred on finalization and freeing memory of the unreferenced objects.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These activities will incur more CPU time than would have been incurred if the programmers would have explicitly deallocated memory.</a:t>
            </a:r>
            <a:endParaRPr/>
          </a:p>
        </p:txBody>
      </p:sp>
      <p:sp>
        <p:nvSpPr>
          <p:cNvPr id="419" name="Google Shape;419;p4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3" name="Shape 423"/>
        <p:cNvGrpSpPr/>
        <p:nvPr/>
      </p:nvGrpSpPr>
      <p:grpSpPr>
        <a:xfrm>
          <a:off x="0" y="0"/>
          <a:ext cx="0" cy="0"/>
          <a:chOff x="0" y="0"/>
          <a:chExt cx="0" cy="0"/>
        </a:xfrm>
      </p:grpSpPr>
      <p:sp>
        <p:nvSpPr>
          <p:cNvPr id="424" name="Google Shape;424;p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Your turn</a:t>
            </a:r>
            <a:endParaRPr/>
          </a:p>
        </p:txBody>
      </p:sp>
      <p:sp>
        <p:nvSpPr>
          <p:cNvPr id="425" name="Google Shape;425;p49"/>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is Method Overloading?</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is a constructor?</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Why do we overload constructors?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Explain the use of this keyword?</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is Garbage collection?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426" name="Google Shape;426;p4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static keyword </a:t>
            </a:r>
            <a:endParaRPr/>
          </a:p>
        </p:txBody>
      </p:sp>
      <p:sp>
        <p:nvSpPr>
          <p:cNvPr id="432" name="Google Shape;432;p50"/>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rmAutofit/>
          </a:bodyPr>
          <a:lstStyle/>
          <a:p>
            <a:pPr indent="-342900" lvl="0" marL="342900" marR="0" rtl="0" algn="just">
              <a:lnSpc>
                <a:spcPct val="8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Different objects, variables and methods will occupy different areas of memory when created/called. Sometimes we would like to have multiple objects, share variables or methods.  The </a:t>
            </a:r>
            <a:r>
              <a:rPr b="0" i="1" lang="en-US" sz="2600" u="none">
                <a:solidFill>
                  <a:schemeClr val="dk1"/>
                </a:solidFill>
                <a:latin typeface="Calibri"/>
                <a:ea typeface="Calibri"/>
                <a:cs typeface="Calibri"/>
                <a:sym typeface="Calibri"/>
              </a:rPr>
              <a:t>static</a:t>
            </a:r>
            <a:r>
              <a:rPr b="0" i="0" lang="en-US" sz="2600" u="none">
                <a:solidFill>
                  <a:schemeClr val="dk1"/>
                </a:solidFill>
                <a:latin typeface="Calibri"/>
                <a:ea typeface="Calibri"/>
                <a:cs typeface="Calibri"/>
                <a:sym typeface="Calibri"/>
              </a:rPr>
              <a:t> keyword effectively does this for us. </a:t>
            </a:r>
            <a:endParaRPr/>
          </a:p>
          <a:p>
            <a:pPr indent="-342900" lvl="0" marL="342900" marR="0" rtl="0" algn="just">
              <a:lnSpc>
                <a:spcPct val="80000"/>
              </a:lnSpc>
              <a:spcBef>
                <a:spcPts val="52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Static keyword can be applied to variables/methods and blocks of code.</a:t>
            </a:r>
            <a:endParaRPr/>
          </a:p>
          <a:p>
            <a:pPr indent="-342900" lvl="0" marL="342900" marR="0" rtl="0" algn="just">
              <a:lnSpc>
                <a:spcPct val="80000"/>
              </a:lnSpc>
              <a:spcBef>
                <a:spcPts val="52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Java supports three types of variables: Local, Instance and Class variables </a:t>
            </a:r>
            <a:endParaRPr/>
          </a:p>
          <a:p>
            <a:pPr indent="-285750" lvl="1" marL="742950" marR="0" rtl="0" algn="just">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Local</a:t>
            </a:r>
            <a:r>
              <a:rPr b="1" i="0" lang="en-US" sz="2200" u="none" cap="none" strike="noStrike">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variables</a:t>
            </a:r>
            <a:r>
              <a:rPr b="1" i="0" lang="en-US" sz="2200" u="none" cap="none" strike="noStrike">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are declared inside a method, constructor, or a block of code </a:t>
            </a:r>
            <a:endParaRPr/>
          </a:p>
          <a:p>
            <a:pPr indent="-285750" lvl="1" marL="742950" marR="0" rtl="0" algn="just">
              <a:lnSpc>
                <a:spcPct val="80000"/>
              </a:lnSpc>
              <a:spcBef>
                <a:spcPts val="440"/>
              </a:spcBef>
              <a:spcAft>
                <a:spcPts val="0"/>
              </a:spcAft>
              <a:buClr>
                <a:schemeClr val="dk1"/>
              </a:buClr>
              <a:buSzPts val="2200"/>
              <a:buFont typeface="Arial"/>
              <a:buChar char="–"/>
            </a:pPr>
            <a:r>
              <a:rPr b="0" i="0" lang="en-US" sz="2200" u="none" cap="none" strike="noStrike">
                <a:solidFill>
                  <a:schemeClr val="dk1"/>
                </a:solidFill>
                <a:latin typeface="Calibri"/>
                <a:ea typeface="Calibri"/>
                <a:cs typeface="Calibri"/>
                <a:sym typeface="Calibri"/>
              </a:rPr>
              <a:t>Instance</a:t>
            </a:r>
            <a:r>
              <a:rPr b="1" i="0" lang="en-US" sz="2200" u="none" cap="none" strike="noStrike">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variable</a:t>
            </a:r>
            <a:r>
              <a:rPr b="1" i="0" lang="en-US" sz="2200" u="none" cap="none" strike="noStrike">
                <a:solidFill>
                  <a:schemeClr val="dk1"/>
                </a:solidFill>
                <a:latin typeface="Calibri"/>
                <a:ea typeface="Calibri"/>
                <a:cs typeface="Calibri"/>
                <a:sym typeface="Calibri"/>
              </a:rPr>
              <a:t> </a:t>
            </a:r>
            <a:r>
              <a:rPr b="0" i="0" lang="en-US" sz="2200" u="none" cap="none" strike="noStrike">
                <a:solidFill>
                  <a:schemeClr val="dk1"/>
                </a:solidFill>
                <a:latin typeface="Calibri"/>
                <a:ea typeface="Calibri"/>
                <a:cs typeface="Calibri"/>
                <a:sym typeface="Calibri"/>
              </a:rPr>
              <a:t>are declared inside a class, but outside a method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static keyword (contd.)</a:t>
            </a:r>
            <a:endParaRPr/>
          </a:p>
        </p:txBody>
      </p:sp>
      <p:sp>
        <p:nvSpPr>
          <p:cNvPr id="438" name="Google Shape;438;p51"/>
          <p:cNvSpPr txBox="1"/>
          <p:nvPr>
            <p:ph idx="1" type="body"/>
          </p:nvPr>
        </p:nvSpPr>
        <p:spPr>
          <a:xfrm>
            <a:off x="457200" y="1341437"/>
            <a:ext cx="8229600" cy="4525962"/>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Class/static variables declaration is preceded with a </a:t>
            </a:r>
            <a:r>
              <a:rPr b="0" i="1" lang="en-US" sz="2400" u="none" cap="none" strike="noStrike">
                <a:solidFill>
                  <a:schemeClr val="dk1"/>
                </a:solidFill>
                <a:latin typeface="Calibri"/>
                <a:ea typeface="Calibri"/>
                <a:cs typeface="Calibri"/>
                <a:sym typeface="Calibri"/>
              </a:rPr>
              <a:t>static</a:t>
            </a:r>
            <a:r>
              <a:rPr b="0" i="0" lang="en-US" sz="2400" u="none" cap="none" strike="noStrike">
                <a:solidFill>
                  <a:schemeClr val="dk1"/>
                </a:solidFill>
                <a:latin typeface="Calibri"/>
                <a:ea typeface="Calibri"/>
                <a:cs typeface="Calibri"/>
                <a:sym typeface="Calibri"/>
              </a:rPr>
              <a:t> keyword. They are also declared inside a class, but outside a method. The most important point about static variables is that there exists only one a single copy of static variables per class. </a:t>
            </a:r>
            <a:endParaRPr/>
          </a:p>
          <a:p>
            <a:pPr indent="-228600" lvl="2" marL="1143000" marR="0" rtl="0" algn="just">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The effect of doing this is that when we create multiple objects of that class, every object shares the </a:t>
            </a:r>
            <a:r>
              <a:rPr b="0" i="1" lang="en-US" sz="2000" u="none" cap="none" strike="noStrike">
                <a:solidFill>
                  <a:schemeClr val="dk1"/>
                </a:solidFill>
                <a:latin typeface="Calibri"/>
                <a:ea typeface="Calibri"/>
                <a:cs typeface="Calibri"/>
                <a:sym typeface="Calibri"/>
              </a:rPr>
              <a:t>static</a:t>
            </a:r>
            <a:r>
              <a:rPr b="0" i="0" lang="en-US" sz="2000" u="none" cap="none" strike="noStrike">
                <a:solidFill>
                  <a:schemeClr val="dk1"/>
                </a:solidFill>
                <a:latin typeface="Calibri"/>
                <a:ea typeface="Calibri"/>
                <a:cs typeface="Calibri"/>
                <a:sym typeface="Calibri"/>
              </a:rPr>
              <a:t> variable i.e. there is only one copy of the variable declared as </a:t>
            </a:r>
            <a:r>
              <a:rPr b="0" i="1" lang="en-US" sz="2000" u="none" cap="none" strike="noStrike">
                <a:solidFill>
                  <a:schemeClr val="dk1"/>
                </a:solidFill>
                <a:latin typeface="Calibri"/>
                <a:ea typeface="Calibri"/>
                <a:cs typeface="Calibri"/>
                <a:sym typeface="Calibri"/>
              </a:rPr>
              <a:t>static</a:t>
            </a:r>
            <a:r>
              <a:rPr b="0" i="0" lang="en-US" sz="2000" u="none" cap="none" strike="noStrike">
                <a:solidFill>
                  <a:schemeClr val="dk1"/>
                </a:solidFill>
                <a:latin typeface="Calibri"/>
                <a:ea typeface="Calibri"/>
                <a:cs typeface="Calibri"/>
                <a:sym typeface="Calibri"/>
              </a:rPr>
              <a:t>. We can declare a variables as static as under:</a:t>
            </a:r>
            <a:endParaRPr/>
          </a:p>
          <a:p>
            <a:pPr indent="-342900" lvl="0" marL="342900" marR="0" rtl="0" algn="just">
              <a:lnSpc>
                <a:spcPct val="100000"/>
              </a:lnSpc>
              <a:spcBef>
                <a:spcPts val="560"/>
              </a:spcBef>
              <a:spcAft>
                <a:spcPts val="0"/>
              </a:spcAft>
              <a:buClr>
                <a:schemeClr val="dk1"/>
              </a:buClr>
              <a:buSzPts val="2800"/>
              <a:buFont typeface="Arial"/>
              <a:buNone/>
            </a:pPr>
            <a:r>
              <a:rPr b="0" i="0" lang="en-US" sz="2800" u="none">
                <a:solidFill>
                  <a:schemeClr val="dk1"/>
                </a:solidFill>
                <a:latin typeface="Bookman Old Style"/>
                <a:ea typeface="Bookman Old Style"/>
                <a:cs typeface="Bookman Old Style"/>
                <a:sym typeface="Bookman Old Style"/>
              </a:rPr>
              <a:t>			</a:t>
            </a:r>
            <a:r>
              <a:rPr b="0" i="0" lang="en-US" sz="2400" u="none">
                <a:solidFill>
                  <a:schemeClr val="dk1"/>
                </a:solidFill>
                <a:latin typeface="Calibri"/>
                <a:ea typeface="Calibri"/>
                <a:cs typeface="Calibri"/>
                <a:sym typeface="Calibri"/>
              </a:rPr>
              <a:t>static int var = 0; </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Instance Variables vs. Class Variables</a:t>
            </a:r>
            <a:endParaRPr/>
          </a:p>
        </p:txBody>
      </p:sp>
      <p:sp>
        <p:nvSpPr>
          <p:cNvPr id="444" name="Google Shape;444;p52"/>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All instances of the class share the </a:t>
            </a:r>
            <a:r>
              <a:rPr b="0" i="1" lang="en-US" sz="3200" u="none">
                <a:solidFill>
                  <a:schemeClr val="dk1"/>
                </a:solidFill>
                <a:latin typeface="Calibri"/>
                <a:ea typeface="Calibri"/>
                <a:cs typeface="Calibri"/>
                <a:sym typeface="Calibri"/>
              </a:rPr>
              <a:t>static</a:t>
            </a:r>
            <a:r>
              <a:rPr b="0" i="0" lang="en-US" sz="3200" u="none">
                <a:solidFill>
                  <a:schemeClr val="dk1"/>
                </a:solidFill>
                <a:latin typeface="Calibri"/>
                <a:ea typeface="Calibri"/>
                <a:cs typeface="Calibri"/>
                <a:sym typeface="Calibri"/>
              </a:rPr>
              <a:t> variables of the class.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class variable can be accessed directly with the class name, without the need to create an instance.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Without the </a:t>
            </a:r>
            <a:r>
              <a:rPr b="0" i="1" lang="en-US" sz="3200" u="none">
                <a:solidFill>
                  <a:schemeClr val="dk1"/>
                </a:solidFill>
                <a:latin typeface="Calibri"/>
                <a:ea typeface="Calibri"/>
                <a:cs typeface="Calibri"/>
                <a:sym typeface="Calibri"/>
              </a:rPr>
              <a:t>static</a:t>
            </a:r>
            <a:r>
              <a:rPr b="0" i="0" lang="en-US" sz="3200" u="none">
                <a:solidFill>
                  <a:schemeClr val="dk1"/>
                </a:solidFill>
                <a:latin typeface="Calibri"/>
                <a:ea typeface="Calibri"/>
                <a:cs typeface="Calibri"/>
                <a:sym typeface="Calibri"/>
              </a:rPr>
              <a:t> keyword, it's called “</a:t>
            </a:r>
            <a:r>
              <a:rPr b="0" i="1" lang="en-US" sz="3200" u="none">
                <a:solidFill>
                  <a:schemeClr val="dk1"/>
                </a:solidFill>
                <a:latin typeface="Calibri"/>
                <a:ea typeface="Calibri"/>
                <a:cs typeface="Calibri"/>
                <a:sym typeface="Calibri"/>
              </a:rPr>
              <a:t>instance</a:t>
            </a:r>
            <a:r>
              <a:rPr b="0" i="0" lang="en-US" sz="3200" u="none">
                <a:solidFill>
                  <a:schemeClr val="dk1"/>
                </a:solidFill>
                <a:latin typeface="Calibri"/>
                <a:ea typeface="Calibri"/>
                <a:cs typeface="Calibri"/>
                <a:sym typeface="Calibri"/>
              </a:rPr>
              <a:t> variable”, and each instance of the class has its own copy of the variable.</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3"/>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methods</a:t>
            </a:r>
            <a:endParaRPr/>
          </a:p>
        </p:txBody>
      </p:sp>
      <p:sp>
        <p:nvSpPr>
          <p:cNvPr id="450" name="Google Shape;450;p53"/>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Like static variables, we do not need to create an object to call our static method. Simply using the class name will suffice.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Static methods however can only access static variables directly.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Variables that have not been declared static cannot be accessed by the static method directly, i.e. the reason why we create an object of the class within the main (which is static) method to access the instance variables and call instance methods.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To make a method static, we simply precede the method declaration with the static keyword.</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54"/>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methods</a:t>
            </a:r>
            <a:endParaRPr/>
          </a:p>
        </p:txBody>
      </p:sp>
      <p:sp>
        <p:nvSpPr>
          <p:cNvPr id="456" name="Google Shape;456;p54"/>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 void aMethod(int param1) {</a:t>
            </a:r>
            <a:endParaRPr/>
          </a:p>
          <a:p>
            <a:pPr indent="-342900" lvl="0" marL="342900" marR="0" rtl="0" algn="just">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342900" lvl="0" marL="342900" marR="0" rtl="0" algn="just">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342900" lvl="0" marL="342900" marR="0" rtl="0" algn="just">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When we declare a method static, we are basically saying that there should only be one instance of this method within our program (e.g, as in the main method)</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Methods can also be declared with the static keyword.</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static int computeArea(int length, int width) {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a:t>
            </a:r>
            <a:endParaRPr/>
          </a:p>
        </p:txBody>
      </p:sp>
      <p:sp>
        <p:nvSpPr>
          <p:cNvPr id="462" name="Google Shape;462;p55"/>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8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class Area {</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 int area; // class variable</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 int computeArea (int width, int height) {</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area = width * height;</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return area;</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class callArea {</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public static void main(String args[]) {</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System.out.println(Area.computeArea(4,3);</a:t>
            </a:r>
            <a:endParaRPr/>
          </a:p>
          <a:p>
            <a:pPr indent="-342900" lvl="0" marL="342900" marR="0" rtl="0" algn="l">
              <a:lnSpc>
                <a:spcPct val="8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5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initialization block </a:t>
            </a:r>
            <a:endParaRPr/>
          </a:p>
        </p:txBody>
      </p:sp>
      <p:sp>
        <p:nvSpPr>
          <p:cNvPr id="468" name="Google Shape;468;p56"/>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block of statements with static keyword applied to it.</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used for initializing static or class variables.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 case some logic is used for assigning values to the variables, static blocks can be used.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syntax for static block is as follows:</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static{</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p:txBody>
      </p:sp>
      <p:sp>
        <p:nvSpPr>
          <p:cNvPr id="469" name="Google Shape;469;p5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initialization block</a:t>
            </a:r>
            <a:endParaRPr/>
          </a:p>
        </p:txBody>
      </p:sp>
      <p:sp>
        <p:nvSpPr>
          <p:cNvPr id="475" name="Google Shape;475;p5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static executes as soon as the class loads even before the JVM executes the main method.</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There can be any number of static blocks within the class and they will be executed in the order in which they have appeared in the source code.</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476" name="Google Shape;476;p5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Instance initialization block</a:t>
            </a:r>
            <a:endParaRPr/>
          </a:p>
        </p:txBody>
      </p:sp>
      <p:sp>
        <p:nvSpPr>
          <p:cNvPr id="482" name="Google Shape;482;p5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 case the static keyword is dropped from this block, it becomes an instance initialization block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Actually the code of instance initialization block is placed in the &lt;init&gt; method, which is created for every constructor by the compiler, before the source code mentioned by programmer in the constructor.</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483" name="Google Shape;483;p5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and instance block example</a:t>
            </a:r>
            <a:endParaRPr/>
          </a:p>
        </p:txBody>
      </p:sp>
      <p:sp>
        <p:nvSpPr>
          <p:cNvPr id="489" name="Google Shape;489;p59"/>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class StaticBlockDemo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int x=10;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int z=10; // local variable</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System.out.println(“In static block”);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System.out.println(“In Instance Initialization block”);</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System.out.println(“Printing Instance variable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Initializer value through Block: “ +x);</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p:txBody>
      </p:sp>
      <p:sp>
        <p:nvSpPr>
          <p:cNvPr id="490" name="Google Shape;490;p5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0"/>
          <p:cNvSpPr txBox="1"/>
          <p:nvPr>
            <p:ph type="title"/>
          </p:nvPr>
        </p:nvSpPr>
        <p:spPr>
          <a:xfrm>
            <a:off x="457200" y="762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and instance block example</a:t>
            </a:r>
            <a:endParaRPr/>
          </a:p>
        </p:txBody>
      </p:sp>
      <p:sp>
        <p:nvSpPr>
          <p:cNvPr id="496" name="Google Shape;496;p60"/>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 Constructor</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StaticBlockDemo(int y)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System.out.println(“Within Constructor”);</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System.out.println(“Instance variable printed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using constructor: “+x);</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x=y;</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System.out.println(“Instance variable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initialized using constructor: “+x);</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497" name="Google Shape;497;p6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and instance block example</a:t>
            </a:r>
            <a:endParaRPr/>
          </a:p>
        </p:txBody>
      </p:sp>
      <p:sp>
        <p:nvSpPr>
          <p:cNvPr id="503" name="Google Shape;503;p61"/>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StaticBlockDemo()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System.out.println(“Within Constructor”);</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System.out.println(“Instance variable printed using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constructor: “+x);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public static void main(String[] args)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System.out.println(“In main”);</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StaticBlockDemo st = new StaticBlockDemo(100);</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StaticBlockDemo st1 = new StaticBlockDemo();</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a:t>
            </a:r>
            <a:endParaRPr/>
          </a:p>
        </p:txBody>
      </p:sp>
      <p:sp>
        <p:nvSpPr>
          <p:cNvPr id="504" name="Google Shape;504;p6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510" name="Google Shape;510;p62"/>
          <p:cNvSpPr txBox="1"/>
          <p:nvPr>
            <p:ph idx="1" type="body"/>
          </p:nvPr>
        </p:nvSpPr>
        <p:spPr>
          <a:xfrm>
            <a:off x="457200" y="1112837"/>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 static block</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 main</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 Instance Initialization block</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Printing Instance variable Initializer value through Block: 10</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Within Constructor</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Instance variable printed using constructor: 10</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Instance variable initialized using constructor: 100</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 Instance Initialization block</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Printing Instance variable Initializer value through Block: 10</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Within Constructor</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Instance variable printed using constructor: 10</a:t>
            </a:r>
            <a:endParaRPr/>
          </a:p>
        </p:txBody>
      </p:sp>
      <p:sp>
        <p:nvSpPr>
          <p:cNvPr id="511" name="Google Shape;511;p6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63"/>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Array</a:t>
            </a:r>
            <a:endParaRPr/>
          </a:p>
        </p:txBody>
      </p:sp>
      <p:sp>
        <p:nvSpPr>
          <p:cNvPr id="517" name="Google Shape;517;p63"/>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There are situations where we might wish to store a group of similar type of values in a variable.</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Array is a memory space allocated, which can store multiple values of same data type, in contiguous locations. </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memory space, which can be perceived to have many logical contiguous locations, can be accessed with a common name.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Array (contd.)</a:t>
            </a:r>
            <a:endParaRPr/>
          </a:p>
        </p:txBody>
      </p:sp>
      <p:sp>
        <p:nvSpPr>
          <p:cNvPr id="523" name="Google Shape;523;p64"/>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specific element in an array is accessed by the use of a subscript or index used in brackets, along with the name of the array. </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For example, marks[5]would mean marks of 5th student.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While the complete set of values is called an array, the individual values are known as </a:t>
            </a:r>
            <a:r>
              <a:rPr b="0" i="1" lang="en-US" sz="2800" u="none">
                <a:solidFill>
                  <a:schemeClr val="dk1"/>
                </a:solidFill>
                <a:latin typeface="Calibri"/>
                <a:ea typeface="Calibri"/>
                <a:cs typeface="Calibri"/>
                <a:sym typeface="Calibri"/>
              </a:rPr>
              <a:t>elements</a:t>
            </a:r>
            <a:r>
              <a:rPr b="0" i="0" lang="en-US" sz="2800" u="none">
                <a:solidFill>
                  <a:schemeClr val="dk1"/>
                </a:solidFill>
                <a:latin typeface="Calibri"/>
                <a:ea typeface="Calibri"/>
                <a:cs typeface="Calibri"/>
                <a:sym typeface="Calibri"/>
              </a:rPr>
              <a:t>.</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Arrays can be two types:</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one dimensional array</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multi-dimensional array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65"/>
          <p:cNvSpPr txBox="1"/>
          <p:nvPr>
            <p:ph type="title"/>
          </p:nvPr>
        </p:nvSpPr>
        <p:spPr>
          <a:xfrm>
            <a:off x="457200" y="76200"/>
            <a:ext cx="8229600" cy="9906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1-D Arrays</a:t>
            </a:r>
            <a:endParaRPr/>
          </a:p>
        </p:txBody>
      </p:sp>
      <p:sp>
        <p:nvSpPr>
          <p:cNvPr id="529" name="Google Shape;529;p65"/>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one-dimensional array, a single subscript or index is used, where each index value refers to individual array element.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indexation will start from 0 and will go up to n-1, i.e. the first value of the array will have an index of 0 and the last value will have an index of n–1, where ŋ is the number of elements in the array.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So, if an array named marks has been declared to store the marks of 5 students, the computer reserves five contiguous locations in the memory, as shown below</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6"/>
          <p:cNvSpPr txBox="1"/>
          <p:nvPr>
            <p:ph type="title"/>
          </p:nvPr>
        </p:nvSpPr>
        <p:spPr>
          <a:xfrm>
            <a:off x="0" y="0"/>
            <a:ext cx="9144000" cy="1143000"/>
          </a:xfrm>
          <a:prstGeom prst="rect">
            <a:avLst/>
          </a:prstGeom>
          <a:solidFill>
            <a:srgbClr val="00B0F0"/>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1-D Array</a:t>
            </a:r>
            <a:endParaRPr/>
          </a:p>
        </p:txBody>
      </p:sp>
      <p:pic>
        <p:nvPicPr>
          <p:cNvPr id="535" name="Google Shape;535;p66"/>
          <p:cNvPicPr preferRelativeResize="0"/>
          <p:nvPr>
            <p:ph idx="1" type="body"/>
          </p:nvPr>
        </p:nvPicPr>
        <p:blipFill rotWithShape="1">
          <a:blip r:embed="rId3">
            <a:alphaModFix/>
          </a:blip>
          <a:srcRect b="0" l="0" r="0" t="0"/>
          <a:stretch/>
        </p:blipFill>
        <p:spPr>
          <a:xfrm>
            <a:off x="304800" y="3276600"/>
            <a:ext cx="4876800" cy="1143000"/>
          </a:xfrm>
          <a:prstGeom prst="rect">
            <a:avLst/>
          </a:prstGeom>
          <a:noFill/>
          <a:ln>
            <a:noFill/>
          </a:ln>
        </p:spPr>
      </p:pic>
      <p:pic>
        <p:nvPicPr>
          <p:cNvPr id="536" name="Google Shape;536;p66"/>
          <p:cNvPicPr preferRelativeResize="0"/>
          <p:nvPr>
            <p:ph idx="2" type="body"/>
          </p:nvPr>
        </p:nvPicPr>
        <p:blipFill rotWithShape="1">
          <a:blip r:embed="rId4">
            <a:alphaModFix/>
          </a:blip>
          <a:srcRect b="0" l="0" r="0" t="0"/>
          <a:stretch/>
        </p:blipFill>
        <p:spPr>
          <a:xfrm>
            <a:off x="6172200" y="2667000"/>
            <a:ext cx="2209800" cy="22098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6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Creation of Arrays</a:t>
            </a:r>
            <a:endParaRPr/>
          </a:p>
        </p:txBody>
      </p:sp>
      <p:sp>
        <p:nvSpPr>
          <p:cNvPr id="542" name="Google Shape;542;p67"/>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Creating an array, similar to an object creation, can inherently involve three steps:</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Declaring an array</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Creating memory locations</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Initializing/assigning values to an array</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Declaring an array</a:t>
            </a:r>
            <a:endParaRPr/>
          </a:p>
        </p:txBody>
      </p:sp>
      <p:sp>
        <p:nvSpPr>
          <p:cNvPr id="548" name="Google Shape;548;p68"/>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Declaring an array is same as declaring a normal variable except that you must use a set of square brackets with the variable type.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There can betwo ways in which an array can be declared.</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type arrayname[ ];</a:t>
            </a:r>
            <a:endParaRPr/>
          </a:p>
          <a:p>
            <a:pPr indent="-285750" lvl="1" marL="742950" marR="0" rtl="0" algn="l">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type[ ] arrayname;</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For e.g. </a:t>
            </a:r>
            <a:endParaRPr/>
          </a:p>
          <a:p>
            <a:pPr indent="-285750" lvl="1" marL="742950" marR="0" rtl="0" algn="l">
              <a:lnSpc>
                <a:spcPct val="9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int marks[ ];  or </a:t>
            </a:r>
            <a:endParaRPr/>
          </a:p>
          <a:p>
            <a:pPr indent="-285750" lvl="1" marL="742950" marR="0" rtl="0" algn="l">
              <a:lnSpc>
                <a:spcPct val="9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int[ ] marks;</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6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Creating memory locations</a:t>
            </a:r>
            <a:endParaRPr/>
          </a:p>
        </p:txBody>
      </p:sp>
      <p:sp>
        <p:nvSpPr>
          <p:cNvPr id="554" name="Google Shape;554;p69"/>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An array is more complex than a normal variable, so we have to assign memory to the array when we declare it. </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You assign memory to an array by specifying its size. Interestingly, our same old </a:t>
            </a:r>
            <a:r>
              <a:rPr b="0" i="1" lang="en-US" sz="2800" u="none">
                <a:solidFill>
                  <a:schemeClr val="dk1"/>
                </a:solidFill>
                <a:latin typeface="Calibri"/>
                <a:ea typeface="Calibri"/>
                <a:cs typeface="Calibri"/>
                <a:sym typeface="Calibri"/>
              </a:rPr>
              <a:t>new</a:t>
            </a:r>
            <a:r>
              <a:rPr b="1" i="0" lang="en-US" sz="2800" u="none">
                <a:solidFill>
                  <a:schemeClr val="dk1"/>
                </a:solidFill>
                <a:latin typeface="Calibri"/>
                <a:ea typeface="Calibri"/>
                <a:cs typeface="Calibri"/>
                <a:sym typeface="Calibri"/>
              </a:rPr>
              <a:t> </a:t>
            </a:r>
            <a:r>
              <a:rPr b="0" i="0" lang="en-US" sz="2800" u="none">
                <a:solidFill>
                  <a:schemeClr val="dk1"/>
                </a:solidFill>
                <a:latin typeface="Calibri"/>
                <a:ea typeface="Calibri"/>
                <a:cs typeface="Calibri"/>
                <a:sym typeface="Calibri"/>
              </a:rPr>
              <a:t>operator helps in doing the job, just as shown below:</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Arrayname = new type [size];</a:t>
            </a:r>
            <a:endParaRPr/>
          </a:p>
          <a:p>
            <a:pPr indent="-342900" lvl="0" marL="342900"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So, allocating space and size for the array named as </a:t>
            </a:r>
            <a:r>
              <a:rPr b="1" i="0" lang="en-US" sz="2800" u="none">
                <a:solidFill>
                  <a:schemeClr val="dk1"/>
                </a:solidFill>
                <a:latin typeface="Calibri"/>
                <a:ea typeface="Calibri"/>
                <a:cs typeface="Calibri"/>
                <a:sym typeface="Calibri"/>
              </a:rPr>
              <a:t>marks </a:t>
            </a:r>
            <a:r>
              <a:rPr b="0" i="0" lang="en-US" sz="2800" u="none">
                <a:solidFill>
                  <a:schemeClr val="dk1"/>
                </a:solidFill>
                <a:latin typeface="Calibri"/>
                <a:ea typeface="Calibri"/>
                <a:cs typeface="Calibri"/>
                <a:sym typeface="Calibri"/>
              </a:rPr>
              <a:t>can be done as,</a:t>
            </a:r>
            <a:endParaRPr/>
          </a:p>
          <a:p>
            <a:pPr indent="-285750" lvl="1" marL="742950"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marks = new int[5];</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7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initializing/assigning values to an array</a:t>
            </a:r>
            <a:endParaRPr/>
          </a:p>
        </p:txBody>
      </p:sp>
      <p:sp>
        <p:nvSpPr>
          <p:cNvPr id="560" name="Google Shape;560;p70"/>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Assignment of values to an array, which can also be termed as initialization of array, can be done as follows,</a:t>
            </a:r>
            <a:endParaRPr/>
          </a:p>
          <a:p>
            <a:pPr indent="-285750" lvl="1" marL="742950" marR="0" rtl="0" algn="just">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Arrayname[index] = value;</a:t>
            </a:r>
            <a:endParaRPr/>
          </a:p>
          <a:p>
            <a:pPr indent="-342900" lvl="0" marL="342900" marR="0" rtl="0" algn="just">
              <a:lnSpc>
                <a:spcPct val="9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creation of list of marks to be assigned in array, named as </a:t>
            </a:r>
            <a:r>
              <a:rPr b="0" i="1" lang="en-US" sz="3200" u="none">
                <a:solidFill>
                  <a:schemeClr val="dk1"/>
                </a:solidFill>
                <a:latin typeface="Calibri"/>
                <a:ea typeface="Calibri"/>
                <a:cs typeface="Calibri"/>
                <a:sym typeface="Calibri"/>
              </a:rPr>
              <a:t>marks </a:t>
            </a:r>
            <a:r>
              <a:rPr b="0" i="0" lang="en-US" sz="3200" u="none">
                <a:solidFill>
                  <a:schemeClr val="dk1"/>
                </a:solidFill>
                <a:latin typeface="Calibri"/>
                <a:ea typeface="Calibri"/>
                <a:cs typeface="Calibri"/>
                <a:sym typeface="Calibri"/>
              </a:rPr>
              <a:t>has already been shown in the section above. Here is an example of how to set the values for an array of 5 marks.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Setting Values in An Array</a:t>
            </a:r>
            <a:endParaRPr/>
          </a:p>
        </p:txBody>
      </p:sp>
      <p:sp>
        <p:nvSpPr>
          <p:cNvPr id="566" name="Google Shape;566;p71"/>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public class Array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public static void main(String[] args)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marks = new int[5];</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marks[0] = 60;</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marks[1] = 58;</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marks[2] = 50;</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marks[3] = 78;</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marks[4] = 89;</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Alternatively you can also use:</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int marks[] = {60, 58, 50, 78, 89}</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2"/>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Sorting Arrays (SortArray.java)</a:t>
            </a:r>
            <a:endParaRPr/>
          </a:p>
        </p:txBody>
      </p:sp>
      <p:sp>
        <p:nvSpPr>
          <p:cNvPr id="572" name="Google Shape;572;p72"/>
          <p:cNvSpPr txBox="1"/>
          <p:nvPr>
            <p:ph idx="1" type="body"/>
          </p:nvPr>
        </p:nvSpPr>
        <p:spPr>
          <a:xfrm>
            <a:off x="457200" y="9906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class SortArray	{</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public static void main(String[] args) {</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int[] marks = {3, 5, 1, 2, 4};</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int temp, n;</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n = marks.length;</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System.out.print("The list of marks is: ");</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for(int i = 0; i&lt; n; i++){</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System.out.print(marks[i]+ " "); 	}</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for (int i = 0; i&lt; n; i++){</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for (int j = i+1; j &lt; n; j++){</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if (marks[i] &lt; marks[j])	{</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temp = marks[i];</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marks[i] = marks[j];</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marks[j] = temp;		}}}</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System.out.print("\nList of marks sorted in descending order is: ");</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for (int i = 0; i&lt; n; i++){</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System.out.print(marks[i]+" ");	} }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3"/>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2-D Arrays (contd.)</a:t>
            </a:r>
            <a:endParaRPr/>
          </a:p>
        </p:txBody>
      </p:sp>
      <p:sp>
        <p:nvSpPr>
          <p:cNvPr id="578" name="Google Shape;578;p73"/>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two-dimensional array can have values that go not only across but also across.</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Sometimes values can be conceptualized in the form of table that is in the form of rows and columns.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Suppose we want to store the marks of different subjects. We can store it in a one-dimensional array.</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74"/>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2-D Arrays (contd.)</a:t>
            </a:r>
            <a:endParaRPr/>
          </a:p>
        </p:txBody>
      </p:sp>
      <p:pic>
        <p:nvPicPr>
          <p:cNvPr id="584" name="Google Shape;584;p74"/>
          <p:cNvPicPr preferRelativeResize="0"/>
          <p:nvPr>
            <p:ph idx="1" type="body"/>
          </p:nvPr>
        </p:nvPicPr>
        <p:blipFill rotWithShape="1">
          <a:blip r:embed="rId3">
            <a:alphaModFix/>
          </a:blip>
          <a:srcRect b="0" l="0" r="0" t="0"/>
          <a:stretch/>
        </p:blipFill>
        <p:spPr>
          <a:xfrm>
            <a:off x="457200" y="1981200"/>
            <a:ext cx="8229600" cy="3581400"/>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75"/>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2 D Arrays (contd.)</a:t>
            </a:r>
            <a:endParaRPr/>
          </a:p>
        </p:txBody>
      </p:sp>
      <p:sp>
        <p:nvSpPr>
          <p:cNvPr id="590" name="Google Shape;590;p75"/>
          <p:cNvSpPr txBox="1"/>
          <p:nvPr>
            <p:ph idx="1" type="body"/>
          </p:nvPr>
        </p:nvSpPr>
        <p:spPr>
          <a:xfrm>
            <a:off x="457200" y="1295400"/>
            <a:ext cx="7924800" cy="2819400"/>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If you want a multidimensional array, the additional index has to be specified using another set of square brackets. </a:t>
            </a:r>
            <a:endParaRPr/>
          </a:p>
          <a:p>
            <a:pPr indent="-342900" lvl="0" marL="34290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Following statements create a two-dimensional array, named as marks, which would have 4 rows and 5 columns</a:t>
            </a:r>
            <a:endParaRPr/>
          </a:p>
          <a:p>
            <a:pPr indent="-165100" lvl="0" marL="342900" rtl="0" algn="l">
              <a:spcBef>
                <a:spcPts val="560"/>
              </a:spcBef>
              <a:spcAft>
                <a:spcPts val="0"/>
              </a:spcAft>
              <a:buClr>
                <a:schemeClr val="dk1"/>
              </a:buClr>
              <a:buSzPts val="2800"/>
              <a:buNone/>
            </a:pPr>
            <a:r>
              <a:t/>
            </a:r>
            <a:endParaRPr b="0" i="0" sz="2800" u="none">
              <a:solidFill>
                <a:schemeClr val="dk1"/>
              </a:solidFill>
              <a:latin typeface="Calibri"/>
              <a:ea typeface="Calibri"/>
              <a:cs typeface="Calibri"/>
              <a:sym typeface="Calibri"/>
            </a:endParaRPr>
          </a:p>
        </p:txBody>
      </p:sp>
      <p:pic>
        <p:nvPicPr>
          <p:cNvPr id="591" name="Google Shape;591;p75"/>
          <p:cNvPicPr preferRelativeResize="0"/>
          <p:nvPr>
            <p:ph idx="1" type="body"/>
          </p:nvPr>
        </p:nvPicPr>
        <p:blipFill rotWithShape="1">
          <a:blip r:embed="rId3">
            <a:alphaModFix/>
          </a:blip>
          <a:srcRect b="0" l="0" r="0" t="0"/>
          <a:stretch/>
        </p:blipFill>
        <p:spPr>
          <a:xfrm>
            <a:off x="1828800" y="4343400"/>
            <a:ext cx="6324600" cy="18192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76"/>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2 D Arrays (contd.)</a:t>
            </a:r>
            <a:endParaRPr/>
          </a:p>
        </p:txBody>
      </p:sp>
      <p:sp>
        <p:nvSpPr>
          <p:cNvPr id="597" name="Google Shape;597;p76"/>
          <p:cNvSpPr txBox="1"/>
          <p:nvPr>
            <p:ph idx="1" type="body"/>
          </p:nvPr>
        </p:nvSpPr>
        <p:spPr>
          <a:xfrm>
            <a:off x="457200" y="11890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9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This statement just allocates a 4 × 5 array and assigns the reference to array variable </a:t>
            </a:r>
            <a:r>
              <a:rPr b="1" i="0" lang="en-US" sz="2400" u="none">
                <a:solidFill>
                  <a:schemeClr val="dk1"/>
                </a:solidFill>
                <a:latin typeface="Calibri"/>
                <a:ea typeface="Calibri"/>
                <a:cs typeface="Calibri"/>
                <a:sym typeface="Calibri"/>
              </a:rPr>
              <a:t>marks</a:t>
            </a:r>
            <a:r>
              <a:rPr b="0" i="0" lang="en-US" sz="2400" u="none">
                <a:solidFill>
                  <a:schemeClr val="dk1"/>
                </a:solidFill>
                <a:latin typeface="Calibri"/>
                <a:ea typeface="Calibri"/>
                <a:cs typeface="Calibri"/>
                <a:sym typeface="Calibri"/>
              </a:rPr>
              <a:t>.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first subscript inside the square bracket signifies the number of rows in the table or matrix and the second subscript stands for the number of columns.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This 4 × 5 table can store 20 values altogether.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Its values might be stored in contiguous locations in the memory, but logically, the stored values would be treated as if they are stored in a 4 × 5 matrix. </a:t>
            </a:r>
            <a:endParaRPr/>
          </a:p>
          <a:p>
            <a:pPr indent="-342900" lvl="0" marL="342900" marR="0" rtl="0" algn="just">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following table shows how the </a:t>
            </a:r>
            <a:r>
              <a:rPr b="0" i="1" lang="en-US" sz="2400" u="none">
                <a:solidFill>
                  <a:schemeClr val="dk1"/>
                </a:solidFill>
                <a:latin typeface="Calibri"/>
                <a:ea typeface="Calibri"/>
                <a:cs typeface="Calibri"/>
                <a:sym typeface="Calibri"/>
              </a:rPr>
              <a:t>marks </a:t>
            </a:r>
            <a:r>
              <a:rPr b="0" i="0" lang="en-US" sz="2400" u="none">
                <a:solidFill>
                  <a:schemeClr val="dk1"/>
                </a:solidFill>
                <a:latin typeface="Calibri"/>
                <a:ea typeface="Calibri"/>
                <a:cs typeface="Calibri"/>
                <a:sym typeface="Calibri"/>
              </a:rPr>
              <a:t>array is conceptually placed in the memory by the above array creation statement</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7"/>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2 D Arrays (contd.)</a:t>
            </a:r>
            <a:endParaRPr/>
          </a:p>
        </p:txBody>
      </p:sp>
      <p:pic>
        <p:nvPicPr>
          <p:cNvPr id="603" name="Google Shape;603;p77"/>
          <p:cNvPicPr preferRelativeResize="0"/>
          <p:nvPr>
            <p:ph idx="1" type="body"/>
          </p:nvPr>
        </p:nvPicPr>
        <p:blipFill rotWithShape="1">
          <a:blip r:embed="rId3">
            <a:alphaModFix/>
          </a:blip>
          <a:srcRect b="0" l="0" r="0" t="0"/>
          <a:stretch/>
        </p:blipFill>
        <p:spPr>
          <a:xfrm>
            <a:off x="457200" y="1447800"/>
            <a:ext cx="8229600" cy="44958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8"/>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2 D Arrays (contd.)</a:t>
            </a:r>
            <a:endParaRPr/>
          </a:p>
        </p:txBody>
      </p:sp>
      <p:sp>
        <p:nvSpPr>
          <p:cNvPr id="609" name="Google Shape;609;p78"/>
          <p:cNvSpPr txBox="1"/>
          <p:nvPr>
            <p:ph idx="1" type="body"/>
          </p:nvPr>
        </p:nvSpPr>
        <p:spPr>
          <a:xfrm>
            <a:off x="457200" y="11890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Like a one-dimensional array, two-dimensional array may be initialized with values, at the time its creation. For example,</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int marks[2][4] = {2, 3, 6, 0, 9, 3, 3, 2};</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This declaration shows that the first two rows of a 2 × 4 matrix have been initialized by the values shown in the list above. It can also be written as,</a:t>
            </a:r>
            <a:endParaRPr/>
          </a:p>
          <a:p>
            <a:pPr indent="-285750" lvl="1" marL="742950"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int marks[ ][ ] = {(2, 3, 6, 0), (9, 3, 3, 2)};</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79"/>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a:t>
            </a:r>
            <a:endParaRPr/>
          </a:p>
        </p:txBody>
      </p:sp>
      <p:sp>
        <p:nvSpPr>
          <p:cNvPr id="615" name="Google Shape;615;p79"/>
          <p:cNvSpPr txBox="1"/>
          <p:nvPr>
            <p:ph idx="1" type="body"/>
          </p:nvPr>
        </p:nvSpPr>
        <p:spPr>
          <a:xfrm>
            <a:off x="457200" y="1112837"/>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class MatrixMul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public static void main(String args[])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array[][] = {{3,7},{6,9}};</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array1[][] = {{5,4},{3,6}};</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array2[][] = new int[2][2];</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x = array.length;</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System.out.println("Matrix 1: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i=0; i&lt;array.length; i++)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j=0; j&lt;array[i].length; j++)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 "+array[i][j]);</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80"/>
          <p:cNvSpPr txBox="1"/>
          <p:nvPr>
            <p:ph type="title"/>
          </p:nvPr>
        </p:nvSpPr>
        <p:spPr>
          <a:xfrm>
            <a:off x="457200" y="76200"/>
            <a:ext cx="8229600" cy="1066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 (contd.)</a:t>
            </a:r>
            <a:endParaRPr/>
          </a:p>
        </p:txBody>
      </p:sp>
      <p:sp>
        <p:nvSpPr>
          <p:cNvPr id="621" name="Google Shape;621;p80"/>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y = array1.length;</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System.out.println("Matrix 2: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i=0; i&lt;array1.length; i++)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j=0; j&lt;array1[i].length; j++)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 "+array1[i][j]);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i=0; i&lt;x; i++)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j=0; j&lt;y; j++)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for(int k=0; k&lt;y; k++)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array2[i][j] += array[i][k]*array1[k][j];	}	}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System.out.println("Multiplication of both matrices: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8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 (contd.)</a:t>
            </a:r>
            <a:endParaRPr/>
          </a:p>
        </p:txBody>
      </p:sp>
      <p:sp>
        <p:nvSpPr>
          <p:cNvPr id="627" name="Google Shape;627;p8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for (int i=0; i&lt;x; i++)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for (int j=0; j&lt;y; j++)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 "+array2[i][j]);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System.out.println();</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628" name="Google Shape;628;p8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8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Passing Arrays to Methods</a:t>
            </a:r>
            <a:endParaRPr/>
          </a:p>
        </p:txBody>
      </p:sp>
      <p:sp>
        <p:nvSpPr>
          <p:cNvPr id="634" name="Google Shape;634;p8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static void show(int[][] a){</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for(int i=0;i&lt;a.length;i++){</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for(int j=0;j&lt;2;j++){</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 " +a[i][j]);</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System.out.println();</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r>
              <a:rPr b="1" i="0" lang="en-US" sz="3200" u="none">
                <a:solidFill>
                  <a:schemeClr val="dk1"/>
                </a:solidFill>
                <a:latin typeface="Calibri"/>
                <a:ea typeface="Calibri"/>
                <a:cs typeface="Calibri"/>
                <a:sym typeface="Calibri"/>
              </a:rPr>
              <a:t> </a:t>
            </a:r>
            <a:r>
              <a:rPr b="0" i="0" lang="en-US" sz="3200" u="none">
                <a:solidFill>
                  <a:schemeClr val="dk1"/>
                </a:solidFill>
                <a:latin typeface="Calibri"/>
                <a:ea typeface="Calibri"/>
                <a:cs typeface="Calibri"/>
                <a:sym typeface="Calibri"/>
              </a:rPr>
              <a:t>}</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635" name="Google Shape;635;p8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8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Returning Arrays from Methods</a:t>
            </a:r>
            <a:endParaRPr/>
          </a:p>
        </p:txBody>
      </p:sp>
      <p:sp>
        <p:nvSpPr>
          <p:cNvPr id="641" name="Google Shape;641;p8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static int[][] show()</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int a[][]={{1,2},{2,3}};</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return a;</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p:txBody>
      </p:sp>
      <p:sp>
        <p:nvSpPr>
          <p:cNvPr id="642" name="Google Shape;642;p8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8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Using for-each with arrays</a:t>
            </a:r>
            <a:endParaRPr/>
          </a:p>
        </p:txBody>
      </p:sp>
      <p:sp>
        <p:nvSpPr>
          <p:cNvPr id="648" name="Google Shape;648;p84"/>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The enhanced for loop, i.e. for-each was introduced in Java 5 to enhance iterations over arrays and other collections easier. The format of for-each is as follows:</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for (type var : arr){</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 Body of loop</a:t>
            </a:r>
            <a:endParaRPr/>
          </a:p>
          <a:p>
            <a:pPr indent="-285750" lvl="1" marL="742950" marR="0" rtl="0" algn="just">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8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Using for-each with arrays</a:t>
            </a:r>
            <a:endParaRPr/>
          </a:p>
        </p:txBody>
      </p:sp>
      <p:sp>
        <p:nvSpPr>
          <p:cNvPr id="654" name="Google Shape;654;p85"/>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For example, to calculate the sum of the elements of the array, for-each can be used as follows.</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arr= {2,3,4,5,6};</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sum = 0;</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a : arr)</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 gets successively each value in arr</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sum += a;</a:t>
            </a:r>
            <a:endParaRPr/>
          </a:p>
          <a:p>
            <a:pPr indent="-342900" lvl="0" marL="342900" marR="0" rtl="0" algn="just">
              <a:lnSpc>
                <a:spcPct val="8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 disadvantage of for-each approach is that it is possible to iterate in forward directiononly by single steps.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Variable Arguments</a:t>
            </a:r>
            <a:endParaRPr/>
          </a:p>
        </p:txBody>
      </p:sp>
      <p:sp>
        <p:nvSpPr>
          <p:cNvPr id="660" name="Google Shape;660;p8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Variable arguments can be used when the number of arguments that you want to pass to a method are not fixed.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method can accept different number of arguments of same type whenever they are called.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generic syntax for this notation is:</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returntype methodName(datatype...arrayname)</a:t>
            </a:r>
            <a:endParaRPr/>
          </a:p>
        </p:txBody>
      </p:sp>
      <p:sp>
        <p:nvSpPr>
          <p:cNvPr id="661" name="Google Shape;661;p8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8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Variable Arguments (contd.)</a:t>
            </a:r>
            <a:endParaRPr/>
          </a:p>
        </p:txBody>
      </p:sp>
      <p:sp>
        <p:nvSpPr>
          <p:cNvPr id="667" name="Google Shape;667;p87"/>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static void add(int...a)</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b="0" i="0" sz="3200" u="none">
              <a:solidFill>
                <a:schemeClr val="dk1"/>
              </a:solidFill>
              <a:latin typeface="Calibri"/>
              <a:ea typeface="Calibri"/>
              <a:cs typeface="Calibri"/>
              <a:sym typeface="Calibri"/>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int sum=0;</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for(int i=0;i&lt;a.length;i++)</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sum=sum+a[i];</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System.out.println("SUM = "+sum);</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a:p>
            <a:pPr indent="-203200" lvl="0" marL="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Can be invoked as</a:t>
            </a:r>
            <a:endParaRPr/>
          </a:p>
          <a:p>
            <a:pPr indent="0" lvl="0" marL="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add(2,3,4,5)     Or	add(2,3,4);</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668" name="Google Shape;668;p8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8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Command Line Arguments</a:t>
            </a:r>
            <a:endParaRPr/>
          </a:p>
        </p:txBody>
      </p:sp>
      <p:sp>
        <p:nvSpPr>
          <p:cNvPr id="674" name="Google Shape;674;p88"/>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Suppose, you have a Java application, called sort, that sorts the lines in a file named Sort.text. You would invoke the Sort application as, </a:t>
            </a:r>
            <a:endParaRPr/>
          </a:p>
          <a:p>
            <a:pPr indent="-285750" lvl="1" marL="742950" marR="0" rtl="0" algn="just">
              <a:lnSpc>
                <a:spcPct val="8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java Sort Example.txt</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When the application is invoked, the runtime system passes the command line arguments to the applications main( ) method via an array of string. </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 the statement above, command line arguments (Example.txt) is passed to the Sort application an array of String that contains a single string, i.e. Example.txt.</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This String array is passed to the main method and it is copied in </a:t>
            </a:r>
            <a:r>
              <a:rPr b="0" i="1" lang="en-US" sz="2400" u="none">
                <a:solidFill>
                  <a:schemeClr val="dk1"/>
                </a:solidFill>
                <a:latin typeface="Calibri"/>
                <a:ea typeface="Calibri"/>
                <a:cs typeface="Calibri"/>
                <a:sym typeface="Calibri"/>
              </a:rPr>
              <a:t>args</a:t>
            </a:r>
            <a:r>
              <a:rPr b="0" i="0" lang="en-US" sz="2400" u="none">
                <a:solidFill>
                  <a:schemeClr val="dk1"/>
                </a:solidFill>
                <a:latin typeface="Calibri"/>
                <a:ea typeface="Calibri"/>
                <a:cs typeface="Calibri"/>
                <a:sym typeface="Calibri"/>
              </a:rPr>
              <a:t>.</a:t>
            </a:r>
            <a:endParaRPr/>
          </a:p>
          <a:p>
            <a:pPr indent="-285750" lvl="1" marL="742950" marR="0" rtl="0" algn="just">
              <a:lnSpc>
                <a:spcPct val="8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public static void main (String args[]) {</a:t>
            </a:r>
            <a:endParaRPr/>
          </a:p>
          <a:p>
            <a:pPr indent="-285750" lvl="1" marL="742950" marR="0" rtl="0" algn="just">
              <a:lnSpc>
                <a:spcPct val="8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 . . . .</a:t>
            </a:r>
            <a:endParaRPr/>
          </a:p>
          <a:p>
            <a:pPr indent="-285750" lvl="1" marL="742950" marR="0" rtl="0" algn="just">
              <a:lnSpc>
                <a:spcPct val="80000"/>
              </a:lnSpc>
              <a:spcBef>
                <a:spcPts val="48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 // end of the main( ) method</a:t>
            </a:r>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89"/>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Command Line Arguments</a:t>
            </a:r>
            <a:endParaRPr/>
          </a:p>
        </p:txBody>
      </p:sp>
      <p:sp>
        <p:nvSpPr>
          <p:cNvPr id="680" name="Google Shape;680;p89"/>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In this case, each of the elements in the array named </a:t>
            </a:r>
            <a:r>
              <a:rPr b="0" i="1" lang="en-US" sz="2800" u="none">
                <a:solidFill>
                  <a:schemeClr val="dk1"/>
                </a:solidFill>
                <a:latin typeface="Calibri"/>
                <a:ea typeface="Calibri"/>
                <a:cs typeface="Calibri"/>
                <a:sym typeface="Calibri"/>
              </a:rPr>
              <a:t>args</a:t>
            </a:r>
            <a:r>
              <a:rPr b="0" i="0" lang="en-US" sz="2800" u="none">
                <a:solidFill>
                  <a:schemeClr val="dk1"/>
                </a:solidFill>
                <a:latin typeface="Calibri"/>
                <a:ea typeface="Calibri"/>
                <a:cs typeface="Calibri"/>
                <a:sym typeface="Calibri"/>
              </a:rPr>
              <a:t> (including the elements at position zero) is a reference to one of the command line arguments, each of which is a string object.</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number of elements in an array can be obtained from the </a:t>
            </a:r>
            <a:r>
              <a:rPr b="1" i="0" lang="en-US" sz="2800" u="none">
                <a:solidFill>
                  <a:schemeClr val="dk1"/>
                </a:solidFill>
                <a:latin typeface="Calibri"/>
                <a:ea typeface="Calibri"/>
                <a:cs typeface="Calibri"/>
                <a:sym typeface="Calibri"/>
              </a:rPr>
              <a:t>length </a:t>
            </a:r>
            <a:r>
              <a:rPr b="0" i="0" lang="en-US" sz="2800" u="none">
                <a:solidFill>
                  <a:schemeClr val="dk1"/>
                </a:solidFill>
                <a:latin typeface="Calibri"/>
                <a:ea typeface="Calibri"/>
                <a:cs typeface="Calibri"/>
                <a:sym typeface="Calibri"/>
              </a:rPr>
              <a:t>property of the array.</a:t>
            </a:r>
            <a:endParaRPr/>
          </a:p>
          <a:p>
            <a:pPr indent="-342900" lvl="0" marL="342900"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Therefore in the signature of main( ), it is not necessary in Java to pass a parameter specifying the number of arguments.</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90"/>
          <p:cNvSpPr txBox="1"/>
          <p:nvPr>
            <p:ph type="title"/>
          </p:nvPr>
        </p:nvSpPr>
        <p:spPr>
          <a:xfrm>
            <a:off x="457200" y="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Example</a:t>
            </a:r>
            <a:endParaRPr/>
          </a:p>
        </p:txBody>
      </p:sp>
      <p:sp>
        <p:nvSpPr>
          <p:cNvPr id="686" name="Google Shape;686;p90"/>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class Echo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public static void main(String args[])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int x = args.length;</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for (int i = 0; i &lt; x; i++)</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System.out.println(args[i]);</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	}</a:t>
            </a:r>
            <a:endParaRPr/>
          </a:p>
          <a:p>
            <a:pPr indent="-342900" lvl="0" marL="342900" marR="0" rtl="0" algn="l">
              <a:lnSpc>
                <a:spcPct val="9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After compiling the program, when it is executed, you can pass the command line arguments as follows,</a:t>
            </a:r>
            <a:endParaRPr/>
          </a:p>
          <a:p>
            <a:pPr indent="-342900" lvl="0" marL="342900" marR="0" rtl="0" algn="l">
              <a:lnSpc>
                <a:spcPct val="9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C&gt;java Echo A B C</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9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692" name="Google Shape;692;p91"/>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B</a:t>
            </a:r>
            <a:endParaRPr/>
          </a:p>
          <a:p>
            <a:pPr indent="-342900" lvl="0" marL="342900" marR="0" rtl="0" algn="l">
              <a:lnSpc>
                <a:spcPct val="9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If the command  </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c:\java Echo “A is first alphabet” “B is second” “C is third” is invoked </a:t>
            </a:r>
            <a:endParaRPr/>
          </a:p>
          <a:p>
            <a:pPr indent="-342900" lvl="0" marL="342900" marR="0" rtl="0" algn="l">
              <a:lnSpc>
                <a:spcPct val="9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The output is as follows:</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 is first alphabet</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B is second</a:t>
            </a:r>
            <a:endParaRPr/>
          </a:p>
          <a:p>
            <a:pPr indent="-285750" lvl="1" marL="742950" marR="0" rtl="0" algn="l">
              <a:lnSpc>
                <a:spcPct val="9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 is third</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9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Your Turn</a:t>
            </a:r>
            <a:endParaRPr/>
          </a:p>
        </p:txBody>
      </p:sp>
      <p:sp>
        <p:nvSpPr>
          <p:cNvPr id="698" name="Google Shape;698;p9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is difference between local, instance and class variable?</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is the difference between static and instance initialization block?</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How are arrays created in java?</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are variable arguments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What are command line arguments?</a:t>
            </a:r>
            <a:endParaRPr/>
          </a:p>
        </p:txBody>
      </p:sp>
      <p:sp>
        <p:nvSpPr>
          <p:cNvPr id="699" name="Google Shape;699;p9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9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Nested Classes</a:t>
            </a:r>
            <a:endParaRPr/>
          </a:p>
        </p:txBody>
      </p:sp>
      <p:sp>
        <p:nvSpPr>
          <p:cNvPr id="705" name="Google Shape;705;p93"/>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Nested class is a class within a class. Nested classes are of the following types: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Non-static inner classes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Static nested classes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Local classes</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Anonymous Inner classes</a:t>
            </a:r>
            <a:endParaRPr/>
          </a:p>
        </p:txBody>
      </p:sp>
      <p:sp>
        <p:nvSpPr>
          <p:cNvPr id="706" name="Google Shape;706;p9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94"/>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Why do we Create Nested Classes?</a:t>
            </a:r>
            <a:endParaRPr/>
          </a:p>
        </p:txBody>
      </p:sp>
      <p:sp>
        <p:nvSpPr>
          <p:cNvPr id="712" name="Google Shape;712;p94"/>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let you turn logic into their own classes which normally you would not turn into thus allowing even more object orientation into your programming.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lets you encapsulate logic into classes.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Inner classes provide a structured hierarchy.</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allow callbacks to be defined conveniently.</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Callback allows an object to call back the originating object at a later point in time. </a:t>
            </a:r>
            <a:endParaRPr/>
          </a:p>
        </p:txBody>
      </p:sp>
      <p:sp>
        <p:nvSpPr>
          <p:cNvPr id="713" name="Google Shape;713;p9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9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Why Nested classes</a:t>
            </a:r>
            <a:endParaRPr/>
          </a:p>
        </p:txBody>
      </p:sp>
      <p:sp>
        <p:nvSpPr>
          <p:cNvPr id="719" name="Google Shape;719;p95"/>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very effective in implementing event handling in Java.</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Another advantage of nested classes would be to group classes that would be required at one place only.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If you are certain that a class will be useful to only one class then it is better to embed a class into another.</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 obvious advantages would be ease of readability and ease of maintaining the code.</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720" name="Google Shape;720;p9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9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Non static inner class</a:t>
            </a:r>
            <a:endParaRPr/>
          </a:p>
        </p:txBody>
      </p:sp>
      <p:sp>
        <p:nvSpPr>
          <p:cNvPr id="726" name="Google Shape;726;p96"/>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is a member of the outer class declared outside the functions within a class.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bound to the instance of the enclosing class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has access to all the members of the enclosing class even the parent’s this reference and private members.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can be defined as private, default, protected, public, final and even abstract.</a:t>
            </a:r>
            <a:endParaRPr/>
          </a:p>
        </p:txBody>
      </p:sp>
      <p:sp>
        <p:nvSpPr>
          <p:cNvPr id="727" name="Google Shape;727;p9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9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Non static Inner class</a:t>
            </a:r>
            <a:endParaRPr/>
          </a:p>
        </p:txBody>
      </p:sp>
      <p:sp>
        <p:nvSpPr>
          <p:cNvPr id="733" name="Google Shape;733;p97"/>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inner class instance has a reference to an enclosing outer instance.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reference to the outer class instance can be obtained through OuterClassName.this</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cannot have static variables or methods except for compile-time constant variables, i.e., static constant.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Inner class’s objects can be created within instance methods, constructors of the outer class or through an instance of outer class</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
        <p:nvSpPr>
          <p:cNvPr id="734" name="Google Shape;734;p9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9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Inner class Example</a:t>
            </a:r>
            <a:endParaRPr/>
          </a:p>
        </p:txBody>
      </p:sp>
      <p:sp>
        <p:nvSpPr>
          <p:cNvPr id="740" name="Google Shape;740;p98"/>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class InnerClassTest</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int y=20; // instance variable of outer class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static int a=30; // class variable of outer class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class InnerClass // inner class begins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int x=10;</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final static int z=50;</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void show()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System.out.println("Within Non static Inner Class");</a:t>
            </a:r>
            <a:endParaRPr/>
          </a:p>
        </p:txBody>
      </p:sp>
      <p:sp>
        <p:nvSpPr>
          <p:cNvPr id="741" name="Google Shape;741;p98"/>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9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Inner class Example</a:t>
            </a:r>
            <a:endParaRPr/>
          </a:p>
        </p:txBody>
      </p:sp>
      <p:sp>
        <p:nvSpPr>
          <p:cNvPr id="747" name="Google Shape;747;p99"/>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System.out.println("Can Access Inner class variable "+x);</a:t>
            </a:r>
            <a:endParaRPr/>
          </a:p>
          <a:p>
            <a:pPr indent="0" lvl="0" marL="0" marR="0" rtl="0" algn="l">
              <a:lnSpc>
                <a:spcPct val="100000"/>
              </a:lnSpc>
              <a:spcBef>
                <a:spcPts val="52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System.out.println("Can Access Outer class variables "+y);</a:t>
            </a:r>
            <a:endParaRPr/>
          </a:p>
          <a:p>
            <a:pPr indent="0" lvl="0" marL="0" marR="0" rtl="0" algn="l">
              <a:lnSpc>
                <a:spcPct val="100000"/>
              </a:lnSpc>
              <a:spcBef>
                <a:spcPts val="52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System.out.println("Can Access Outer class static variables "+a);</a:t>
            </a:r>
            <a:endParaRPr/>
          </a:p>
          <a:p>
            <a:pPr indent="0" lvl="0" marL="0" marR="0" rtl="0" algn="l">
              <a:lnSpc>
                <a:spcPct val="100000"/>
              </a:lnSpc>
              <a:spcBef>
                <a:spcPts val="52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System.out.println("Inner class instance accessed using this:"+this);</a:t>
            </a:r>
            <a:endParaRPr/>
          </a:p>
          <a:p>
            <a:pPr indent="0" lvl="0" marL="0" marR="0" rtl="0" algn="l">
              <a:lnSpc>
                <a:spcPct val="100000"/>
              </a:lnSpc>
              <a:spcBef>
                <a:spcPts val="52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System.out.println("Outer class referred from inner class using InnerClassTest.this: "+ InnerClassTest.this);</a:t>
            </a:r>
            <a:endParaRPr/>
          </a:p>
          <a:p>
            <a:pPr indent="0" lvl="0" marL="0" marR="0" rtl="0" algn="l">
              <a:lnSpc>
                <a:spcPct val="100000"/>
              </a:lnSpc>
              <a:spcBef>
                <a:spcPts val="52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outerInstanceMethod();</a:t>
            </a:r>
            <a:endParaRPr/>
          </a:p>
          <a:p>
            <a:pPr indent="0" lvl="0" marL="0" marR="0" rtl="0" algn="l">
              <a:lnSpc>
                <a:spcPct val="100000"/>
              </a:lnSpc>
              <a:spcBef>
                <a:spcPts val="52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outerClassMethod();</a:t>
            </a:r>
            <a:endParaRPr/>
          </a:p>
          <a:p>
            <a:pPr indent="0" lvl="0" marL="0" marR="0" rtl="0" algn="l">
              <a:lnSpc>
                <a:spcPct val="100000"/>
              </a:lnSpc>
              <a:spcBef>
                <a:spcPts val="520"/>
              </a:spcBef>
              <a:spcAft>
                <a:spcPts val="0"/>
              </a:spcAft>
              <a:buClr>
                <a:schemeClr val="dk1"/>
              </a:buClr>
              <a:buSzPts val="2600"/>
              <a:buFont typeface="Arial"/>
              <a:buNone/>
            </a:pPr>
            <a:r>
              <a:rPr b="0" i="0" lang="en-US" sz="2600" u="none">
                <a:solidFill>
                  <a:schemeClr val="dk1"/>
                </a:solidFill>
                <a:latin typeface="Calibri"/>
                <a:ea typeface="Calibri"/>
                <a:cs typeface="Calibri"/>
                <a:sym typeface="Calibri"/>
              </a:rPr>
              <a:t>}</a:t>
            </a:r>
            <a:endParaRPr/>
          </a:p>
          <a:p>
            <a:pPr indent="-177800" lvl="0" marL="342900" marR="0" rtl="0" algn="l">
              <a:spcBef>
                <a:spcPts val="52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p:txBody>
      </p:sp>
      <p:sp>
        <p:nvSpPr>
          <p:cNvPr id="748" name="Google Shape;748;p99"/>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10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Inner class Example</a:t>
            </a:r>
            <a:endParaRPr/>
          </a:p>
        </p:txBody>
      </p:sp>
      <p:sp>
        <p:nvSpPr>
          <p:cNvPr id="754" name="Google Shape;754;p100"/>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void outerInstanceMethod()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System.out.println("Outerclass Instance method called from Inner class");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static void outerClassMethod()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System.out.println("Outerclass static method Called from Inner class");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void createInnerObject()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new InnerClass().show();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public static void main(String args[])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InnerClassTest object = new InnerClassTest();</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object.createInnerObject();</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//Another way: object.newInnerClass().show(); } }</a:t>
            </a:r>
            <a:endParaRPr/>
          </a:p>
        </p:txBody>
      </p:sp>
      <p:sp>
        <p:nvSpPr>
          <p:cNvPr id="755" name="Google Shape;755;p100"/>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10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761" name="Google Shape;761;p101"/>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Within Non static Inner Class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Can Access Inner class variable 10</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Can Access Outer class variables 20</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Can Access Outer class static variables 30</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Inner class instance accessed using this: InnerClassTest$InnerClass@f72617</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Outer class referred from inner class using InnerClassTest.this: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InnerClassTest@1e5e2c3</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Outerclass Instance method Called from Inner class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Outerclass static method Called from Inner class</a:t>
            </a:r>
            <a:endParaRPr/>
          </a:p>
        </p:txBody>
      </p:sp>
      <p:sp>
        <p:nvSpPr>
          <p:cNvPr id="762" name="Google Shape;762;p101"/>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6" name="Shape 766"/>
        <p:cNvGrpSpPr/>
        <p:nvPr/>
      </p:nvGrpSpPr>
      <p:grpSpPr>
        <a:xfrm>
          <a:off x="0" y="0"/>
          <a:ext cx="0" cy="0"/>
          <a:chOff x="0" y="0"/>
          <a:chExt cx="0" cy="0"/>
        </a:xfrm>
      </p:grpSpPr>
      <p:sp>
        <p:nvSpPr>
          <p:cNvPr id="767" name="Google Shape;767;p102"/>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Nested class</a:t>
            </a:r>
            <a:endParaRPr/>
          </a:p>
        </p:txBody>
      </p:sp>
      <p:sp>
        <p:nvSpPr>
          <p:cNvPr id="768" name="Google Shape;768;p102"/>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is a static member of a class just like normal static members of any class.</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have access to all static methods of the enclosing parent class.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cannot directly refer to instance variables and method of the outer class, similar to static parts of any class; access it through an object of the outer class.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Unlike the inner classes, the static nested classes can have static members.</a:t>
            </a:r>
            <a:endParaRPr/>
          </a:p>
        </p:txBody>
      </p:sp>
      <p:sp>
        <p:nvSpPr>
          <p:cNvPr id="769" name="Google Shape;769;p102"/>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10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Nested class Example</a:t>
            </a:r>
            <a:endParaRPr/>
          </a:p>
        </p:txBody>
      </p:sp>
      <p:sp>
        <p:nvSpPr>
          <p:cNvPr id="775" name="Google Shape;775;p103"/>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class StaticNestedClassTest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int y; // instance variable</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static int z=100; // class variable</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static class StaticNestedClass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int x;</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static int staticinner=200;</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void nestedClassNonStaticMethod() {</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 y cannot be referenced here</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System.out.println("Accessing static variable of outer class within Static Inner Class "+z);</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//outerClassInstanceMethod();</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outerClassStaticMethod(); 		}</a:t>
            </a:r>
            <a:endParaRPr/>
          </a:p>
        </p:txBody>
      </p:sp>
      <p:sp>
        <p:nvSpPr>
          <p:cNvPr id="776" name="Google Shape;776;p103"/>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10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Nested classes Example</a:t>
            </a:r>
            <a:endParaRPr/>
          </a:p>
        </p:txBody>
      </p:sp>
      <p:sp>
        <p:nvSpPr>
          <p:cNvPr id="782" name="Google Shape;782;p104"/>
          <p:cNvSpPr txBox="1"/>
          <p:nvPr>
            <p:ph idx="1" type="body"/>
          </p:nvPr>
        </p:nvSpPr>
        <p:spPr>
          <a:xfrm>
            <a:off x="457200" y="10668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static void nestedClassStaticMethod()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System.out.println("Within Static method of Inner Class ");</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//outerClassInstanceMethod();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outerClassStaticMethod();}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 // static nested class ends here</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static void outerClassStaticMethod(){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System.out.println("Outer Class Static 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void outerClassInstanceMethod(){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System.out.println("Outer Class Instance method");	}</a:t>
            </a:r>
            <a:endParaRPr/>
          </a:p>
        </p:txBody>
      </p:sp>
      <p:sp>
        <p:nvSpPr>
          <p:cNvPr id="783" name="Google Shape;783;p104"/>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p10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Static Nested class Example</a:t>
            </a:r>
            <a:endParaRPr/>
          </a:p>
        </p:txBody>
      </p:sp>
      <p:sp>
        <p:nvSpPr>
          <p:cNvPr id="789" name="Google Shape;789;p105"/>
          <p:cNvSpPr txBox="1"/>
          <p:nvPr>
            <p:ph idx="1" type="body"/>
          </p:nvPr>
        </p:nvSpPr>
        <p:spPr>
          <a:xfrm>
            <a:off x="457200" y="11430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public static void main(String args[])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StaticNestedClassTest.StaticNestedClass object = new</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StaticNestedClassTest.StaticNestedClass();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object.nestedClassNonStaticMethod();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object.nestedClassStaticMethod();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a:t>
            </a:r>
            <a:endParaRPr/>
          </a:p>
        </p:txBody>
      </p:sp>
      <p:sp>
        <p:nvSpPr>
          <p:cNvPr id="790" name="Google Shape;790;p105"/>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10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The Output</a:t>
            </a:r>
            <a:endParaRPr/>
          </a:p>
        </p:txBody>
      </p:sp>
      <p:sp>
        <p:nvSpPr>
          <p:cNvPr id="796" name="Google Shape;796;p106"/>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D:\javabook\programs\chap 4&gt;java StaticNestedClassTest</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Accessing static variable of outer class within Static Inner Class 100</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Outer Class Static method</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Within Static method of Inner Class</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Outer Class Static method</a:t>
            </a:r>
            <a:endParaRPr/>
          </a:p>
        </p:txBody>
      </p:sp>
      <p:sp>
        <p:nvSpPr>
          <p:cNvPr id="797" name="Google Shape;797;p106"/>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0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Local &amp; Anonymous classes</a:t>
            </a:r>
            <a:endParaRPr/>
          </a:p>
        </p:txBody>
      </p:sp>
      <p:sp>
        <p:nvSpPr>
          <p:cNvPr id="803" name="Google Shape;803;p107"/>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3200"/>
              <a:buFont typeface="Arial"/>
              <a:buChar char="•"/>
            </a:pPr>
            <a:r>
              <a:rPr b="0" i="1" lang="en-US" sz="3200" u="none">
                <a:solidFill>
                  <a:schemeClr val="dk1"/>
                </a:solidFill>
                <a:latin typeface="Calibri"/>
                <a:ea typeface="Calibri"/>
                <a:cs typeface="Calibri"/>
                <a:sym typeface="Calibri"/>
              </a:rPr>
              <a:t>Local inner </a:t>
            </a:r>
            <a:r>
              <a:rPr b="0" i="0" lang="en-US" sz="3200" u="none">
                <a:solidFill>
                  <a:schemeClr val="dk1"/>
                </a:solidFill>
                <a:latin typeface="Calibri"/>
                <a:ea typeface="Calibri"/>
                <a:cs typeface="Calibri"/>
                <a:sym typeface="Calibri"/>
              </a:rPr>
              <a:t>classes are declared within a block of code and are visible only within that block, just as any other method variable. </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These classes are declared within a function. They can use only final (constant) local variables and parameters of the function</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An </a:t>
            </a:r>
            <a:r>
              <a:rPr b="0" i="1" lang="en-US" sz="3200" u="none">
                <a:solidFill>
                  <a:schemeClr val="dk1"/>
                </a:solidFill>
                <a:latin typeface="Calibri"/>
                <a:ea typeface="Calibri"/>
                <a:cs typeface="Calibri"/>
                <a:sym typeface="Calibri"/>
              </a:rPr>
              <a:t>anonymous inner </a:t>
            </a:r>
            <a:r>
              <a:rPr b="0" i="0" lang="en-US" sz="3200" u="none">
                <a:solidFill>
                  <a:schemeClr val="dk1"/>
                </a:solidFill>
                <a:latin typeface="Calibri"/>
                <a:ea typeface="Calibri"/>
                <a:cs typeface="Calibri"/>
                <a:sym typeface="Calibri"/>
              </a:rPr>
              <a:t>class is a local class that has no name.</a:t>
            </a:r>
            <a:endParaRPr/>
          </a:p>
          <a:p>
            <a:pPr indent="-342900" lvl="0" marL="342900" marR="0" rtl="0" algn="just">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They are extensively used in Event Handling</a:t>
            </a:r>
            <a:endParaRPr/>
          </a:p>
        </p:txBody>
      </p:sp>
      <p:sp>
        <p:nvSpPr>
          <p:cNvPr id="804" name="Google Shape;804;p107"/>
          <p:cNvSpPr txBox="1"/>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10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Summary</a:t>
            </a:r>
            <a:endParaRPr/>
          </a:p>
        </p:txBody>
      </p:sp>
      <p:sp>
        <p:nvSpPr>
          <p:cNvPr id="810" name="Google Shape;810;p108"/>
          <p:cNvSpPr txBox="1"/>
          <p:nvPr>
            <p:ph idx="1" type="body"/>
          </p:nvPr>
        </p:nvSpPr>
        <p:spPr>
          <a:xfrm>
            <a:off x="457200" y="12192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class provides a sort of template or blueprint for an object.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An object is a software bundle which encapsulates variables and methods, operating on those variables.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Java object is defined as an </a:t>
            </a:r>
            <a:r>
              <a:rPr b="0" i="1" lang="en-US" sz="2800" u="none">
                <a:solidFill>
                  <a:schemeClr val="dk1"/>
                </a:solidFill>
                <a:latin typeface="Calibri"/>
                <a:ea typeface="Calibri"/>
                <a:cs typeface="Calibri"/>
                <a:sym typeface="Calibri"/>
              </a:rPr>
              <a:t>instance of a class</a:t>
            </a:r>
            <a:r>
              <a:rPr b="0" i="0" lang="en-US" sz="2800" u="none">
                <a:solidFill>
                  <a:schemeClr val="dk1"/>
                </a:solidFill>
                <a:latin typeface="Calibri"/>
                <a:ea typeface="Calibri"/>
                <a:cs typeface="Calibri"/>
                <a:sym typeface="Calibri"/>
              </a:rPr>
              <a:t>. </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class can have many instances of objects, each having its own copy of variable and methods. The variables declared inside a class (but outside a method) are termed as instance variable. Attributes of a class are defined by instance variables, while its behavior is defined by methods. </a:t>
            </a:r>
            <a:endParaRPr/>
          </a:p>
          <a:p>
            <a:pPr indent="-165100" lvl="0" marL="342900" marR="0" rtl="0" algn="just">
              <a:lnSpc>
                <a:spcPct val="8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10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Summary (contd.)</a:t>
            </a:r>
            <a:endParaRPr/>
          </a:p>
        </p:txBody>
      </p:sp>
      <p:sp>
        <p:nvSpPr>
          <p:cNvPr id="816" name="Google Shape;816;p109"/>
          <p:cNvSpPr txBox="1"/>
          <p:nvPr>
            <p:ph idx="1" type="body"/>
          </p:nvPr>
        </p:nvSpPr>
        <p:spPr>
          <a:xfrm>
            <a:off x="457200" y="11890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These methods, declared as part of one object can be invoked or called from another object. The method or variable belonging to a particular can be accessed by specifying the name of the object to which they belong to.</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A special type of variable, whose value remains the same through out all the objects of a class, is known as class or static variable. Likewise a method can also be declared as static, which exist within the one location in memory no matter how many times it is called from multiple objects. Both static variable and static method can be called directly from anywhere inside a class, without specifying any object name.</a:t>
            </a:r>
            <a:endParaRPr/>
          </a:p>
          <a:p>
            <a:pPr indent="-342900" lvl="0" marL="342900" marR="0" rtl="0" algn="just">
              <a:lnSpc>
                <a:spcPct val="8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In java the objects are automatically freed after their use. The garbage collector periodically frees the memory used by objects that are no longer needed</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1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Summary (contd.)</a:t>
            </a:r>
            <a:endParaRPr/>
          </a:p>
        </p:txBody>
      </p:sp>
      <p:sp>
        <p:nvSpPr>
          <p:cNvPr id="822" name="Google Shape;822;p110"/>
          <p:cNvSpPr txBox="1"/>
          <p:nvPr>
            <p:ph idx="1" type="body"/>
          </p:nvPr>
        </p:nvSpPr>
        <p:spPr>
          <a:xfrm>
            <a:off x="457200" y="13716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8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Method Overloading and overriding are two ways of implementing polymorphism in java.</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Command Line Arguments is a way fo passing input to Java programs.</a:t>
            </a:r>
            <a:endParaRPr/>
          </a:p>
          <a:p>
            <a:pPr indent="-342900" lvl="0" marL="342900" marR="0" rtl="0" algn="just">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Arrays are used to hold to hold data of similar type. There can be of 1-dimensional or multidimensional arrays.</a:t>
            </a:r>
            <a:endParaRPr/>
          </a:p>
          <a:p>
            <a:pPr indent="-342900" lvl="0" marL="342900" marR="0" rtl="0" algn="l">
              <a:lnSpc>
                <a:spcPct val="8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Nested classes are classes within class. They can be static, non-static, local and anonymous.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5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2009-07-24T09:58:34Z</dcterms:created>
  <dc:creator>manisha.mathews</dc:creator>
</cp:coreProperties>
</file>