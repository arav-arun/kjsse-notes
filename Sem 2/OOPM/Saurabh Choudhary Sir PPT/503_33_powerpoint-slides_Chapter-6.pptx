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Lst>
  <p:sldSz cy="6858000" cx="9144000"/>
  <p:notesSz cx="6858000" cy="9144000"/>
  <p:embeddedFontLst>
    <p:embeddedFont>
      <p:font typeface="Constantia"/>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3" roundtripDataSignature="AMtx7mg3ajH2Y6UcRJ7nTQobgo/qBjn8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A051C2-149B-46E3-B45E-4E3B6D096EB7}">
  <a:tblStyle styleId="{56A051C2-149B-46E3-B45E-4E3B6D096EB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customschemas.google.com/relationships/presentationmetadata" Target="metadata"/><Relationship Id="rId72" Type="http://schemas.openxmlformats.org/officeDocument/2006/relationships/font" Target="fonts/Constantia-boldItalic.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Constantia-italic.fntdata"/><Relationship Id="rId70" Type="http://schemas.openxmlformats.org/officeDocument/2006/relationships/font" Target="fonts/Constantia-bold.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Constantia-regular.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89666052a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89666052a_0_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c89666052a_0_1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89666052a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c89666052a_0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89666052a_0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c89666052a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c89666052a_0_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g3c89666052a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89666052a_0_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c89666052a_0_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89666052a_0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c89666052a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89666052a_0_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c89666052a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6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6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6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6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6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 name="Shape 48"/>
        <p:cNvGrpSpPr/>
        <p:nvPr/>
      </p:nvGrpSpPr>
      <p:grpSpPr>
        <a:xfrm>
          <a:off x="0" y="0"/>
          <a:ext cx="0" cy="0"/>
          <a:chOff x="0" y="0"/>
          <a:chExt cx="0" cy="0"/>
        </a:xfrm>
      </p:grpSpPr>
      <p:sp>
        <p:nvSpPr>
          <p:cNvPr id="49" name="Google Shape;49;p6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6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4" name="Shape 54"/>
        <p:cNvGrpSpPr/>
        <p:nvPr/>
      </p:nvGrpSpPr>
      <p:grpSpPr>
        <a:xfrm>
          <a:off x="0" y="0"/>
          <a:ext cx="0" cy="0"/>
          <a:chOff x="0" y="0"/>
          <a:chExt cx="0" cy="0"/>
        </a:xfrm>
      </p:grpSpPr>
      <p:sp>
        <p:nvSpPr>
          <p:cNvPr id="55" name="Google Shape;55;p6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6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7" name="Google Shape;57;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6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2" name="Google Shape;62;p67"/>
          <p:cNvSpPr/>
          <p:nvPr>
            <p:ph idx="2" type="pic"/>
          </p:nvPr>
        </p:nvSpPr>
        <p:spPr>
          <a:xfrm>
            <a:off x="1792288" y="612775"/>
            <a:ext cx="5486400" cy="4114800"/>
          </a:xfrm>
          <a:prstGeom prst="rect">
            <a:avLst/>
          </a:prstGeom>
          <a:noFill/>
          <a:ln>
            <a:noFill/>
          </a:ln>
        </p:spPr>
      </p:sp>
      <p:sp>
        <p:nvSpPr>
          <p:cNvPr id="63" name="Google Shape;63;p6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4" name="Google Shape;64;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6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6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0" name="Google Shape;70;p6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1" name="Google Shape;71;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7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7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1" name="Google Shape;81;p7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2" name="Google Shape;82;p7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3" name="Google Shape;83;p7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4" name="Google Shape;84;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7" name="Shape 87"/>
        <p:cNvGrpSpPr/>
        <p:nvPr/>
      </p:nvGrpSpPr>
      <p:grpSpPr>
        <a:xfrm>
          <a:off x="0" y="0"/>
          <a:ext cx="0" cy="0"/>
          <a:chOff x="0" y="0"/>
          <a:chExt cx="0" cy="0"/>
        </a:xfrm>
      </p:grpSpPr>
      <p:sp>
        <p:nvSpPr>
          <p:cNvPr id="88" name="Google Shape;88;p7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7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90" name="Google Shape;90;p7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7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7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0" Type="http://schemas.openxmlformats.org/officeDocument/2006/relationships/theme" Target="../theme/theme4.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9"/>
          <p:cNvSpPr txBox="1"/>
          <p:nvPr/>
        </p:nvSpPr>
        <p:spPr>
          <a:xfrm>
            <a:off x="2362200" y="6488112"/>
            <a:ext cx="541020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nstantia"/>
              <a:buNone/>
            </a:pPr>
            <a:r>
              <a:rPr b="0" i="0" lang="en-US" sz="1600" u="none" cap="none" strike="noStrike">
                <a:solidFill>
                  <a:srgbClr val="000000"/>
                </a:solidFill>
                <a:latin typeface="Constantia"/>
                <a:ea typeface="Constantia"/>
                <a:cs typeface="Constantia"/>
                <a:sym typeface="Constantia"/>
              </a:rPr>
              <a:t>© Oxford University Press 2013. All rights reserved.</a:t>
            </a:r>
            <a:endParaRPr/>
          </a:p>
        </p:txBody>
      </p:sp>
      <p:sp>
        <p:nvSpPr>
          <p:cNvPr id="11" name="Google Shape;11;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2" name="Google Shape;12;p5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2" name="Shape 22"/>
        <p:cNvGrpSpPr/>
        <p:nvPr/>
      </p:nvGrpSpPr>
      <p:grpSpPr>
        <a:xfrm>
          <a:off x="0" y="0"/>
          <a:ext cx="0" cy="0"/>
          <a:chOff x="0" y="0"/>
          <a:chExt cx="0" cy="0"/>
        </a:xfrm>
      </p:grpSpPr>
      <p:sp>
        <p:nvSpPr>
          <p:cNvPr id="23" name="Google Shape;23;p61"/>
          <p:cNvSpPr txBox="1"/>
          <p:nvPr/>
        </p:nvSpPr>
        <p:spPr>
          <a:xfrm>
            <a:off x="2133600" y="6442075"/>
            <a:ext cx="54102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tantia"/>
              <a:buNone/>
            </a:pPr>
            <a:r>
              <a:rPr b="0" i="0" lang="en-US" sz="1600" u="none">
                <a:solidFill>
                  <a:schemeClr val="dk1"/>
                </a:solidFill>
                <a:latin typeface="Constantia"/>
                <a:ea typeface="Constantia"/>
                <a:cs typeface="Constantia"/>
                <a:sym typeface="Constantia"/>
              </a:rPr>
              <a:t>© Oxford University Press 2013. All rights reserved.</a:t>
            </a:r>
            <a:endParaRPr/>
          </a:p>
        </p:txBody>
      </p:sp>
      <p:sp>
        <p:nvSpPr>
          <p:cNvPr id="24" name="Google Shape;24;p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5" name="Google Shape;25;p6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6" name="Google Shape;26;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 name="Google Shape;27;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5" name="Shape 35"/>
        <p:cNvGrpSpPr/>
        <p:nvPr/>
      </p:nvGrpSpPr>
      <p:grpSpPr>
        <a:xfrm>
          <a:off x="0" y="0"/>
          <a:ext cx="0" cy="0"/>
          <a:chOff x="0" y="0"/>
          <a:chExt cx="0" cy="0"/>
        </a:xfrm>
      </p:grpSpPr>
      <p:sp>
        <p:nvSpPr>
          <p:cNvPr id="36" name="Google Shape;36;p6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7" name="Google Shape;37;p6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0" name="Google Shape;40;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ctrTitle"/>
          </p:nvPr>
        </p:nvSpPr>
        <p:spPr>
          <a:xfrm>
            <a:off x="3429000" y="1905000"/>
            <a:ext cx="5715000" cy="21018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200"/>
              <a:buFont typeface="Calibri"/>
              <a:buNone/>
            </a:pPr>
            <a:r>
              <a:rPr b="1" i="0" lang="en-US" sz="4200" u="none">
                <a:solidFill>
                  <a:schemeClr val="dk1"/>
                </a:solidFill>
                <a:latin typeface="Calibri"/>
                <a:ea typeface="Calibri"/>
                <a:cs typeface="Calibri"/>
                <a:sym typeface="Calibri"/>
              </a:rPr>
              <a:t>Programming in Java, 2e</a:t>
            </a:r>
            <a:endParaRPr/>
          </a:p>
        </p:txBody>
      </p:sp>
      <p:sp>
        <p:nvSpPr>
          <p:cNvPr id="98" name="Google Shape;98;p1"/>
          <p:cNvSpPr txBox="1"/>
          <p:nvPr>
            <p:ph idx="1" type="subTitle"/>
          </p:nvPr>
        </p:nvSpPr>
        <p:spPr>
          <a:xfrm>
            <a:off x="3581400" y="3962400"/>
            <a:ext cx="5562600" cy="1270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4200"/>
              <a:buNone/>
            </a:pPr>
            <a:r>
              <a:rPr b="1" i="0" lang="en-US" sz="4200" u="none">
                <a:solidFill>
                  <a:schemeClr val="dk1"/>
                </a:solidFill>
                <a:latin typeface="Calibri"/>
                <a:ea typeface="Calibri"/>
                <a:cs typeface="Calibri"/>
                <a:sym typeface="Calibri"/>
              </a:rPr>
              <a:t>Sachin Malhotra</a:t>
            </a:r>
            <a:endParaRPr/>
          </a:p>
          <a:p>
            <a:pPr indent="0" lvl="0" marL="0" rtl="0" algn="ctr">
              <a:lnSpc>
                <a:spcPct val="100000"/>
              </a:lnSpc>
              <a:spcBef>
                <a:spcPts val="840"/>
              </a:spcBef>
              <a:spcAft>
                <a:spcPts val="0"/>
              </a:spcAft>
              <a:buClr>
                <a:schemeClr val="dk1"/>
              </a:buClr>
              <a:buSzPts val="4200"/>
              <a:buNone/>
            </a:pPr>
            <a:r>
              <a:rPr b="1" i="0" lang="en-US" sz="4200" u="none">
                <a:solidFill>
                  <a:schemeClr val="dk1"/>
                </a:solidFill>
                <a:latin typeface="Calibri"/>
                <a:ea typeface="Calibri"/>
                <a:cs typeface="Calibri"/>
                <a:sym typeface="Calibri"/>
              </a:rPr>
              <a:t>Saurabh Choudhary</a:t>
            </a:r>
            <a:endParaRPr/>
          </a:p>
        </p:txBody>
      </p:sp>
      <p:sp>
        <p:nvSpPr>
          <p:cNvPr id="99" name="Google Shape;99;p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logo(NEW)" id="100" name="Google Shape;100;p1"/>
          <p:cNvPicPr preferRelativeResize="0"/>
          <p:nvPr/>
        </p:nvPicPr>
        <p:blipFill rotWithShape="1">
          <a:blip r:embed="rId3">
            <a:alphaModFix/>
          </a:blip>
          <a:srcRect b="0" l="0" r="0" t="0"/>
          <a:stretch/>
        </p:blipFill>
        <p:spPr>
          <a:xfrm>
            <a:off x="7297737" y="0"/>
            <a:ext cx="1846262" cy="1600200"/>
          </a:xfrm>
          <a:prstGeom prst="rect">
            <a:avLst/>
          </a:prstGeom>
          <a:noFill/>
          <a:ln>
            <a:noFill/>
          </a:ln>
        </p:spPr>
      </p:pic>
      <p:pic>
        <p:nvPicPr>
          <p:cNvPr descr="D:\Kiran - My Documents\JAVA Programming 2e\PPTs Java 2e\Cover Image - Java 2e.png" id="101" name="Google Shape;101;p1"/>
          <p:cNvPicPr preferRelativeResize="0"/>
          <p:nvPr/>
        </p:nvPicPr>
        <p:blipFill rotWithShape="1">
          <a:blip r:embed="rId4">
            <a:alphaModFix/>
          </a:blip>
          <a:srcRect b="0" l="0" r="0" t="0"/>
          <a:stretch/>
        </p:blipFill>
        <p:spPr>
          <a:xfrm>
            <a:off x="228600" y="1676400"/>
            <a:ext cx="3173412" cy="4162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381000" y="121920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0253F"/>
              </a:buClr>
              <a:buSzPts val="6000"/>
              <a:buFont typeface="Calibri"/>
              <a:buNone/>
            </a:pPr>
            <a:r>
              <a:rPr b="1" i="0" lang="en-US" sz="6000" u="none">
                <a:solidFill>
                  <a:srgbClr val="10253F"/>
                </a:solidFill>
                <a:latin typeface="Calibri"/>
                <a:ea typeface="Calibri"/>
                <a:cs typeface="Calibri"/>
                <a:sym typeface="Calibri"/>
              </a:rPr>
              <a:t>Chapter 6</a:t>
            </a:r>
            <a:endParaRPr/>
          </a:p>
        </p:txBody>
      </p:sp>
      <p:sp>
        <p:nvSpPr>
          <p:cNvPr id="107" name="Google Shape;107;p2"/>
          <p:cNvSpPr txBox="1"/>
          <p:nvPr/>
        </p:nvSpPr>
        <p:spPr>
          <a:xfrm>
            <a:off x="533400" y="2971800"/>
            <a:ext cx="8229600" cy="17526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10253F"/>
              </a:buClr>
              <a:buSzPts val="6000"/>
              <a:buFont typeface="Calibri"/>
              <a:buNone/>
            </a:pPr>
            <a:r>
              <a:rPr b="1" i="0" lang="en-US" sz="6000" u="none">
                <a:solidFill>
                  <a:srgbClr val="10253F"/>
                </a:solidFill>
                <a:latin typeface="Calibri"/>
                <a:ea typeface="Calibri"/>
                <a:cs typeface="Calibri"/>
                <a:sym typeface="Calibri"/>
              </a:rPr>
              <a:t>Interface, Packages and Enumeration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Objective</a:t>
            </a:r>
            <a:endParaRPr/>
          </a:p>
        </p:txBody>
      </p:sp>
      <p:sp>
        <p:nvSpPr>
          <p:cNvPr id="113" name="Google Shape;113;p3"/>
          <p:cNvSpPr txBox="1"/>
          <p:nvPr>
            <p:ph idx="1" type="body"/>
          </p:nvPr>
        </p:nvSpPr>
        <p:spPr>
          <a:xfrm>
            <a:off x="457200" y="14478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what interfaces are and how they are different from abstract classes</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the concept behind packages and how they are used </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know about the java.lang package</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Object and Wrapper class</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how Strings are created, manipulated, and split in Java</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enumerations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Interfaces</a:t>
            </a:r>
            <a:endParaRPr/>
          </a:p>
        </p:txBody>
      </p:sp>
      <p:sp>
        <p:nvSpPr>
          <p:cNvPr id="119" name="Google Shape;119;p4"/>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Interfaces is a collection of methods which are public and abstract by default.</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implementing objects have to inherit the interface and provide implementation for all these methods. </a:t>
            </a:r>
            <a:endParaRPr/>
          </a:p>
          <a:p>
            <a:pPr indent="-342900" lvl="0" marL="342900" marR="0" rtl="0" algn="just">
              <a:lnSpc>
                <a:spcPct val="80000"/>
              </a:lnSpc>
              <a:spcBef>
                <a:spcPts val="560"/>
              </a:spcBef>
              <a:spcAft>
                <a:spcPts val="0"/>
              </a:spcAft>
              <a:buClr>
                <a:schemeClr val="dk1"/>
              </a:buClr>
              <a:buSzPts val="2800"/>
              <a:buFont typeface="Arial"/>
              <a:buChar char="•"/>
            </a:pPr>
            <a:r>
              <a:rPr b="0" i="1" lang="en-US" sz="2800" u="none" cap="none" strike="noStrike">
                <a:solidFill>
                  <a:schemeClr val="dk1"/>
                </a:solidFill>
                <a:latin typeface="Calibri"/>
                <a:ea typeface="Calibri"/>
                <a:cs typeface="Calibri"/>
                <a:sym typeface="Calibri"/>
              </a:rPr>
              <a:t>multiple inheritance </a:t>
            </a:r>
            <a:r>
              <a:rPr b="0" i="0" lang="en-US" sz="2800" u="none" cap="none" strike="noStrike">
                <a:solidFill>
                  <a:schemeClr val="dk1"/>
                </a:solidFill>
                <a:latin typeface="Calibri"/>
                <a:ea typeface="Calibri"/>
                <a:cs typeface="Calibri"/>
                <a:sym typeface="Calibri"/>
              </a:rPr>
              <a:t>in Java is allowed through interfaces</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Interfaces are declared with help of a keyword </a:t>
            </a:r>
            <a:r>
              <a:rPr b="0" i="1" lang="en-US" sz="2800" u="none" cap="none" strike="noStrike">
                <a:solidFill>
                  <a:schemeClr val="dk1"/>
                </a:solidFill>
                <a:latin typeface="Calibri"/>
                <a:ea typeface="Calibri"/>
                <a:cs typeface="Calibri"/>
                <a:sym typeface="Calibri"/>
              </a:rPr>
              <a:t>interface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Syntax for Creating Interface </a:t>
            </a:r>
            <a:endParaRPr/>
          </a:p>
        </p:txBody>
      </p:sp>
      <p:sp>
        <p:nvSpPr>
          <p:cNvPr id="125" name="Google Shape;125;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a:t>
            </a:r>
            <a:r>
              <a:rPr b="0" i="0" lang="en-US" sz="2800" u="none" cap="none" strike="noStrike">
                <a:solidFill>
                  <a:schemeClr val="dk1"/>
                </a:solidFill>
                <a:latin typeface="Calibri"/>
                <a:ea typeface="Calibri"/>
                <a:cs typeface="Calibri"/>
                <a:sym typeface="Calibri"/>
              </a:rPr>
              <a:t>interface interfacename</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returntype methodname(argumentlist);</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The class can inherit interfaces using implements keyword</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class classname implements interfacename{}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Interface Example</a:t>
            </a:r>
            <a:endParaRPr/>
          </a:p>
        </p:txBody>
      </p:sp>
      <p:sp>
        <p:nvSpPr>
          <p:cNvPr id="131" name="Google Shape;131;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interface Calculator {</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int add(int a,int b);</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int subtract(int a,int b);</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int multiply(int a,int b);</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a:t>
            </a:r>
            <a:r>
              <a:rPr lang="en-US" sz="2800"/>
              <a:t>double </a:t>
            </a:r>
            <a:r>
              <a:rPr b="0" i="0" lang="en-US" sz="2800" u="none" cap="none" strike="noStrike">
                <a:solidFill>
                  <a:schemeClr val="dk1"/>
                </a:solidFill>
                <a:latin typeface="Calibri"/>
                <a:ea typeface="Calibri"/>
                <a:cs typeface="Calibri"/>
                <a:sym typeface="Calibri"/>
              </a:rPr>
              <a:t>divide(int a,int b); </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 (contd.)</a:t>
            </a:r>
            <a:endParaRPr/>
          </a:p>
        </p:txBody>
      </p:sp>
      <p:sp>
        <p:nvSpPr>
          <p:cNvPr id="137" name="Google Shape;137;p7"/>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70000"/>
              </a:lnSpc>
              <a:spcBef>
                <a:spcPts val="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class Normal_Calculator implements Calculator</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public int add(int a,int 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return a+b;}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public int subtract(int a,int 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return a-b;}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public int multiply(int a,int 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return a*b;}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public int divide(int a,int 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return a/b;}</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public static void main(String args[]){</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Normal_Calculator c=new Normal_Calculator();</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System.out.println(“Value after addition = “+c.add(5,2));</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System.out.println(“Value after Subtraction = “+c.subtract(5,2));</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System.out.println(“Value after Multiplication = “+c.multiply(5,2));</a:t>
            </a:r>
            <a:endParaRPr/>
          </a:p>
          <a:p>
            <a:pPr indent="-342900" lvl="0" marL="342900" marR="0" rtl="0" algn="just">
              <a:lnSpc>
                <a:spcPct val="70000"/>
              </a:lnSpc>
              <a:spcBef>
                <a:spcPts val="380"/>
              </a:spcBef>
              <a:spcAft>
                <a:spcPts val="0"/>
              </a:spcAft>
              <a:buClr>
                <a:schemeClr val="dk1"/>
              </a:buClr>
              <a:buSzPts val="1900"/>
              <a:buFont typeface="Arial"/>
              <a:buNone/>
            </a:pPr>
            <a:r>
              <a:rPr b="0" i="0" lang="en-US" sz="1900" u="none" cap="none" strike="noStrike">
                <a:solidFill>
                  <a:schemeClr val="dk1"/>
                </a:solidFill>
                <a:latin typeface="Calibri"/>
                <a:ea typeface="Calibri"/>
                <a:cs typeface="Calibri"/>
                <a:sym typeface="Calibri"/>
              </a:rPr>
              <a:t>	System.out.println(“Value after division = “+c.divide(5,2));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8"/>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143" name="Google Shape;143;p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Value after addition = 7</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Value after Subtraction = 3</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Value after Multiplication= 10</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Value after division = 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Variables in Interface</a:t>
            </a:r>
            <a:endParaRPr/>
          </a:p>
        </p:txBody>
      </p:sp>
      <p:sp>
        <p:nvSpPr>
          <p:cNvPr id="149" name="Google Shape;149;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They are implicitly </a:t>
            </a:r>
            <a:r>
              <a:rPr b="0" i="1" lang="en-US" sz="3200" u="none" cap="none" strike="noStrike">
                <a:solidFill>
                  <a:schemeClr val="dk1"/>
                </a:solidFill>
                <a:latin typeface="Calibri"/>
                <a:ea typeface="Calibri"/>
                <a:cs typeface="Calibri"/>
                <a:sym typeface="Calibri"/>
              </a:rPr>
              <a:t>public</a:t>
            </a:r>
            <a:r>
              <a:rPr b="0" i="0" lang="en-US" sz="3200" u="none" cap="none" strike="noStrike">
                <a:solidFill>
                  <a:schemeClr val="dk1"/>
                </a:solidFill>
                <a:latin typeface="Calibri"/>
                <a:ea typeface="Calibri"/>
                <a:cs typeface="Calibri"/>
                <a:sym typeface="Calibri"/>
              </a:rPr>
              <a:t>, </a:t>
            </a:r>
            <a:r>
              <a:rPr b="0" i="1" lang="en-US" sz="3200" u="none" cap="none" strike="noStrike">
                <a:solidFill>
                  <a:schemeClr val="dk1"/>
                </a:solidFill>
                <a:latin typeface="Calibri"/>
                <a:ea typeface="Calibri"/>
                <a:cs typeface="Calibri"/>
                <a:sym typeface="Calibri"/>
              </a:rPr>
              <a:t>final</a:t>
            </a:r>
            <a:r>
              <a:rPr b="0" i="0" lang="en-US" sz="3200" u="none" cap="none" strike="noStrike">
                <a:solidFill>
                  <a:schemeClr val="dk1"/>
                </a:solidFill>
                <a:latin typeface="Calibri"/>
                <a:ea typeface="Calibri"/>
                <a:cs typeface="Calibri"/>
                <a:sym typeface="Calibri"/>
              </a:rPr>
              <a:t>, and </a:t>
            </a:r>
            <a:r>
              <a:rPr b="0" i="1" lang="en-US" sz="3200" u="none" cap="none" strike="noStrike">
                <a:solidFill>
                  <a:schemeClr val="dk1"/>
                </a:solidFill>
                <a:latin typeface="Calibri"/>
                <a:ea typeface="Calibri"/>
                <a:cs typeface="Calibri"/>
                <a:sym typeface="Calibri"/>
              </a:rPr>
              <a:t>static</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As they are </a:t>
            </a:r>
            <a:r>
              <a:rPr b="0" i="1" lang="en-US" sz="3200" u="none" cap="none" strike="noStrike">
                <a:solidFill>
                  <a:schemeClr val="dk1"/>
                </a:solidFill>
                <a:latin typeface="Calibri"/>
                <a:ea typeface="Calibri"/>
                <a:cs typeface="Calibri"/>
                <a:sym typeface="Calibri"/>
              </a:rPr>
              <a:t>final</a:t>
            </a:r>
            <a:r>
              <a:rPr b="0" i="0" lang="en-US" sz="3200" u="none" cap="none" strike="noStrike">
                <a:solidFill>
                  <a:schemeClr val="dk1"/>
                </a:solidFill>
                <a:latin typeface="Calibri"/>
                <a:ea typeface="Calibri"/>
                <a:cs typeface="Calibri"/>
                <a:sym typeface="Calibri"/>
              </a:rPr>
              <a:t>, they need to be assigned a value compulsorily.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Being </a:t>
            </a:r>
            <a:r>
              <a:rPr b="0" i="1" lang="en-US" sz="3200" u="none" cap="none" strike="noStrike">
                <a:solidFill>
                  <a:schemeClr val="dk1"/>
                </a:solidFill>
                <a:latin typeface="Calibri"/>
                <a:ea typeface="Calibri"/>
                <a:cs typeface="Calibri"/>
                <a:sym typeface="Calibri"/>
              </a:rPr>
              <a:t>static</a:t>
            </a:r>
            <a:r>
              <a:rPr b="0" i="0" lang="en-US" sz="3200" u="none" cap="none" strike="noStrike">
                <a:solidFill>
                  <a:schemeClr val="dk1"/>
                </a:solidFill>
                <a:latin typeface="Calibri"/>
                <a:ea typeface="Calibri"/>
                <a:cs typeface="Calibri"/>
                <a:sym typeface="Calibri"/>
              </a:rPr>
              <a:t>, they can be accessed directly with the help of an interface name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as they are </a:t>
            </a:r>
            <a:r>
              <a:rPr b="0" i="1" lang="en-US" sz="3200" u="none" cap="none" strike="noStrike">
                <a:solidFill>
                  <a:schemeClr val="dk1"/>
                </a:solidFill>
                <a:latin typeface="Calibri"/>
                <a:ea typeface="Calibri"/>
                <a:cs typeface="Calibri"/>
                <a:sym typeface="Calibri"/>
              </a:rPr>
              <a:t>public </a:t>
            </a:r>
            <a:r>
              <a:rPr b="0" i="0" lang="en-US" sz="3200" u="none" cap="none" strike="noStrike">
                <a:solidFill>
                  <a:schemeClr val="dk1"/>
                </a:solidFill>
                <a:latin typeface="Calibri"/>
                <a:ea typeface="Calibri"/>
                <a:cs typeface="Calibri"/>
                <a:sym typeface="Calibri"/>
              </a:rPr>
              <a:t>we can access them from anywhere.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Extending Interfaces</a:t>
            </a:r>
            <a:endParaRPr/>
          </a:p>
        </p:txBody>
      </p:sp>
      <p:sp>
        <p:nvSpPr>
          <p:cNvPr id="155" name="Google Shape;155;p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One interface can inherit another interface using the </a:t>
            </a:r>
            <a:r>
              <a:rPr b="0" i="1" lang="en-US" sz="3200" u="none" cap="none" strike="noStrike">
                <a:solidFill>
                  <a:schemeClr val="dk1"/>
                </a:solidFill>
                <a:latin typeface="Calibri"/>
                <a:ea typeface="Calibri"/>
                <a:cs typeface="Calibri"/>
                <a:sym typeface="Calibri"/>
              </a:rPr>
              <a:t>extends </a:t>
            </a:r>
            <a:r>
              <a:rPr b="0" i="0" lang="en-US" sz="3200" u="none" cap="none" strike="noStrike">
                <a:solidFill>
                  <a:schemeClr val="dk1"/>
                </a:solidFill>
                <a:latin typeface="Calibri"/>
                <a:ea typeface="Calibri"/>
                <a:cs typeface="Calibri"/>
                <a:sym typeface="Calibri"/>
              </a:rPr>
              <a:t>keyword and not the </a:t>
            </a:r>
            <a:r>
              <a:rPr b="0" i="1" lang="en-US" sz="3200" u="none" cap="none" strike="noStrike">
                <a:solidFill>
                  <a:schemeClr val="dk1"/>
                </a:solidFill>
                <a:latin typeface="Calibri"/>
                <a:ea typeface="Calibri"/>
                <a:cs typeface="Calibri"/>
                <a:sym typeface="Calibri"/>
              </a:rPr>
              <a:t>implements </a:t>
            </a:r>
            <a:r>
              <a:rPr b="0" i="0" lang="en-US" sz="3200" u="none" cap="none" strike="noStrike">
                <a:solidFill>
                  <a:schemeClr val="dk1"/>
                </a:solidFill>
                <a:latin typeface="Calibri"/>
                <a:ea typeface="Calibri"/>
                <a:cs typeface="Calibri"/>
                <a:sym typeface="Calibri"/>
              </a:rPr>
              <a:t>keyword.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For example,</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interface A extends B {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Interface Vs Abstract class</a:t>
            </a:r>
            <a:endParaRPr/>
          </a:p>
        </p:txBody>
      </p:sp>
      <p:pic>
        <p:nvPicPr>
          <p:cNvPr id="161" name="Google Shape;161;p11"/>
          <p:cNvPicPr preferRelativeResize="0"/>
          <p:nvPr>
            <p:ph idx="1" type="body"/>
          </p:nvPr>
        </p:nvPicPr>
        <p:blipFill rotWithShape="1">
          <a:blip r:embed="rId3">
            <a:alphaModFix/>
          </a:blip>
          <a:srcRect b="0" l="0" r="0" t="0"/>
          <a:stretch/>
        </p:blipFill>
        <p:spPr>
          <a:xfrm>
            <a:off x="461962" y="1189037"/>
            <a:ext cx="8218487" cy="51355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Similarities Between Interface and abstract class</a:t>
            </a:r>
            <a:endParaRPr/>
          </a:p>
        </p:txBody>
      </p:sp>
      <p:sp>
        <p:nvSpPr>
          <p:cNvPr id="167" name="Google Shape;167;p12"/>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Both cannot be instantiated, i.e. objects cannot be created for both of them.</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Both can have reference variables referring to their implementing classes objects.</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Interfaces can be extended, i.e. one interface can inherit another interface, similar to that of abstract classes (using extends keyword).</a:t>
            </a:r>
            <a:endParaRPr/>
          </a:p>
          <a:p>
            <a:pPr indent="-342900" lvl="0" marL="342900" marR="0" rtl="0" algn="l">
              <a:lnSpc>
                <a:spcPct val="90000"/>
              </a:lnSpc>
              <a:spcBef>
                <a:spcPts val="560"/>
              </a:spcBef>
              <a:spcAft>
                <a:spcPts val="0"/>
              </a:spcAft>
              <a:buClr>
                <a:schemeClr val="dk1"/>
              </a:buClr>
              <a:buSzPts val="2800"/>
              <a:buFont typeface="Arial"/>
              <a:buChar char="•"/>
            </a:pPr>
            <a:r>
              <a:rPr b="1" i="0" lang="en-US" sz="2800" u="none" cap="none" strike="noStrike">
                <a:solidFill>
                  <a:schemeClr val="dk1"/>
                </a:solidFill>
                <a:latin typeface="Calibri"/>
                <a:ea typeface="Calibri"/>
                <a:cs typeface="Calibri"/>
                <a:sym typeface="Calibri"/>
              </a:rPr>
              <a:t>static </a:t>
            </a:r>
            <a:r>
              <a:rPr b="0" i="0" lang="en-US" sz="2800" u="none" cap="none" strike="noStrike">
                <a:solidFill>
                  <a:schemeClr val="dk1"/>
                </a:solidFill>
                <a:latin typeface="Calibri"/>
                <a:ea typeface="Calibri"/>
                <a:cs typeface="Calibri"/>
                <a:sym typeface="Calibri"/>
              </a:rPr>
              <a:t>/ </a:t>
            </a:r>
            <a:r>
              <a:rPr b="1" i="0" lang="en-US" sz="2800" u="none" cap="none" strike="noStrike">
                <a:solidFill>
                  <a:schemeClr val="dk1"/>
                </a:solidFill>
                <a:latin typeface="Calibri"/>
                <a:ea typeface="Calibri"/>
                <a:cs typeface="Calibri"/>
                <a:sym typeface="Calibri"/>
              </a:rPr>
              <a:t>final </a:t>
            </a:r>
            <a:r>
              <a:rPr b="0" i="0" lang="en-US" sz="2800" u="none" cap="none" strike="noStrike">
                <a:solidFill>
                  <a:schemeClr val="dk1"/>
                </a:solidFill>
                <a:latin typeface="Calibri"/>
                <a:ea typeface="Calibri"/>
                <a:cs typeface="Calibri"/>
                <a:sym typeface="Calibri"/>
              </a:rPr>
              <a:t>methods can neither be created in an interface nor can they be used with abstract methods.</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c89666052a_0_10"/>
          <p:cNvSpPr txBox="1"/>
          <p:nvPr>
            <p:ph type="title"/>
          </p:nvPr>
        </p:nvSpPr>
        <p:spPr>
          <a:xfrm>
            <a:off x="457200" y="274637"/>
            <a:ext cx="8229600" cy="1143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A</a:t>
            </a:r>
            <a:r>
              <a:rPr lang="en-US"/>
              <a:t>ccess Modifiers</a:t>
            </a:r>
            <a:endParaRPr/>
          </a:p>
        </p:txBody>
      </p:sp>
      <p:graphicFrame>
        <p:nvGraphicFramePr>
          <p:cNvPr id="174" name="Google Shape;174;g3c89666052a_0_10"/>
          <p:cNvGraphicFramePr/>
          <p:nvPr/>
        </p:nvGraphicFramePr>
        <p:xfrm>
          <a:off x="858325" y="1537600"/>
          <a:ext cx="3000000" cy="3000000"/>
        </p:xfrm>
        <a:graphic>
          <a:graphicData uri="http://schemas.openxmlformats.org/drawingml/2006/table">
            <a:tbl>
              <a:tblPr>
                <a:noFill/>
                <a:tableStyleId>{56A051C2-149B-46E3-B45E-4E3B6D096EB7}</a:tableStyleId>
              </a:tblPr>
              <a:tblGrid>
                <a:gridCol w="1637325"/>
                <a:gridCol w="949175"/>
                <a:gridCol w="1186500"/>
                <a:gridCol w="2349225"/>
                <a:gridCol w="1305125"/>
              </a:tblGrid>
              <a:tr h="1179725">
                <a:tc>
                  <a:txBody>
                    <a:bodyPr/>
                    <a:lstStyle/>
                    <a:p>
                      <a:pPr indent="0" lvl="0" marL="0" rtl="0" algn="ctr">
                        <a:lnSpc>
                          <a:spcPct val="115000"/>
                        </a:lnSpc>
                        <a:spcBef>
                          <a:spcPts val="0"/>
                        </a:spcBef>
                        <a:spcAft>
                          <a:spcPts val="0"/>
                        </a:spcAft>
                        <a:buNone/>
                      </a:pPr>
                      <a:r>
                        <a:rPr b="1" lang="en-US" sz="1600"/>
                        <a:t>Access Modifier</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t>Same Class</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t>Same Package</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t>Subclass (Different Package)</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600"/>
                        <a:t>Other Packages</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79775">
                <a:tc>
                  <a:txBody>
                    <a:bodyPr/>
                    <a:lstStyle/>
                    <a:p>
                      <a:pPr indent="0" lvl="0" marL="0" rtl="0" algn="l">
                        <a:spcBef>
                          <a:spcPts val="0"/>
                        </a:spcBef>
                        <a:spcAft>
                          <a:spcPts val="0"/>
                        </a:spcAft>
                        <a:buNone/>
                      </a:pPr>
                      <a:r>
                        <a:rPr b="1" lang="en-US" sz="1600"/>
                        <a:t>private</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No</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No</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No</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79775">
                <a:tc>
                  <a:txBody>
                    <a:bodyPr/>
                    <a:lstStyle/>
                    <a:p>
                      <a:pPr indent="0" lvl="0" marL="0" rtl="0" algn="l">
                        <a:spcBef>
                          <a:spcPts val="0"/>
                        </a:spcBef>
                        <a:spcAft>
                          <a:spcPts val="0"/>
                        </a:spcAft>
                        <a:buNone/>
                      </a:pPr>
                      <a:r>
                        <a:rPr b="1" lang="en-US" sz="1600"/>
                        <a:t>default</a:t>
                      </a:r>
                      <a:r>
                        <a:rPr lang="en-US" sz="1600"/>
                        <a:t> </a:t>
                      </a:r>
                      <a:r>
                        <a:rPr i="1" lang="en-US" sz="1600"/>
                        <a:t>(no keyword)</a:t>
                      </a:r>
                      <a:endParaRPr i="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No</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No</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79775">
                <a:tc>
                  <a:txBody>
                    <a:bodyPr/>
                    <a:lstStyle/>
                    <a:p>
                      <a:pPr indent="0" lvl="0" marL="0" rtl="0" algn="l">
                        <a:spcBef>
                          <a:spcPts val="0"/>
                        </a:spcBef>
                        <a:spcAft>
                          <a:spcPts val="0"/>
                        </a:spcAft>
                        <a:buNone/>
                      </a:pPr>
                      <a:r>
                        <a:rPr b="1" lang="en-US" sz="1600"/>
                        <a:t>protected</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No</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79775">
                <a:tc>
                  <a:txBody>
                    <a:bodyPr/>
                    <a:lstStyle/>
                    <a:p>
                      <a:pPr indent="0" lvl="0" marL="0" rtl="0" algn="l">
                        <a:spcBef>
                          <a:spcPts val="0"/>
                        </a:spcBef>
                        <a:spcAft>
                          <a:spcPts val="0"/>
                        </a:spcAft>
                        <a:buNone/>
                      </a:pPr>
                      <a:r>
                        <a:rPr b="1" lang="en-US" sz="1600"/>
                        <a:t>public</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t>✅ Yes</a:t>
                      </a:r>
                      <a:endParaRPr sz="19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c89666052a_0_18"/>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 Protection</a:t>
            </a:r>
            <a:endParaRPr/>
          </a:p>
        </p:txBody>
      </p:sp>
      <p:sp>
        <p:nvSpPr>
          <p:cNvPr id="180" name="Google Shape;180;g3c89666052a_0_18"/>
          <p:cNvSpPr txBox="1"/>
          <p:nvPr/>
        </p:nvSpPr>
        <p:spPr>
          <a:xfrm>
            <a:off x="685800" y="1284287"/>
            <a:ext cx="49134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Four Access specifier in Java </a:t>
            </a:r>
            <a:endParaRPr/>
          </a:p>
        </p:txBody>
      </p:sp>
      <p:graphicFrame>
        <p:nvGraphicFramePr>
          <p:cNvPr id="181" name="Google Shape;181;g3c89666052a_0_18"/>
          <p:cNvGraphicFramePr/>
          <p:nvPr/>
        </p:nvGraphicFramePr>
        <p:xfrm>
          <a:off x="407975" y="2162100"/>
          <a:ext cx="3000000" cy="3000000"/>
        </p:xfrm>
        <a:graphic>
          <a:graphicData uri="http://schemas.openxmlformats.org/drawingml/2006/table">
            <a:tbl>
              <a:tblPr>
                <a:noFill/>
                <a:tableStyleId>{56A051C2-149B-46E3-B45E-4E3B6D096EB7}</a:tableStyleId>
              </a:tblPr>
              <a:tblGrid>
                <a:gridCol w="951000"/>
                <a:gridCol w="697450"/>
                <a:gridCol w="674400"/>
                <a:gridCol w="743400"/>
                <a:gridCol w="809275"/>
                <a:gridCol w="614750"/>
              </a:tblGrid>
              <a:tr h="550925">
                <a:tc>
                  <a:txBody>
                    <a:bodyPr/>
                    <a:lstStyle/>
                    <a:p>
                      <a:pPr indent="0" lvl="0" marL="0" rtl="0" algn="ctr">
                        <a:lnSpc>
                          <a:spcPct val="115000"/>
                        </a:lnSpc>
                        <a:spcBef>
                          <a:spcPts val="0"/>
                        </a:spcBef>
                        <a:spcAft>
                          <a:spcPts val="0"/>
                        </a:spcAft>
                        <a:buNone/>
                      </a:pPr>
                      <a:r>
                        <a:rPr b="1" lang="en-US" sz="1300"/>
                        <a:t>Access Modifier</a:t>
                      </a:r>
                      <a:endParaRPr b="1"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Class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Variable</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Method</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Constructor</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Inner Class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150">
                <a:tc>
                  <a:txBody>
                    <a:bodyPr/>
                    <a:lstStyle/>
                    <a:p>
                      <a:pPr indent="0" lvl="0" marL="0" rtl="0" algn="l">
                        <a:spcBef>
                          <a:spcPts val="0"/>
                        </a:spcBef>
                        <a:spcAft>
                          <a:spcPts val="0"/>
                        </a:spcAft>
                        <a:buNone/>
                      </a:pPr>
                      <a:r>
                        <a:rPr b="1" lang="en-US"/>
                        <a:t>private</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No</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150">
                <a:tc>
                  <a:txBody>
                    <a:bodyPr/>
                    <a:lstStyle/>
                    <a:p>
                      <a:pPr indent="0" lvl="0" marL="0" rtl="0" algn="l">
                        <a:spcBef>
                          <a:spcPts val="0"/>
                        </a:spcBef>
                        <a:spcAft>
                          <a:spcPts val="0"/>
                        </a:spcAft>
                        <a:buNone/>
                      </a:pPr>
                      <a:r>
                        <a:rPr b="1" lang="en-US"/>
                        <a:t>default</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150">
                <a:tc>
                  <a:txBody>
                    <a:bodyPr/>
                    <a:lstStyle/>
                    <a:p>
                      <a:pPr indent="0" lvl="0" marL="0" rtl="0" algn="l">
                        <a:spcBef>
                          <a:spcPts val="0"/>
                        </a:spcBef>
                        <a:spcAft>
                          <a:spcPts val="0"/>
                        </a:spcAft>
                        <a:buNone/>
                      </a:pPr>
                      <a:r>
                        <a:rPr b="1" lang="en-US"/>
                        <a:t>protected</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No</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88150">
                <a:tc>
                  <a:txBody>
                    <a:bodyPr/>
                    <a:lstStyle/>
                    <a:p>
                      <a:pPr indent="0" lvl="0" marL="0" rtl="0" algn="l">
                        <a:spcBef>
                          <a:spcPts val="0"/>
                        </a:spcBef>
                        <a:spcAft>
                          <a:spcPts val="0"/>
                        </a:spcAft>
                        <a:buNone/>
                      </a:pPr>
                      <a:r>
                        <a:rPr b="1" lang="en-US"/>
                        <a:t>public</a:t>
                      </a:r>
                      <a:endParaRPr b="1"/>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 Yes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82" name="Google Shape;182;g3c89666052a_0_18"/>
          <p:cNvSpPr txBox="1"/>
          <p:nvPr/>
        </p:nvSpPr>
        <p:spPr>
          <a:xfrm>
            <a:off x="5349025" y="1807475"/>
            <a:ext cx="3508500" cy="426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US" sz="1800">
                <a:solidFill>
                  <a:schemeClr val="dk1"/>
                </a:solidFill>
              </a:rPr>
              <a:t>Why can't top-level class be private?</a:t>
            </a:r>
            <a:endParaRPr b="1" sz="1800">
              <a:solidFill>
                <a:schemeClr val="dk1"/>
              </a:solidFill>
            </a:endParaRPr>
          </a:p>
          <a:p>
            <a:pPr indent="0" lvl="0" marL="0" rtl="0" algn="l">
              <a:lnSpc>
                <a:spcPct val="115000"/>
              </a:lnSpc>
              <a:spcBef>
                <a:spcPts val="1200"/>
              </a:spcBef>
              <a:spcAft>
                <a:spcPts val="0"/>
              </a:spcAft>
              <a:buNone/>
            </a:pPr>
            <a:r>
              <a:rPr lang="en-US" sz="1600">
                <a:solidFill>
                  <a:schemeClr val="dk1"/>
                </a:solidFill>
              </a:rPr>
              <a:t>👉 Because it must be accessible to JVM to create objects.</a:t>
            </a:r>
            <a:endParaRPr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An Inner Class is a class that is defined inside another class.</a:t>
            </a:r>
            <a:endParaRPr b="1"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class Outer {</a:t>
            </a:r>
            <a:endParaRPr b="1"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        class Inner {</a:t>
            </a:r>
            <a:endParaRPr b="1"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        // inner class code</a:t>
            </a:r>
            <a:endParaRPr b="1" sz="1600">
              <a:solidFill>
                <a:schemeClr val="dk1"/>
              </a:solidFill>
            </a:endParaRPr>
          </a:p>
          <a:p>
            <a:pPr indent="0" lvl="0" marL="0" rtl="0" algn="l">
              <a:lnSpc>
                <a:spcPct val="115000"/>
              </a:lnSpc>
              <a:spcBef>
                <a:spcPts val="1200"/>
              </a:spcBef>
              <a:spcAft>
                <a:spcPts val="0"/>
              </a:spcAft>
              <a:buNone/>
            </a:pPr>
            <a:r>
              <a:rPr b="1" lang="en-US" sz="1600">
                <a:solidFill>
                  <a:schemeClr val="dk1"/>
                </a:solidFill>
              </a:rPr>
              <a:t>    }</a:t>
            </a:r>
            <a:endParaRPr b="1" sz="1600">
              <a:solidFill>
                <a:schemeClr val="dk1"/>
              </a:solidFill>
            </a:endParaRPr>
          </a:p>
          <a:p>
            <a:pPr indent="0" lvl="0" marL="0" rtl="0" algn="l">
              <a:lnSpc>
                <a:spcPct val="115000"/>
              </a:lnSpc>
              <a:spcBef>
                <a:spcPts val="1200"/>
              </a:spcBef>
              <a:spcAft>
                <a:spcPts val="1200"/>
              </a:spcAft>
              <a:buNone/>
            </a:pPr>
            <a:r>
              <a:rPr b="1" lang="en-US" sz="1600">
                <a:solidFill>
                  <a:schemeClr val="dk1"/>
                </a:solidFill>
              </a:rPr>
              <a:t>}</a:t>
            </a:r>
            <a:endParaRPr sz="1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c89666052a_0_24"/>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 Specifiers (contd.)</a:t>
            </a:r>
            <a:endParaRPr/>
          </a:p>
        </p:txBody>
      </p:sp>
      <p:sp>
        <p:nvSpPr>
          <p:cNvPr id="188" name="Google Shape;188;g3c89666052a_0_2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public means accessibility for all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private means accessibility from within the class only.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default (blank) access specifiers are accessible only from within the package</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protected means accessibility outside the packages but only to subclasses.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c89666052a_0_29"/>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 Specifiers Example</a:t>
            </a:r>
            <a:endParaRPr/>
          </a:p>
        </p:txBody>
      </p:sp>
      <p:sp>
        <p:nvSpPr>
          <p:cNvPr id="194" name="Google Shape;194;g3c89666052a_0_29"/>
          <p:cNvSpPr txBox="1"/>
          <p:nvPr>
            <p:ph idx="1" type="body"/>
          </p:nvPr>
        </p:nvSpPr>
        <p:spPr>
          <a:xfrm>
            <a:off x="457200" y="12954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Suppose x &amp; y are package</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 is a public class within package x</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B is another class within package x</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 is subclass of A in package x</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D is subclass of A within package y</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E is class within package y</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abc() is a method with default access in class A</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xyz() is a method with protected access specifier in class A</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pqr() is a method with public access specifier in class A</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c89666052a_0_3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 protection</a:t>
            </a:r>
            <a:endParaRPr/>
          </a:p>
        </p:txBody>
      </p:sp>
      <p:sp>
        <p:nvSpPr>
          <p:cNvPr id="200" name="Google Shape;200;g3c89666052a_0_3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201" name="Google Shape;201;g3c89666052a_0_34"/>
          <p:cNvPicPr preferRelativeResize="0"/>
          <p:nvPr/>
        </p:nvPicPr>
        <p:blipFill rotWithShape="1">
          <a:blip r:embed="rId3">
            <a:alphaModFix/>
          </a:blip>
          <a:srcRect b="0" l="0" r="0" t="0"/>
          <a:stretch/>
        </p:blipFill>
        <p:spPr>
          <a:xfrm>
            <a:off x="1171575" y="1619250"/>
            <a:ext cx="6372224" cy="4568825"/>
          </a:xfrm>
          <a:prstGeom prst="rect">
            <a:avLst/>
          </a:prstGeom>
          <a:noFill/>
          <a:ln>
            <a:noFill/>
          </a:ln>
        </p:spPr>
      </p:pic>
      <p:sp>
        <p:nvSpPr>
          <p:cNvPr id="202" name="Google Shape;202;g3c89666052a_0_34"/>
          <p:cNvSpPr/>
          <p:nvPr/>
        </p:nvSpPr>
        <p:spPr>
          <a:xfrm>
            <a:off x="1431800" y="2999900"/>
            <a:ext cx="1544100" cy="635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3" name="Google Shape;203;g3c89666052a_0_34"/>
          <p:cNvSpPr/>
          <p:nvPr/>
        </p:nvSpPr>
        <p:spPr>
          <a:xfrm>
            <a:off x="5717175" y="3799500"/>
            <a:ext cx="1618800" cy="635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4" name="Google Shape;204;g3c89666052a_0_34"/>
          <p:cNvSpPr/>
          <p:nvPr/>
        </p:nvSpPr>
        <p:spPr>
          <a:xfrm>
            <a:off x="5619775" y="4724000"/>
            <a:ext cx="1544100" cy="1143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5" name="Google Shape;205;g3c89666052a_0_34"/>
          <p:cNvSpPr/>
          <p:nvPr/>
        </p:nvSpPr>
        <p:spPr>
          <a:xfrm>
            <a:off x="4043275" y="4646275"/>
            <a:ext cx="1371900" cy="424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c89666052a_0_4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 protection</a:t>
            </a:r>
            <a:endParaRPr/>
          </a:p>
        </p:txBody>
      </p:sp>
      <p:sp>
        <p:nvSpPr>
          <p:cNvPr id="211" name="Google Shape;211;g3c89666052a_0_4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212" name="Google Shape;212;g3c89666052a_0_44"/>
          <p:cNvPicPr preferRelativeResize="0"/>
          <p:nvPr/>
        </p:nvPicPr>
        <p:blipFill rotWithShape="1">
          <a:blip r:embed="rId3">
            <a:alphaModFix/>
          </a:blip>
          <a:srcRect b="0" l="0" r="0" t="0"/>
          <a:stretch/>
        </p:blipFill>
        <p:spPr>
          <a:xfrm>
            <a:off x="1171575" y="1619250"/>
            <a:ext cx="6372224" cy="4568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c89666052a_0_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 Protection (contd.)</a:t>
            </a:r>
            <a:endParaRPr/>
          </a:p>
        </p:txBody>
      </p:sp>
      <p:sp>
        <p:nvSpPr>
          <p:cNvPr id="218" name="Google Shape;218;g3c89666052a_0_5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method abc() is accessible from A, B as well as C, but neither from D nor E.</a:t>
            </a:r>
            <a:endParaRPr/>
          </a:p>
          <a:p>
            <a:pPr indent="-342900" lvl="0" marL="342900" marR="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protected method are accessible outside the package also, but only to subclasses outside the package. For example, the method xyz() accessible from classes A, B, C, D, but not from E. </a:t>
            </a:r>
            <a:endParaRPr/>
          </a:p>
          <a:p>
            <a:pPr indent="-342900" lvl="0" marL="342900" marR="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public method pqr() is accessible from all classes A, B, C, D and 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Packages</a:t>
            </a:r>
            <a:endParaRPr/>
          </a:p>
        </p:txBody>
      </p:sp>
      <p:sp>
        <p:nvSpPr>
          <p:cNvPr id="224" name="Google Shape;224;p13"/>
          <p:cNvSpPr txBox="1"/>
          <p:nvPr>
            <p:ph idx="1" type="body"/>
          </p:nvPr>
        </p:nvSpPr>
        <p:spPr>
          <a:xfrm>
            <a:off x="5334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collection of classes and interfaces</a:t>
            </a:r>
            <a:endParaRPr/>
          </a:p>
          <a:p>
            <a:pPr indent="-342900" lvl="0" marL="342900" marR="0" rtl="0" algn="just">
              <a:lnSpc>
                <a:spcPct val="8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provides a unique namespace for the classes.</a:t>
            </a:r>
            <a:endParaRPr/>
          </a:p>
          <a:p>
            <a:pPr indent="-342900" lvl="0" marL="342900" marR="0" rtl="0" algn="just">
              <a:lnSpc>
                <a:spcPct val="8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declaration resides at the top of a Java source file. </a:t>
            </a:r>
            <a:endParaRPr/>
          </a:p>
          <a:p>
            <a:pPr indent="-342900" lvl="0" marL="342900" marR="0" rtl="0" algn="just">
              <a:lnSpc>
                <a:spcPct val="8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package can contain the following.</a:t>
            </a:r>
            <a:endParaRPr/>
          </a:p>
          <a:p>
            <a:pPr indent="-285750" lvl="1" marL="74295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Classes</a:t>
            </a:r>
            <a:endParaRPr/>
          </a:p>
          <a:p>
            <a:pPr indent="-285750" lvl="1" marL="74295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Interfaces</a:t>
            </a:r>
            <a:endParaRPr/>
          </a:p>
          <a:p>
            <a:pPr indent="-285750" lvl="1" marL="74295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Enumerated types</a:t>
            </a:r>
            <a:endParaRPr/>
          </a:p>
          <a:p>
            <a:pPr indent="-285750" lvl="1" marL="742950" marR="0" rtl="0" algn="just">
              <a:lnSpc>
                <a:spcPct val="8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Annotations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4"/>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a:t>
            </a:r>
            <a:endParaRPr/>
          </a:p>
        </p:txBody>
      </p:sp>
      <p:sp>
        <p:nvSpPr>
          <p:cNvPr id="230" name="Google Shape;230;p14"/>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package packexample; </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public class ClassinPackage { </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you want to create sub-packages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package rootPackage.subPackage1;</a:t>
            </a:r>
            <a:endParaRPr/>
          </a:p>
          <a:p>
            <a:pPr indent="-3429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Package (contd.)</a:t>
            </a:r>
            <a:endParaRPr/>
          </a:p>
        </p:txBody>
      </p:sp>
      <p:sp>
        <p:nvSpPr>
          <p:cNvPr id="236" name="Google Shape;236;p15"/>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Class that reside inside a package cannot be referred by their own name alone.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package name has to precede the name of the class of which it is a part of.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All classes are part of some or the other package.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package keyword is not used in any class for mentioning the name of the package, then it becomes part of the default/unnamed package.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6"/>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Compiling and executing packages</a:t>
            </a:r>
            <a:endParaRPr/>
          </a:p>
        </p:txBody>
      </p:sp>
      <p:sp>
        <p:nvSpPr>
          <p:cNvPr id="242" name="Google Shape;242;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compiling the class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javac –d c:\pack ClassinPackage.java</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executing the class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classpath needs to be set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Set CLASSPATH=%CLASSPATH%;c:\pack;</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java packexample.ClassinPackage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Considering pack is the parent directory of packexample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Using Packages</a:t>
            </a:r>
            <a:endParaRPr/>
          </a:p>
        </p:txBody>
      </p:sp>
      <p:sp>
        <p:nvSpPr>
          <p:cNvPr id="248" name="Google Shape;248;p17"/>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Import keyword is used to import classes  from a packages.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Any number of import statements can be given.</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To import a single class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import java.awt.Rectangle;</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To import all classes in a package (wild card notation)</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import java.awt.*;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To import all the static members of the class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import static pkgName.ClassName.*;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Your Turn</a:t>
            </a:r>
            <a:endParaRPr/>
          </a:p>
        </p:txBody>
      </p:sp>
      <p:sp>
        <p:nvSpPr>
          <p:cNvPr id="254" name="Google Shape;254;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Differentiate between interface and abstract class?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the significance of classpath in packages?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static import?</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are various access specifier in java?</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java.lang package</a:t>
            </a:r>
            <a:endParaRPr/>
          </a:p>
        </p:txBody>
      </p:sp>
      <p:sp>
        <p:nvSpPr>
          <p:cNvPr id="260" name="Google Shape;260;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java.lang is a imported by default in all the classes that we create.</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Remember String and System class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Java.lang.Object class</a:t>
            </a:r>
            <a:endParaRPr/>
          </a:p>
        </p:txBody>
      </p:sp>
      <p:sp>
        <p:nvSpPr>
          <p:cNvPr id="266" name="Google Shape;266;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parent by default of all the classes (predefined and user-defined) in Java.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methods of Object class can be used by all the objects and arrays.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toString() and equals() are methods of Object class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toString() method</a:t>
            </a:r>
            <a:endParaRPr/>
          </a:p>
        </p:txBody>
      </p:sp>
      <p:sp>
        <p:nvSpPr>
          <p:cNvPr id="272" name="Google Shape;272;p26"/>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class Demo {</a:t>
            </a:r>
            <a:endParaRPr/>
          </a:p>
          <a:p>
            <a:pPr indent="-342900" lvl="0" marL="342900" marR="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public String toString() {</a:t>
            </a:r>
            <a:endParaRPr/>
          </a:p>
          <a:p>
            <a:pPr indent="-342900" lvl="0" marL="342900" marR="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return “My Demo Object created”;</a:t>
            </a:r>
            <a:endParaRPr/>
          </a:p>
          <a:p>
            <a:pPr indent="-342900" lvl="0" marL="342900" marR="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342900" lvl="0" marL="342900" marR="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public static void main(String args[]) {</a:t>
            </a:r>
            <a:endParaRPr/>
          </a:p>
          <a:p>
            <a:pPr indent="-342900" lvl="0" marL="342900" marR="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System.out.println(new Demo()); }}</a:t>
            </a:r>
            <a:endParaRPr/>
          </a:p>
          <a:p>
            <a:pPr indent="-342900" lvl="0" marL="342900" marR="0" rtl="0" algn="just">
              <a:lnSpc>
                <a:spcPct val="90000"/>
              </a:lnSpc>
              <a:spcBef>
                <a:spcPts val="56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a:t>
            </a:r>
            <a:endParaRPr/>
          </a:p>
          <a:p>
            <a:pPr indent="-342900" lvl="0" marL="342900" marR="0" rtl="0" algn="just">
              <a:lnSpc>
                <a:spcPct val="90000"/>
              </a:lnSpc>
              <a:spcBef>
                <a:spcPts val="56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	Output</a:t>
            </a:r>
            <a:endParaRPr/>
          </a:p>
          <a:p>
            <a:pPr indent="-342900" lvl="0" marL="342900" marR="0" rtl="0" algn="just">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My Demo Object created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Java Wrapper classes</a:t>
            </a:r>
            <a:endParaRPr/>
          </a:p>
        </p:txBody>
      </p:sp>
      <p:sp>
        <p:nvSpPr>
          <p:cNvPr id="278" name="Google Shape;278;p27"/>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For each primitive type, there is a corresponding </a:t>
            </a:r>
            <a:r>
              <a:rPr b="0" i="1" lang="en-US" sz="2800" u="none">
                <a:solidFill>
                  <a:schemeClr val="dk1"/>
                </a:solidFill>
                <a:latin typeface="Calibri"/>
                <a:ea typeface="Calibri"/>
                <a:cs typeface="Calibri"/>
                <a:sym typeface="Calibri"/>
              </a:rPr>
              <a:t>wrapper </a:t>
            </a:r>
            <a:r>
              <a:rPr b="0" i="0" lang="en-US" sz="2800" u="none">
                <a:solidFill>
                  <a:schemeClr val="dk1"/>
                </a:solidFill>
                <a:latin typeface="Calibri"/>
                <a:ea typeface="Calibri"/>
                <a:cs typeface="Calibri"/>
                <a:sym typeface="Calibri"/>
              </a:rPr>
              <a:t>class designed.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Are wrapper around primitive data types.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allow for situations where primitives cannot be used but their corresponding objects are required.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Normally Used to convert a numeric value to a String or vice-versa.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Just like String, Wrapper objects are also immutable</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All the wrapper classes except Character and Float have two constructors—one that takes the primitive value and another that takes the String representation of the value.</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Character has one constructor and float has three.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Wrappers classes</a:t>
            </a:r>
            <a:endParaRPr/>
          </a:p>
        </p:txBody>
      </p:sp>
      <p:pic>
        <p:nvPicPr>
          <p:cNvPr id="284" name="Google Shape;284;p28"/>
          <p:cNvPicPr preferRelativeResize="0"/>
          <p:nvPr>
            <p:ph idx="1" type="body"/>
          </p:nvPr>
        </p:nvPicPr>
        <p:blipFill rotWithShape="1">
          <a:blip r:embed="rId3">
            <a:alphaModFix/>
          </a:blip>
          <a:srcRect b="0" l="0" r="0" t="0"/>
          <a:stretch/>
        </p:blipFill>
        <p:spPr>
          <a:xfrm>
            <a:off x="838200" y="1333500"/>
            <a:ext cx="7391400" cy="4654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Wrapper classes (contd.)</a:t>
            </a:r>
            <a:endParaRPr/>
          </a:p>
        </p:txBody>
      </p:sp>
      <p:sp>
        <p:nvSpPr>
          <p:cNvPr id="290" name="Google Shape;290;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converts primitive to wrapper</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double a = 4.3;</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Double wrp = new Double(a);</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Each wrapper provides a method to return the primitive value.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double r = wrp.doubleValue();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Converting Primitive types to wrapper objects</a:t>
            </a:r>
            <a:endParaRPr/>
          </a:p>
        </p:txBody>
      </p:sp>
      <p:sp>
        <p:nvSpPr>
          <p:cNvPr id="296" name="Google Shape;296;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Integer ValueOfInt = new Integer(v)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Float ValueOfFloat = new Float(x)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Double ValOfDouble = new Double(y)</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Long ValueOfLong = new Long(z)</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Where v, x, y and z are int, float, double, and long values, respectively.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Converting wrapper objects to primitives</a:t>
            </a:r>
            <a:endParaRPr/>
          </a:p>
        </p:txBody>
      </p:sp>
      <p:sp>
        <p:nvSpPr>
          <p:cNvPr id="302" name="Google Shape;302;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int v = ValueOfInt.intValue();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float x = ValueOfFloat.floatValue();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long y = ValueOfLong.longValue();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double z = ValueOfDouble.doubleValue();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Converting primitives to String Object</a:t>
            </a:r>
            <a:endParaRPr/>
          </a:p>
        </p:txBody>
      </p:sp>
      <p:sp>
        <p:nvSpPr>
          <p:cNvPr id="308" name="Google Shape;308;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String xyz = Integer.toString(v)</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String xyz = Float.toString(x)</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String xyz = Double.toString(y)</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String xyz = Long.toString(z)</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Converting back from String Object to Primitives</a:t>
            </a:r>
            <a:endParaRPr/>
          </a:p>
        </p:txBody>
      </p:sp>
      <p:sp>
        <p:nvSpPr>
          <p:cNvPr id="314" name="Google Shape;314;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 v = Integer.parseInt(xyz)</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long y = Long.parseLong(xyz)</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public float parseFloat(String x)</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public double parseDouble(String x)</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public double parseByte(String x)</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public double parseShort(String x)</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May throw </a:t>
            </a:r>
            <a:r>
              <a:rPr b="0" i="1" lang="en-US" sz="2800" u="none">
                <a:solidFill>
                  <a:schemeClr val="dk1"/>
                </a:solidFill>
                <a:latin typeface="Calibri"/>
                <a:ea typeface="Calibri"/>
                <a:cs typeface="Calibri"/>
                <a:sym typeface="Calibri"/>
              </a:rPr>
              <a:t>NumberFormatException </a:t>
            </a:r>
            <a:r>
              <a:rPr b="0" i="0" lang="en-US" sz="2800" u="none">
                <a:solidFill>
                  <a:schemeClr val="dk1"/>
                </a:solidFill>
                <a:latin typeface="Calibri"/>
                <a:ea typeface="Calibri"/>
                <a:cs typeface="Calibri"/>
                <a:sym typeface="Calibri"/>
              </a:rPr>
              <a:t>if the value of the String does not represent a proper numbers</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4"/>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Converting Primitives represented by String to wrapper</a:t>
            </a:r>
            <a:endParaRPr/>
          </a:p>
        </p:txBody>
      </p:sp>
      <p:sp>
        <p:nvSpPr>
          <p:cNvPr id="320" name="Google Shape;320;p34"/>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Double ValueOfDouble = Double.valueOf(xyz);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Float ValueOfFloat = Float.valueOf(xyz);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Integer ValueOfInteger = Integer.valueOf(xyz);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Long ValueOfLong = Long.valueOf(xyz);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Double ValueOfDouble = Double.valueOf(xyz);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Float ValueOfFloat = Float.valueOf(xyz);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Integer ValueOfInteger = Integer.valueOf(xyz);</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Long ValueOfLong = Long.valueOf(xyz);</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 argument method generates a NumberFormatException in case the value in a String does not contain a number.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Autoboxing and Unboxing</a:t>
            </a:r>
            <a:endParaRPr/>
          </a:p>
        </p:txBody>
      </p:sp>
      <p:sp>
        <p:nvSpPr>
          <p:cNvPr id="326" name="Google Shape;326;p35"/>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Introduced in Java 5</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conversion from primitives to wrappers is known as </a:t>
            </a:r>
            <a:r>
              <a:rPr b="0" i="1" lang="en-US" sz="2800" u="none">
                <a:solidFill>
                  <a:schemeClr val="dk1"/>
                </a:solidFill>
                <a:latin typeface="Calibri"/>
                <a:ea typeface="Calibri"/>
                <a:cs typeface="Calibri"/>
                <a:sym typeface="Calibri"/>
              </a:rPr>
              <a:t>boxing</a:t>
            </a:r>
            <a:r>
              <a:rPr b="0" i="0" lang="en-US" sz="2800" u="none">
                <a:solidFill>
                  <a:schemeClr val="dk1"/>
                </a:solidFill>
                <a:latin typeface="Calibri"/>
                <a:ea typeface="Calibri"/>
                <a:cs typeface="Calibri"/>
                <a:sym typeface="Calibri"/>
              </a:rPr>
              <a:t>, while the reverse is known as </a:t>
            </a:r>
            <a:r>
              <a:rPr b="0" i="1" lang="en-US" sz="2800" u="none">
                <a:solidFill>
                  <a:schemeClr val="dk1"/>
                </a:solidFill>
                <a:latin typeface="Calibri"/>
                <a:ea typeface="Calibri"/>
                <a:cs typeface="Calibri"/>
                <a:sym typeface="Calibri"/>
              </a:rPr>
              <a:t>unboxing</a:t>
            </a:r>
            <a:r>
              <a:rPr b="0" i="0" lang="en-US" sz="2800" u="none">
                <a:solidFill>
                  <a:schemeClr val="dk1"/>
                </a:solidFill>
                <a:latin typeface="Calibri"/>
                <a:ea typeface="Calibri"/>
                <a:cs typeface="Calibri"/>
                <a:sym typeface="Calibri"/>
              </a:rPr>
              <a: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Integer wrap_int = 5;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primitive 5 autoboxed into an Integer</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 prim_int = wrap_int;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automatic unboxing Integer into int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 class</a:t>
            </a:r>
            <a:endParaRPr/>
          </a:p>
        </p:txBody>
      </p:sp>
      <p:sp>
        <p:nvSpPr>
          <p:cNvPr id="332" name="Google Shape;332;p36"/>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are basically immutable objects in Java.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Immutable means once created the, strings cannot be changed.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Whenever we create strings, it is this class that is instantiated.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Java strings can be instantiated in two ways: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 x= “String Literal Object”;</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 y=new String (“String object is created here”);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 Example</a:t>
            </a:r>
            <a:endParaRPr/>
          </a:p>
        </p:txBody>
      </p:sp>
      <p:sp>
        <p:nvSpPr>
          <p:cNvPr id="338" name="Google Shape;338;p37"/>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String a=”Hello”;		String b=”Hello”;</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String c=new String(“Hello”);	</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String d=new String(“Hello”);</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String e=new String(“Hello, how are you?”);</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if(a==b)</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System.out.println(“object is same and is being shared by a &amp; 	b”); </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else</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System.out.println(“Different objects”);</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if(a==c)</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System.out.println(“object is same and is being shared by a &amp; 	c”); </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else</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System.out.println(“Different objects”);</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 Example</a:t>
            </a:r>
            <a:endParaRPr/>
          </a:p>
        </p:txBody>
      </p:sp>
      <p:sp>
        <p:nvSpPr>
          <p:cNvPr id="344" name="Google Shape;344;p38"/>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if(c==d)</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System.out.println(“same object”);</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else</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System.out.println(“Different objects”);</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String f=e.intern();</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if(f==a)</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System.out.println(“Interned object f refer to the already created object a in the pool”);</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else</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System.out.println(“Interned object does not refer to the already created objects, as literal was not present in the pool. It is a new object which has been created in the pool”);</a:t>
            </a:r>
            <a:endParaRPr/>
          </a:p>
          <a:p>
            <a:pPr indent="-241300" lvl="0" marL="342900" marR="0" rtl="0" algn="l">
              <a:lnSpc>
                <a:spcPct val="80000"/>
              </a:lnSpc>
              <a:spcBef>
                <a:spcPts val="320"/>
              </a:spcBef>
              <a:spcAft>
                <a:spcPts val="0"/>
              </a:spcAft>
              <a:buClr>
                <a:schemeClr val="dk1"/>
              </a:buClr>
              <a:buSzPts val="1600"/>
              <a:buFont typeface="Arial"/>
              <a:buNone/>
            </a:pPr>
            <a:r>
              <a:t/>
            </a:r>
            <a:endParaRPr b="0" i="0" sz="1600" u="none">
              <a:solidFill>
                <a:schemeClr val="dk1"/>
              </a:solidFill>
              <a:latin typeface="Calibri"/>
              <a:ea typeface="Calibri"/>
              <a:cs typeface="Calibri"/>
              <a:sym typeface="Calibri"/>
            </a:endParaRPr>
          </a:p>
          <a:p>
            <a:pPr indent="-342900" lvl="0" marL="342900" marR="0" rtl="0" algn="l">
              <a:lnSpc>
                <a:spcPct val="80000"/>
              </a:lnSpc>
              <a:spcBef>
                <a:spcPts val="320"/>
              </a:spcBef>
              <a:spcAft>
                <a:spcPts val="0"/>
              </a:spcAft>
              <a:buClr>
                <a:schemeClr val="dk1"/>
              </a:buClr>
              <a:buSzPts val="1600"/>
              <a:buFont typeface="Arial"/>
              <a:buChar char="•"/>
            </a:pPr>
            <a:r>
              <a:rPr b="0" i="0" lang="en-US" sz="1600" u="none">
                <a:solidFill>
                  <a:schemeClr val="dk1"/>
                </a:solidFill>
                <a:latin typeface="Calibri"/>
                <a:ea typeface="Calibri"/>
                <a:cs typeface="Calibri"/>
                <a:sym typeface="Calibri"/>
              </a:rPr>
              <a:t>we have omitted the class and the main method declaration from this example. You need to add it to run the example (refer Book for complete program).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 Example</a:t>
            </a:r>
            <a:endParaRPr/>
          </a:p>
        </p:txBody>
      </p:sp>
      <p:sp>
        <p:nvSpPr>
          <p:cNvPr id="350" name="Google Shape;350;p3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51" name="Google Shape;351;p39"/>
          <p:cNvPicPr preferRelativeResize="0"/>
          <p:nvPr>
            <p:ph idx="1" type="body"/>
          </p:nvPr>
        </p:nvPicPr>
        <p:blipFill rotWithShape="1">
          <a:blip r:embed="rId3">
            <a:alphaModFix/>
          </a:blip>
          <a:srcRect b="0" l="0" r="0" t="0"/>
          <a:stretch/>
        </p:blipFill>
        <p:spPr>
          <a:xfrm>
            <a:off x="1600200" y="1441450"/>
            <a:ext cx="5791200" cy="497363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357" name="Google Shape;357;p40"/>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object is same and is being shared by a &amp; b</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Different objects</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Different objects</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Interned object does not refer to the already created objects, as literal was not present in the pool. It is a new object which has been created in the pool</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 Manipulation</a:t>
            </a:r>
            <a:endParaRPr/>
          </a:p>
        </p:txBody>
      </p:sp>
      <p:sp>
        <p:nvSpPr>
          <p:cNvPr id="363" name="Google Shape;363;p41"/>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Strings in Java are immutable (read only) in nature, Once defined cannot be changed.</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Let us take an example:</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 x = “Hello”; // ok</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 x = x +”World”; // ok, but how?</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 operator concatenates If at least one of the operand is a string.</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second statement gets converted to the following statement automatically</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 x=new StringBuffer(). append(x). append(“World”). toString();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2"/>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Common methods of the String class</a:t>
            </a:r>
            <a:endParaRPr/>
          </a:p>
        </p:txBody>
      </p:sp>
      <p:pic>
        <p:nvPicPr>
          <p:cNvPr id="369" name="Google Shape;369;p42"/>
          <p:cNvPicPr preferRelativeResize="0"/>
          <p:nvPr>
            <p:ph idx="1" type="body"/>
          </p:nvPr>
        </p:nvPicPr>
        <p:blipFill rotWithShape="1">
          <a:blip r:embed="rId3">
            <a:alphaModFix/>
          </a:blip>
          <a:srcRect b="0" l="0" r="0" t="0"/>
          <a:stretch/>
        </p:blipFill>
        <p:spPr>
          <a:xfrm>
            <a:off x="990600" y="1195387"/>
            <a:ext cx="6781800" cy="5080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3"/>
          <p:cNvSpPr txBox="1"/>
          <p:nvPr>
            <p:ph type="title"/>
          </p:nvPr>
        </p:nvSpPr>
        <p:spPr>
          <a:xfrm>
            <a:off x="457200" y="76200"/>
            <a:ext cx="82296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Methods of String class</a:t>
            </a:r>
            <a:endParaRPr/>
          </a:p>
        </p:txBody>
      </p:sp>
      <p:pic>
        <p:nvPicPr>
          <p:cNvPr id="375" name="Google Shape;375;p43"/>
          <p:cNvPicPr preferRelativeResize="0"/>
          <p:nvPr>
            <p:ph idx="1" type="body"/>
          </p:nvPr>
        </p:nvPicPr>
        <p:blipFill rotWithShape="1">
          <a:blip r:embed="rId3">
            <a:alphaModFix/>
          </a:blip>
          <a:srcRect b="0" l="0" r="0" t="0"/>
          <a:stretch/>
        </p:blipFill>
        <p:spPr>
          <a:xfrm>
            <a:off x="1066800" y="1143000"/>
            <a:ext cx="6553200" cy="5181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StringBuffer class</a:t>
            </a:r>
            <a:endParaRPr/>
          </a:p>
        </p:txBody>
      </p:sp>
      <p:sp>
        <p:nvSpPr>
          <p:cNvPr id="381" name="Google Shape;381;p44"/>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StringBuffer class is used for representing changing strings.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StringBuffer offers more performance enhancement whenever we change Strings, because it is this class that is actually used behind the curtain.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Just like any other buffer, StringBuffer also has a capacity and if the capacity is exceeded, then it is automatically made larger.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initial capacity of StringBuffer can be known by using a method capacity().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Methods of StringBuffer class</a:t>
            </a:r>
            <a:endParaRPr/>
          </a:p>
        </p:txBody>
      </p:sp>
      <p:sp>
        <p:nvSpPr>
          <p:cNvPr id="387" name="Google Shape;387;p45"/>
          <p:cNvSpPr txBox="1"/>
          <p:nvPr>
            <p:ph idx="1" type="body"/>
          </p:nvPr>
        </p:nvSpPr>
        <p:spPr>
          <a:xfrm>
            <a:off x="457200" y="1600200"/>
            <a:ext cx="4038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388" name="Google Shape;388;p45"/>
          <p:cNvPicPr preferRelativeResize="0"/>
          <p:nvPr/>
        </p:nvPicPr>
        <p:blipFill rotWithShape="1">
          <a:blip r:embed="rId3">
            <a:alphaModFix/>
          </a:blip>
          <a:srcRect b="0" l="0" r="0" t="0"/>
          <a:stretch/>
        </p:blipFill>
        <p:spPr>
          <a:xfrm>
            <a:off x="2819400" y="2238375"/>
            <a:ext cx="4038600" cy="657225"/>
          </a:xfrm>
          <a:prstGeom prst="rect">
            <a:avLst/>
          </a:prstGeom>
          <a:noFill/>
          <a:ln>
            <a:noFill/>
          </a:ln>
        </p:spPr>
      </p:pic>
      <p:pic>
        <p:nvPicPr>
          <p:cNvPr id="389" name="Google Shape;389;p45"/>
          <p:cNvPicPr preferRelativeResize="0"/>
          <p:nvPr/>
        </p:nvPicPr>
        <p:blipFill rotWithShape="1">
          <a:blip r:embed="rId4">
            <a:alphaModFix/>
          </a:blip>
          <a:srcRect b="0" l="0" r="0" t="0"/>
          <a:stretch/>
        </p:blipFill>
        <p:spPr>
          <a:xfrm>
            <a:off x="2819400" y="2906712"/>
            <a:ext cx="4038600" cy="903287"/>
          </a:xfrm>
          <a:prstGeom prst="rect">
            <a:avLst/>
          </a:prstGeom>
          <a:noFill/>
          <a:ln>
            <a:noFill/>
          </a:ln>
        </p:spPr>
      </p:pic>
      <p:pic>
        <p:nvPicPr>
          <p:cNvPr id="390" name="Google Shape;390;p45"/>
          <p:cNvPicPr preferRelativeResize="0"/>
          <p:nvPr/>
        </p:nvPicPr>
        <p:blipFill rotWithShape="1">
          <a:blip r:embed="rId3">
            <a:alphaModFix/>
          </a:blip>
          <a:srcRect b="0" l="0" r="0" t="0"/>
          <a:stretch/>
        </p:blipFill>
        <p:spPr>
          <a:xfrm>
            <a:off x="990600" y="1371600"/>
            <a:ext cx="7239000" cy="1512887"/>
          </a:xfrm>
          <a:prstGeom prst="rect">
            <a:avLst/>
          </a:prstGeom>
          <a:noFill/>
          <a:ln>
            <a:noFill/>
          </a:ln>
        </p:spPr>
      </p:pic>
      <p:pic>
        <p:nvPicPr>
          <p:cNvPr id="391" name="Google Shape;391;p45"/>
          <p:cNvPicPr preferRelativeResize="0"/>
          <p:nvPr/>
        </p:nvPicPr>
        <p:blipFill rotWithShape="1">
          <a:blip r:embed="rId5">
            <a:alphaModFix/>
          </a:blip>
          <a:srcRect b="0" l="0" r="0" t="0"/>
          <a:stretch/>
        </p:blipFill>
        <p:spPr>
          <a:xfrm>
            <a:off x="990600" y="2895600"/>
            <a:ext cx="7245350" cy="20796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StringBuilder class</a:t>
            </a:r>
            <a:endParaRPr/>
          </a:p>
        </p:txBody>
      </p:sp>
      <p:sp>
        <p:nvSpPr>
          <p:cNvPr id="397" name="Google Shape;397;p46"/>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introduced in Java 5</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substitute of StringBuffer class.</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class is faster than StringBuffer class, as it is not synchronized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append(), insert(), delete(), deleteCharAt(), replace(), and reverse() return StringBuilder objects rather than StringBuffer objects.</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line creates a StringBuilder object.</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StringBuilder s=new StringBuilder();</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construct a StringBuilder object with an initial capacity of 16 characters. Similar to that of StringBuffer.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Splitting Strings</a:t>
            </a:r>
            <a:endParaRPr/>
          </a:p>
        </p:txBody>
      </p:sp>
      <p:sp>
        <p:nvSpPr>
          <p:cNvPr id="403" name="Google Shape;403;p47"/>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StringTokenizer is a utility class provided by the </a:t>
            </a:r>
            <a:r>
              <a:rPr b="1" i="0" lang="en-US" sz="2800" u="none">
                <a:solidFill>
                  <a:schemeClr val="dk1"/>
                </a:solidFill>
                <a:latin typeface="Calibri"/>
                <a:ea typeface="Calibri"/>
                <a:cs typeface="Calibri"/>
                <a:sym typeface="Calibri"/>
              </a:rPr>
              <a:t>java.util </a:t>
            </a:r>
            <a:r>
              <a:rPr b="0" i="0" lang="en-US" sz="2800" u="none">
                <a:solidFill>
                  <a:schemeClr val="dk1"/>
                </a:solidFill>
                <a:latin typeface="Calibri"/>
                <a:ea typeface="Calibri"/>
                <a:cs typeface="Calibri"/>
                <a:sym typeface="Calibri"/>
              </a:rPr>
              <a:t>package.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Now a legacy code.</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class used to be of utmost importance when we want to divide the entire String into parts (Tokens) on the basis of delimiters.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delimiters can be any of the whitespace, tab space, semicolon, comma, etc.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J2SE 1.4 added split( ) method to the </a:t>
            </a:r>
            <a:r>
              <a:rPr b="1" i="0" lang="en-US" sz="2800" u="none">
                <a:solidFill>
                  <a:schemeClr val="dk1"/>
                </a:solidFill>
                <a:latin typeface="Calibri"/>
                <a:ea typeface="Calibri"/>
                <a:cs typeface="Calibri"/>
                <a:sym typeface="Calibri"/>
              </a:rPr>
              <a:t>String </a:t>
            </a:r>
            <a:r>
              <a:rPr b="0" i="0" lang="en-US" sz="2800" u="none">
                <a:solidFill>
                  <a:schemeClr val="dk1"/>
                </a:solidFill>
                <a:latin typeface="Calibri"/>
                <a:ea typeface="Calibri"/>
                <a:cs typeface="Calibri"/>
                <a:sym typeface="Calibri"/>
              </a:rPr>
              <a:t>class for simplifying the task of splitting a String and also added </a:t>
            </a:r>
            <a:r>
              <a:rPr b="1" i="0" lang="en-US" sz="2800" u="none">
                <a:solidFill>
                  <a:schemeClr val="dk1"/>
                </a:solidFill>
                <a:latin typeface="Calibri"/>
                <a:ea typeface="Calibri"/>
                <a:cs typeface="Calibri"/>
                <a:sym typeface="Calibri"/>
              </a:rPr>
              <a:t>Pattern </a:t>
            </a:r>
            <a:r>
              <a:rPr b="0" i="0" lang="en-US" sz="2800" u="none">
                <a:solidFill>
                  <a:schemeClr val="dk1"/>
                </a:solidFill>
                <a:latin typeface="Calibri"/>
                <a:ea typeface="Calibri"/>
                <a:cs typeface="Calibri"/>
                <a:sym typeface="Calibri"/>
              </a:rPr>
              <a:t>and </a:t>
            </a:r>
            <a:r>
              <a:rPr b="1" i="0" lang="en-US" sz="2800" u="none">
                <a:solidFill>
                  <a:schemeClr val="dk1"/>
                </a:solidFill>
                <a:latin typeface="Calibri"/>
                <a:ea typeface="Calibri"/>
                <a:cs typeface="Calibri"/>
                <a:sym typeface="Calibri"/>
              </a:rPr>
              <a:t>Matcher </a:t>
            </a:r>
            <a:r>
              <a:rPr b="0" i="0" lang="en-US" sz="2800" u="none">
                <a:solidFill>
                  <a:schemeClr val="dk1"/>
                </a:solidFill>
                <a:latin typeface="Calibri"/>
                <a:ea typeface="Calibri"/>
                <a:cs typeface="Calibri"/>
                <a:sym typeface="Calibri"/>
              </a:rPr>
              <a:t>classes in java.util.regex package.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type="title"/>
          </p:nvPr>
        </p:nvSpPr>
        <p:spPr>
          <a:xfrm>
            <a:off x="457200" y="76200"/>
            <a:ext cx="82296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a:t>
            </a:r>
            <a:endParaRPr/>
          </a:p>
        </p:txBody>
      </p:sp>
      <p:sp>
        <p:nvSpPr>
          <p:cNvPr id="409" name="Google Shape;409;p48"/>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import java.util.*;	import java.util.regex.*;</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class StringTokenizerDemo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public static void main(String args[])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int i=1;</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String str=”Never look down on anybody unless you’re helping him up”;</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System.out.println(“Splitting String Using StringTokenizer class”);</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StringTokenizer tr=new StringTokenizer(str,”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while (tr.hasMoreTokens())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System.out.print(“Token “+i+”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System.out.println(tr.nextToken());	</a:t>
            </a:r>
            <a:endParaRPr/>
          </a:p>
          <a:p>
            <a:pPr indent="-285750" lvl="1" marL="742950" marR="0" rtl="0" algn="l">
              <a:lnSpc>
                <a:spcPct val="80000"/>
              </a:lnSpc>
              <a:spcBef>
                <a:spcPts val="320"/>
              </a:spcBef>
              <a:spcAft>
                <a:spcPts val="0"/>
              </a:spcAft>
              <a:buClr>
                <a:schemeClr val="dk1"/>
              </a:buClr>
              <a:buSzPts val="1600"/>
              <a:buFont typeface="Arial"/>
              <a:buNone/>
            </a:pPr>
            <a:r>
              <a:rPr b="0" i="0" lang="en-US" sz="1600" u="none" cap="none" strike="noStrike">
                <a:solidFill>
                  <a:schemeClr val="dk1"/>
                </a:solidFill>
                <a:latin typeface="Calibri"/>
                <a:ea typeface="Calibri"/>
                <a:cs typeface="Calibri"/>
                <a:sym typeface="Calibri"/>
              </a:rPr>
              <a:t>		++i;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System.out.println(“Splitting String Using split() method”);</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String[] tk=str.split(“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for(String tokens: tk)</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System.out.println(tokens);</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Pattern p=Pattern.compile(“ “);</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tk= p.split(str,3);</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for(String tokens: tk)</a:t>
            </a:r>
            <a:endParaRPr/>
          </a:p>
          <a:p>
            <a:pPr indent="-342900" lvl="0" marL="342900" marR="0" rtl="0" algn="l">
              <a:lnSpc>
                <a:spcPct val="8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System.out.println(tokens);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9"/>
          <p:cNvSpPr txBox="1"/>
          <p:nvPr>
            <p:ph type="title"/>
          </p:nvPr>
        </p:nvSpPr>
        <p:spPr>
          <a:xfrm>
            <a:off x="457200" y="76200"/>
            <a:ext cx="82296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 Enum Type</a:t>
            </a:r>
            <a:endParaRPr/>
          </a:p>
        </p:txBody>
      </p:sp>
      <p:sp>
        <p:nvSpPr>
          <p:cNvPr id="415" name="Google Shape;415;p49"/>
          <p:cNvSpPr txBox="1"/>
          <p:nvPr>
            <p:ph idx="1" type="body"/>
          </p:nvPr>
        </p:nvSpPr>
        <p:spPr>
          <a:xfrm>
            <a:off x="457200" y="12652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is a kind of class definition.</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Subclass of Object class and inherits the Comparable interface</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Defines the type along with the possible set of enum values which are listed in the curly braces, separated by commas </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All enum types are subclasses of the java.lang.Enum class. </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Each value in an enum is an identifier. </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following statement declares a type, named </a:t>
            </a:r>
            <a:r>
              <a:rPr b="0" i="1" lang="en-US" sz="2400" u="none">
                <a:solidFill>
                  <a:schemeClr val="dk1"/>
                </a:solidFill>
                <a:latin typeface="Calibri"/>
                <a:ea typeface="Calibri"/>
                <a:cs typeface="Calibri"/>
                <a:sym typeface="Calibri"/>
              </a:rPr>
              <a:t>Games</a:t>
            </a:r>
            <a:r>
              <a:rPr b="0" i="0" lang="en-US" sz="2400" u="none">
                <a:solidFill>
                  <a:schemeClr val="dk1"/>
                </a:solidFill>
                <a:latin typeface="Calibri"/>
                <a:ea typeface="Calibri"/>
                <a:cs typeface="Calibri"/>
                <a:sym typeface="Calibri"/>
              </a:rPr>
              <a:t>, with the values CRICKET, FOOTBALL, TENNIS, and BASKETBALL. </a:t>
            </a:r>
            <a:endParaRPr/>
          </a:p>
          <a:p>
            <a:pPr indent="-285750" lvl="1" marL="742950" marR="0" rtl="0" algn="just">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enum Games { CRICKET, FOOTBALL, TENNIS, BASKETBALL };</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By convention, all names must be in upper case.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Enum (contd.)</a:t>
            </a:r>
            <a:endParaRPr/>
          </a:p>
        </p:txBody>
      </p:sp>
      <p:sp>
        <p:nvSpPr>
          <p:cNvPr id="421" name="Google Shape;421;p50"/>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Once a type is defined, you can declare a variable of that type:</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Games G;</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G can hold one of the values defined in the enumerated type </a:t>
            </a:r>
            <a:r>
              <a:rPr b="0" i="1" lang="en-US" sz="2400" u="none" cap="none" strike="noStrike">
                <a:solidFill>
                  <a:schemeClr val="dk1"/>
                </a:solidFill>
                <a:latin typeface="Calibri"/>
                <a:ea typeface="Calibri"/>
                <a:cs typeface="Calibri"/>
                <a:sym typeface="Calibri"/>
              </a:rPr>
              <a:t>Games </a:t>
            </a:r>
            <a:r>
              <a:rPr b="0" i="0" lang="en-US" sz="2400" u="none" cap="none" strike="noStrike">
                <a:solidFill>
                  <a:schemeClr val="dk1"/>
                </a:solidFill>
                <a:latin typeface="Calibri"/>
                <a:ea typeface="Calibri"/>
                <a:cs typeface="Calibri"/>
                <a:sym typeface="Calibri"/>
              </a:rPr>
              <a:t>or null, but nothing else.</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 attempt to assign a value other than the enumerated values or null will result in a compilation error.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enumerated values can be accessed using the syntax.</a:t>
            </a:r>
            <a:endParaRPr/>
          </a:p>
          <a:p>
            <a:pPr indent="-228600" lvl="2" marL="1143000" marR="0" rtl="0" algn="just">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enumeratedTypeName.valueName</a:t>
            </a:r>
            <a:endParaRPr/>
          </a:p>
          <a:p>
            <a:pPr indent="-228600" lvl="2" marL="1143000" marR="0" rtl="0" algn="just">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G = Games.TENNIS;</a:t>
            </a:r>
            <a:endParaRPr/>
          </a:p>
          <a:p>
            <a:pPr indent="-215900" lvl="0" marL="342900"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1"/>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Enum Example</a:t>
            </a:r>
            <a:endParaRPr/>
          </a:p>
        </p:txBody>
      </p:sp>
      <p:sp>
        <p:nvSpPr>
          <p:cNvPr id="427" name="Google Shape;427;p51"/>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public class EnumDemo {</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static enum Games {CRICKET, FOOTBALL, CHESS, BASKETBALL, TENNIS,BADMINTON};</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public static void main (String[] args) {</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Games G1 = Games.CHESS;</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Games G2 = Games.TENNIS;</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System.out.println(“First game is “ +G1.name());</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System.out.println(“Second game is “ +G2.name());</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System.out.println(“First game’s ordinal is “ +G1. ordinal());</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System.out.println(“Second game’s ordinal is “ +G2.ordinal());</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System.out.println(“G1.equals(G2) returns “ +G1. equals(G2));</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System.out.println(“G1.toString() returns “ +G1. toString());</a:t>
            </a:r>
            <a:endParaRPr/>
          </a:p>
          <a:p>
            <a:pPr indent="-342900" lvl="0" marL="342900" marR="0" rtl="0" algn="l">
              <a:lnSpc>
                <a:spcPct val="80000"/>
              </a:lnSpc>
              <a:spcBef>
                <a:spcPts val="460"/>
              </a:spcBef>
              <a:spcAft>
                <a:spcPts val="0"/>
              </a:spcAft>
              <a:buClr>
                <a:schemeClr val="dk1"/>
              </a:buClr>
              <a:buSzPts val="2300"/>
              <a:buFont typeface="Arial"/>
              <a:buNone/>
            </a:pPr>
            <a:r>
              <a:rPr b="0" i="0" lang="en-US" sz="2300" u="none">
                <a:solidFill>
                  <a:schemeClr val="dk1"/>
                </a:solidFill>
                <a:latin typeface="Calibri"/>
                <a:ea typeface="Calibri"/>
                <a:cs typeface="Calibri"/>
                <a:sym typeface="Calibri"/>
              </a:rPr>
              <a:t>	System.out.println(“G1.compareTo(G2) returns “+G1.compareTo(G2));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2"/>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433" name="Google Shape;433;p52"/>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First game is CHESS</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Second game is TENNIS</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First game’s ordinal is 2</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second game’s ordinal is 4</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G1.equals(G2) returns false</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G1.toString() returns Chess</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G1.compareTo(G2) returns -2</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3"/>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for Loop with Enumeration</a:t>
            </a:r>
            <a:endParaRPr/>
          </a:p>
        </p:txBody>
      </p:sp>
      <p:sp>
        <p:nvSpPr>
          <p:cNvPr id="439" name="Google Shape;439;p53"/>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Each enumerated type has a static method </a:t>
            </a:r>
            <a:r>
              <a:rPr b="0" i="1" lang="en-US" sz="2800" u="none">
                <a:solidFill>
                  <a:schemeClr val="dk1"/>
                </a:solidFill>
                <a:latin typeface="Calibri"/>
                <a:ea typeface="Calibri"/>
                <a:cs typeface="Calibri"/>
                <a:sym typeface="Calibri"/>
              </a:rPr>
              <a:t>values( ) </a:t>
            </a:r>
            <a:r>
              <a:rPr b="0" i="0" lang="en-US" sz="2800" u="none">
                <a:solidFill>
                  <a:schemeClr val="dk1"/>
                </a:solidFill>
                <a:latin typeface="Calibri"/>
                <a:ea typeface="Calibri"/>
                <a:cs typeface="Calibri"/>
                <a:sym typeface="Calibri"/>
              </a:rPr>
              <a:t>associated with them that returns all enumerated values for the type in an array.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For example,</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Games[] G = Games.values();</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You can use </a:t>
            </a:r>
            <a:r>
              <a:rPr b="1" i="0" lang="en-US" sz="2800" u="none">
                <a:solidFill>
                  <a:schemeClr val="dk1"/>
                </a:solidFill>
                <a:latin typeface="Calibri"/>
                <a:ea typeface="Calibri"/>
                <a:cs typeface="Calibri"/>
                <a:sym typeface="Calibri"/>
              </a:rPr>
              <a:t>for loop </a:t>
            </a:r>
            <a:r>
              <a:rPr b="0" i="0" lang="en-US" sz="2800" u="none">
                <a:solidFill>
                  <a:schemeClr val="dk1"/>
                </a:solidFill>
                <a:latin typeface="Calibri"/>
                <a:ea typeface="Calibri"/>
                <a:cs typeface="Calibri"/>
                <a:sym typeface="Calibri"/>
              </a:rPr>
              <a:t>to process all the values in the array.</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for (int i = 0; i &lt; G.length; i++)</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System.out.println(G[i]);</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4"/>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Conditional Statements with Enumeration</a:t>
            </a:r>
            <a:endParaRPr/>
          </a:p>
        </p:txBody>
      </p:sp>
      <p:sp>
        <p:nvSpPr>
          <p:cNvPr id="445" name="Google Shape;445;p54"/>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165100" lvl="0" marL="342900" marR="0" rtl="0" algn="l">
              <a:lnSpc>
                <a:spcPct val="8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342900" lvl="0" marL="342900" marR="0" rtl="0" algn="l">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can use if or switch-case with Enumerations to test the value in the variable, as shown below.</a:t>
            </a:r>
            <a:endParaRPr/>
          </a:p>
          <a:p>
            <a:pPr indent="-342900" lvl="0" marL="342900" marR="0" rtl="0" algn="l">
              <a:lnSpc>
                <a:spcPct val="80000"/>
              </a:lnSpc>
              <a:spcBef>
                <a:spcPts val="360"/>
              </a:spcBef>
              <a:spcAft>
                <a:spcPts val="0"/>
              </a:spcAft>
              <a:buClr>
                <a:schemeClr val="dk1"/>
              </a:buClr>
              <a:buSzPts val="1800"/>
              <a:buFont typeface="Arial"/>
              <a:buNone/>
            </a:pPr>
            <a:r>
              <a:t/>
            </a:r>
            <a:endParaRPr b="1" i="0" sz="1800" u="none">
              <a:solidFill>
                <a:schemeClr val="dk1"/>
              </a:solidFill>
              <a:latin typeface="Calibri"/>
              <a:ea typeface="Calibri"/>
              <a:cs typeface="Calibri"/>
              <a:sym typeface="Calibri"/>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If Statement:</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if (G1.equals(Games.CRICKET))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action to be performed</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else if (G1.equals(Games.FOOTBALL))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action to be performed</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else ....</a:t>
            </a:r>
            <a:endParaRPr/>
          </a:p>
          <a:p>
            <a:pPr indent="-190500" lvl="0" marL="342900" marR="0" rtl="0" algn="l">
              <a:lnSpc>
                <a:spcPct val="80000"/>
              </a:lnSpc>
              <a:spcBef>
                <a:spcPts val="480"/>
              </a:spcBef>
              <a:spcAft>
                <a:spcPts val="0"/>
              </a:spcAft>
              <a:buClr>
                <a:schemeClr val="dk1"/>
              </a:buClr>
              <a:buSzPts val="2400"/>
              <a:buFont typeface="Arial"/>
              <a:buNone/>
            </a:pPr>
            <a:r>
              <a:t/>
            </a:r>
            <a:endParaRPr b="1" i="0" sz="2400" u="none">
              <a:solidFill>
                <a:schemeClr val="dk1"/>
              </a:solidFill>
              <a:latin typeface="Calibri"/>
              <a:ea typeface="Calibri"/>
              <a:cs typeface="Calibri"/>
              <a:sym typeface="Calibri"/>
            </a:endParaRPr>
          </a:p>
          <a:p>
            <a:pPr indent="-342900" lvl="0" marL="342900" marR="0" rtl="0" algn="l">
              <a:lnSpc>
                <a:spcPct val="80000"/>
              </a:lnSpc>
              <a:spcBef>
                <a:spcPts val="360"/>
              </a:spcBef>
              <a:spcAft>
                <a:spcPts val="0"/>
              </a:spcAft>
              <a:buClr>
                <a:schemeClr val="dk1"/>
              </a:buClr>
              <a:buSzPts val="1800"/>
              <a:buFont typeface="Arial"/>
              <a:buNone/>
            </a:pPr>
            <a:r>
              <a:rPr b="1" i="0" lang="en-US" sz="1800" u="none">
                <a:solidFill>
                  <a:schemeClr val="dk1"/>
                </a:solidFill>
                <a:latin typeface="Calibri"/>
                <a:ea typeface="Calibri"/>
                <a:cs typeface="Calibri"/>
                <a:sym typeface="Calibri"/>
              </a:rPr>
              <a:t>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5"/>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Conditional Statements with Enumeration</a:t>
            </a:r>
            <a:endParaRPr/>
          </a:p>
        </p:txBody>
      </p:sp>
      <p:sp>
        <p:nvSpPr>
          <p:cNvPr id="451" name="Google Shape;451;p55"/>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Switch Statement:</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r>
              <a:rPr b="0" i="0" lang="en-US" sz="2400" u="none">
                <a:solidFill>
                  <a:schemeClr val="dk1"/>
                </a:solidFill>
                <a:latin typeface="Calibri"/>
                <a:ea typeface="Calibri"/>
                <a:cs typeface="Calibri"/>
                <a:sym typeface="Calibri"/>
              </a:rPr>
              <a:t>switch (Games)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case CRICKET: 	// case CRICKET and not 				// Games.CRICKET</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action to be performed;</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case FOOTBALL:</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action to be performed;</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Attributes and Methods within Enumeration</a:t>
            </a:r>
            <a:endParaRPr/>
          </a:p>
        </p:txBody>
      </p:sp>
      <p:sp>
        <p:nvSpPr>
          <p:cNvPr id="457" name="Google Shape;457;p56"/>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public enum Desc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CRICKET (“Sachin Tendulkar”), CHESS (“Vishwanathan 	Anand”), TENNIS (“Sania Mirza”);</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private String description;</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private Desc(String description)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this.description = description;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public String getDesc()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System.out.print(“Indian Delight: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return description;	} }</a:t>
            </a:r>
            <a:endParaRPr/>
          </a:p>
          <a:p>
            <a:pPr indent="-342900" lvl="0" marL="342900" marR="0" rtl="0" algn="l">
              <a:lnSpc>
                <a:spcPct val="80000"/>
              </a:lnSpc>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public class UseDesc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public static void main(String[] args) {</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Desc player = Desc.TENNIS; System.out.println(player.getDesc());</a:t>
            </a:r>
            <a:endParaRPr/>
          </a:p>
          <a:p>
            <a:pPr indent="-342900" lvl="0" marL="342900" marR="0" rtl="0" algn="l">
              <a:lnSpc>
                <a:spcPct val="80000"/>
              </a:lnSpc>
              <a:spcBef>
                <a:spcPts val="440"/>
              </a:spcBef>
              <a:spcAft>
                <a:spcPts val="0"/>
              </a:spcAft>
              <a:buClr>
                <a:schemeClr val="dk1"/>
              </a:buClr>
              <a:buSzPts val="2200"/>
              <a:buFont typeface="Arial"/>
              <a:buNone/>
            </a:pPr>
            <a:r>
              <a:rPr b="0" i="0" lang="en-US" sz="2200" u="none">
                <a:solidFill>
                  <a:schemeClr val="dk1"/>
                </a:solidFill>
                <a:latin typeface="Calibri"/>
                <a:ea typeface="Calibri"/>
                <a:cs typeface="Calibri"/>
                <a:sym typeface="Calibri"/>
              </a:rPr>
              <a:t>	}}</a:t>
            </a:r>
            <a:endParaRPr/>
          </a:p>
          <a:p>
            <a:pPr indent="-203200" lvl="0" marL="342900" marR="0" rtl="0" algn="l">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7"/>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Summary</a:t>
            </a:r>
            <a:endParaRPr/>
          </a:p>
        </p:txBody>
      </p:sp>
      <p:sp>
        <p:nvSpPr>
          <p:cNvPr id="463" name="Google Shape;463;p57"/>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Java does not support multiple inheritance among classes.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Multiple inheritance can be done using interfaces.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Classes can be grouped together to form a Package.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Package is a collection of java files similar to a directory.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fundamental predefined package is discussed in this chapter: </a:t>
            </a:r>
            <a:r>
              <a:rPr b="0" i="1" lang="en-US" sz="2800" u="none">
                <a:solidFill>
                  <a:schemeClr val="dk1"/>
                </a:solidFill>
                <a:latin typeface="Calibri"/>
                <a:ea typeface="Calibri"/>
                <a:cs typeface="Calibri"/>
                <a:sym typeface="Calibri"/>
              </a:rPr>
              <a:t>java.lang</a:t>
            </a:r>
            <a:r>
              <a:rPr b="0" i="0" lang="en-US" sz="2800" u="none">
                <a:solidFill>
                  <a:schemeClr val="dk1"/>
                </a:solidFill>
                <a:latin typeface="Calibri"/>
                <a:ea typeface="Calibri"/>
                <a:cs typeface="Calibri"/>
                <a:sym typeface="Calibri"/>
              </a:rPr>
              <a:t> package.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For all the primitive data types, wrapper classes are defined which encapsulate the functionality of the primitive data types.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8"/>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Summary</a:t>
            </a:r>
            <a:endParaRPr/>
          </a:p>
        </p:txBody>
      </p:sp>
      <p:sp>
        <p:nvSpPr>
          <p:cNvPr id="469" name="Google Shape;469;p58"/>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few other classes like Object, String, StringBuffer and StringBuilder class have been discussed, as these classes are frequently used in programming.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All classes, whether predefined or user-defined, inherit ultimately from the Object class implicitly.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Enum type is a kind of class and is basically useful when we know the type along with the possible set of values in that type.</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2009-07-24T09:58:34Z</dcterms:created>
  <dc:creator>manisha.mathews</dc:creator>
</cp:coreProperties>
</file>