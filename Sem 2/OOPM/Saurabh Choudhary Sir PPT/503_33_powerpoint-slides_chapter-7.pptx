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61" r:id="rId7"/>
    <p:sldMasterId id="2147483671" r:id="rId8"/>
    <p:sldMasterId id="2147483673" r:id="rId9"/>
    <p:sldMasterId id="2147483675" r:id="rId10"/>
    <p:sldMasterId id="2147483677" r:id="rId11"/>
    <p:sldMasterId id="2147483679" r:id="rId12"/>
    <p:sldMasterId id="2147483681" r:id="rId13"/>
  </p:sldMasterIdLst>
  <p:notesMasterIdLst>
    <p:notesMasterId r:id="rId14"/>
  </p:notesMasterIdLst>
  <p:sldIdLst>
    <p:sldId id="256" r:id="rId15"/>
    <p:sldId id="257" r:id="rId16"/>
    <p:sldId id="258" r:id="rId17"/>
    <p:sldId id="259" r:id="rId18"/>
    <p:sldId id="260" r:id="rId19"/>
    <p:sldId id="261" r:id="rId20"/>
    <p:sldId id="262" r:id="rId21"/>
    <p:sldId id="263" r:id="rId22"/>
    <p:sldId id="264" r:id="rId23"/>
    <p:sldId id="265" r:id="rId24"/>
    <p:sldId id="266" r:id="rId25"/>
    <p:sldId id="267" r:id="rId26"/>
    <p:sldId id="268" r:id="rId27"/>
    <p:sldId id="269" r:id="rId28"/>
    <p:sldId id="270" r:id="rId29"/>
    <p:sldId id="271" r:id="rId30"/>
    <p:sldId id="272" r:id="rId31"/>
    <p:sldId id="273" r:id="rId32"/>
    <p:sldId id="274" r:id="rId33"/>
    <p:sldId id="275" r:id="rId34"/>
    <p:sldId id="276" r:id="rId35"/>
    <p:sldId id="277" r:id="rId36"/>
    <p:sldId id="278" r:id="rId37"/>
    <p:sldId id="279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292" r:id="rId51"/>
    <p:sldId id="293" r:id="rId52"/>
    <p:sldId id="294" r:id="rId53"/>
    <p:sldId id="295" r:id="rId54"/>
    <p:sldId id="296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</p:sldIdLst>
  <p:sldSz cy="6858000" cx="9144000"/>
  <p:notesSz cx="6858000" cy="9144000"/>
  <p:embeddedFontLst>
    <p:embeddedFont>
      <p:font typeface="Constantia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71" roundtripDataSignature="AMtx7mgy7kkd4i2U9DUw5LEGPp8ZlLU8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26.xml"/><Relationship Id="rId42" Type="http://schemas.openxmlformats.org/officeDocument/2006/relationships/slide" Target="slides/slide28.xml"/><Relationship Id="rId41" Type="http://schemas.openxmlformats.org/officeDocument/2006/relationships/slide" Target="slides/slide27.xml"/><Relationship Id="rId44" Type="http://schemas.openxmlformats.org/officeDocument/2006/relationships/slide" Target="slides/slide30.xml"/><Relationship Id="rId43" Type="http://schemas.openxmlformats.org/officeDocument/2006/relationships/slide" Target="slides/slide29.xml"/><Relationship Id="rId46" Type="http://schemas.openxmlformats.org/officeDocument/2006/relationships/slide" Target="slides/slide32.xml"/><Relationship Id="rId45" Type="http://schemas.openxmlformats.org/officeDocument/2006/relationships/slide" Target="slides/slide31.xml"/><Relationship Id="rId1" Type="http://schemas.openxmlformats.org/officeDocument/2006/relationships/theme" Target="theme/theme6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48" Type="http://schemas.openxmlformats.org/officeDocument/2006/relationships/slide" Target="slides/slide34.xml"/><Relationship Id="rId47" Type="http://schemas.openxmlformats.org/officeDocument/2006/relationships/slide" Target="slides/slide33.xml"/><Relationship Id="rId49" Type="http://schemas.openxmlformats.org/officeDocument/2006/relationships/slide" Target="slides/slide35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7.xml"/><Relationship Id="rId30" Type="http://schemas.openxmlformats.org/officeDocument/2006/relationships/slide" Target="slides/slide16.xml"/><Relationship Id="rId33" Type="http://schemas.openxmlformats.org/officeDocument/2006/relationships/slide" Target="slides/slide19.xml"/><Relationship Id="rId32" Type="http://schemas.openxmlformats.org/officeDocument/2006/relationships/slide" Target="slides/slide18.xml"/><Relationship Id="rId35" Type="http://schemas.openxmlformats.org/officeDocument/2006/relationships/slide" Target="slides/slide21.xml"/><Relationship Id="rId34" Type="http://schemas.openxmlformats.org/officeDocument/2006/relationships/slide" Target="slides/slide20.xml"/><Relationship Id="rId71" Type="http://customschemas.google.com/relationships/presentationmetadata" Target="metadata"/><Relationship Id="rId70" Type="http://schemas.openxmlformats.org/officeDocument/2006/relationships/font" Target="fonts/Constantia-boldItalic.fntdata"/><Relationship Id="rId37" Type="http://schemas.openxmlformats.org/officeDocument/2006/relationships/slide" Target="slides/slide23.xml"/><Relationship Id="rId36" Type="http://schemas.openxmlformats.org/officeDocument/2006/relationships/slide" Target="slides/slide22.xml"/><Relationship Id="rId39" Type="http://schemas.openxmlformats.org/officeDocument/2006/relationships/slide" Target="slides/slide25.xml"/><Relationship Id="rId38" Type="http://schemas.openxmlformats.org/officeDocument/2006/relationships/slide" Target="slides/slide24.xml"/><Relationship Id="rId62" Type="http://schemas.openxmlformats.org/officeDocument/2006/relationships/slide" Target="slides/slide48.xml"/><Relationship Id="rId61" Type="http://schemas.openxmlformats.org/officeDocument/2006/relationships/slide" Target="slides/slide47.xml"/><Relationship Id="rId20" Type="http://schemas.openxmlformats.org/officeDocument/2006/relationships/slide" Target="slides/slide6.xml"/><Relationship Id="rId64" Type="http://schemas.openxmlformats.org/officeDocument/2006/relationships/slide" Target="slides/slide50.xml"/><Relationship Id="rId63" Type="http://schemas.openxmlformats.org/officeDocument/2006/relationships/slide" Target="slides/slide49.xml"/><Relationship Id="rId22" Type="http://schemas.openxmlformats.org/officeDocument/2006/relationships/slide" Target="slides/slide8.xml"/><Relationship Id="rId66" Type="http://schemas.openxmlformats.org/officeDocument/2006/relationships/slide" Target="slides/slide52.xml"/><Relationship Id="rId21" Type="http://schemas.openxmlformats.org/officeDocument/2006/relationships/slide" Target="slides/slide7.xml"/><Relationship Id="rId65" Type="http://schemas.openxmlformats.org/officeDocument/2006/relationships/slide" Target="slides/slide51.xml"/><Relationship Id="rId24" Type="http://schemas.openxmlformats.org/officeDocument/2006/relationships/slide" Target="slides/slide10.xml"/><Relationship Id="rId68" Type="http://schemas.openxmlformats.org/officeDocument/2006/relationships/font" Target="fonts/Constantia-bold.fntdata"/><Relationship Id="rId23" Type="http://schemas.openxmlformats.org/officeDocument/2006/relationships/slide" Target="slides/slide9.xml"/><Relationship Id="rId67" Type="http://schemas.openxmlformats.org/officeDocument/2006/relationships/font" Target="fonts/Constantia-regular.fntdata"/><Relationship Id="rId60" Type="http://schemas.openxmlformats.org/officeDocument/2006/relationships/slide" Target="slides/slide46.xml"/><Relationship Id="rId26" Type="http://schemas.openxmlformats.org/officeDocument/2006/relationships/slide" Target="slides/slide12.xml"/><Relationship Id="rId25" Type="http://schemas.openxmlformats.org/officeDocument/2006/relationships/slide" Target="slides/slide11.xml"/><Relationship Id="rId69" Type="http://schemas.openxmlformats.org/officeDocument/2006/relationships/font" Target="fonts/Constantia-italic.fntdata"/><Relationship Id="rId28" Type="http://schemas.openxmlformats.org/officeDocument/2006/relationships/slide" Target="slides/slide14.xml"/><Relationship Id="rId27" Type="http://schemas.openxmlformats.org/officeDocument/2006/relationships/slide" Target="slides/slide13.xml"/><Relationship Id="rId29" Type="http://schemas.openxmlformats.org/officeDocument/2006/relationships/slide" Target="slides/slide15.xml"/><Relationship Id="rId51" Type="http://schemas.openxmlformats.org/officeDocument/2006/relationships/slide" Target="slides/slide37.xml"/><Relationship Id="rId50" Type="http://schemas.openxmlformats.org/officeDocument/2006/relationships/slide" Target="slides/slide36.xml"/><Relationship Id="rId53" Type="http://schemas.openxmlformats.org/officeDocument/2006/relationships/slide" Target="slides/slide39.xml"/><Relationship Id="rId52" Type="http://schemas.openxmlformats.org/officeDocument/2006/relationships/slide" Target="slides/slide38.xml"/><Relationship Id="rId11" Type="http://schemas.openxmlformats.org/officeDocument/2006/relationships/slideMaster" Target="slideMasters/slideMaster8.xml"/><Relationship Id="rId55" Type="http://schemas.openxmlformats.org/officeDocument/2006/relationships/slide" Target="slides/slide41.xml"/><Relationship Id="rId10" Type="http://schemas.openxmlformats.org/officeDocument/2006/relationships/slideMaster" Target="slideMasters/slideMaster7.xml"/><Relationship Id="rId54" Type="http://schemas.openxmlformats.org/officeDocument/2006/relationships/slide" Target="slides/slide40.xml"/><Relationship Id="rId13" Type="http://schemas.openxmlformats.org/officeDocument/2006/relationships/slideMaster" Target="slideMasters/slideMaster10.xml"/><Relationship Id="rId57" Type="http://schemas.openxmlformats.org/officeDocument/2006/relationships/slide" Target="slides/slide43.xml"/><Relationship Id="rId12" Type="http://schemas.openxmlformats.org/officeDocument/2006/relationships/slideMaster" Target="slideMasters/slideMaster9.xml"/><Relationship Id="rId56" Type="http://schemas.openxmlformats.org/officeDocument/2006/relationships/slide" Target="slides/slide42.xml"/><Relationship Id="rId15" Type="http://schemas.openxmlformats.org/officeDocument/2006/relationships/slide" Target="slides/slide1.xml"/><Relationship Id="rId59" Type="http://schemas.openxmlformats.org/officeDocument/2006/relationships/slide" Target="slides/slide45.xml"/><Relationship Id="rId14" Type="http://schemas.openxmlformats.org/officeDocument/2006/relationships/notesMaster" Target="notesMasters/notesMaster1.xml"/><Relationship Id="rId58" Type="http://schemas.openxmlformats.org/officeDocument/2006/relationships/slide" Target="slides/slide44.xml"/><Relationship Id="rId17" Type="http://schemas.openxmlformats.org/officeDocument/2006/relationships/slide" Target="slides/slide3.xml"/><Relationship Id="rId16" Type="http://schemas.openxmlformats.org/officeDocument/2006/relationships/slide" Target="slides/slide2.xml"/><Relationship Id="rId19" Type="http://schemas.openxmlformats.org/officeDocument/2006/relationships/slide" Target="slides/slide5.xml"/><Relationship Id="rId1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1" name="Google Shape;471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5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9" name="Google Shape;19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5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9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9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0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3" name="Google Shape;63;p6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4" name="Google Shape;64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6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6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0" name="Google Shape;70;p6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4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1" name="Google Shape;81;p64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2" name="Google Shape;82;p64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3" name="Google Shape;83;p64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84" name="Google Shape;84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6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0" name="Google Shape;90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8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8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9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3" name="Google Shape;113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7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19" name="Google Shape;119;p7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0" name="Google Shape;120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7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7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26" name="Google Shape;126;p7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27" name="Google Shape;127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3" name="Google Shape;133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73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7" name="Google Shape;137;p73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38" name="Google Shape;138;p73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39" name="Google Shape;139;p73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40" name="Google Shape;140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7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46" name="Google Shape;146;p7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47" name="Google Shape;147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7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7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53" name="Google Shape;153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7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66" name="Google Shape;166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8" name="Google Shape;178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8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8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able" type="tbl">
  <p:cSld name="TABLE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Content" type="txAndObj">
  <p:cSld name="TEXT_AND_OBJECT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7"/>
          <p:cNvSpPr txBox="1"/>
          <p:nvPr>
            <p:ph type="title"/>
          </p:nvPr>
        </p:nvSpPr>
        <p:spPr>
          <a:xfrm>
            <a:off x="4572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" name="Google Shape;222;p8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8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5" name="Google Shape;225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6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4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3.xml"/><Relationship Id="rId3" Type="http://schemas.openxmlformats.org/officeDocument/2006/relationships/slideLayout" Target="../slideLayouts/slideLayout4.xml"/><Relationship Id="rId4" Type="http://schemas.openxmlformats.org/officeDocument/2006/relationships/slideLayout" Target="../slideLayouts/slideLayout5.xml"/><Relationship Id="rId10" Type="http://schemas.openxmlformats.org/officeDocument/2006/relationships/theme" Target="../theme/theme9.xml"/><Relationship Id="rId9" Type="http://schemas.openxmlformats.org/officeDocument/2006/relationships/slideLayout" Target="../slideLayouts/slideLayout10.xml"/><Relationship Id="rId5" Type="http://schemas.openxmlformats.org/officeDocument/2006/relationships/slideLayout" Target="../slideLayouts/slideLayout6.xml"/><Relationship Id="rId6" Type="http://schemas.openxmlformats.org/officeDocument/2006/relationships/slideLayout" Target="../slideLayouts/slideLayout7.xml"/><Relationship Id="rId7" Type="http://schemas.openxmlformats.org/officeDocument/2006/relationships/slideLayout" Target="../slideLayouts/slideLayout8.xml"/><Relationship Id="rId8" Type="http://schemas.openxmlformats.org/officeDocument/2006/relationships/slideLayout" Target="../slideLayouts/slideLayout9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9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0.xml"/><Relationship Id="rId3" Type="http://schemas.openxmlformats.org/officeDocument/2006/relationships/theme" Target="../theme/theme10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1.xml"/><Relationship Id="rId3" Type="http://schemas.openxmlformats.org/officeDocument/2006/relationships/theme" Target="../theme/theme5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2.xml"/><Relationship Id="rId3" Type="http://schemas.openxmlformats.org/officeDocument/2006/relationships/theme" Target="../theme/theme11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3.xml"/><Relationship Id="rId3" Type="http://schemas.openxmlformats.org/officeDocument/2006/relationships/theme" Target="../theme/theme7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4.xml"/><Relationship Id="rId3" Type="http://schemas.openxmlformats.org/officeDocument/2006/relationships/theme" Target="../theme/theme8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25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3"/>
          <p:cNvSpPr txBox="1"/>
          <p:nvPr/>
        </p:nvSpPr>
        <p:spPr>
          <a:xfrm>
            <a:off x="2362200" y="6488112"/>
            <a:ext cx="54102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tantia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© Oxford University Press 2013. All rights reserved.</a:t>
            </a:r>
            <a:endParaRPr/>
          </a:p>
        </p:txBody>
      </p:sp>
      <p:sp>
        <p:nvSpPr>
          <p:cNvPr id="11" name="Google Shape;11;p53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5"/>
          <p:cNvSpPr txBox="1"/>
          <p:nvPr/>
        </p:nvSpPr>
        <p:spPr>
          <a:xfrm>
            <a:off x="2133600" y="6442075"/>
            <a:ext cx="54102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tantia"/>
              <a:buNone/>
            </a:pPr>
            <a:r>
              <a:rPr b="0" i="0" lang="en-US" sz="16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© Oxford University Press 2013. All rights reserved.</a:t>
            </a:r>
            <a:endParaRPr/>
          </a:p>
        </p:txBody>
      </p:sp>
      <p:sp>
        <p:nvSpPr>
          <p:cNvPr id="24" name="Google Shape;24;p5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" name="Google Shape;25;p55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8" name="Google Shape;28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7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7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9" name="Google Shape;39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0" name="Google Shape;40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6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6"/>
          <p:cNvSpPr txBox="1"/>
          <p:nvPr/>
        </p:nvSpPr>
        <p:spPr>
          <a:xfrm>
            <a:off x="2362200" y="6488112"/>
            <a:ext cx="54102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tantia"/>
              <a:buNone/>
            </a:pPr>
            <a:r>
              <a:rPr b="0" i="0" lang="en-US" sz="16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© Oxford University Press 2013. All rights reserved.</a:t>
            </a:r>
            <a:endParaRPr/>
          </a:p>
        </p:txBody>
      </p:sp>
      <p:sp>
        <p:nvSpPr>
          <p:cNvPr id="158" name="Google Shape;158;p7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9" name="Google Shape;159;p7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1" name="Google Shape;161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2" name="Google Shape;162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8"/>
          <p:cNvSpPr txBox="1"/>
          <p:nvPr/>
        </p:nvSpPr>
        <p:spPr>
          <a:xfrm>
            <a:off x="1981200" y="6488112"/>
            <a:ext cx="5257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tantia"/>
              <a:buNone/>
            </a:pPr>
            <a:r>
              <a:rPr b="0" i="0" lang="en-US" sz="1600" u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© Oxford University Press 2013. All rights reserved.</a:t>
            </a:r>
            <a:endParaRPr/>
          </a:p>
        </p:txBody>
      </p:sp>
      <p:sp>
        <p:nvSpPr>
          <p:cNvPr id="171" name="Google Shape;171;p7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2" name="Google Shape;172;p7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3" name="Google Shape;173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4" name="Google Shape;174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5" name="Google Shape;175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4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0"/>
          <p:cNvSpPr txBox="1"/>
          <p:nvPr/>
        </p:nvSpPr>
        <p:spPr>
          <a:xfrm>
            <a:off x="2133600" y="6442075"/>
            <a:ext cx="5410200" cy="3381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tantia"/>
              <a:buNone/>
            </a:pPr>
            <a:r>
              <a:rPr b="0" i="0" lang="en-US" sz="1600" u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© Oxford University Press 2013. All rights reserved.</a:t>
            </a:r>
            <a:endParaRPr/>
          </a:p>
        </p:txBody>
      </p:sp>
      <p:sp>
        <p:nvSpPr>
          <p:cNvPr id="183" name="Google Shape;183;p8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4" name="Google Shape;184;p8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5" name="Google Shape;185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6" name="Google Shape;186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7" name="Google Shape;187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6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2"/>
          <p:cNvSpPr txBox="1"/>
          <p:nvPr/>
        </p:nvSpPr>
        <p:spPr>
          <a:xfrm>
            <a:off x="1981200" y="6488112"/>
            <a:ext cx="5257800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nstantia"/>
              <a:buNone/>
            </a:pPr>
            <a:r>
              <a:rPr b="0" i="0" lang="en-US" sz="1600" u="none">
                <a:solidFill>
                  <a:srgbClr val="000000"/>
                </a:solidFill>
                <a:latin typeface="Constantia"/>
                <a:ea typeface="Constantia"/>
                <a:cs typeface="Constantia"/>
                <a:sym typeface="Constantia"/>
              </a:rPr>
              <a:t>© Oxford University Press 2013. All rights reserved.</a:t>
            </a:r>
            <a:endParaRPr/>
          </a:p>
        </p:txBody>
      </p:sp>
      <p:sp>
        <p:nvSpPr>
          <p:cNvPr id="196" name="Google Shape;196;p8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7" name="Google Shape;197;p82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8" name="Google Shape;198;p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9" name="Google Shape;199;p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0" name="Google Shape;200;p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8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8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8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9" name="Google Shape;209;p8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0" name="Google Shape;210;p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86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9" name="Google Shape;219;p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Arial"/>
              <a:buNone/>
              <a:defRPr b="0" i="0" sz="1200" u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2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"/>
          <p:cNvSpPr txBox="1"/>
          <p:nvPr>
            <p:ph type="ctrTitle"/>
          </p:nvPr>
        </p:nvSpPr>
        <p:spPr>
          <a:xfrm>
            <a:off x="3429000" y="1905000"/>
            <a:ext cx="5715000" cy="21018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b="1" i="0" lang="en-US" sz="4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Programming in Java, 2e</a:t>
            </a:r>
            <a:endParaRPr/>
          </a:p>
        </p:txBody>
      </p:sp>
      <p:sp>
        <p:nvSpPr>
          <p:cNvPr id="231" name="Google Shape;231;p1"/>
          <p:cNvSpPr txBox="1"/>
          <p:nvPr>
            <p:ph idx="1" type="subTitle"/>
          </p:nvPr>
        </p:nvSpPr>
        <p:spPr>
          <a:xfrm>
            <a:off x="3581400" y="3962400"/>
            <a:ext cx="5562600" cy="1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</a:pPr>
            <a:r>
              <a:rPr b="1" i="0" lang="en-US" sz="4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Sachin Malhotra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</a:pPr>
            <a:r>
              <a:rPr b="1" i="0" lang="en-US" sz="4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Saurabh Choudhary</a:t>
            </a:r>
            <a:endParaRPr/>
          </a:p>
        </p:txBody>
      </p:sp>
      <p:sp>
        <p:nvSpPr>
          <p:cNvPr id="232" name="Google Shape;232;p1"/>
          <p:cNvSpPr txBox="1"/>
          <p:nvPr/>
        </p:nvSpPr>
        <p:spPr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logo(NEW)" id="233" name="Google Shape;23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97737" y="0"/>
            <a:ext cx="1846262" cy="1600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Kiran - My Documents\JAVA Programming 2e\PPTs Java 2e\Cover Image - Java 2e.png" id="234" name="Google Shape;23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" y="1676400"/>
            <a:ext cx="3173412" cy="4162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"/>
          <p:cNvSpPr txBox="1"/>
          <p:nvPr>
            <p:ph type="title"/>
          </p:nvPr>
        </p:nvSpPr>
        <p:spPr>
          <a:xfrm>
            <a:off x="381000" y="12192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ts val="6000"/>
              <a:buFont typeface="Calibri"/>
              <a:buNone/>
            </a:pPr>
            <a:r>
              <a:rPr b="1" i="0" lang="en-US" sz="6000" u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Chapter 7</a:t>
            </a:r>
            <a:endParaRPr/>
          </a:p>
        </p:txBody>
      </p:sp>
      <p:sp>
        <p:nvSpPr>
          <p:cNvPr id="240" name="Google Shape;240;p2"/>
          <p:cNvSpPr txBox="1"/>
          <p:nvPr/>
        </p:nvSpPr>
        <p:spPr>
          <a:xfrm>
            <a:off x="533400" y="2971800"/>
            <a:ext cx="8229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0253F"/>
              </a:buClr>
              <a:buSzPts val="6000"/>
              <a:buFont typeface="Calibri"/>
              <a:buNone/>
            </a:pPr>
            <a:r>
              <a:rPr b="1" i="0" lang="en-US" sz="6000" u="none">
                <a:solidFill>
                  <a:srgbClr val="10253F"/>
                </a:solidFill>
                <a:latin typeface="Calibri"/>
                <a:ea typeface="Calibri"/>
                <a:cs typeface="Calibri"/>
                <a:sym typeface="Calibri"/>
              </a:rPr>
              <a:t>Exception Assertion and Logging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/>
          </a:p>
        </p:txBody>
      </p:sp>
      <p:sp>
        <p:nvSpPr>
          <p:cNvPr id="246" name="Google Shape;246;p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the concepts and application of exception handling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all the keywords used for exception handling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 user-defined exceptions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 what assertions are and how to use them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 the basics of Logging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</a:t>
            </a:r>
            <a:endParaRPr/>
          </a:p>
        </p:txBody>
      </p:sp>
      <p:sp>
        <p:nvSpPr>
          <p:cNvPr id="252" name="Google Shape;252;p4"/>
          <p:cNvSpPr txBox="1"/>
          <p:nvPr>
            <p:ph idx="1" type="body"/>
          </p:nvPr>
        </p:nvSpPr>
        <p:spPr>
          <a:xfrm>
            <a:off x="457200" y="1295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Exceptions in real life are rare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are usually used to denote something unusual that does not conform to the standard rules.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programming, exceptions are events that arise due to the occurrence of unexpected behavior in certain statements, disrupting the normal execution of a program.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Causes of Exception</a:t>
            </a:r>
            <a:endParaRPr/>
          </a:p>
        </p:txBody>
      </p:sp>
      <p:sp>
        <p:nvSpPr>
          <p:cNvPr id="258" name="Google Shape;258;p5"/>
          <p:cNvSpPr txBox="1"/>
          <p:nvPr>
            <p:ph idx="1" type="body"/>
          </p:nvPr>
        </p:nvSpPr>
        <p:spPr>
          <a:xfrm>
            <a:off x="457200" y="13716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Exceptions can arise due to a number of situations. For example,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Trying to access the 11th element of an array when the array contains of only 10 element 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ArrayIndexOutOfBoundsException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Division by zero 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ArithmeticException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Accessing a file which is not present 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FileNotFoundException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of I/O operations 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IOException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Illegal usage of null. (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NullPointerException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 Classes</a:t>
            </a:r>
            <a:endParaRPr/>
          </a:p>
        </p:txBody>
      </p:sp>
      <p:sp>
        <p:nvSpPr>
          <p:cNvPr id="264" name="Google Shape;264;p6"/>
          <p:cNvSpPr txBox="1"/>
          <p:nvPr>
            <p:ph idx="1" type="body"/>
          </p:nvPr>
        </p:nvSpPr>
        <p:spPr>
          <a:xfrm>
            <a:off x="457200" y="1295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Top class in exception hierarchy is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Throwable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class has two siblings: Error and Exception.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classes representing exceptional conditions are subclasses of the Exception class.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happens when an execution occurs?</a:t>
            </a:r>
            <a:endParaRPr/>
          </a:p>
        </p:txBody>
      </p:sp>
      <p:sp>
        <p:nvSpPr>
          <p:cNvPr id="270" name="Google Shape;270;p7"/>
          <p:cNvSpPr txBox="1"/>
          <p:nvPr>
            <p:ph idx="1" type="body"/>
          </p:nvPr>
        </p:nvSpPr>
        <p:spPr>
          <a:xfrm>
            <a:off x="457200" y="1143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just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runtime environment identifies the type of Exception and throws the object of it. </a:t>
            </a:r>
            <a:endParaRPr/>
          </a:p>
          <a:p>
            <a:pPr indent="-342900" lvl="0" marL="342900" marR="0" rtl="0" algn="just">
              <a:lnSpc>
                <a:spcPct val="7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method does not employ any exception handling mechanism </a:t>
            </a:r>
            <a:endParaRPr/>
          </a:p>
          <a:p>
            <a:pPr indent="-285750" lvl="1" marL="742950" marR="0" rtl="0" algn="just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exception is passed to the caller method, and so on. </a:t>
            </a:r>
            <a:endParaRPr/>
          </a:p>
          <a:p>
            <a:pPr indent="-342900" lvl="0" marL="342900" marR="0" rtl="0" algn="just">
              <a:lnSpc>
                <a:spcPct val="7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no exception handling mechanism is employed in any of the Call Stack methods</a:t>
            </a:r>
            <a:endParaRPr/>
          </a:p>
          <a:p>
            <a:pPr indent="-285750" lvl="1" marL="742950" marR="0" rtl="0" algn="just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runtime environment passes the exception object to the default exception handler available with itself. </a:t>
            </a:r>
            <a:endParaRPr/>
          </a:p>
          <a:p>
            <a:pPr indent="-285750" lvl="1" marL="742950" marR="0" rtl="0" algn="just">
              <a:lnSpc>
                <a:spcPct val="7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default handler prints the name of the exception along with an explanatory message followed by stack trace at the time the exception was thrown and the program is terminated.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 Example</a:t>
            </a:r>
            <a:endParaRPr/>
          </a:p>
        </p:txBody>
      </p:sp>
      <p:sp>
        <p:nvSpPr>
          <p:cNvPr id="276" name="Google Shape;276;p8"/>
          <p:cNvSpPr txBox="1"/>
          <p:nvPr>
            <p:ph idx="1" type="body"/>
          </p:nvPr>
        </p:nvSpPr>
        <p:spPr>
          <a:xfrm>
            <a:off x="457200" y="10668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class ExDemo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public static void main(String args[]){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method1();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static void method1(){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System.out.println(“IN Method 1, Calling Method 2”);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method2();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System.out.println(“Returned from method 2”);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static void method2(){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System.out.println(“IN Method 2, Calling Method 3”);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method3();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System.out.println(“Returned from method 3”);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static void method3(){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System.out.println(“IN Method 3”);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int a=20,b=0;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int c=a/b;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System.out.println(“Method 3 exits”); }}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</a:t>
            </a:r>
            <a:endParaRPr/>
          </a:p>
        </p:txBody>
      </p:sp>
      <p:sp>
        <p:nvSpPr>
          <p:cNvPr id="282" name="Google Shape;282;p9"/>
          <p:cNvSpPr txBox="1"/>
          <p:nvPr>
            <p:ph idx="1" type="body"/>
          </p:nvPr>
        </p:nvSpPr>
        <p:spPr>
          <a:xfrm>
            <a:off x="457200" y="1295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Method 1, Calling Method 2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Method 2, Calling Method 3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Method 3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Exception in thread “main” java.lang.ArithmeticException: / by zero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at ExDemo.method3(ExDemo.java:23)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at ExDemo.method2(ExDemo.java:16)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at ExDemo.method1(ExDemo.java:10)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at ExDemo.main(ExDemo.java:5)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Trace</a:t>
            </a:r>
            <a:endParaRPr/>
          </a:p>
        </p:txBody>
      </p:sp>
      <p:pic>
        <p:nvPicPr>
          <p:cNvPr id="288" name="Google Shape;288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0600" y="1371600"/>
            <a:ext cx="6172200" cy="30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0"/>
          <p:cNvPicPr preferRelativeResize="0"/>
          <p:nvPr>
            <p:ph idx="2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86000" y="4764087"/>
            <a:ext cx="2327275" cy="14843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Types of Exceptions</a:t>
            </a:r>
            <a:endParaRPr/>
          </a:p>
        </p:txBody>
      </p:sp>
      <p:pic>
        <p:nvPicPr>
          <p:cNvPr id="295" name="Google Shape;29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3000" y="1447800"/>
            <a:ext cx="6902450" cy="388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 Hierarchy</a:t>
            </a:r>
            <a:endParaRPr/>
          </a:p>
        </p:txBody>
      </p:sp>
      <p:pic>
        <p:nvPicPr>
          <p:cNvPr id="301" name="Google Shape;30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219200"/>
            <a:ext cx="7010400" cy="5029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3"/>
          <p:cNvSpPr txBox="1"/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 Handling Techniques</a:t>
            </a:r>
            <a:endParaRPr/>
          </a:p>
        </p:txBody>
      </p:sp>
      <p:sp>
        <p:nvSpPr>
          <p:cNvPr id="307" name="Google Shape;307;p13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try..catch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Char char="•"/>
            </a:pPr>
            <a:r>
              <a:rPr b="0" i="0" lang="en-US" sz="3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try…catch</a:t>
            </a:r>
            <a:endParaRPr/>
          </a:p>
        </p:txBody>
      </p:sp>
      <p:sp>
        <p:nvSpPr>
          <p:cNvPr id="313" name="Google Shape;313;p14"/>
          <p:cNvSpPr txBox="1"/>
          <p:nvPr>
            <p:ph idx="1" type="body"/>
          </p:nvPr>
        </p:nvSpPr>
        <p:spPr>
          <a:xfrm>
            <a:off x="457200" y="1295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try/catch block can be placed within any method that you feel can throw exceptions.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the statements to be tried for exceptions are put in a try block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catch block is used to catch any exception raised from the try block.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exception occurs in any statement in the try block control immediately passes to the corresponding catch block.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5"/>
          <p:cNvSpPr txBox="1"/>
          <p:nvPr>
            <p:ph type="title"/>
          </p:nvPr>
        </p:nvSpPr>
        <p:spPr>
          <a:xfrm>
            <a:off x="0" y="0"/>
            <a:ext cx="9144000" cy="9906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</p:txBody>
      </p:sp>
      <p:sp>
        <p:nvSpPr>
          <p:cNvPr id="319" name="Google Shape;319;p15"/>
          <p:cNvSpPr txBox="1"/>
          <p:nvPr>
            <p:ph idx="1" type="body"/>
          </p:nvPr>
        </p:nvSpPr>
        <p:spPr>
          <a:xfrm>
            <a:off x="457200" y="1219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static void method2()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System.out.println(“IN Method 2, Calling Method 3”);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try{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method3(); 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catch(Exception e)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System.out.println(“Exception Handled”);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System.out.println(“Returned from method 3”);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catch clauses</a:t>
            </a:r>
            <a:endParaRPr/>
          </a:p>
        </p:txBody>
      </p:sp>
      <p:sp>
        <p:nvSpPr>
          <p:cNvPr id="325" name="Google Shape;325;p16"/>
          <p:cNvSpPr txBox="1"/>
          <p:nvPr>
            <p:ph idx="1" type="body"/>
          </p:nvPr>
        </p:nvSpPr>
        <p:spPr>
          <a:xfrm>
            <a:off x="457200" y="1219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static void method2()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System.out.println(“IN Method 2, Calling Method 3”);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try{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method3(); }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catch(ArithmeticException ae)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{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System.out.println (“Arithmetic Exception Handled: “ +ae);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catch(Exception e)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{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System.out.println(“Exception Handled”);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System.out.println(“Returned from method 3”);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just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Note:</a:t>
            </a:r>
            <a:r>
              <a:rPr b="0" i="0" lang="en-US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catch having super class types should be defined later than the catch clauses with subclass types. The order is important.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Nested try..catch</a:t>
            </a:r>
            <a:endParaRPr/>
          </a:p>
        </p:txBody>
      </p:sp>
      <p:sp>
        <p:nvSpPr>
          <p:cNvPr id="331" name="Google Shape;331;p17"/>
          <p:cNvSpPr txBox="1"/>
          <p:nvPr>
            <p:ph idx="1" type="body"/>
          </p:nvPr>
        </p:nvSpPr>
        <p:spPr>
          <a:xfrm>
            <a:off x="457200" y="1143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try{ …..//statements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try{  …..//statements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catch(ArithmeticException ae){ . . . .}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…// statements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try{…//statements}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catch(ArrayIndexOutOfBoundsException ie){}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catch(Exception e){…..}</a:t>
            </a:r>
            <a:endParaRPr/>
          </a:p>
          <a:p>
            <a:pPr indent="-1397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 keyword</a:t>
            </a:r>
            <a:endParaRPr/>
          </a:p>
        </p:txBody>
      </p:sp>
      <p:sp>
        <p:nvSpPr>
          <p:cNvPr id="338" name="Google Shape;338;p1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to explicitly throw an exception.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when we want to throw a user-defined exception.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syntax for </a:t>
            </a:r>
            <a:r>
              <a:rPr b="0" i="1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 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 is as follows: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 new ThrowableInstance;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 new NullPointerException();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 cap="flat" cmpd="sng" w="9525">
            <a:solidFill>
              <a:schemeClr val="accent1"/>
            </a:solidFill>
            <a:prstDash val="solid"/>
            <a:miter lim="524288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throws keyword</a:t>
            </a:r>
            <a:endParaRPr/>
          </a:p>
        </p:txBody>
      </p:sp>
      <p:sp>
        <p:nvSpPr>
          <p:cNvPr id="344" name="Google Shape;344;p19"/>
          <p:cNvSpPr txBox="1"/>
          <p:nvPr>
            <p:ph idx="1" type="body"/>
          </p:nvPr>
        </p:nvSpPr>
        <p:spPr>
          <a:xfrm>
            <a:off x="457200" y="1219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added to the method signature to let the caller know about what exception the called method can throw.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responsibility of the caller to either handle the exception (using try…catch mechanism) or it can also pass the exception (by specifying throws clause in its method declaration).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all the methods in a program pass the exception to their callers (including main( )), then ultimately the exception passes to the default exception handler.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throws syntax</a:t>
            </a:r>
            <a:endParaRPr/>
          </a:p>
        </p:txBody>
      </p:sp>
      <p:sp>
        <p:nvSpPr>
          <p:cNvPr id="350" name="Google Shape;350;p20"/>
          <p:cNvSpPr txBox="1"/>
          <p:nvPr>
            <p:ph idx="1" type="body"/>
          </p:nvPr>
        </p:nvSpPr>
        <p:spPr>
          <a:xfrm>
            <a:off x="457200" y="1295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method can throw more than one exception; the exception list is specified as separated by commas.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syntax for the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throws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 is shown below: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void divide(int a, int b) throws ArithmeticException, IllegalArgumentException</a:t>
            </a:r>
            <a:endParaRPr/>
          </a:p>
          <a:p>
            <a:pPr indent="-190500" lvl="0" marL="3429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Your turn</a:t>
            </a:r>
            <a:endParaRPr/>
          </a:p>
        </p:txBody>
      </p:sp>
      <p:sp>
        <p:nvSpPr>
          <p:cNvPr id="356" name="Google Shape;356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Exception?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precaution to be taken while using multiple catch clauses?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statements be placed after throw clause?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What is the difference between throw and throws?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</a:t>
            </a:r>
            <a:endParaRPr/>
          </a:p>
        </p:txBody>
      </p:sp>
      <p:sp>
        <p:nvSpPr>
          <p:cNvPr id="362" name="Google Shape;362;p22"/>
          <p:cNvSpPr txBox="1"/>
          <p:nvPr>
            <p:ph idx="1" type="body"/>
          </p:nvPr>
        </p:nvSpPr>
        <p:spPr>
          <a:xfrm>
            <a:off x="457200" y="12652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is executed in all circumstances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exception occurs or 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normal return (using return keyword) from methods. 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mandatory to execute statements like related to release of resources, etc. can be put in a </a:t>
            </a: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block. 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syntax of the </a:t>
            </a:r>
            <a:r>
              <a:rPr b="1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 is as follows: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{……}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catch(Throwable e){……}</a:t>
            </a:r>
            <a:endParaRPr/>
          </a:p>
          <a:p>
            <a:pPr indent="-285750" lvl="1" marL="74295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 {……..}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finally example</a:t>
            </a:r>
            <a:endParaRPr/>
          </a:p>
        </p:txBody>
      </p:sp>
      <p:sp>
        <p:nvSpPr>
          <p:cNvPr id="368" name="Google Shape;368;p23"/>
          <p:cNvSpPr txBox="1"/>
          <p:nvPr>
            <p:ph idx="1" type="body"/>
          </p:nvPr>
        </p:nvSpPr>
        <p:spPr>
          <a:xfrm>
            <a:off x="457200" y="12192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class FinallyDemo{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public static void main(String args[])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method1();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System.out.println(“Result : “+method2 (24,0));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static void method1(){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try{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System.out.println(“IN Method 1”);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throw new NullPointerException(); 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catch(Exception e)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System.out.println(“Exception Handled: “ + e);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finally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System.out.println(“In method 1 finally”);} 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static int method2(int a,int b){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try{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System.out.println(“IN Method 2”);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return a/b; 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finally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System.out.println(“In method 2 finally”);} } }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</a:t>
            </a:r>
            <a:endParaRPr/>
          </a:p>
        </p:txBody>
      </p:sp>
      <p:sp>
        <p:nvSpPr>
          <p:cNvPr id="374" name="Google Shape;374;p24"/>
          <p:cNvSpPr txBox="1"/>
          <p:nvPr>
            <p:ph idx="1" type="body"/>
          </p:nvPr>
        </p:nvSpPr>
        <p:spPr>
          <a:xfrm>
            <a:off x="457200" y="1219200"/>
            <a:ext cx="82296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When a=24 and b=4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Method 1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Exception Handled:java.lang.NullPointerException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method 1 finally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Method 2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method 2 finally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Result : 6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When a=24 and b=0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Method 1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Exception Handled: java.lang.NullPointerException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method 1 finally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Method 2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In method 2 finally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Exception in thread “main” java.lang.ArithmeticException: / by zero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at FinallyDemo.method2(FinallyDemo.java:24)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at FinallyDemo.main(FinallyDemo.java:6)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try-with-resources Statement</a:t>
            </a:r>
            <a:endParaRPr/>
          </a:p>
        </p:txBody>
      </p:sp>
      <p:sp>
        <p:nvSpPr>
          <p:cNvPr id="380" name="Google Shape;380;p25"/>
          <p:cNvSpPr txBox="1"/>
          <p:nvPr>
            <p:ph idx="1" type="body"/>
          </p:nvPr>
        </p:nvSpPr>
        <p:spPr>
          <a:xfrm>
            <a:off x="457200" y="1143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7 added a new enhancement i.e., automatic resource management with a try-with-resources statement.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applications uses many resources during their lifetime by creating their objects, 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creating a data base connection for accessing/updating databases, 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creating file objects for working with files, </a:t>
            </a:r>
            <a:endParaRPr/>
          </a:p>
          <a:p>
            <a:pPr indent="-285750" lvl="1" marL="74295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 creating sockets for transmission/ receiving of data, etc. </a:t>
            </a:r>
            <a:endParaRPr/>
          </a:p>
        </p:txBody>
      </p:sp>
      <p:sp>
        <p:nvSpPr>
          <p:cNvPr id="381" name="Google Shape;381;p25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 txBox="1"/>
          <p:nvPr>
            <p:ph idx="1" type="body"/>
          </p:nvPr>
        </p:nvSpPr>
        <p:spPr>
          <a:xfrm>
            <a:off x="457200" y="1143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common mistake committed by programmers is that they often do not close/release the resources occupied by the programs, after their task is complete.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leads to many orphaned instances, inefficient memory allocation, and garbage collection.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Hence the need for automatic resource management arises.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2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try-with-resources Statement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7"/>
          <p:cNvSpPr txBox="1"/>
          <p:nvPr>
            <p:ph idx="1" type="body"/>
          </p:nvPr>
        </p:nvSpPr>
        <p:spPr>
          <a:xfrm>
            <a:off x="457200" y="1219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address this problem AutoCloseable, a new interface has been created in the java.lang package.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resources that want to be closed automatically after use must implement this interface.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interface has just one method,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void close() throws Exception</a:t>
            </a:r>
            <a:endParaRPr/>
          </a:p>
          <a:p>
            <a:pPr indent="-1651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7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2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try-with-resources Statement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8"/>
          <p:cNvSpPr txBox="1"/>
          <p:nvPr>
            <p:ph idx="1" type="body"/>
          </p:nvPr>
        </p:nvSpPr>
        <p:spPr>
          <a:xfrm>
            <a:off x="457200" y="11890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example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(abc a=new abc(); pqr p=new pqr())	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 // statements within the block 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 than one AutoCloseable resources can be used in try-with-resources statement separated by semicolon.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abc and pqr objects should implement the AutoCloseable interface</a:t>
            </a:r>
            <a:endParaRPr/>
          </a:p>
        </p:txBody>
      </p:sp>
      <p:sp>
        <p:nvSpPr>
          <p:cNvPr id="401" name="Google Shape;401;p28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2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Syntax of try-with-resources Statement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 catch</a:t>
            </a:r>
            <a:endParaRPr/>
          </a:p>
        </p:txBody>
      </p:sp>
      <p:sp>
        <p:nvSpPr>
          <p:cNvPr id="408" name="Google Shape;408;p29"/>
          <p:cNvSpPr txBox="1"/>
          <p:nvPr>
            <p:ph idx="1" type="body"/>
          </p:nvPr>
        </p:nvSpPr>
        <p:spPr>
          <a:xfrm>
            <a:off x="457200" y="9906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Java 7 introduced the multi catch statement to catch multiple exceptions using a single catch 	</a:t>
            </a: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	{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// statements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catch (Exception1 | Exception2 | Exception3 e)</a:t>
            </a:r>
            <a:endParaRPr/>
          </a:p>
          <a:p>
            <a:pPr indent="0" lvl="1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	// statements	}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Exception1, Exception2, and Exception3 , belonging to different hierarchies are handled in a single catch block. For e.g.</a:t>
            </a:r>
            <a:endParaRPr/>
          </a:p>
          <a:p>
            <a:pPr indent="-1397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Benefits of multi catch</a:t>
            </a:r>
            <a:endParaRPr/>
          </a:p>
        </p:txBody>
      </p:sp>
      <p:sp>
        <p:nvSpPr>
          <p:cNvPr id="415" name="Google Shape;415;p30"/>
          <p:cNvSpPr txBox="1"/>
          <p:nvPr>
            <p:ph idx="1" type="body"/>
          </p:nvPr>
        </p:nvSpPr>
        <p:spPr>
          <a:xfrm>
            <a:off x="381000" y="1143000"/>
            <a:ext cx="85344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results in more efficient byte code as you have just one catch block (instead of more as in the above case).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Moreover same treatment can be applied to exceptions of different hierarchies.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way of applying different treatment while using multi catch syntax is by using instanceof operator</a:t>
            </a:r>
            <a:endParaRPr/>
          </a:p>
        </p:txBody>
      </p:sp>
      <p:sp>
        <p:nvSpPr>
          <p:cNvPr id="416" name="Google Shape;416;p30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</p:txBody>
      </p:sp>
      <p:sp>
        <p:nvSpPr>
          <p:cNvPr id="422" name="Google Shape;422;p31"/>
          <p:cNvSpPr txBox="1"/>
          <p:nvPr>
            <p:ph idx="1" type="body"/>
          </p:nvPr>
        </p:nvSpPr>
        <p:spPr>
          <a:xfrm>
            <a:off x="457200" y="10668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catch(ArithmeticException | ArrayIndexOutOfBoundsException | NumberFormatException e)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if(e instanceof ArithmeticException)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System.out.println("Arithmetic Exception Handled: " +e);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if(e instanceof NumberFormatException)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System.out.println("Exception Handled: " +e);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System.out.println(e);</a:t>
            </a: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	}</a:t>
            </a:r>
            <a:endParaRPr/>
          </a:p>
        </p:txBody>
      </p:sp>
      <p:sp>
        <p:nvSpPr>
          <p:cNvPr id="423" name="Google Shape;423;p31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3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Exception Handling in Java 7</a:t>
            </a:r>
            <a:endParaRPr/>
          </a:p>
        </p:txBody>
      </p:sp>
      <p:sp>
        <p:nvSpPr>
          <p:cNvPr id="429" name="Google Shape;429;p32"/>
          <p:cNvSpPr txBox="1"/>
          <p:nvPr>
            <p:ph idx="1" type="body"/>
          </p:nvPr>
        </p:nvSpPr>
        <p:spPr>
          <a:xfrm>
            <a:off x="457200" y="11430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method can specify only those exceptions in the throws clause that have been specified in the catch clause while re-throwing exceptions from within catch block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Java 7 onwards the throws can specify more refined exceptions to be rethrown.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there are two user defined exceptions Exception1 and Exception2 which can be rethrown from within the catch block of a method. </a:t>
            </a:r>
            <a:endParaRPr/>
          </a:p>
        </p:txBody>
      </p:sp>
      <p:sp>
        <p:nvSpPr>
          <p:cNvPr id="430" name="Google Shape;430;p32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33"/>
          <p:cNvSpPr txBox="1"/>
          <p:nvPr>
            <p:ph type="title"/>
          </p:nvPr>
        </p:nvSpPr>
        <p:spPr>
          <a:xfrm>
            <a:off x="0" y="-7620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Exception Handling</a:t>
            </a:r>
            <a:endParaRPr/>
          </a:p>
        </p:txBody>
      </p:sp>
      <p:sp>
        <p:nvSpPr>
          <p:cNvPr id="436" name="Google Shape;436;p33"/>
          <p:cNvSpPr txBox="1"/>
          <p:nvPr>
            <p:ph idx="1" type="body"/>
          </p:nvPr>
        </p:nvSpPr>
        <p:spPr>
          <a:xfrm>
            <a:off x="457200" y="9906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 DemoException 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throwException(int a, int b) throws Exception1, Exception2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try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(a&lt;b)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 new Exception1();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 new Exception2();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 catch (Exception e)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throw e;	}}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static void main(String args[]) throws Exception1,Exception2 {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new DemoException().throwException(4,0);  }}</a:t>
            </a:r>
            <a:endParaRPr/>
          </a:p>
        </p:txBody>
      </p:sp>
      <p:sp>
        <p:nvSpPr>
          <p:cNvPr id="437" name="Google Shape;437;p33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Improved Exception Handling</a:t>
            </a:r>
            <a:endParaRPr/>
          </a:p>
        </p:txBody>
      </p:sp>
      <p:sp>
        <p:nvSpPr>
          <p:cNvPr id="443" name="Google Shape;443;p3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 to Java 7 only the exceptions specified in the catch block can be mentioned as argument to the throws keyword.</a:t>
            </a:r>
            <a:endParaRPr/>
          </a:p>
        </p:txBody>
      </p:sp>
      <p:sp>
        <p:nvSpPr>
          <p:cNvPr id="444" name="Google Shape;444;p34"/>
          <p:cNvSpPr txBox="1"/>
          <p:nvPr/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 Defined Exception</a:t>
            </a:r>
            <a:endParaRPr/>
          </a:p>
        </p:txBody>
      </p:sp>
      <p:sp>
        <p:nvSpPr>
          <p:cNvPr id="450" name="Google Shape;450;p35"/>
          <p:cNvSpPr txBox="1"/>
          <p:nvPr>
            <p:ph idx="1" type="body"/>
          </p:nvPr>
        </p:nvSpPr>
        <p:spPr>
          <a:xfrm>
            <a:off x="457200" y="13716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class ExcepDemo extends Exception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ExcepDemo(String msg){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super(msg);	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public String toString()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return “Exception in thread \”main\” 	ExcepDemo Exception: “+getMessage();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	}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 Encapsulation</a:t>
            </a:r>
            <a:endParaRPr/>
          </a:p>
        </p:txBody>
      </p:sp>
      <p:sp>
        <p:nvSpPr>
          <p:cNvPr id="456" name="Google Shape;456;p36"/>
          <p:cNvSpPr txBox="1"/>
          <p:nvPr>
            <p:ph idx="1" type="body"/>
          </p:nvPr>
        </p:nvSpPr>
        <p:spPr>
          <a:xfrm>
            <a:off x="457200" y="13716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known as chaining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wrapping a caught exception in a different exception and throwing the wrapped exception.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pass all your exception, your top level method might have to deal with a lot of exceptions and declaring or handling exceptions in all the methods back is a tedious task.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Wrapping is also used to abstract the details of implementation. You might not want your working details (including the exception that are thrown) to be known to others.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 Encapsulation</a:t>
            </a:r>
            <a:endParaRPr/>
          </a:p>
        </p:txBody>
      </p:sp>
      <p:sp>
        <p:nvSpPr>
          <p:cNvPr id="462" name="Google Shape;462;p37"/>
          <p:cNvSpPr txBox="1"/>
          <p:nvPr>
            <p:ph idx="1" type="body"/>
          </p:nvPr>
        </p:nvSpPr>
        <p:spPr>
          <a:xfrm>
            <a:off x="457200" y="13716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try{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throw new InstantiationException();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 catch(InstantiationException t)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 	// wrapping InstantiationException in 	//ExcepDemo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throw new ExcepDemo(“Wrapped Instantiation Exception”,t);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Problems &amp; Solution</a:t>
            </a:r>
            <a:endParaRPr/>
          </a:p>
        </p:txBody>
      </p:sp>
      <p:sp>
        <p:nvSpPr>
          <p:cNvPr id="468" name="Google Shape;468;p38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leads to long stack traces; one for each exception in the wrapping hierarchy.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Secondly, due to wrapping, it becomes difficult to figure out the problem that led to exceptions.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Solution: Exception Enrichment</a:t>
            </a:r>
            <a:endParaRPr/>
          </a:p>
          <a:p>
            <a:pPr indent="-139700" lvl="0" marL="3429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0" i="0" sz="32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 Enrichment</a:t>
            </a:r>
            <a:endParaRPr/>
          </a:p>
        </p:txBody>
      </p:sp>
      <p:sp>
        <p:nvSpPr>
          <p:cNvPr id="474" name="Google Shape;474;p39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you do not wrap exceptions but add information to the already thrown exception and rethrow it, which leads to a single stack trace.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4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</p:txBody>
      </p:sp>
      <p:sp>
        <p:nvSpPr>
          <p:cNvPr id="480" name="Google Shape;480;p40"/>
          <p:cNvSpPr txBox="1"/>
          <p:nvPr>
            <p:ph idx="1" type="body"/>
          </p:nvPr>
        </p:nvSpPr>
        <p:spPr>
          <a:xfrm>
            <a:off x="457200" y="1143000"/>
            <a:ext cx="8229600" cy="54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class ExcepDemo extends Exception{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String message;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ExcepDemo(String msg)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message=msg;	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public String toString()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return “Exception in thread \”main\” ExcepDemo Exception: “+message;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public void addInformation(String msg)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message+=msg;		}}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class ExceptionEnrichmentDemo{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static void testException() throws ExcepDemo{	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try{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throw new ExcepDemo(“Testing User Defined Exception”);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catch(ExcepDemo e)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e.addInformation(“\nexception was successfully enriched and re-thrown from catch”);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throw e;	}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public static void main(String args[])	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try 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testException();	}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catch(ExcepDemo e){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en-US" sz="15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System.out.println(e);	}}}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4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</a:t>
            </a:r>
            <a:endParaRPr/>
          </a:p>
        </p:txBody>
      </p:sp>
      <p:sp>
        <p:nvSpPr>
          <p:cNvPr id="486" name="Google Shape;486;p41"/>
          <p:cNvSpPr txBox="1"/>
          <p:nvPr>
            <p:ph idx="1" type="body"/>
          </p:nvPr>
        </p:nvSpPr>
        <p:spPr>
          <a:xfrm>
            <a:off x="457200" y="13716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Exception in thread “main” ExcepDemo Exception: Testing User Defined Exception</a:t>
            </a:r>
            <a:endParaRPr/>
          </a:p>
          <a:p>
            <a:pPr indent="-342900" lvl="0" marL="3429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exception was successfully enriched and re-thrown from catch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Assertions</a:t>
            </a:r>
            <a:endParaRPr/>
          </a:p>
        </p:txBody>
      </p:sp>
      <p:sp>
        <p:nvSpPr>
          <p:cNvPr id="492" name="Google Shape;492;p42"/>
          <p:cNvSpPr txBox="1"/>
          <p:nvPr>
            <p:ph idx="1" type="body"/>
          </p:nvPr>
        </p:nvSpPr>
        <p:spPr>
          <a:xfrm>
            <a:off x="457200" y="1295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create reliable programs that are correct and robust.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Assertions are boolean expressions that are used to test/validate the code.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are basically used during testing and development phases.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Assertions are used by the programmers to be doubly sure about a particular condition, which they feel to be true.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expect a number to be positive, negative, array/reference is not null, etc. then you can check these conditions by asserting them. 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3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 example</a:t>
            </a:r>
            <a:endParaRPr/>
          </a:p>
        </p:txBody>
      </p:sp>
      <p:sp>
        <p:nvSpPr>
          <p:cNvPr id="498" name="Google Shape;498;p43"/>
          <p:cNvSpPr txBox="1"/>
          <p:nvPr>
            <p:ph idx="1" type="body"/>
          </p:nvPr>
        </p:nvSpPr>
        <p:spPr>
          <a:xfrm>
            <a:off x="457200" y="1219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Assertions in Java are declared with the help of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 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keyword as shown below:	</a:t>
            </a:r>
            <a:endParaRPr/>
          </a:p>
          <a:p>
            <a:pPr indent="-285750" lvl="1" marL="74295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 expression1; // assert x &gt; 0;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Or</a:t>
            </a:r>
            <a:endParaRPr/>
          </a:p>
          <a:p>
            <a:pPr indent="-285750" lvl="1" marL="74295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 expression1: expression2; // assert x &lt; 0: “Value Ok”;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Assertions have to be enabled explicitly; they are disabled by default.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options of Java can be used to enable and disable assertions.</a:t>
            </a:r>
            <a:endParaRPr/>
          </a:p>
          <a:p>
            <a:pPr indent="-285750" lvl="1" marL="74295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-ea enable assertions</a:t>
            </a:r>
            <a:endParaRPr/>
          </a:p>
          <a:p>
            <a:pPr indent="-285750" lvl="1" marL="742950" marR="0" rtl="0" algn="just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-da disable assertions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4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Assertion example</a:t>
            </a:r>
            <a:endParaRPr/>
          </a:p>
        </p:txBody>
      </p:sp>
      <p:sp>
        <p:nvSpPr>
          <p:cNvPr id="504" name="Google Shape;504;p44"/>
          <p:cNvSpPr txBox="1"/>
          <p:nvPr>
            <p:ph idx="1" type="body"/>
          </p:nvPr>
        </p:nvSpPr>
        <p:spPr>
          <a:xfrm>
            <a:off x="457200" y="1219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class AssertDemo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static void check(int i)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assert i&gt;0: “Value must be positive”;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System.out.println(“value fine “+i);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public static void main(String args[])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{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check(Integer.parseInt(args[0]));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}}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45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</a:t>
            </a:r>
            <a:endParaRPr/>
          </a:p>
        </p:txBody>
      </p:sp>
      <p:sp>
        <p:nvSpPr>
          <p:cNvPr id="510" name="Google Shape;510;p45"/>
          <p:cNvSpPr txBox="1"/>
          <p:nvPr>
            <p:ph idx="1" type="body"/>
          </p:nvPr>
        </p:nvSpPr>
        <p:spPr>
          <a:xfrm>
            <a:off x="381000" y="1219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 = 1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C:\javabook\programs\chap 7&gt;java -ea AssertDemo 1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fine 1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 = –1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C:\javabook\programs\chap 7&gt;java -ea AssertDemo -1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Exception in thread “main” java.lang.AssertionError: Value must be positive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AssertDemo.check(AssertDemo.java:5)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AssertDemo.main(AssertDemo.java:10)</a:t>
            </a:r>
            <a:endParaRPr/>
          </a:p>
          <a:p>
            <a:pPr indent="-342900" lvl="0" marL="342900" marR="0" rtl="0" algn="l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Without enabling Assertion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C:\javabook\programs\chap 7&gt;java AssertDemo -1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value fine -1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46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LOGGING</a:t>
            </a:r>
            <a:endParaRPr/>
          </a:p>
        </p:txBody>
      </p:sp>
      <p:sp>
        <p:nvSpPr>
          <p:cNvPr id="516" name="Google Shape;516;p46"/>
          <p:cNvSpPr txBox="1"/>
          <p:nvPr>
            <p:ph idx="1" type="body"/>
          </p:nvPr>
        </p:nvSpPr>
        <p:spPr>
          <a:xfrm>
            <a:off x="457200" y="11890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added in the java.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util.logging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package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Logs are basically used to report messages regarding the functioning of the application to the programmer.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Logs are created with the help of a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Logger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messages are passed to handler objects which pass these messages to console, log files, etc.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Loggings has nine levels in Java to indicate the severity of logged messages.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levels are final and static fields of 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class (</a:t>
            </a:r>
            <a:r>
              <a:rPr b="0" i="1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util.logging</a:t>
            </a: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package).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7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Levels of Logging</a:t>
            </a:r>
            <a:endParaRPr/>
          </a:p>
        </p:txBody>
      </p:sp>
      <p:pic>
        <p:nvPicPr>
          <p:cNvPr id="522" name="Google Shape;522;p4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828800"/>
            <a:ext cx="8229600" cy="370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48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Methods of Logger class</a:t>
            </a:r>
            <a:endParaRPr/>
          </a:p>
        </p:txBody>
      </p:sp>
      <p:sp>
        <p:nvSpPr>
          <p:cNvPr id="528" name="Google Shape;528;p48"/>
          <p:cNvSpPr txBox="1"/>
          <p:nvPr>
            <p:ph idx="1" type="body"/>
          </p:nvPr>
        </p:nvSpPr>
        <p:spPr>
          <a:xfrm>
            <a:off x="457200" y="12192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Logger class provides methods similar to the names of the levels for logging messages.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void severe(String msg)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void warning(String msg) 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void config(String msg)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void info(String msg) 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void finest(String msg) 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void finer(String msg) 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void fine(String msg)</a:t>
            </a:r>
            <a:endParaRPr/>
          </a:p>
          <a:p>
            <a:pPr indent="-342900" lvl="0" marL="342900" marR="0" rtl="0" algn="just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also provides a method which sets the level  as well as prints the message on the console.</a:t>
            </a:r>
            <a:endParaRPr/>
          </a:p>
          <a:p>
            <a:pPr indent="-285750" lvl="1" marL="742950" marR="0" rtl="0" algn="just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void log(Level l,String msg)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49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</a:t>
            </a:r>
            <a:endParaRPr/>
          </a:p>
        </p:txBody>
      </p:sp>
      <p:sp>
        <p:nvSpPr>
          <p:cNvPr id="534" name="Google Shape;534;p49"/>
          <p:cNvSpPr txBox="1"/>
          <p:nvPr>
            <p:ph idx="1" type="body"/>
          </p:nvPr>
        </p:nvSpPr>
        <p:spPr>
          <a:xfrm>
            <a:off x="457200" y="13716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import java.util.logging.*;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class LoggingDemo {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static Logger l = Logger.getLogger(“LoggingDemo”);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void demo() {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l.log(Level.SEVERE,”Shows Severe level of the Logger “);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public static void main(String[] args) {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LoggingDemo d = new LoggingDemo();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d.demo();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}}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50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Output</a:t>
            </a:r>
            <a:endParaRPr/>
          </a:p>
        </p:txBody>
      </p:sp>
      <p:sp>
        <p:nvSpPr>
          <p:cNvPr id="540" name="Google Shape;540;p5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C:\javabook\programs\chap 7&gt;java LoggingDemo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 Feb, 2009 11:18:49 AM LoggingDemo demo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SEVERE: Shows Severe level of the Logger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51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/>
          </a:p>
        </p:txBody>
      </p:sp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457200" y="13414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chapter focused on how to handle unusual conditions/situations in Java.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Two types of exceptions have been defined: Checked and Unchecked.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five keyword in exception handling, namely try, catch, throw, throws, and finally have been discussed. 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Apart from using the predefined exception, you can code your own exceptions according to your own requirements.</a:t>
            </a:r>
            <a:endParaRPr/>
          </a:p>
          <a:p>
            <a:pPr indent="-342900" lvl="0" marL="342900" marR="0" rtl="0" algn="just">
              <a:lnSpc>
                <a:spcPct val="8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Improvements in Java 7 have been explained like automatic resources management, multi catch etc.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5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0" i="0" lang="en-US" sz="4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Summary (contd.)</a:t>
            </a:r>
            <a:endParaRPr/>
          </a:p>
        </p:txBody>
      </p:sp>
      <p:sp>
        <p:nvSpPr>
          <p:cNvPr id="552" name="Google Shape;552;p52"/>
          <p:cNvSpPr txBox="1"/>
          <p:nvPr>
            <p:ph idx="1" type="body"/>
          </p:nvPr>
        </p:nvSpPr>
        <p:spPr>
          <a:xfrm>
            <a:off x="457200" y="12954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Assertions (introduced in JDK 1.4) are helpful in assuring the programmer about a particular condition using assert keyword. 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help in increasing the reliability of a Java program.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Logging features (part of java.util.logging package introduced in JDK 1.4) help the user to debug his program and can exactly pinpoint the errors in his/her program.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0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4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5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6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8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9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3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7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2009-07-24T09:58:34Z</dcterms:created>
  <dc:creator>manisha.mathews</dc:creator>
</cp:coreProperties>
</file>